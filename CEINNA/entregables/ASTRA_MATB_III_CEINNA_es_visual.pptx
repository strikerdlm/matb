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docProps/app.xml" ContentType="application/vnd.openxmlformats-officedocument.extended-properties+xml"/>
  <Override PartName="/docProps/core.xml" ContentType="application/vnd.openxmlformats-package.core-properties+xml"/>
  <Override PartName="/docProps/custom.xml" ContentType="application/vnd.openxmlformats-officedocument.custom-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revisionInfo.xml" ContentType="application/vnd.ms-powerpoint.revisioninfo+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ags/tag1.xml" ContentType="application/vnd.openxmlformats-officedocument.presentationml.tags+xml"/>
  <Override PartName="/ppt/tags/tag10.xml" ContentType="application/vnd.openxmlformats-officedocument.presentationml.tags+xml"/>
  <Override PartName="/ppt/tags/tag11.xml" ContentType="application/vnd.openxmlformats-officedocument.presentationml.tags+xml"/>
  <Override PartName="/ppt/tags/tag12.xml" ContentType="application/vnd.openxmlformats-officedocument.presentationml.tags+xml"/>
  <Override PartName="/ppt/tags/tag13.xml" ContentType="application/vnd.openxmlformats-officedocument.presentationml.tags+xml"/>
  <Override PartName="/ppt/tags/tag14.xml" ContentType="application/vnd.openxmlformats-officedocument.presentationml.tags+xml"/>
  <Override PartName="/ppt/tags/tag15.xml" ContentType="application/vnd.openxmlformats-officedocument.presentationml.tags+xml"/>
  <Override PartName="/ppt/tags/tag16.xml" ContentType="application/vnd.openxmlformats-officedocument.presentationml.tags+xml"/>
  <Override PartName="/ppt/tags/tag2.xml" ContentType="application/vnd.openxmlformats-officedocument.presentationml.tags+xml"/>
  <Override PartName="/ppt/tags/tag3.xml" ContentType="application/vnd.openxmlformats-officedocument.presentationml.tags+xml"/>
  <Override PartName="/ppt/tags/tag4.xml" ContentType="application/vnd.openxmlformats-officedocument.presentationml.tags+xml"/>
  <Override PartName="/ppt/tags/tag5.xml" ContentType="application/vnd.openxmlformats-officedocument.presentationml.tags+xml"/>
  <Override PartName="/ppt/tags/tag6.xml" ContentType="application/vnd.openxmlformats-officedocument.presentationml.tags+xml"/>
  <Override PartName="/ppt/tags/tag7.xml" ContentType="application/vnd.openxmlformats-officedocument.presentationml.tags+xml"/>
  <Override PartName="/ppt/tags/tag8.xml" ContentType="application/vnd.openxmlformats-officedocument.presentationml.tags+xml"/>
  <Override PartName="/ppt/tags/tag9.xml" ContentType="application/vnd.openxmlformats-officedocument.presentationml.tag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 Id="rId5"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4"/>
  </p:sldMasterIdLst>
  <p:notesMasterIdLst>
    <p:notesMasterId r:id="rId21"/>
  </p:notesMasterIdLst>
  <p:sldIdLst>
    <p:sldId id="266" r:id="rId5"/>
    <p:sldId id="267" r:id="rId6"/>
    <p:sldId id="268" r:id="rId7"/>
    <p:sldId id="269" r:id="rId8"/>
    <p:sldId id="270" r:id="rId9"/>
    <p:sldId id="271" r:id="rId10"/>
    <p:sldId id="272" r:id="rId11"/>
    <p:sldId id="273" r:id="rId12"/>
    <p:sldId id="282" r:id="rId27"/>
    <p:sldId id="274" r:id="rId13"/>
    <p:sldId id="275" r:id="rId14"/>
    <p:sldId id="276" r:id="rId15"/>
    <p:sldId id="277" r:id="rId16"/>
    <p:sldId id="278" r:id="rId17"/>
    <p:sldId id="279" r:id="rId18"/>
    <p:sldId id="280" r:id="rId19"/>
    <p:sldId id="281" r:id="rId20"/>
  </p:sldIdLst>
  <p:sldSz cx="12192000" cy="6858000"/>
  <p:notesSz cx="6858000" cy="9144000"/>
  <p:defaultTextStyle>
    <a:defPPr>
      <a:defRPr lang="es-CO"/>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23B53B"/>
    <a:srgbClr val="26B53B"/>
    <a:srgbClr val="D90000"/>
    <a:srgbClr val="000F4D"/>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52CEB1B4-966F-1C2B-B001-B28BD59DBB14}" v="6" dt="2025-03-25T16:36:15.252"/>
  </p1510:revLst>
</p1510:revInfo>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snapToGrid="0">
      <p:cViewPr varScale="1">
        <p:scale>
          <a:sx n="108" d="100"/>
          <a:sy n="108" d="100"/>
        </p:scale>
        <p:origin x="678" y="120"/>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customXml" Target="../customXml/item1.xml"/><Relationship Id="rId2" Type="http://schemas.openxmlformats.org/officeDocument/2006/relationships/customXml" Target="../customXml/item2.xml"/><Relationship Id="rId3" Type="http://schemas.openxmlformats.org/officeDocument/2006/relationships/customXml" Target="../customXml/item3.xml"/><Relationship Id="rId4" Type="http://schemas.openxmlformats.org/officeDocument/2006/relationships/slideMaster" Target="slideMasters/slideMaster1.xml"/><Relationship Id="rId5" Type="http://schemas.openxmlformats.org/officeDocument/2006/relationships/slide" Target="slides/slide1.xml"/><Relationship Id="rId6" Type="http://schemas.openxmlformats.org/officeDocument/2006/relationships/slide" Target="slides/slide2.xml"/><Relationship Id="rId7" Type="http://schemas.openxmlformats.org/officeDocument/2006/relationships/slide" Target="slides/slide3.xml"/><Relationship Id="rId8" Type="http://schemas.openxmlformats.org/officeDocument/2006/relationships/slide" Target="slides/slide4.xml"/><Relationship Id="rId9" Type="http://schemas.openxmlformats.org/officeDocument/2006/relationships/slide" Target="slides/slide5.xml"/><Relationship Id="rId10" Type="http://schemas.openxmlformats.org/officeDocument/2006/relationships/slide" Target="slides/slide6.xml"/><Relationship Id="rId11" Type="http://schemas.openxmlformats.org/officeDocument/2006/relationships/slide" Target="slides/slide7.xml"/><Relationship Id="rId12" Type="http://schemas.openxmlformats.org/officeDocument/2006/relationships/slide" Target="slides/slide8.xml"/><Relationship Id="rId13" Type="http://schemas.openxmlformats.org/officeDocument/2006/relationships/slide" Target="slides/slide9.xml"/><Relationship Id="rId14" Type="http://schemas.openxmlformats.org/officeDocument/2006/relationships/slide" Target="slides/slide10.xml"/><Relationship Id="rId15" Type="http://schemas.openxmlformats.org/officeDocument/2006/relationships/slide" Target="slides/slide11.xml"/><Relationship Id="rId16" Type="http://schemas.openxmlformats.org/officeDocument/2006/relationships/slide" Target="slides/slide12.xml"/><Relationship Id="rId17" Type="http://schemas.openxmlformats.org/officeDocument/2006/relationships/slide" Target="slides/slide13.xml"/><Relationship Id="rId18" Type="http://schemas.openxmlformats.org/officeDocument/2006/relationships/slide" Target="slides/slide14.xml"/><Relationship Id="rId19" Type="http://schemas.openxmlformats.org/officeDocument/2006/relationships/slide" Target="slides/slide15.xml"/><Relationship Id="rId20" Type="http://schemas.openxmlformats.org/officeDocument/2006/relationships/slide" Target="slides/slide16.xml"/><Relationship Id="rId21" Type="http://schemas.openxmlformats.org/officeDocument/2006/relationships/notesMaster" Target="notesMasters/notesMaster1.xml"/><Relationship Id="rId22" Type="http://schemas.openxmlformats.org/officeDocument/2006/relationships/presProps" Target="presProps.xml"/><Relationship Id="rId23" Type="http://schemas.openxmlformats.org/officeDocument/2006/relationships/viewProps" Target="viewProps.xml"/><Relationship Id="rId24" Type="http://schemas.openxmlformats.org/officeDocument/2006/relationships/theme" Target="theme/theme1.xml"/><Relationship Id="rId25" Type="http://schemas.openxmlformats.org/officeDocument/2006/relationships/tableStyles" Target="tableStyles.xml"/><Relationship Id="rId26" Type="http://schemas.microsoft.com/office/2015/10/relationships/revisionInfo" Target="revisionInfo.xml"/><Relationship Id="rId27" Type="http://schemas.openxmlformats.org/officeDocument/2006/relationships/slide" Target="slides/slide17.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s-CO"/>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B05FFAF0-3C90-4547-B905-9D24BFAA666C}" type="datetimeFigureOut">
              <a:rPr lang="es-CO" smtClean="0"/>
              <a:t>21/09/2026</a:t>
            </a:fld>
            <a:endParaRPr lang="es-CO"/>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s-CO"/>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s-CO"/>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s-CO"/>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944D5B2A-D743-4866-ACE9-262F5F7AEC5E}" type="slidenum">
              <a:rPr lang="es-CO" smtClean="0"/>
              <a:t>‹#›</a:t>
            </a:fld>
            <a:endParaRPr lang="es-CO"/>
          </a:p>
        </p:txBody>
      </p:sp>
    </p:spTree>
    <p:extLst>
      <p:ext uri="{BB962C8B-B14F-4D97-AF65-F5344CB8AC3E}">
        <p14:creationId xmlns:p14="http://schemas.microsoft.com/office/powerpoint/2010/main" val="1500436563"/>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7.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s-CO"/>
              <a:t>Diapositiva 1. III CEINNA. Tiempo previsto: 0 segundos.</a:t>
            </a:r>
          </a:p>
          <a:p>
            <a:endParaRPr lang="es-CO"/>
          </a:p>
          <a:p>
            <a:r>
              <a:rPr lang="es-CO"/>
              <a:t>Pantalla institucional de espera. No consume exposición programada. La transición se incorpora al ensayo. Fuente: Formulario 3 original.</a:t>
            </a:r>
          </a:p>
        </p:txBody>
      </p:sp>
      <p:sp>
        <p:nvSpPr>
          <p:cNvPr id="4" name="Slide Number Placeholder 3"/>
          <p:cNvSpPr>
            <a:spLocks noGrp="1"/>
          </p:cNvSpPr>
          <p:nvPr>
            <p:ph type="sldNum" sz="quarter" idx="5"/>
          </p:nvPr>
        </p:nvSpPr>
        <p:spPr/>
        <p:txBody>
          <a:bodyPr/>
          <a:lstStyle/>
          <a:p>
            <a:fld id="{944D5B2A-D743-4866-ACE9-262F5F7AEC5E}" type="slidenum">
              <a:rPr lang="es-CO" smtClean="0"/>
              <a:t>1</a:t>
            </a:fld>
            <a:endParaRPr lang="es-CO"/>
          </a:p>
        </p:txBody>
      </p:sp>
    </p:spTree>
    <p:extLst>
      <p:ext uri="{BB962C8B-B14F-4D97-AF65-F5344CB8AC3E}">
        <p14:creationId xmlns:p14="http://schemas.microsoft.com/office/powerpoint/2010/main" val="212203758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s-CO"/>
              <a:t>Diapositiva 2. Carga mental y desempeño multitarea en ASTRA. Tiempo previsto: 20 segundos.</a:t>
            </a:r>
          </a:p>
          <a:p>
            <a:endParaRPr lang="es-CO"/>
          </a:p>
          <a:p>
            <a:r>
              <a:rPr lang="es-CO"/>
              <a:t>GUION ORAL (único texto que se pronuncia):</a:t>
            </a:r>
          </a:p>
          <a:p>
            <a:r>
              <a:rPr lang="es-CO"/>
              <a:t>Soy Diego L. Malpica, especialista en Medicina Aeroespacial, de la Subdirección Científica Aeroespacial de la DIMAE. Presentaré el diseño longitudinal para estudiar carga mental y desempeño multitarea en ASTRA mediante MATB, la batería de tareas de atributos múltiples.</a:t>
            </a:r>
          </a:p>
          <a:p>
            <a:endParaRPr lang="es-CO"/>
          </a:p>
          <a:p>
            <a:r>
              <a:rPr lang="es-CO"/>
              <a:t>NOTAS DE APOYO (no leer):</a:t>
            </a:r>
          </a:p>
          <a:p>
            <a:r>
              <a:rPr lang="es-CO"/>
              <a:t>Autoría de portada confirmada por el investigador: SMSM DIEGO L MALPICA; Especialista en Medicina Aeroespacial; Subdirección Científica Aeroespacial – DIMAE. MATB: Multi-Attribute Task Battery. DIMAE: Dirección de Medicina Aeroespacial. Fuente: confirmación del investigador; [1] Cegarra et al. (2020). Transición: aportes de las implementaciones MATB.</a:t>
            </a:r>
          </a:p>
        </p:txBody>
      </p:sp>
      <p:sp>
        <p:nvSpPr>
          <p:cNvPr id="4" name="Slide Number Placeholder 3"/>
          <p:cNvSpPr>
            <a:spLocks noGrp="1"/>
          </p:cNvSpPr>
          <p:nvPr>
            <p:ph type="sldNum" sz="quarter" idx="5"/>
          </p:nvPr>
        </p:nvSpPr>
        <p:spPr/>
        <p:txBody>
          <a:bodyPr/>
          <a:lstStyle/>
          <a:p>
            <a:fld id="{944D5B2A-D743-4866-ACE9-262F5F7AEC5E}" type="slidenum">
              <a:rPr lang="es-CO" smtClean="0"/>
              <a:t>2</a:t>
            </a:fld>
            <a:endParaRPr lang="es-CO"/>
          </a:p>
        </p:txBody>
      </p:sp>
    </p:spTree>
    <p:extLst>
      <p:ext uri="{BB962C8B-B14F-4D97-AF65-F5344CB8AC3E}">
        <p14:creationId xmlns:p14="http://schemas.microsoft.com/office/powerpoint/2010/main" val="2374380885"/>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s-CO"/>
              <a:t>Diapositiva 3. Aportes de la familia MATB. Tiempo previsto: 55 segundos.</a:t>
            </a:r>
          </a:p>
          <a:p>
            <a:endParaRPr lang="es-CO"/>
          </a:p>
          <a:p>
            <a:r>
              <a:rPr lang="es-CO"/>
              <a:t>GUION ORAL (único texto que se pronuncia):</a:t>
            </a:r>
          </a:p>
          <a:p>
            <a:r>
              <a:rPr lang="es-CO"/>
              <a:t>MATB reúne una familia de implementaciones con aportes complementarios. NASA estableció las tareas de referencia; la Fuerza Aérea de Estados Unidos amplió la generación de guiones y la sincronización externa. OpenMATB aportó personalización, código abierto y replicabilidad. La implementación del laboratorio aeromédico del Ejército estadounidense incorpora transiciones de demanda y automatización adaptativa. Sobre OpenMATB, el trabajo de la Fuerza Aeroespacial Colombiana organiza escenarios reproducibles, registros trazables y métricas versionadas. ASTRA sitúa esta arquitectura en una pregunta longitudinal: cómo cambia la respuesta multitarea dentro de cada persona. El aporte se expresa en la conexión entre el procedimiento experimental y la interpretación de sus observaciones.</a:t>
            </a:r>
          </a:p>
          <a:p>
            <a:endParaRPr lang="es-CO"/>
          </a:p>
          <a:p>
            <a:r>
              <a:rPr lang="es-CO"/>
              <a:t>NOTAS DE APOYO (no leer):</a:t>
            </a:r>
          </a:p>
          <a:p>
            <a:r>
              <a:rPr lang="es-CO"/>
              <a:t>Fuentes: [1] Cegarra et al. (2020), Requirements for an updated implementation y Experiment replicability; [5] Vogl et al. (2024), §1.2, §2 y §3. NASA/AF-MATB se resumen según la revisión histórica de Vogl; el informe DTIC 2014 se identificó pero no se obtuvo su texto completo. NASA NTRS permitió verificar metadatos; PDF no accesible en esta consulta. No presentar las implementaciones como una escala de superioridad ni como métricas equivalentes. FAC: Fuerza Aeroespacial Colombiana; USAF: United States Air Force; USAARL: U.S. Army Aeromedical Research Laboratory. Integración local: auditoria_matb.md y resultados técnicos de lámina 10. Las cifras de pruebas de los dos resúmenes adjuntos describen instantáneas anteriores, no son resultados actuales. Transición: qué necesidad metodológica responde este diseño.</a:t>
            </a:r>
          </a:p>
        </p:txBody>
      </p:sp>
      <p:sp>
        <p:nvSpPr>
          <p:cNvPr id="4" name="Slide Number Placeholder 3"/>
          <p:cNvSpPr>
            <a:spLocks noGrp="1"/>
          </p:cNvSpPr>
          <p:nvPr>
            <p:ph type="sldNum" sz="quarter" idx="5"/>
          </p:nvPr>
        </p:nvSpPr>
        <p:spPr/>
        <p:txBody>
          <a:bodyPr/>
          <a:lstStyle/>
          <a:p>
            <a:fld id="{944D5B2A-D743-4866-ACE9-262F5F7AEC5E}" type="slidenum">
              <a:rPr lang="es-CO" smtClean="0"/>
              <a:t>3</a:t>
            </a:fld>
            <a:endParaRPr lang="es-CO"/>
          </a:p>
        </p:txBody>
      </p:sp>
    </p:spTree>
    <p:extLst>
      <p:ext uri="{BB962C8B-B14F-4D97-AF65-F5344CB8AC3E}">
        <p14:creationId xmlns:p14="http://schemas.microsoft.com/office/powerpoint/2010/main" val="1766356077"/>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s-CO"/>
              <a:t>Diapositiva 4. De la literatura al diseño ASTRA. Tiempo previsto: 50 segundos.</a:t>
            </a:r>
          </a:p>
          <a:p>
            <a:endParaRPr lang="es-CO"/>
          </a:p>
          <a:p>
            <a:r>
              <a:rPr lang="es-CO"/>
              <a:t>GUION ORAL (único texto que se pronuncia):</a:t>
            </a:r>
          </a:p>
          <a:p>
            <a:r>
              <a:rPr lang="es-CO"/>
              <a:t>La revisión de Pontiggia incluyó diecinueve estudios que compararon niveles de demanda con MATB. Según sus autores, siete describieron la configuración con suficiente detalle para permitir replicación o revisión. Este hallazgo orienta una decisión concreta: documentar parámetros, versión y secuencia de eventos, además de conservar el contexto de medición. Distinguimos la demanda programada, el desempeño observado y la carga percibida. Nuestra pregunta es cómo varían estos dos últimos componentes entre condiciones y a lo largo de ASTRA. Esta separación permite estudiar las respuestas de cada persona con una exposición experimental explícita.</a:t>
            </a:r>
          </a:p>
          <a:p>
            <a:endParaRPr lang="es-CO"/>
          </a:p>
          <a:p>
            <a:r>
              <a:rPr lang="es-CO"/>
              <a:t>NOTAS DE APOYO (no leer):</a:t>
            </a:r>
          </a:p>
          <a:p>
            <a:r>
              <a:rPr lang="es-CO"/>
              <a:t>Fuente primaria [2] Pontiggia, Gomez-Mérino et al. (2024), §3 y §3.3, configuración MATB: 19 publicaciones incluidas; siete suficientemente detalladas para replicación o revisión. La proporción describe la información reportada en ese conjunto de estudios: no es una tasa de replicación exitosa ni representa toda la literatura MATB. Cinco no describían la configuración; no agrupar las otras doce como estudios inválidos. No se efectuó metaanálisis debido a heterogeneidad y pequeño número de trabajos. Las decisiones para ASTRA son una síntesis metodológica del proyecto, no resultados experimentales de la revisión. Condiciones LOW/MEDIUM/HIGH parametrizadas, sin equivalencia universal. Transición: contexto longitudinal ASTRA.</a:t>
            </a:r>
          </a:p>
        </p:txBody>
      </p:sp>
      <p:sp>
        <p:nvSpPr>
          <p:cNvPr id="4" name="Slide Number Placeholder 3"/>
          <p:cNvSpPr>
            <a:spLocks noGrp="1"/>
          </p:cNvSpPr>
          <p:nvPr>
            <p:ph type="sldNum" sz="quarter" idx="5"/>
          </p:nvPr>
        </p:nvSpPr>
        <p:spPr/>
        <p:txBody>
          <a:bodyPr/>
          <a:lstStyle/>
          <a:p>
            <a:fld id="{944D5B2A-D743-4866-ACE9-262F5F7AEC5E}" type="slidenum">
              <a:rPr lang="es-CO" smtClean="0"/>
              <a:t>4</a:t>
            </a:fld>
            <a:endParaRPr lang="es-CO"/>
          </a:p>
        </p:txBody>
      </p:sp>
    </p:spTree>
    <p:extLst>
      <p:ext uri="{BB962C8B-B14F-4D97-AF65-F5344CB8AC3E}">
        <p14:creationId xmlns:p14="http://schemas.microsoft.com/office/powerpoint/2010/main" val="3436203113"/>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s-CO"/>
              <a:t>Diapositiva 5. ASTRA: contexto del estudio. Tiempo previsto: 50 segundos.</a:t>
            </a:r>
          </a:p>
          <a:p>
            <a:endParaRPr lang="es-CO"/>
          </a:p>
          <a:p>
            <a:r>
              <a:rPr lang="es-CO"/>
              <a:t>GUION ORAL (único texto que se pronuncia):</a:t>
            </a:r>
          </a:p>
          <a:p>
            <a:r>
              <a:rPr lang="es-CO"/>
              <a:t>ASTRA significa Aerospace Simulation Training Research Analogs. El protocolo contempla dos misiones secuenciales en el hábitat de la Fundación Cydonia, en Tocancipá. Cada misión prevé hasta seis participantes y quince jornadas inclusivas, con catorce noches dentro del hábitat. La evaluación se integra en una rutina de aislamiento y confinamiento, con horarios de sueño, alimentación, experimentos y actividades operativas. Este contexto permite seguir a cada persona en diferentes momentos del ciclo de misión. La ilustración representa conceptualmente una estación de evaluación y está identificada como generada con inteligencia artificial. La muestra final y las actividades realizadas se documentarán mediante los registros de ejecución.</a:t>
            </a:r>
          </a:p>
          <a:p>
            <a:endParaRPr lang="es-CO"/>
          </a:p>
          <a:p>
            <a:r>
              <a:rPr lang="es-CO"/>
              <a:t>NOTAS DE APOYO (no leer):</a:t>
            </a:r>
          </a:p>
          <a:p>
            <a:r>
              <a:rPr lang="es-CO"/>
              <a:t>ASTRA: Aerospace Simulation Training Research Analogs. Fuente: Manual v2.5, §§1.1–1.2 y 3.2; cronograma §§1–2. Seis participantes por misión es meta condicionada a elegibilidad, máximo 12 en conjunto. Quince días significa fechas inclusivas; la duración analítica procede de horas reales de cierre/apertura. Hábitat terrestre de aproximadamente 120 m². La imagen no representa una fotografía documental ni una verificación del equipamiento desplegado. Transición: secuencia de visitas.</a:t>
            </a:r>
          </a:p>
        </p:txBody>
      </p:sp>
      <p:sp>
        <p:nvSpPr>
          <p:cNvPr id="4" name="Slide Number Placeholder 3"/>
          <p:cNvSpPr>
            <a:spLocks noGrp="1"/>
          </p:cNvSpPr>
          <p:nvPr>
            <p:ph type="sldNum" sz="quarter" idx="5"/>
          </p:nvPr>
        </p:nvSpPr>
        <p:spPr/>
        <p:txBody>
          <a:bodyPr/>
          <a:lstStyle/>
          <a:p>
            <a:fld id="{944D5B2A-D743-4866-ACE9-262F5F7AEC5E}" type="slidenum">
              <a:rPr lang="es-CO" smtClean="0"/>
              <a:t>5</a:t>
            </a:fld>
            <a:endParaRPr lang="es-CO"/>
          </a:p>
        </p:txBody>
      </p:sp>
    </p:spTree>
    <p:extLst>
      <p:ext uri="{BB962C8B-B14F-4D97-AF65-F5344CB8AC3E}">
        <p14:creationId xmlns:p14="http://schemas.microsoft.com/office/powerpoint/2010/main" val="3186936714"/>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s-CO"/>
              <a:t>Diapositiva 6. Ocho visitas por participante. Tiempo previsto: 65 segundos.</a:t>
            </a:r>
          </a:p>
          <a:p>
            <a:endParaRPr lang="es-CO"/>
          </a:p>
          <a:p>
            <a:r>
              <a:rPr lang="es-CO"/>
              <a:t>GUION ORAL (único texto que se pronuncia):</a:t>
            </a:r>
          </a:p>
          <a:p>
            <a:r>
              <a:rPr lang="es-CO"/>
              <a:t>Cada participante tiene ocho visitas. V cero corresponde a la evaluación premisión; después se programan seis visitas en los días dos, cuatro, siete, diez, trece y quince; V siete corresponde al día siguiente al egreso. Esta secuencia permite comparar condiciones dentro de una visita y seguir cambios entre visitas. Las evaluaciones basales se programan el veintinueve de septiembre para ASTRA uno y el veintiocho para ASTRA dos. Están, respectivamente, a seis y veintitrés días del ingreso. Conservaremos esas distancias y las fechas reales en el análisis. Además, la rotación distribuye a cada participante entre horarios y estaciones durante las visitas intramisión. El calendario del congreso coincide con los días nueve y diez de ASTRA uno; la ponencia se concentra en el protocolo y el desarrollo documentado.</a:t>
            </a:r>
          </a:p>
          <a:p>
            <a:endParaRPr lang="es-CO"/>
          </a:p>
          <a:p>
            <a:r>
              <a:rPr lang="es-CO"/>
              <a:t>NOTAS DE APOYO (no leer):</a:t>
            </a:r>
          </a:p>
          <a:p>
            <a:r>
              <a:rPr lang="es-CO"/>
              <a:t>DM: día de misión; V: visita. Fuente: Manual §4.7.6.2–3; cronograma §§2, 4.1, 5.2 y 7; evidencia/cronologia_astra.csv. ASTRA1 ingreso 5oct, egreso 19oct y V7 20oct; ASTRA2 ingreso 21oct, egreso 4nov y V7 5nov. Intervalos intramisión: 2/3/3/3/2 días. CEINNA 13oct=DM9 y 14oct=DM10/V4 de A1; A2 en premisión. Disponibilidad futura de V4 depende de hora de ponencia, finalización y revisión. La rotación hora/estación es distinta del orden de niveles. Los códigos originales y el orden basal deben conservarse al vincular aspirante con misión. Transición: tareas que se repiten en cada visita.</a:t>
            </a:r>
          </a:p>
        </p:txBody>
      </p:sp>
      <p:sp>
        <p:nvSpPr>
          <p:cNvPr id="4" name="Slide Number Placeholder 3"/>
          <p:cNvSpPr>
            <a:spLocks noGrp="1"/>
          </p:cNvSpPr>
          <p:nvPr>
            <p:ph type="sldNum" sz="quarter" idx="5"/>
          </p:nvPr>
        </p:nvSpPr>
        <p:spPr/>
        <p:txBody>
          <a:bodyPr/>
          <a:lstStyle/>
          <a:p>
            <a:fld id="{944D5B2A-D743-4866-ACE9-262F5F7AEC5E}" type="slidenum">
              <a:rPr lang="es-CO" smtClean="0"/>
              <a:t>6</a:t>
            </a:fld>
            <a:endParaRPr lang="es-CO"/>
          </a:p>
        </p:txBody>
      </p:sp>
    </p:spTree>
    <p:extLst>
      <p:ext uri="{BB962C8B-B14F-4D97-AF65-F5344CB8AC3E}">
        <p14:creationId xmlns:p14="http://schemas.microsoft.com/office/powerpoint/2010/main" val="2794477406"/>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s-CO"/>
              <a:t>Diapositiva 7. Cuatro tareas simultáneas. Tiempo previsto: 60 segundos.</a:t>
            </a:r>
          </a:p>
          <a:p>
            <a:endParaRPr lang="es-CO"/>
          </a:p>
          <a:p>
            <a:r>
              <a:rPr lang="es-CO"/>
              <a:t>GUION ORAL (único texto que se pronuncia):</a:t>
            </a:r>
          </a:p>
          <a:p>
            <a:r>
              <a:rPr lang="es-CO"/>
              <a:t>MATB presenta cuatro tareas simultáneas. SYSMON, supervisión de sistemas, exige detectar cambios en luces e indicadores. TRACK, seguimiento compensatorio, requiere mantener un cursor dentro de una zona objetivo. COMM, comunicaciones, exige reconocer el indicativo pertinente y responder mediante la radio correspondiente. RESMAN, gestión de recursos, requiere controlar bombas y niveles de depósitos. Cada tarea aporta medidas específicas: detecciones, omisiones y latencias; desviación del seguimiento; respuestas a comunicaciones; y desviación de los depósitos respecto al objetivo. La concurrencia exige distribuir la atención entre demandas diferentes. OpenMATB proporciona el entorno de tareas; la integración de este repositorio genera escenarios, organiza su procedencia y procesa los registros.</a:t>
            </a:r>
          </a:p>
          <a:p>
            <a:endParaRPr lang="es-CO"/>
          </a:p>
          <a:p>
            <a:r>
              <a:rPr lang="es-CO"/>
              <a:t>NOTAS DE APOYO (no leer):</a:t>
            </a:r>
          </a:p>
          <a:p>
            <a:r>
              <a:rPr lang="es-CO"/>
              <a:t>Fuente: [1] Cegarra et al. (2020); auditoria_matb.md y openmatb/plugins/{sysmon,track,communications,resman}.py. SYSMON: system monitoring; TRACK: tracking; COMM: communications; RESMAN: resource management. Mantener en la imagen el rótulo de procedencia que incorpore el ensamblaje. Métricas vigentes: latencia en ms; TRACK en distancia normalizada; depósitos en unidades del escenario. Las proporciones calculadas por muestras no se describen como tiempo medido sin ponderación temporal. Transición: organización de los tres bloques y sus medidas subjetivas.</a:t>
            </a:r>
          </a:p>
        </p:txBody>
      </p:sp>
      <p:sp>
        <p:nvSpPr>
          <p:cNvPr id="4" name="Slide Number Placeholder 3"/>
          <p:cNvSpPr>
            <a:spLocks noGrp="1"/>
          </p:cNvSpPr>
          <p:nvPr>
            <p:ph type="sldNum" sz="quarter" idx="5"/>
          </p:nvPr>
        </p:nvSpPr>
        <p:spPr/>
        <p:txBody>
          <a:bodyPr/>
          <a:lstStyle/>
          <a:p>
            <a:fld id="{944D5B2A-D743-4866-ACE9-262F5F7AEC5E}" type="slidenum">
              <a:rPr lang="es-CO" smtClean="0"/>
              <a:t>7</a:t>
            </a:fld>
            <a:endParaRPr lang="es-CO"/>
          </a:p>
        </p:txBody>
      </p:sp>
    </p:spTree>
    <p:extLst>
      <p:ext uri="{BB962C8B-B14F-4D97-AF65-F5344CB8AC3E}">
        <p14:creationId xmlns:p14="http://schemas.microsoft.com/office/powerpoint/2010/main" val="4271619833"/>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s-CO"/>
              <a:t>Diapositiva 8. Estructura de una visita. Tiempo previsto: 55 segundos.</a:t>
            </a:r>
          </a:p>
          <a:p>
            <a:endParaRPr lang="es-CO"/>
          </a:p>
          <a:p>
            <a:r>
              <a:rPr lang="es-CO"/>
              <a:t>GUION ORAL (único texto que se pronuncia):</a:t>
            </a:r>
          </a:p>
          <a:p>
            <a:r>
              <a:rPr lang="es-CO"/>
              <a:t>Cada visita reserva noventa minutos. Incluye preparación, reposo, tres escenarios de quince minutos, pausas, cuestionarios y cierre. El orden de las tres condiciones se contrabalancea entre participantes. Antes de cada bloque se registra somnolencia con la escala de Karolinska, KSS. Durante la tarea, ISA recoge una autoevaluación instantánea. Después se administra NASA-TLX, el índice de carga de tarea de la NASA. Su versión cruda, RTLX, resume seis dimensiones mediante una media reescalada de cero a cien. Estas medidas conservan sus constructos específicos. Los cuestionarios pueden pausar el software, por lo que registramos tanto los novecientos segundos del escenario como la duración real de la sesión.</a:t>
            </a:r>
          </a:p>
          <a:p>
            <a:endParaRPr lang="es-CO"/>
          </a:p>
          <a:p>
            <a:r>
              <a:rPr lang="es-CO"/>
              <a:t>NOTAS DE APOYO (no leer):</a:t>
            </a:r>
          </a:p>
          <a:p>
            <a:r>
              <a:rPr lang="es-CO"/>
              <a:t>NASA-TLX: NASA Task Load Index; RTLX: Raw Task Load Index, media no ponderada de seis ítems completos. ISA: Instantaneous Self-Assessment. KSS: Karolinska Sleepiness Scale. Fuentes: Manual §§4.7.2 y 4.7.6.2; contrato metrics_spec.json; auditoria_matb.md; [3] Pontiggia, Fabries et al. (2024). [6] Laverde-López et al. (2022) es referencia complementaria de KSS colombiana; su publicación no acredita equivalencia literal con la implementación local. RTLX incompleto=valor ausente con motivo; TLX ponderado exige comparaciones pareadas. La figura LOW/MEDIUM/HIGH identifica condiciones, no una secuencia fija para todos. Transición: conservación de la evidencia.</a:t>
            </a:r>
          </a:p>
        </p:txBody>
      </p:sp>
      <p:sp>
        <p:nvSpPr>
          <p:cNvPr id="4" name="Slide Number Placeholder 3"/>
          <p:cNvSpPr>
            <a:spLocks noGrp="1"/>
          </p:cNvSpPr>
          <p:nvPr>
            <p:ph type="sldNum" sz="quarter" idx="5"/>
          </p:nvPr>
        </p:nvSpPr>
        <p:spPr/>
        <p:txBody>
          <a:bodyPr/>
          <a:lstStyle/>
          <a:p>
            <a:fld id="{944D5B2A-D743-4866-ACE9-262F5F7AEC5E}" type="slidenum">
              <a:rPr lang="es-CO" smtClean="0"/>
              <a:t>8</a:t>
            </a:fld>
            <a:endParaRPr lang="es-CO"/>
          </a:p>
        </p:txBody>
      </p:sp>
    </p:spTree>
    <p:extLst>
      <p:ext uri="{BB962C8B-B14F-4D97-AF65-F5344CB8AC3E}">
        <p14:creationId xmlns:p14="http://schemas.microsoft.com/office/powerpoint/2010/main" val="142021339"/>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Diapositiva 10. Del escenario a una métrica interpretable. Tiempo previsto: 65 segundos.</a:t>
            </a:r>
          </a:p>
          <a:p/>
          <a:p>
            <a:r>
              <a:t>GUION ORAL (único texto que se pronuncia):</a:t>
            </a:r>
          </a:p>
          <a:p>
            <a:r>
              <a:t>La trazabilidad conecta escenario, registro, métrica y análisis. Un ejemplo concreto es la carga percibida. En el contrato local, las seis respuestas de cero a diez deben estar completas; su media, multiplicada por diez, produce el índice no ponderado de cero a cien, denominado RTLX. Se conservan respuestas, versión, unidad y regla de cálculo. Si falta una dimensión, se preservan los datos disponibles y se registra el motivo de ausencia del compuesto. Esta regla hace interpretable el resultado y permite revisar cómo se obtuvo. El mismo principio se aplica a los eventos y las métricas de desempeño: cada salida mantiene su vínculo con la condición y el registro de origen.</a:t>
            </a:r>
          </a:p>
          <a:p/>
          <a:p>
            <a:r>
              <a:t>NOTAS DE APOYO (no leer):</a:t>
            </a:r>
          </a:p>
          <a:p>
            <a:r>
              <a:t>Fuentes de replicabilidad: [1] Cegarra et al. (2020), Experiment replicability; [5] Vogl et al. (2024), data handling y parameter generation. Regla RTLX verificada en matb_integration/metrics_spec.json y log_converter.py, auditoria_matb.md: seis dimensiones 0–10, media ×10, resultado 0–100, null si incompleto. RTLX: Raw Task Load Index, índice no ponderado; distinguir de NASA-TLX ponderado que requiere comparaciones pareadas. Un ejemplo de transformación de escala no demuestra validación psicométrica local. Completitud de archivo, calidad y elegibilidad de análisis se registran por separado. SHA-256 comprueba integridad de bytes; el tiempo físico corresponde a su procedimiento de medición. Transición: comprobaciones técnicas efectivamente ejecutadas.</a:t>
            </a:r>
          </a:p>
        </p:txBody>
      </p:sp>
      <p:sp>
        <p:nvSpPr>
          <p:cNvPr id="4" name="Slide Number Placeholder 3"/>
          <p:cNvSpPr>
            <a:spLocks noGrp="1"/>
          </p:cNvSpPr>
          <p:nvPr>
            <p:ph type="sldNum" sz="quarter" idx="5"/>
          </p:nvPr>
        </p:nvSpPr>
        <p:spPr/>
        <p:txBody>
          <a:bodyPr/>
          <a:lstStyle/>
          <a:p>
            <a:fld id="{944D5B2A-D743-4866-ACE9-262F5F7AEC5E}" type="slidenum">
              <a:rPr lang="es-CO" smtClean="0"/>
              <a:t>9</a:t>
            </a:fld>
            <a:endParaRPr lang="es-CO"/>
          </a:p>
        </p:txBody>
      </p:sp>
    </p:spTree>
    <p:extLst>
      <p:ext uri="{BB962C8B-B14F-4D97-AF65-F5344CB8AC3E}">
        <p14:creationId xmlns:p14="http://schemas.microsoft.com/office/powerpoint/2010/main" val="4141279550"/>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Diapositiva 11. Resultados de desarrollo. Tiempo previsto: 65 segundos.</a:t>
            </a:r>
          </a:p>
          <a:p/>
          <a:p>
            <a:r>
              <a:t>GUION ORAL (único texto que se pronuncia):</a:t>
            </a:r>
          </a:p>
          <a:p>
            <a:r>
              <a:t>Los resultados de desarrollo proceden de una demostración local con datos sintéticos. Se generaron tres escenarios, uno por condición, de novecientos segundos cada uno. Al repetir parámetros y semillas, los tres archivos resultaron idénticos. Sus huellas digitales coincidieron con las registradas en los manifiestos. Además, tres archivos CSV sintéticos se convirtieron en salidas de métricas versionadas. Estos resultados documentan reproducción e integridad, y comprueban por separado la generación de escenarios y la conversión de registros. La ejecución está fechada el veintiuno de septiembre y vinculada a una revisión del repositorio. Los artefactos conservan las entradas y los resultados de comprobación, de modo que otra revisión pueda repetir este procedimiento. La respuesta de los participantes constituye el objeto de la adquisición experimental prevista.</a:t>
            </a:r>
          </a:p>
          <a:p/>
          <a:p>
            <a:r>
              <a:t>NOTAS DE APOYO (no leer):</a:t>
            </a:r>
          </a:p>
          <a:p>
            <a:r>
              <a:t>Fuente primaria ejecutada: evidencia/verificacion_tecnica/resultado_verificacion.json; verificar_demo.py; escenarios, ejecucion_generador.txt y ejecucion_verificacion.txt. Commit fd5e1318dc6f036b538dd36ed3c5fe42ad8be7d0. Verificación: 3/3 hashes, 3/3 escenarios reproducidos idénticos y 3/3 CSV convertidos. No se presenta esta demostración como dato humano. La CLI auditada usó audio y cuestionarios ingleses; recursos españoles del repositorio se documentan separadamente. Se realizaron aserciones focales; no atribuir batería global de pruebas ni ajuste DEPDF al experimento. Transición: estructura de análisis de las futuras observaciones. Los CSV son fixtures sintéticos independientes; no son respuestas adquiridas durante la ejecución de los escenarios generados.</a:t>
            </a:r>
          </a:p>
        </p:txBody>
      </p:sp>
      <p:sp>
        <p:nvSpPr>
          <p:cNvPr id="4" name="Slide Number Placeholder 3"/>
          <p:cNvSpPr>
            <a:spLocks noGrp="1"/>
          </p:cNvSpPr>
          <p:nvPr>
            <p:ph type="sldNum" sz="quarter" idx="5"/>
          </p:nvPr>
        </p:nvSpPr>
        <p:spPr/>
        <p:txBody>
          <a:bodyPr/>
          <a:lstStyle/>
          <a:p>
            <a:fld id="{944D5B2A-D743-4866-ACE9-262F5F7AEC5E}" type="slidenum">
              <a:rPr lang="es-CO" smtClean="0"/>
              <a:t>10</a:t>
            </a:fld>
            <a:endParaRPr lang="es-CO"/>
          </a:p>
        </p:txBody>
      </p:sp>
    </p:spTree>
    <p:extLst>
      <p:ext uri="{BB962C8B-B14F-4D97-AF65-F5344CB8AC3E}">
        <p14:creationId xmlns:p14="http://schemas.microsoft.com/office/powerpoint/2010/main" val="2127386236"/>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Diapositiva 12. Análisis de medidas repetidas. Tiempo previsto: 65 segundos.</a:t>
            </a:r>
          </a:p>
          <a:p/>
          <a:p>
            <a:r>
              <a:t>GUION ORAL (único texto que se pronuncia):</a:t>
            </a:r>
          </a:p>
          <a:p>
            <a:r>
              <a:t>La unidad de seguimiento es la persona. Los bloques están anidados en visitas y las visitas en participantes. El análisis comenzará con trayectorias individuales, contrastes entre condiciones y cambios entre visitas. Se conservarán orden, hora, estación, sueño previo y distancia desde la evaluación basal. El experimento de Pontiggia muestra la utilidad de considerar conjuntamente contexto de sueño y demanda multitarea; el seguimiento antártico de Tortello aporta un antecedente de evaluación temporal en aislamiento. Sus poblaciones y duraciones son diferentes de ASTRA. Para este estudio, los modelos se ajustarán a la información disponible y se acompañarán de magnitud e incertidumbre. La cantidad de bloques mejora la descripción longitudinal, mientras que el número de participantes define el alcance de la comparación entre personas.</a:t>
            </a:r>
          </a:p>
          <a:p/>
          <a:p>
            <a:r>
              <a:t>NOTAS DE APOYO (no leer):</a:t>
            </a:r>
          </a:p>
          <a:p>
            <a:r>
              <a:t>Fuentes: [3] Pontiggia, Fabries et al. (2024), medidas repetidas en hipoxia/sueño; [4] Tortello et al. (2020), 13 varones durante un año y tarea de producción temporal; Manual §4.7.4. Tortello no estudió MATB ni valida causalidad en ASTRA. Hasta 12 personas; máximo programado 96 sesiones y 288 bloques. Preespecificar resultado principal, secundarios, reglas de exclusión y multiplicidad. Modelo parsimonioso condicionado a estimabilidad; los bloques no son observaciones independientes. Transición: relación entre medición e interpretación.</a:t>
            </a:r>
          </a:p>
        </p:txBody>
      </p:sp>
      <p:sp>
        <p:nvSpPr>
          <p:cNvPr id="4" name="Slide Number Placeholder 3"/>
          <p:cNvSpPr>
            <a:spLocks noGrp="1"/>
          </p:cNvSpPr>
          <p:nvPr>
            <p:ph type="sldNum" sz="quarter" idx="5"/>
          </p:nvPr>
        </p:nvSpPr>
        <p:spPr/>
        <p:txBody>
          <a:bodyPr/>
          <a:lstStyle/>
          <a:p>
            <a:fld id="{944D5B2A-D743-4866-ACE9-262F5F7AEC5E}" type="slidenum">
              <a:rPr lang="es-CO" smtClean="0"/>
              <a:t>11</a:t>
            </a:fld>
            <a:endParaRPr lang="es-CO"/>
          </a:p>
        </p:txBody>
      </p:sp>
    </p:spTree>
    <p:extLst>
      <p:ext uri="{BB962C8B-B14F-4D97-AF65-F5344CB8AC3E}">
        <p14:creationId xmlns:p14="http://schemas.microsoft.com/office/powerpoint/2010/main" val="2528093207"/>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Diapositiva 13. Marco de calificación científica. Tiempo previsto: 55 segundos.</a:t>
            </a:r>
          </a:p>
          <a:p/>
          <a:p>
            <a:r>
              <a:t>GUION ORAL (único texto que se pronuncia):</a:t>
            </a:r>
          </a:p>
          <a:p>
            <a:r>
              <a:t>El marco de calificación organiza cinco preguntas científicas. La reproducción comprueba si se repite el escenario programado. La fidelidad temporal caracteriza cuándo llega el estímulo físico al participante. La respuesta humana estudia la relación entre demanda, desempeño y carga percibida. La estabilidad cuantifica la variación al repetir la medición. La comparabilidad examina qué se conserva entre implementaciones. Cada pregunta tiene procedimientos y evidencias específicos. En esta ponencia mostramos reproducción del software y un diseño longitudinal para observar personas. Esta organización permite que cada conclusión corresponda a la evidencia que la sustenta y orienta el programa de investigación.</a:t>
            </a:r>
          </a:p>
          <a:p/>
          <a:p>
            <a:r>
              <a:t>NOTAS DE APOYO (no leer):</a:t>
            </a:r>
          </a:p>
          <a:p>
            <a:r>
              <a:t>Síntesis del marco del proyecto en fuentes/Abstract_ceinna_aportado.md y CEINNA_aportado.md, contrastada con contratos locales y evidencia/auditoria_matb.md. No atribuir este marco de cinco dimensiones como una taxonomía validada publicada por Cegarra/Pontiggia/Vogl: [1,2,5] fundamentan replicabilidad, especificación de demanda y diferencias entre versiones. Son dominios de evaluación, no cinco resultados ya demostrados. Reproducción comprobada con escenarios sintéticos. Medición temporal física requiere observación externa del estímulo; marcas digitales describen eventos de software. La estabilidad test–retest considera aprendizaje y condiciones; equivalencia exige comparación directa preespecificada y márgenes adecuados. Los resultados humanos corresponden al programa de adquisición previsto. Transición: conclusiones metodológicas de la ponencia.</a:t>
            </a:r>
          </a:p>
        </p:txBody>
      </p:sp>
      <p:sp>
        <p:nvSpPr>
          <p:cNvPr id="4" name="Slide Number Placeholder 3"/>
          <p:cNvSpPr>
            <a:spLocks noGrp="1"/>
          </p:cNvSpPr>
          <p:nvPr>
            <p:ph type="sldNum" sz="quarter" idx="5"/>
          </p:nvPr>
        </p:nvSpPr>
        <p:spPr/>
        <p:txBody>
          <a:bodyPr/>
          <a:lstStyle/>
          <a:p>
            <a:fld id="{944D5B2A-D743-4866-ACE9-262F5F7AEC5E}" type="slidenum">
              <a:rPr lang="es-CO" smtClean="0"/>
              <a:t>12</a:t>
            </a:fld>
            <a:endParaRPr lang="es-CO"/>
          </a:p>
        </p:txBody>
      </p:sp>
    </p:spTree>
    <p:extLst>
      <p:ext uri="{BB962C8B-B14F-4D97-AF65-F5344CB8AC3E}">
        <p14:creationId xmlns:p14="http://schemas.microsoft.com/office/powerpoint/2010/main" val="644307465"/>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Diapositiva 14. Conclusiones y recomendaciones. Tiempo previsto: 65 segundos.</a:t>
            </a:r>
          </a:p>
          <a:p/>
          <a:p>
            <a:r>
              <a:t>GUION ORAL (único texto que se pronuncia):</a:t>
            </a:r>
          </a:p>
          <a:p>
            <a:r>
              <a:t>La primera conclusión es que describir la demanda hace interpretable la comparación entre condiciones. Por ello, el protocolo conserva parámetros, duración y secuencia. La segunda es que la trazabilidad permite reconstruir el paso del escenario al evento y del evento a la métrica; la demostración técnica aporta evidencia de reproducción e integridad. La tercera es que ASTRA sitúa la respuesta multitarea en la trayectoria de cada persona, considerando contexto y calidad del registro. El análisis presentará resultados por tarea junto con carga percibida, magnitud e incertidumbre. La siguiente etapa es ejecutar las visitas conforme al protocolo y a las reglas de análisis predefinidas. Así se articulan desarrollo tecnológico y una pregunta concreta de investigación del factor humano.</a:t>
            </a:r>
          </a:p>
          <a:p/>
          <a:p>
            <a:r>
              <a:t>NOTAS DE APOYO (no leer):</a:t>
            </a:r>
          </a:p>
          <a:p>
            <a:r>
              <a:t>Fuentes: síntesis de [1,2,5], Manual §4.7 y cronograma §§2/4/7; comprobaciones de evidencia/verificacion_tecnica/. Las conclusiones describen contribución metodológica y evidencia técnica. No anticipan dirección de cambios, tamaños de efecto humanos, superioridad, equivalencia entre variantes ni validez operacional. Mantener el registro de incidencias, familiarización, fuentes de sueño y tiempos reales. Las medidas fisiológicas mantienen su propio protocolo de calidad e interpretación. Transición: referencias y preguntas.</a:t>
            </a:r>
          </a:p>
        </p:txBody>
      </p:sp>
      <p:sp>
        <p:nvSpPr>
          <p:cNvPr id="4" name="Slide Number Placeholder 3"/>
          <p:cNvSpPr>
            <a:spLocks noGrp="1"/>
          </p:cNvSpPr>
          <p:nvPr>
            <p:ph type="sldNum" sz="quarter" idx="5"/>
          </p:nvPr>
        </p:nvSpPr>
        <p:spPr/>
        <p:txBody>
          <a:bodyPr/>
          <a:lstStyle/>
          <a:p>
            <a:fld id="{944D5B2A-D743-4866-ACE9-262F5F7AEC5E}" type="slidenum">
              <a:rPr lang="es-CO" smtClean="0"/>
              <a:t>13</a:t>
            </a:fld>
            <a:endParaRPr lang="es-CO"/>
          </a:p>
        </p:txBody>
      </p:sp>
    </p:spTree>
    <p:extLst>
      <p:ext uri="{BB962C8B-B14F-4D97-AF65-F5344CB8AC3E}">
        <p14:creationId xmlns:p14="http://schemas.microsoft.com/office/powerpoint/2010/main" val="2723502138"/>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Diapositiva 15. Bibliografía I. Tiempo previsto: 10 segundos.</a:t>
            </a:r>
          </a:p>
          <a:p/>
          <a:p>
            <a:r>
              <a:t>GUION ORAL (único texto que se pronuncia):</a:t>
            </a:r>
          </a:p>
          <a:p>
            <a:r>
              <a:t>Estas primeras referencias fundamentan las tareas MATB, la descripción de la demanda experimental y la complementariedad de las mediciones.</a:t>
            </a:r>
          </a:p>
          <a:p/>
          <a:p>
            <a:r>
              <a:t>NOTAS DE APOYO (no leer):</a:t>
            </a:r>
          </a:p>
          <a:p>
            <a:r>
              <a:t>Fuentes [1–3] completas en evidencia/referencias_apa.md. Las dos publicaciones Pontiggia son revisión y experimento, respectivamente, con coautorías diferentes. No leer autores completos ni DOI durante los diez segundos. Transición: antecedentes complementarios.</a:t>
            </a:r>
          </a:p>
          <a:p/>
          <a:p>
            <a:r>
              <a:t>Cegarra, J., Valéry, B., Avril, E., Calmettes, C., &amp; Navarro, J. (2020). OpenMATB: A Multi-Attribute Task Battery promoting task customization, software extensibility and experiment replicability. Behavior Research Methods, 52(5), 1980–1990. https://doi.org/10.3758/s13428-020-01364-w</a:t>
            </a:r>
          </a:p>
          <a:p/>
          <a:p>
            <a:r>
              <a:t>Pontiggia, A., Gomez-Mérino, D., Quiquempoix, M., Beauchamps, V., Boffet, A., Fabries, P., Chennaoui, M., &amp; Sauvet, F. (2024). MATB for assessing different mental workload levels. Frontiers in Physiology, 15, Article 1408242. https://doi.org/10.3389/fphys.2024.1408242</a:t>
            </a:r>
          </a:p>
          <a:p/>
          <a:p>
            <a:r>
              <a:t>Pontiggia, A., Fabries, P., Beauchamps, V., Quiquempoix, M., Nespoulous, O., Jacques, C., Guillard, M., Van Beers, P., Ayounts, H., Koulmann, N., Gomez-Mérino, D., Chennaoui, M., &amp; Sauvet, F. (2024). Combined effects of moderate hypoxia and sleep restriction on mental workload. Clocks &amp; Sleep, 6(3), 338–358. https://doi.org/10.3390/clockssleep6030024</a:t>
            </a:r>
          </a:p>
        </p:txBody>
      </p:sp>
      <p:sp>
        <p:nvSpPr>
          <p:cNvPr id="4" name="Slide Number Placeholder 3"/>
          <p:cNvSpPr>
            <a:spLocks noGrp="1"/>
          </p:cNvSpPr>
          <p:nvPr>
            <p:ph type="sldNum" sz="quarter" idx="5"/>
          </p:nvPr>
        </p:nvSpPr>
        <p:spPr/>
        <p:txBody>
          <a:bodyPr/>
          <a:lstStyle/>
          <a:p>
            <a:fld id="{944D5B2A-D743-4866-ACE9-262F5F7AEC5E}" type="slidenum">
              <a:rPr lang="es-CO" smtClean="0"/>
              <a:t>14</a:t>
            </a:fld>
            <a:endParaRPr lang="es-CO"/>
          </a:p>
        </p:txBody>
      </p:sp>
    </p:spTree>
    <p:extLst>
      <p:ext uri="{BB962C8B-B14F-4D97-AF65-F5344CB8AC3E}">
        <p14:creationId xmlns:p14="http://schemas.microsoft.com/office/powerpoint/2010/main" val="234472769"/>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Diapositiva 16. Bibliografía II. Tiempo previsto: 10 segundos.</a:t>
            </a:r>
          </a:p>
          <a:p/>
          <a:p>
            <a:r>
              <a:t>GUION ORAL (único texto que se pronuncia):</a:t>
            </a:r>
          </a:p>
          <a:p>
            <a:r>
              <a:t>Estas referencias completan el fundamento metodológico. Muchas gracias; quedo atento a sus preguntas y comentarios.</a:t>
            </a:r>
          </a:p>
          <a:p/>
          <a:p>
            <a:r>
              <a:t>NOTAS DE APOYO (no leer):</a:t>
            </a:r>
          </a:p>
          <a:p>
            <a:r>
              <a:t>Fuentes [4–5] completas en evidencia/referencias_apa.md; [6] KSS complementaria en notas/banco. Reservar íntegros tres minutos para preguntas y comentarios. Transición a cierre institucional.</a:t>
            </a:r>
          </a:p>
          <a:p/>
          <a:p>
            <a:r>
              <a:t>Tortello, C., Agostino, P. V., Folgueira, A., Barbarito, M., Cuiuli, J. M., Coll, M., Golombék, D. A., Plano, S. A., &amp; Vigo, D. E. (2020). Subjective time estimation in Antarctica: The impact of extreme environments and isolation on a time production task. Neuroscience Letters, 725, Article 134893. https://doi.org/10.1016/j.neulet.2020.134893</a:t>
            </a:r>
          </a:p>
          <a:p/>
          <a:p>
            <a:r>
              <a:t>Vogl, J., McCurry, C. D., Bommer, S., &amp; Atchley, J. A. (2024). The United States Army Aeromedical Research Laboratory Multi-Attribute Task Battery. Frontiers in Neuroergonomics, 5, Article 1435588. https://doi.org/10.3389/fnrgo.2024.1435588</a:t>
            </a:r>
          </a:p>
          <a:p/>
          <a:p>
            <a:r>
              <a:t>Laverde-López, M. C., Escobar-Córdoba, F., &amp; Eslava-Schmalbach, J. (2022). Validation of the Colombian version of the Karolinska sleepiness scale. Sleep Science, 15(Spec 1), 97–104. https://doi.org/10.5935/1984-0063.20220006</a:t>
            </a:r>
          </a:p>
        </p:txBody>
      </p:sp>
      <p:sp>
        <p:nvSpPr>
          <p:cNvPr id="4" name="Slide Number Placeholder 3"/>
          <p:cNvSpPr>
            <a:spLocks noGrp="1"/>
          </p:cNvSpPr>
          <p:nvPr>
            <p:ph type="sldNum" sz="quarter" idx="5"/>
          </p:nvPr>
        </p:nvSpPr>
        <p:spPr/>
        <p:txBody>
          <a:bodyPr/>
          <a:lstStyle/>
          <a:p>
            <a:fld id="{944D5B2A-D743-4866-ACE9-262F5F7AEC5E}" type="slidenum">
              <a:rPr lang="es-CO" smtClean="0"/>
              <a:t>15</a:t>
            </a:fld>
            <a:endParaRPr lang="es-CO"/>
          </a:p>
        </p:txBody>
      </p:sp>
    </p:spTree>
    <p:extLst>
      <p:ext uri="{BB962C8B-B14F-4D97-AF65-F5344CB8AC3E}">
        <p14:creationId xmlns:p14="http://schemas.microsoft.com/office/powerpoint/2010/main" val="3301315579"/>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Diapositiva 17. Cierre institucional. Tiempo previsto: 0 segundos.</a:t>
            </a:r>
          </a:p>
          <a:p/>
          <a:p>
            <a:r>
              <a:t>Pantalla institucional de cierre y preguntas. Tres minutos separados de la exposición. Usar preguntas_comite.md para preparación; responder a las preguntas recibidas, sin imponer un listado al comité.</a:t>
            </a:r>
          </a:p>
        </p:txBody>
      </p:sp>
      <p:sp>
        <p:nvSpPr>
          <p:cNvPr id="4" name="Slide Number Placeholder 3"/>
          <p:cNvSpPr>
            <a:spLocks noGrp="1"/>
          </p:cNvSpPr>
          <p:nvPr>
            <p:ph type="sldNum" sz="quarter" idx="5"/>
          </p:nvPr>
        </p:nvSpPr>
        <p:spPr/>
        <p:txBody>
          <a:bodyPr/>
          <a:lstStyle/>
          <a:p>
            <a:fld id="{944D5B2A-D743-4866-ACE9-262F5F7AEC5E}" type="slidenum">
              <a:rPr lang="es-CO" smtClean="0"/>
              <a:t>16</a:t>
            </a:fld>
            <a:endParaRPr lang="es-CO"/>
          </a:p>
        </p:txBody>
      </p:sp>
    </p:spTree>
    <p:extLst>
      <p:ext uri="{BB962C8B-B14F-4D97-AF65-F5344CB8AC3E}">
        <p14:creationId xmlns:p14="http://schemas.microsoft.com/office/powerpoint/2010/main" val="785731564"/>
      </p:ext>
    </p:extLst>
  </p:cSld>
  <p:clrMapOvr>
    <a:masterClrMapping/>
  </p:clrMapOvr>
</p:notes>
</file>

<file path=ppt/notesSlides/notesSlide1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Diapositiva 9. Fisiología: adquisición separada. Tiempo previsto: 30 segundos.</a:t>
            </a:r>
          </a:p>
          <a:p/>
          <a:p>
            <a:r>
              <a:t>GUION ORAL (único texto que se pronuncia):_x000D_</a:t>
            </a:r>
          </a:p>
          <a:p>
            <a:r>
              <a:t>ASTRA contempla una línea fisiológica separada de las cuatro tareas MATB. La banda pectoral Polar H10 puede aportar intervalos R–R cuando se verifica la ruta de captura; el dispositivo de muñeca registra movimiento y actividad. Los descriptores de variabilidad cardíaca se derivan después de revisar calidad, cobertura y tiempo. Su relación con la carga y el desempeño será exploratoria; esta ilustración no representa una adquisición humana._x000D_</a:t>
            </a:r>
          </a:p>
          <a:p>
            <a:r>
              <a:t>_x000D_</a:t>
            </a:r>
          </a:p>
          <a:p>
            <a:r>
              <a:t>NOTAS DE APOYO (no leer):_x000D_</a:t>
            </a:r>
          </a:p>
          <a:p>
            <a:r>
              <a:t>Manual ASTRA v2.5, sección de adquisición fisiológica y §4.2.3; matb_integration/physiology/contracts.py y analysis.py. El R–R directo del H10 requiere ruta/receptor verificados; ActiGraph registra movimiento y la ruta de frecuencia cardíaca puede no conservar R–R. HRV se deriva tras control de artefactos y calidad, no es una señal medida directamente. Los sensores no prueban despliegue ni resultados de participantes. No inferir diagnóstico, aptitud, predicción de fatiga o equivalencia con umbrales ventilatorios medidos. Ilustración conceptual generada con IA. Transición: trazabilidad de los registros.</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Diapositiva de título">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1F0B50AC-7428-EDFA-D98F-CE4E0579918F}"/>
              </a:ext>
            </a:extLst>
          </p:cNvPr>
          <p:cNvSpPr>
            <a:spLocks noGrp="1"/>
          </p:cNvSpPr>
          <p:nvPr>
            <p:ph type="ctrTitle"/>
          </p:nvPr>
        </p:nvSpPr>
        <p:spPr>
          <a:xfrm>
            <a:off x="1524000" y="1122363"/>
            <a:ext cx="9144000" cy="2387600"/>
          </a:xfrm>
        </p:spPr>
        <p:txBody>
          <a:bodyPr anchor="b"/>
          <a:lstStyle>
            <a:lvl1pPr algn="ctr">
              <a:defRPr sz="6000"/>
            </a:lvl1pPr>
          </a:lstStyle>
          <a:p>
            <a:r>
              <a:rPr lang="es-ES"/>
              <a:t>Haga clic para modificar el estilo de título del patrón</a:t>
            </a:r>
            <a:endParaRPr lang="es-CO"/>
          </a:p>
        </p:txBody>
      </p:sp>
      <p:sp>
        <p:nvSpPr>
          <p:cNvPr id="3" name="Subtítulo 2">
            <a:extLst>
              <a:ext uri="{FF2B5EF4-FFF2-40B4-BE49-F238E27FC236}">
                <a16:creationId xmlns:a16="http://schemas.microsoft.com/office/drawing/2014/main" id="{DE779F98-45EF-1920-0AAE-D25FF7D87DAA}"/>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s-ES"/>
              <a:t>Haga clic para modificar el estilo de subtítulo del patrón</a:t>
            </a:r>
            <a:endParaRPr lang="es-CO"/>
          </a:p>
        </p:txBody>
      </p:sp>
      <p:sp>
        <p:nvSpPr>
          <p:cNvPr id="4" name="Marcador de fecha 3">
            <a:extLst>
              <a:ext uri="{FF2B5EF4-FFF2-40B4-BE49-F238E27FC236}">
                <a16:creationId xmlns:a16="http://schemas.microsoft.com/office/drawing/2014/main" id="{19187ADB-62A4-9A1C-4417-0CAF93B0335C}"/>
              </a:ext>
            </a:extLst>
          </p:cNvPr>
          <p:cNvSpPr>
            <a:spLocks noGrp="1"/>
          </p:cNvSpPr>
          <p:nvPr>
            <p:ph type="dt" sz="half" idx="10"/>
          </p:nvPr>
        </p:nvSpPr>
        <p:spPr/>
        <p:txBody>
          <a:bodyPr/>
          <a:lstStyle/>
          <a:p>
            <a:fld id="{F8867779-4CC4-4ADA-8BE2-FCD6D3531C2A}" type="datetimeFigureOut">
              <a:rPr lang="es-CO" smtClean="0"/>
              <a:t>21/09/2026</a:t>
            </a:fld>
            <a:endParaRPr lang="es-CO"/>
          </a:p>
        </p:txBody>
      </p:sp>
      <p:sp>
        <p:nvSpPr>
          <p:cNvPr id="5" name="Marcador de pie de página 4">
            <a:extLst>
              <a:ext uri="{FF2B5EF4-FFF2-40B4-BE49-F238E27FC236}">
                <a16:creationId xmlns:a16="http://schemas.microsoft.com/office/drawing/2014/main" id="{5F203004-C622-893C-7C23-EFDF6B27A55C}"/>
              </a:ext>
            </a:extLst>
          </p:cNvPr>
          <p:cNvSpPr>
            <a:spLocks noGrp="1"/>
          </p:cNvSpPr>
          <p:nvPr>
            <p:ph type="ftr" sz="quarter" idx="11"/>
          </p:nvPr>
        </p:nvSpPr>
        <p:spPr/>
        <p:txBody>
          <a:bodyPr/>
          <a:lstStyle/>
          <a:p>
            <a:endParaRPr lang="es-CO"/>
          </a:p>
        </p:txBody>
      </p:sp>
      <p:sp>
        <p:nvSpPr>
          <p:cNvPr id="6" name="Marcador de número de diapositiva 5">
            <a:extLst>
              <a:ext uri="{FF2B5EF4-FFF2-40B4-BE49-F238E27FC236}">
                <a16:creationId xmlns:a16="http://schemas.microsoft.com/office/drawing/2014/main" id="{A5D7B9B1-E505-BA67-76C1-C27674129CF3}"/>
              </a:ext>
            </a:extLst>
          </p:cNvPr>
          <p:cNvSpPr>
            <a:spLocks noGrp="1"/>
          </p:cNvSpPr>
          <p:nvPr>
            <p:ph type="sldNum" sz="quarter" idx="12"/>
          </p:nvPr>
        </p:nvSpPr>
        <p:spPr/>
        <p:txBody>
          <a:bodyPr/>
          <a:lstStyle/>
          <a:p>
            <a:fld id="{B31F450F-98ED-48A4-8BC8-771CA4AFA025}" type="slidenum">
              <a:rPr lang="es-CO" smtClean="0"/>
              <a:t>‹#›</a:t>
            </a:fld>
            <a:endParaRPr lang="es-CO"/>
          </a:p>
        </p:txBody>
      </p:sp>
    </p:spTree>
    <p:extLst>
      <p:ext uri="{BB962C8B-B14F-4D97-AF65-F5344CB8AC3E}">
        <p14:creationId xmlns:p14="http://schemas.microsoft.com/office/powerpoint/2010/main" val="136707062"/>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ítulo y objetos">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83BE6147-C2BE-C833-AA78-966B83D9657C}"/>
              </a:ext>
            </a:extLst>
          </p:cNvPr>
          <p:cNvSpPr>
            <a:spLocks noGrp="1"/>
          </p:cNvSpPr>
          <p:nvPr>
            <p:ph type="title"/>
          </p:nvPr>
        </p:nvSpPr>
        <p:spPr/>
        <p:txBody>
          <a:bodyPr/>
          <a:lstStyle/>
          <a:p>
            <a:r>
              <a:rPr lang="es-ES"/>
              <a:t>Haga clic para modificar el estilo de título del patrón</a:t>
            </a:r>
            <a:endParaRPr lang="es-CO"/>
          </a:p>
        </p:txBody>
      </p:sp>
      <p:sp>
        <p:nvSpPr>
          <p:cNvPr id="3" name="Marcador de contenido 2">
            <a:extLst>
              <a:ext uri="{FF2B5EF4-FFF2-40B4-BE49-F238E27FC236}">
                <a16:creationId xmlns:a16="http://schemas.microsoft.com/office/drawing/2014/main" id="{440574FC-855B-02B5-3AF9-ED169CBCC73D}"/>
              </a:ext>
            </a:extLst>
          </p:cNvPr>
          <p:cNvSpPr>
            <a:spLocks noGrp="1"/>
          </p:cNvSpPr>
          <p:nvPr>
            <p:ph idx="1"/>
          </p:nvPr>
        </p:nvSpPr>
        <p:spPr/>
        <p:txBody>
          <a:bodyPr/>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s-CO"/>
          </a:p>
        </p:txBody>
      </p:sp>
      <p:sp>
        <p:nvSpPr>
          <p:cNvPr id="4" name="Marcador de fecha 3">
            <a:extLst>
              <a:ext uri="{FF2B5EF4-FFF2-40B4-BE49-F238E27FC236}">
                <a16:creationId xmlns:a16="http://schemas.microsoft.com/office/drawing/2014/main" id="{5E024797-8F2F-6182-DABB-A6527628FB5B}"/>
              </a:ext>
            </a:extLst>
          </p:cNvPr>
          <p:cNvSpPr>
            <a:spLocks noGrp="1"/>
          </p:cNvSpPr>
          <p:nvPr>
            <p:ph type="dt" sz="half" idx="10"/>
          </p:nvPr>
        </p:nvSpPr>
        <p:spPr/>
        <p:txBody>
          <a:bodyPr/>
          <a:lstStyle/>
          <a:p>
            <a:fld id="{F8867779-4CC4-4ADA-8BE2-FCD6D3531C2A}" type="datetimeFigureOut">
              <a:rPr lang="es-CO" smtClean="0"/>
              <a:t>21/09/2026</a:t>
            </a:fld>
            <a:endParaRPr lang="es-CO"/>
          </a:p>
        </p:txBody>
      </p:sp>
      <p:sp>
        <p:nvSpPr>
          <p:cNvPr id="5" name="Marcador de pie de página 4">
            <a:extLst>
              <a:ext uri="{FF2B5EF4-FFF2-40B4-BE49-F238E27FC236}">
                <a16:creationId xmlns:a16="http://schemas.microsoft.com/office/drawing/2014/main" id="{688B60E6-5773-D7EC-F975-D940EAC43DB8}"/>
              </a:ext>
            </a:extLst>
          </p:cNvPr>
          <p:cNvSpPr>
            <a:spLocks noGrp="1"/>
          </p:cNvSpPr>
          <p:nvPr>
            <p:ph type="ftr" sz="quarter" idx="11"/>
          </p:nvPr>
        </p:nvSpPr>
        <p:spPr/>
        <p:txBody>
          <a:bodyPr/>
          <a:lstStyle/>
          <a:p>
            <a:endParaRPr lang="es-CO"/>
          </a:p>
        </p:txBody>
      </p:sp>
      <p:sp>
        <p:nvSpPr>
          <p:cNvPr id="6" name="Marcador de número de diapositiva 5">
            <a:extLst>
              <a:ext uri="{FF2B5EF4-FFF2-40B4-BE49-F238E27FC236}">
                <a16:creationId xmlns:a16="http://schemas.microsoft.com/office/drawing/2014/main" id="{D87CB42D-082E-9697-04B3-8806B7F96C74}"/>
              </a:ext>
            </a:extLst>
          </p:cNvPr>
          <p:cNvSpPr>
            <a:spLocks noGrp="1"/>
          </p:cNvSpPr>
          <p:nvPr>
            <p:ph type="sldNum" sz="quarter" idx="12"/>
          </p:nvPr>
        </p:nvSpPr>
        <p:spPr/>
        <p:txBody>
          <a:bodyPr/>
          <a:lstStyle/>
          <a:p>
            <a:fld id="{B31F450F-98ED-48A4-8BC8-771CA4AFA025}" type="slidenum">
              <a:rPr lang="es-CO" smtClean="0"/>
              <a:t>‹#›</a:t>
            </a:fld>
            <a:endParaRPr lang="es-CO"/>
          </a:p>
        </p:txBody>
      </p:sp>
    </p:spTree>
    <p:extLst>
      <p:ext uri="{BB962C8B-B14F-4D97-AF65-F5344CB8AC3E}">
        <p14:creationId xmlns:p14="http://schemas.microsoft.com/office/powerpoint/2010/main" val="2951914180"/>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Encabezado de sección">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24A22A24-018C-F457-5E0F-5C74E8B04078}"/>
              </a:ext>
            </a:extLst>
          </p:cNvPr>
          <p:cNvSpPr>
            <a:spLocks noGrp="1"/>
          </p:cNvSpPr>
          <p:nvPr>
            <p:ph type="title"/>
          </p:nvPr>
        </p:nvSpPr>
        <p:spPr>
          <a:xfrm>
            <a:off x="831850" y="1709738"/>
            <a:ext cx="10515600" cy="2852737"/>
          </a:xfrm>
        </p:spPr>
        <p:txBody>
          <a:bodyPr anchor="b"/>
          <a:lstStyle>
            <a:lvl1pPr>
              <a:defRPr sz="6000"/>
            </a:lvl1pPr>
          </a:lstStyle>
          <a:p>
            <a:r>
              <a:rPr lang="es-ES"/>
              <a:t>Haga clic para modificar el estilo de título del patrón</a:t>
            </a:r>
            <a:endParaRPr lang="es-CO"/>
          </a:p>
        </p:txBody>
      </p:sp>
      <p:sp>
        <p:nvSpPr>
          <p:cNvPr id="3" name="Marcador de texto 2">
            <a:extLst>
              <a:ext uri="{FF2B5EF4-FFF2-40B4-BE49-F238E27FC236}">
                <a16:creationId xmlns:a16="http://schemas.microsoft.com/office/drawing/2014/main" id="{AFA56FD7-BE87-E08B-D518-0CA24FD380F5}"/>
              </a:ext>
            </a:extLst>
          </p:cNvPr>
          <p:cNvSpPr>
            <a:spLocks noGrp="1"/>
          </p:cNvSpPr>
          <p:nvPr>
            <p:ph type="body" idx="1"/>
          </p:nvPr>
        </p:nvSpPr>
        <p:spPr>
          <a:xfrm>
            <a:off x="831850" y="4589463"/>
            <a:ext cx="10515600" cy="1500187"/>
          </a:xfrm>
        </p:spPr>
        <p:txBody>
          <a:bodyPr/>
          <a:lstStyle>
            <a:lvl1pPr marL="0" indent="0">
              <a:buNone/>
              <a:defRPr sz="2400">
                <a:solidFill>
                  <a:schemeClr val="tx1">
                    <a:tint val="82000"/>
                  </a:schemeClr>
                </a:solidFill>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es-ES"/>
              <a:t>Haga clic para modificar los estilos de texto del patrón</a:t>
            </a:r>
          </a:p>
        </p:txBody>
      </p:sp>
      <p:sp>
        <p:nvSpPr>
          <p:cNvPr id="4" name="Marcador de fecha 3">
            <a:extLst>
              <a:ext uri="{FF2B5EF4-FFF2-40B4-BE49-F238E27FC236}">
                <a16:creationId xmlns:a16="http://schemas.microsoft.com/office/drawing/2014/main" id="{50D151D8-B84E-AEBC-4DAC-49371C9B5D30}"/>
              </a:ext>
            </a:extLst>
          </p:cNvPr>
          <p:cNvSpPr>
            <a:spLocks noGrp="1"/>
          </p:cNvSpPr>
          <p:nvPr>
            <p:ph type="dt" sz="half" idx="10"/>
          </p:nvPr>
        </p:nvSpPr>
        <p:spPr/>
        <p:txBody>
          <a:bodyPr/>
          <a:lstStyle/>
          <a:p>
            <a:fld id="{F8867779-4CC4-4ADA-8BE2-FCD6D3531C2A}" type="datetimeFigureOut">
              <a:rPr lang="es-CO" smtClean="0"/>
              <a:t>21/09/2026</a:t>
            </a:fld>
            <a:endParaRPr lang="es-CO"/>
          </a:p>
        </p:txBody>
      </p:sp>
      <p:sp>
        <p:nvSpPr>
          <p:cNvPr id="5" name="Marcador de pie de página 4">
            <a:extLst>
              <a:ext uri="{FF2B5EF4-FFF2-40B4-BE49-F238E27FC236}">
                <a16:creationId xmlns:a16="http://schemas.microsoft.com/office/drawing/2014/main" id="{76643748-844D-CC11-4078-E87A11342002}"/>
              </a:ext>
            </a:extLst>
          </p:cNvPr>
          <p:cNvSpPr>
            <a:spLocks noGrp="1"/>
          </p:cNvSpPr>
          <p:nvPr>
            <p:ph type="ftr" sz="quarter" idx="11"/>
          </p:nvPr>
        </p:nvSpPr>
        <p:spPr/>
        <p:txBody>
          <a:bodyPr/>
          <a:lstStyle/>
          <a:p>
            <a:endParaRPr lang="es-CO"/>
          </a:p>
        </p:txBody>
      </p:sp>
      <p:sp>
        <p:nvSpPr>
          <p:cNvPr id="6" name="Marcador de número de diapositiva 5">
            <a:extLst>
              <a:ext uri="{FF2B5EF4-FFF2-40B4-BE49-F238E27FC236}">
                <a16:creationId xmlns:a16="http://schemas.microsoft.com/office/drawing/2014/main" id="{2CB9A02F-1E94-A6A9-02CD-EC3738B4B6C4}"/>
              </a:ext>
            </a:extLst>
          </p:cNvPr>
          <p:cNvSpPr>
            <a:spLocks noGrp="1"/>
          </p:cNvSpPr>
          <p:nvPr>
            <p:ph type="sldNum" sz="quarter" idx="12"/>
          </p:nvPr>
        </p:nvSpPr>
        <p:spPr/>
        <p:txBody>
          <a:bodyPr/>
          <a:lstStyle/>
          <a:p>
            <a:fld id="{B31F450F-98ED-48A4-8BC8-771CA4AFA025}" type="slidenum">
              <a:rPr lang="es-CO" smtClean="0"/>
              <a:t>‹#›</a:t>
            </a:fld>
            <a:endParaRPr lang="es-CO"/>
          </a:p>
        </p:txBody>
      </p:sp>
    </p:spTree>
    <p:extLst>
      <p:ext uri="{BB962C8B-B14F-4D97-AF65-F5344CB8AC3E}">
        <p14:creationId xmlns:p14="http://schemas.microsoft.com/office/powerpoint/2010/main" val="3747938330"/>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Dos objetos">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2A99AC6D-C9D7-937D-C0C8-76F6012669CD}"/>
              </a:ext>
            </a:extLst>
          </p:cNvPr>
          <p:cNvSpPr>
            <a:spLocks noGrp="1"/>
          </p:cNvSpPr>
          <p:nvPr>
            <p:ph type="title"/>
          </p:nvPr>
        </p:nvSpPr>
        <p:spPr/>
        <p:txBody>
          <a:bodyPr/>
          <a:lstStyle/>
          <a:p>
            <a:r>
              <a:rPr lang="es-ES"/>
              <a:t>Haga clic para modificar el estilo de título del patrón</a:t>
            </a:r>
            <a:endParaRPr lang="es-CO"/>
          </a:p>
        </p:txBody>
      </p:sp>
      <p:sp>
        <p:nvSpPr>
          <p:cNvPr id="3" name="Marcador de contenido 2">
            <a:extLst>
              <a:ext uri="{FF2B5EF4-FFF2-40B4-BE49-F238E27FC236}">
                <a16:creationId xmlns:a16="http://schemas.microsoft.com/office/drawing/2014/main" id="{EA0273B2-CF35-A90D-4B2C-A0CC24BD174D}"/>
              </a:ext>
            </a:extLst>
          </p:cNvPr>
          <p:cNvSpPr>
            <a:spLocks noGrp="1"/>
          </p:cNvSpPr>
          <p:nvPr>
            <p:ph sz="half" idx="1"/>
          </p:nvPr>
        </p:nvSpPr>
        <p:spPr>
          <a:xfrm>
            <a:off x="838200" y="1825625"/>
            <a:ext cx="5181600" cy="4351338"/>
          </a:xfrm>
        </p:spPr>
        <p:txBody>
          <a:bodyPr/>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s-CO"/>
          </a:p>
        </p:txBody>
      </p:sp>
      <p:sp>
        <p:nvSpPr>
          <p:cNvPr id="4" name="Marcador de contenido 3">
            <a:extLst>
              <a:ext uri="{FF2B5EF4-FFF2-40B4-BE49-F238E27FC236}">
                <a16:creationId xmlns:a16="http://schemas.microsoft.com/office/drawing/2014/main" id="{830419DA-D323-FFAC-8130-68DF5EC04A75}"/>
              </a:ext>
            </a:extLst>
          </p:cNvPr>
          <p:cNvSpPr>
            <a:spLocks noGrp="1"/>
          </p:cNvSpPr>
          <p:nvPr>
            <p:ph sz="half" idx="2"/>
          </p:nvPr>
        </p:nvSpPr>
        <p:spPr>
          <a:xfrm>
            <a:off x="6172200" y="1825625"/>
            <a:ext cx="5181600" cy="4351338"/>
          </a:xfrm>
        </p:spPr>
        <p:txBody>
          <a:bodyPr/>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s-CO"/>
          </a:p>
        </p:txBody>
      </p:sp>
      <p:sp>
        <p:nvSpPr>
          <p:cNvPr id="5" name="Marcador de fecha 4">
            <a:extLst>
              <a:ext uri="{FF2B5EF4-FFF2-40B4-BE49-F238E27FC236}">
                <a16:creationId xmlns:a16="http://schemas.microsoft.com/office/drawing/2014/main" id="{E086C857-F915-0009-BBBA-C13E4E144D9D}"/>
              </a:ext>
            </a:extLst>
          </p:cNvPr>
          <p:cNvSpPr>
            <a:spLocks noGrp="1"/>
          </p:cNvSpPr>
          <p:nvPr>
            <p:ph type="dt" sz="half" idx="10"/>
          </p:nvPr>
        </p:nvSpPr>
        <p:spPr/>
        <p:txBody>
          <a:bodyPr/>
          <a:lstStyle/>
          <a:p>
            <a:fld id="{F8867779-4CC4-4ADA-8BE2-FCD6D3531C2A}" type="datetimeFigureOut">
              <a:rPr lang="es-CO" smtClean="0"/>
              <a:t>21/09/2026</a:t>
            </a:fld>
            <a:endParaRPr lang="es-CO"/>
          </a:p>
        </p:txBody>
      </p:sp>
      <p:sp>
        <p:nvSpPr>
          <p:cNvPr id="6" name="Marcador de pie de página 5">
            <a:extLst>
              <a:ext uri="{FF2B5EF4-FFF2-40B4-BE49-F238E27FC236}">
                <a16:creationId xmlns:a16="http://schemas.microsoft.com/office/drawing/2014/main" id="{0B04B7C7-EC5C-6162-D99C-09F0B576A2DE}"/>
              </a:ext>
            </a:extLst>
          </p:cNvPr>
          <p:cNvSpPr>
            <a:spLocks noGrp="1"/>
          </p:cNvSpPr>
          <p:nvPr>
            <p:ph type="ftr" sz="quarter" idx="11"/>
          </p:nvPr>
        </p:nvSpPr>
        <p:spPr/>
        <p:txBody>
          <a:bodyPr/>
          <a:lstStyle/>
          <a:p>
            <a:endParaRPr lang="es-CO"/>
          </a:p>
        </p:txBody>
      </p:sp>
      <p:sp>
        <p:nvSpPr>
          <p:cNvPr id="7" name="Marcador de número de diapositiva 6">
            <a:extLst>
              <a:ext uri="{FF2B5EF4-FFF2-40B4-BE49-F238E27FC236}">
                <a16:creationId xmlns:a16="http://schemas.microsoft.com/office/drawing/2014/main" id="{4D624E6A-9CF6-7FE4-73D3-3DD347D183BD}"/>
              </a:ext>
            </a:extLst>
          </p:cNvPr>
          <p:cNvSpPr>
            <a:spLocks noGrp="1"/>
          </p:cNvSpPr>
          <p:nvPr>
            <p:ph type="sldNum" sz="quarter" idx="12"/>
          </p:nvPr>
        </p:nvSpPr>
        <p:spPr/>
        <p:txBody>
          <a:bodyPr/>
          <a:lstStyle/>
          <a:p>
            <a:fld id="{B31F450F-98ED-48A4-8BC8-771CA4AFA025}" type="slidenum">
              <a:rPr lang="es-CO" smtClean="0"/>
              <a:t>‹#›</a:t>
            </a:fld>
            <a:endParaRPr lang="es-CO"/>
          </a:p>
        </p:txBody>
      </p:sp>
    </p:spTree>
    <p:extLst>
      <p:ext uri="{BB962C8B-B14F-4D97-AF65-F5344CB8AC3E}">
        <p14:creationId xmlns:p14="http://schemas.microsoft.com/office/powerpoint/2010/main" val="296806851"/>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ación">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0F6962AC-EC4A-9243-6E17-DCC9109C8E2B}"/>
              </a:ext>
            </a:extLst>
          </p:cNvPr>
          <p:cNvSpPr>
            <a:spLocks noGrp="1"/>
          </p:cNvSpPr>
          <p:nvPr>
            <p:ph type="title"/>
          </p:nvPr>
        </p:nvSpPr>
        <p:spPr>
          <a:xfrm>
            <a:off x="839788" y="365125"/>
            <a:ext cx="10515600" cy="1325563"/>
          </a:xfrm>
        </p:spPr>
        <p:txBody>
          <a:bodyPr/>
          <a:lstStyle/>
          <a:p>
            <a:r>
              <a:rPr lang="es-ES"/>
              <a:t>Haga clic para modificar el estilo de título del patrón</a:t>
            </a:r>
            <a:endParaRPr lang="es-CO"/>
          </a:p>
        </p:txBody>
      </p:sp>
      <p:sp>
        <p:nvSpPr>
          <p:cNvPr id="3" name="Marcador de texto 2">
            <a:extLst>
              <a:ext uri="{FF2B5EF4-FFF2-40B4-BE49-F238E27FC236}">
                <a16:creationId xmlns:a16="http://schemas.microsoft.com/office/drawing/2014/main" id="{7E22F166-4F71-1D91-7F9D-12C0956BC377}"/>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s-ES"/>
              <a:t>Haga clic para modificar los estilos de texto del patrón</a:t>
            </a:r>
          </a:p>
        </p:txBody>
      </p:sp>
      <p:sp>
        <p:nvSpPr>
          <p:cNvPr id="4" name="Marcador de contenido 3">
            <a:extLst>
              <a:ext uri="{FF2B5EF4-FFF2-40B4-BE49-F238E27FC236}">
                <a16:creationId xmlns:a16="http://schemas.microsoft.com/office/drawing/2014/main" id="{E86DC084-803D-A56D-0B88-8E1C9885E7D1}"/>
              </a:ext>
            </a:extLst>
          </p:cNvPr>
          <p:cNvSpPr>
            <a:spLocks noGrp="1"/>
          </p:cNvSpPr>
          <p:nvPr>
            <p:ph sz="half" idx="2"/>
          </p:nvPr>
        </p:nvSpPr>
        <p:spPr>
          <a:xfrm>
            <a:off x="839788" y="2505075"/>
            <a:ext cx="5157787" cy="3684588"/>
          </a:xfrm>
        </p:spPr>
        <p:txBody>
          <a:bodyPr/>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s-CO"/>
          </a:p>
        </p:txBody>
      </p:sp>
      <p:sp>
        <p:nvSpPr>
          <p:cNvPr id="5" name="Marcador de texto 4">
            <a:extLst>
              <a:ext uri="{FF2B5EF4-FFF2-40B4-BE49-F238E27FC236}">
                <a16:creationId xmlns:a16="http://schemas.microsoft.com/office/drawing/2014/main" id="{6F7EB893-882D-E021-C0A3-C3C35F6C47AB}"/>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s-ES"/>
              <a:t>Haga clic para modificar los estilos de texto del patrón</a:t>
            </a:r>
          </a:p>
        </p:txBody>
      </p:sp>
      <p:sp>
        <p:nvSpPr>
          <p:cNvPr id="6" name="Marcador de contenido 5">
            <a:extLst>
              <a:ext uri="{FF2B5EF4-FFF2-40B4-BE49-F238E27FC236}">
                <a16:creationId xmlns:a16="http://schemas.microsoft.com/office/drawing/2014/main" id="{D8B99FED-A914-A297-4585-7B022F43301A}"/>
              </a:ext>
            </a:extLst>
          </p:cNvPr>
          <p:cNvSpPr>
            <a:spLocks noGrp="1"/>
          </p:cNvSpPr>
          <p:nvPr>
            <p:ph sz="quarter" idx="4"/>
          </p:nvPr>
        </p:nvSpPr>
        <p:spPr>
          <a:xfrm>
            <a:off x="6172200" y="2505075"/>
            <a:ext cx="5183188" cy="3684588"/>
          </a:xfrm>
        </p:spPr>
        <p:txBody>
          <a:bodyPr/>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s-CO"/>
          </a:p>
        </p:txBody>
      </p:sp>
      <p:sp>
        <p:nvSpPr>
          <p:cNvPr id="7" name="Marcador de fecha 6">
            <a:extLst>
              <a:ext uri="{FF2B5EF4-FFF2-40B4-BE49-F238E27FC236}">
                <a16:creationId xmlns:a16="http://schemas.microsoft.com/office/drawing/2014/main" id="{E1A4BCF8-4E79-3CA6-A3E9-B640A2810C41}"/>
              </a:ext>
            </a:extLst>
          </p:cNvPr>
          <p:cNvSpPr>
            <a:spLocks noGrp="1"/>
          </p:cNvSpPr>
          <p:nvPr>
            <p:ph type="dt" sz="half" idx="10"/>
          </p:nvPr>
        </p:nvSpPr>
        <p:spPr/>
        <p:txBody>
          <a:bodyPr/>
          <a:lstStyle/>
          <a:p>
            <a:fld id="{F8867779-4CC4-4ADA-8BE2-FCD6D3531C2A}" type="datetimeFigureOut">
              <a:rPr lang="es-CO" smtClean="0"/>
              <a:t>21/09/2026</a:t>
            </a:fld>
            <a:endParaRPr lang="es-CO"/>
          </a:p>
        </p:txBody>
      </p:sp>
      <p:sp>
        <p:nvSpPr>
          <p:cNvPr id="8" name="Marcador de pie de página 7">
            <a:extLst>
              <a:ext uri="{FF2B5EF4-FFF2-40B4-BE49-F238E27FC236}">
                <a16:creationId xmlns:a16="http://schemas.microsoft.com/office/drawing/2014/main" id="{4CEECBCD-70EB-4A7F-B80D-4997957621E6}"/>
              </a:ext>
            </a:extLst>
          </p:cNvPr>
          <p:cNvSpPr>
            <a:spLocks noGrp="1"/>
          </p:cNvSpPr>
          <p:nvPr>
            <p:ph type="ftr" sz="quarter" idx="11"/>
          </p:nvPr>
        </p:nvSpPr>
        <p:spPr/>
        <p:txBody>
          <a:bodyPr/>
          <a:lstStyle/>
          <a:p>
            <a:endParaRPr lang="es-CO"/>
          </a:p>
        </p:txBody>
      </p:sp>
      <p:sp>
        <p:nvSpPr>
          <p:cNvPr id="9" name="Marcador de número de diapositiva 8">
            <a:extLst>
              <a:ext uri="{FF2B5EF4-FFF2-40B4-BE49-F238E27FC236}">
                <a16:creationId xmlns:a16="http://schemas.microsoft.com/office/drawing/2014/main" id="{F3450A31-3F45-6B1D-06EC-5BF5A3D77F3E}"/>
              </a:ext>
            </a:extLst>
          </p:cNvPr>
          <p:cNvSpPr>
            <a:spLocks noGrp="1"/>
          </p:cNvSpPr>
          <p:nvPr>
            <p:ph type="sldNum" sz="quarter" idx="12"/>
          </p:nvPr>
        </p:nvSpPr>
        <p:spPr/>
        <p:txBody>
          <a:bodyPr/>
          <a:lstStyle/>
          <a:p>
            <a:fld id="{B31F450F-98ED-48A4-8BC8-771CA4AFA025}" type="slidenum">
              <a:rPr lang="es-CO" smtClean="0"/>
              <a:t>‹#›</a:t>
            </a:fld>
            <a:endParaRPr lang="es-CO"/>
          </a:p>
        </p:txBody>
      </p:sp>
    </p:spTree>
    <p:extLst>
      <p:ext uri="{BB962C8B-B14F-4D97-AF65-F5344CB8AC3E}">
        <p14:creationId xmlns:p14="http://schemas.microsoft.com/office/powerpoint/2010/main" val="900180608"/>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Solo el título">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393950DD-6FF5-9A5D-1D74-9CE3CEA77C12}"/>
              </a:ext>
            </a:extLst>
          </p:cNvPr>
          <p:cNvSpPr>
            <a:spLocks noGrp="1"/>
          </p:cNvSpPr>
          <p:nvPr>
            <p:ph type="title"/>
          </p:nvPr>
        </p:nvSpPr>
        <p:spPr/>
        <p:txBody>
          <a:bodyPr/>
          <a:lstStyle/>
          <a:p>
            <a:r>
              <a:rPr lang="es-ES"/>
              <a:t>Haga clic para modificar el estilo de título del patrón</a:t>
            </a:r>
            <a:endParaRPr lang="es-CO"/>
          </a:p>
        </p:txBody>
      </p:sp>
      <p:sp>
        <p:nvSpPr>
          <p:cNvPr id="3" name="Marcador de fecha 2">
            <a:extLst>
              <a:ext uri="{FF2B5EF4-FFF2-40B4-BE49-F238E27FC236}">
                <a16:creationId xmlns:a16="http://schemas.microsoft.com/office/drawing/2014/main" id="{9D036115-7AD6-5995-5831-4286EE2C6AC6}"/>
              </a:ext>
            </a:extLst>
          </p:cNvPr>
          <p:cNvSpPr>
            <a:spLocks noGrp="1"/>
          </p:cNvSpPr>
          <p:nvPr>
            <p:ph type="dt" sz="half" idx="10"/>
          </p:nvPr>
        </p:nvSpPr>
        <p:spPr/>
        <p:txBody>
          <a:bodyPr/>
          <a:lstStyle/>
          <a:p>
            <a:fld id="{F8867779-4CC4-4ADA-8BE2-FCD6D3531C2A}" type="datetimeFigureOut">
              <a:rPr lang="es-CO" smtClean="0"/>
              <a:t>21/09/2026</a:t>
            </a:fld>
            <a:endParaRPr lang="es-CO"/>
          </a:p>
        </p:txBody>
      </p:sp>
      <p:sp>
        <p:nvSpPr>
          <p:cNvPr id="4" name="Marcador de pie de página 3">
            <a:extLst>
              <a:ext uri="{FF2B5EF4-FFF2-40B4-BE49-F238E27FC236}">
                <a16:creationId xmlns:a16="http://schemas.microsoft.com/office/drawing/2014/main" id="{8733CB82-476D-F2A0-07F4-6D406F4D2076}"/>
              </a:ext>
            </a:extLst>
          </p:cNvPr>
          <p:cNvSpPr>
            <a:spLocks noGrp="1"/>
          </p:cNvSpPr>
          <p:nvPr>
            <p:ph type="ftr" sz="quarter" idx="11"/>
          </p:nvPr>
        </p:nvSpPr>
        <p:spPr/>
        <p:txBody>
          <a:bodyPr/>
          <a:lstStyle/>
          <a:p>
            <a:endParaRPr lang="es-CO"/>
          </a:p>
        </p:txBody>
      </p:sp>
      <p:sp>
        <p:nvSpPr>
          <p:cNvPr id="5" name="Marcador de número de diapositiva 4">
            <a:extLst>
              <a:ext uri="{FF2B5EF4-FFF2-40B4-BE49-F238E27FC236}">
                <a16:creationId xmlns:a16="http://schemas.microsoft.com/office/drawing/2014/main" id="{A7A124EC-E15B-626F-CE37-12126467C160}"/>
              </a:ext>
            </a:extLst>
          </p:cNvPr>
          <p:cNvSpPr>
            <a:spLocks noGrp="1"/>
          </p:cNvSpPr>
          <p:nvPr>
            <p:ph type="sldNum" sz="quarter" idx="12"/>
          </p:nvPr>
        </p:nvSpPr>
        <p:spPr/>
        <p:txBody>
          <a:bodyPr/>
          <a:lstStyle/>
          <a:p>
            <a:fld id="{B31F450F-98ED-48A4-8BC8-771CA4AFA025}" type="slidenum">
              <a:rPr lang="es-CO" smtClean="0"/>
              <a:t>‹#›</a:t>
            </a:fld>
            <a:endParaRPr lang="es-CO"/>
          </a:p>
        </p:txBody>
      </p:sp>
    </p:spTree>
    <p:extLst>
      <p:ext uri="{BB962C8B-B14F-4D97-AF65-F5344CB8AC3E}">
        <p14:creationId xmlns:p14="http://schemas.microsoft.com/office/powerpoint/2010/main" val="1412781592"/>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En blanco">
    <p:spTree>
      <p:nvGrpSpPr>
        <p:cNvPr id="1" name=""/>
        <p:cNvGrpSpPr/>
        <p:nvPr/>
      </p:nvGrpSpPr>
      <p:grpSpPr>
        <a:xfrm>
          <a:off x="0" y="0"/>
          <a:ext cx="0" cy="0"/>
          <a:chOff x="0" y="0"/>
          <a:chExt cx="0" cy="0"/>
        </a:xfrm>
      </p:grpSpPr>
      <p:sp>
        <p:nvSpPr>
          <p:cNvPr id="2" name="Marcador de fecha 1">
            <a:extLst>
              <a:ext uri="{FF2B5EF4-FFF2-40B4-BE49-F238E27FC236}">
                <a16:creationId xmlns:a16="http://schemas.microsoft.com/office/drawing/2014/main" id="{928A9AD7-BB6A-AD24-281A-AFF63DED48B1}"/>
              </a:ext>
            </a:extLst>
          </p:cNvPr>
          <p:cNvSpPr>
            <a:spLocks noGrp="1"/>
          </p:cNvSpPr>
          <p:nvPr>
            <p:ph type="dt" sz="half" idx="10"/>
          </p:nvPr>
        </p:nvSpPr>
        <p:spPr/>
        <p:txBody>
          <a:bodyPr/>
          <a:lstStyle/>
          <a:p>
            <a:fld id="{F8867779-4CC4-4ADA-8BE2-FCD6D3531C2A}" type="datetimeFigureOut">
              <a:rPr lang="es-CO" smtClean="0"/>
              <a:t>21/09/2026</a:t>
            </a:fld>
            <a:endParaRPr lang="es-CO"/>
          </a:p>
        </p:txBody>
      </p:sp>
      <p:sp>
        <p:nvSpPr>
          <p:cNvPr id="3" name="Marcador de pie de página 2">
            <a:extLst>
              <a:ext uri="{FF2B5EF4-FFF2-40B4-BE49-F238E27FC236}">
                <a16:creationId xmlns:a16="http://schemas.microsoft.com/office/drawing/2014/main" id="{EFB244B4-1AA1-7C14-2D63-DECF1D7DDD02}"/>
              </a:ext>
            </a:extLst>
          </p:cNvPr>
          <p:cNvSpPr>
            <a:spLocks noGrp="1"/>
          </p:cNvSpPr>
          <p:nvPr>
            <p:ph type="ftr" sz="quarter" idx="11"/>
          </p:nvPr>
        </p:nvSpPr>
        <p:spPr/>
        <p:txBody>
          <a:bodyPr/>
          <a:lstStyle/>
          <a:p>
            <a:endParaRPr lang="es-CO"/>
          </a:p>
        </p:txBody>
      </p:sp>
      <p:sp>
        <p:nvSpPr>
          <p:cNvPr id="4" name="Marcador de número de diapositiva 3">
            <a:extLst>
              <a:ext uri="{FF2B5EF4-FFF2-40B4-BE49-F238E27FC236}">
                <a16:creationId xmlns:a16="http://schemas.microsoft.com/office/drawing/2014/main" id="{73FCEDD4-7D7D-8C48-BEE8-EF42839EC7D2}"/>
              </a:ext>
            </a:extLst>
          </p:cNvPr>
          <p:cNvSpPr>
            <a:spLocks noGrp="1"/>
          </p:cNvSpPr>
          <p:nvPr>
            <p:ph type="sldNum" sz="quarter" idx="12"/>
          </p:nvPr>
        </p:nvSpPr>
        <p:spPr/>
        <p:txBody>
          <a:bodyPr/>
          <a:lstStyle/>
          <a:p>
            <a:fld id="{B31F450F-98ED-48A4-8BC8-771CA4AFA025}" type="slidenum">
              <a:rPr lang="es-CO" smtClean="0"/>
              <a:t>‹#›</a:t>
            </a:fld>
            <a:endParaRPr lang="es-CO"/>
          </a:p>
        </p:txBody>
      </p:sp>
    </p:spTree>
    <p:extLst>
      <p:ext uri="{BB962C8B-B14F-4D97-AF65-F5344CB8AC3E}">
        <p14:creationId xmlns:p14="http://schemas.microsoft.com/office/powerpoint/2010/main" val="2620561253"/>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ido con título">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E75353E4-39C0-4184-0C6D-CC7CEE03EB4E}"/>
              </a:ext>
            </a:extLst>
          </p:cNvPr>
          <p:cNvSpPr>
            <a:spLocks noGrp="1"/>
          </p:cNvSpPr>
          <p:nvPr>
            <p:ph type="title"/>
          </p:nvPr>
        </p:nvSpPr>
        <p:spPr>
          <a:xfrm>
            <a:off x="839788" y="457200"/>
            <a:ext cx="3932237" cy="1600200"/>
          </a:xfrm>
        </p:spPr>
        <p:txBody>
          <a:bodyPr anchor="b"/>
          <a:lstStyle>
            <a:lvl1pPr>
              <a:defRPr sz="3200"/>
            </a:lvl1pPr>
          </a:lstStyle>
          <a:p>
            <a:r>
              <a:rPr lang="es-ES"/>
              <a:t>Haga clic para modificar el estilo de título del patrón</a:t>
            </a:r>
            <a:endParaRPr lang="es-CO"/>
          </a:p>
        </p:txBody>
      </p:sp>
      <p:sp>
        <p:nvSpPr>
          <p:cNvPr id="3" name="Marcador de contenido 2">
            <a:extLst>
              <a:ext uri="{FF2B5EF4-FFF2-40B4-BE49-F238E27FC236}">
                <a16:creationId xmlns:a16="http://schemas.microsoft.com/office/drawing/2014/main" id="{C74FE882-BB81-5FC0-D71C-8B1E91B78064}"/>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s-CO"/>
          </a:p>
        </p:txBody>
      </p:sp>
      <p:sp>
        <p:nvSpPr>
          <p:cNvPr id="4" name="Marcador de texto 3">
            <a:extLst>
              <a:ext uri="{FF2B5EF4-FFF2-40B4-BE49-F238E27FC236}">
                <a16:creationId xmlns:a16="http://schemas.microsoft.com/office/drawing/2014/main" id="{632DC75C-91FC-8E3E-5430-DD31D681A381}"/>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s-ES"/>
              <a:t>Haga clic para modificar los estilos de texto del patrón</a:t>
            </a:r>
          </a:p>
        </p:txBody>
      </p:sp>
      <p:sp>
        <p:nvSpPr>
          <p:cNvPr id="5" name="Marcador de fecha 4">
            <a:extLst>
              <a:ext uri="{FF2B5EF4-FFF2-40B4-BE49-F238E27FC236}">
                <a16:creationId xmlns:a16="http://schemas.microsoft.com/office/drawing/2014/main" id="{F72F9337-DD02-3A22-31A1-54E6E479D40C}"/>
              </a:ext>
            </a:extLst>
          </p:cNvPr>
          <p:cNvSpPr>
            <a:spLocks noGrp="1"/>
          </p:cNvSpPr>
          <p:nvPr>
            <p:ph type="dt" sz="half" idx="10"/>
          </p:nvPr>
        </p:nvSpPr>
        <p:spPr/>
        <p:txBody>
          <a:bodyPr/>
          <a:lstStyle/>
          <a:p>
            <a:fld id="{F8867779-4CC4-4ADA-8BE2-FCD6D3531C2A}" type="datetimeFigureOut">
              <a:rPr lang="es-CO" smtClean="0"/>
              <a:t>21/09/2026</a:t>
            </a:fld>
            <a:endParaRPr lang="es-CO"/>
          </a:p>
        </p:txBody>
      </p:sp>
      <p:sp>
        <p:nvSpPr>
          <p:cNvPr id="6" name="Marcador de pie de página 5">
            <a:extLst>
              <a:ext uri="{FF2B5EF4-FFF2-40B4-BE49-F238E27FC236}">
                <a16:creationId xmlns:a16="http://schemas.microsoft.com/office/drawing/2014/main" id="{E06CA4CF-29CE-CB1F-07C8-F83AD64EA2D4}"/>
              </a:ext>
            </a:extLst>
          </p:cNvPr>
          <p:cNvSpPr>
            <a:spLocks noGrp="1"/>
          </p:cNvSpPr>
          <p:nvPr>
            <p:ph type="ftr" sz="quarter" idx="11"/>
          </p:nvPr>
        </p:nvSpPr>
        <p:spPr/>
        <p:txBody>
          <a:bodyPr/>
          <a:lstStyle/>
          <a:p>
            <a:endParaRPr lang="es-CO"/>
          </a:p>
        </p:txBody>
      </p:sp>
      <p:sp>
        <p:nvSpPr>
          <p:cNvPr id="7" name="Marcador de número de diapositiva 6">
            <a:extLst>
              <a:ext uri="{FF2B5EF4-FFF2-40B4-BE49-F238E27FC236}">
                <a16:creationId xmlns:a16="http://schemas.microsoft.com/office/drawing/2014/main" id="{21B161F2-81F9-D5EA-FC65-935470DD89EA}"/>
              </a:ext>
            </a:extLst>
          </p:cNvPr>
          <p:cNvSpPr>
            <a:spLocks noGrp="1"/>
          </p:cNvSpPr>
          <p:nvPr>
            <p:ph type="sldNum" sz="quarter" idx="12"/>
          </p:nvPr>
        </p:nvSpPr>
        <p:spPr/>
        <p:txBody>
          <a:bodyPr/>
          <a:lstStyle/>
          <a:p>
            <a:fld id="{B31F450F-98ED-48A4-8BC8-771CA4AFA025}" type="slidenum">
              <a:rPr lang="es-CO" smtClean="0"/>
              <a:t>‹#›</a:t>
            </a:fld>
            <a:endParaRPr lang="es-CO"/>
          </a:p>
        </p:txBody>
      </p:sp>
    </p:spTree>
    <p:extLst>
      <p:ext uri="{BB962C8B-B14F-4D97-AF65-F5344CB8AC3E}">
        <p14:creationId xmlns:p14="http://schemas.microsoft.com/office/powerpoint/2010/main" val="1742129069"/>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Imagen con título">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E9D4E24D-13E0-6186-4D77-9A0B37A8ED5A}"/>
              </a:ext>
            </a:extLst>
          </p:cNvPr>
          <p:cNvSpPr>
            <a:spLocks noGrp="1"/>
          </p:cNvSpPr>
          <p:nvPr>
            <p:ph type="title"/>
          </p:nvPr>
        </p:nvSpPr>
        <p:spPr>
          <a:xfrm>
            <a:off x="839788" y="457200"/>
            <a:ext cx="3932237" cy="1600200"/>
          </a:xfrm>
        </p:spPr>
        <p:txBody>
          <a:bodyPr anchor="b"/>
          <a:lstStyle>
            <a:lvl1pPr>
              <a:defRPr sz="3200"/>
            </a:lvl1pPr>
          </a:lstStyle>
          <a:p>
            <a:r>
              <a:rPr lang="es-ES"/>
              <a:t>Haga clic para modificar el estilo de título del patrón</a:t>
            </a:r>
            <a:endParaRPr lang="es-CO"/>
          </a:p>
        </p:txBody>
      </p:sp>
      <p:sp>
        <p:nvSpPr>
          <p:cNvPr id="3" name="Marcador de posición de imagen 2">
            <a:extLst>
              <a:ext uri="{FF2B5EF4-FFF2-40B4-BE49-F238E27FC236}">
                <a16:creationId xmlns:a16="http://schemas.microsoft.com/office/drawing/2014/main" id="{021090D5-A23E-4D1A-EA5B-E2D700476CD2}"/>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s-CO"/>
          </a:p>
        </p:txBody>
      </p:sp>
      <p:sp>
        <p:nvSpPr>
          <p:cNvPr id="4" name="Marcador de texto 3">
            <a:extLst>
              <a:ext uri="{FF2B5EF4-FFF2-40B4-BE49-F238E27FC236}">
                <a16:creationId xmlns:a16="http://schemas.microsoft.com/office/drawing/2014/main" id="{30A2E3FB-3DAC-FB98-E8AF-A6085347F754}"/>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s-ES"/>
              <a:t>Haga clic para modificar los estilos de texto del patrón</a:t>
            </a:r>
          </a:p>
        </p:txBody>
      </p:sp>
      <p:sp>
        <p:nvSpPr>
          <p:cNvPr id="5" name="Marcador de fecha 4">
            <a:extLst>
              <a:ext uri="{FF2B5EF4-FFF2-40B4-BE49-F238E27FC236}">
                <a16:creationId xmlns:a16="http://schemas.microsoft.com/office/drawing/2014/main" id="{3FE30B6B-0FB8-055D-6FCA-6F7CAC673ED5}"/>
              </a:ext>
            </a:extLst>
          </p:cNvPr>
          <p:cNvSpPr>
            <a:spLocks noGrp="1"/>
          </p:cNvSpPr>
          <p:nvPr>
            <p:ph type="dt" sz="half" idx="10"/>
          </p:nvPr>
        </p:nvSpPr>
        <p:spPr/>
        <p:txBody>
          <a:bodyPr/>
          <a:lstStyle/>
          <a:p>
            <a:fld id="{F8867779-4CC4-4ADA-8BE2-FCD6D3531C2A}" type="datetimeFigureOut">
              <a:rPr lang="es-CO" smtClean="0"/>
              <a:t>21/09/2026</a:t>
            </a:fld>
            <a:endParaRPr lang="es-CO"/>
          </a:p>
        </p:txBody>
      </p:sp>
      <p:sp>
        <p:nvSpPr>
          <p:cNvPr id="6" name="Marcador de pie de página 5">
            <a:extLst>
              <a:ext uri="{FF2B5EF4-FFF2-40B4-BE49-F238E27FC236}">
                <a16:creationId xmlns:a16="http://schemas.microsoft.com/office/drawing/2014/main" id="{8A7E68F3-49CE-E3E9-B87B-9615CD02F0C4}"/>
              </a:ext>
            </a:extLst>
          </p:cNvPr>
          <p:cNvSpPr>
            <a:spLocks noGrp="1"/>
          </p:cNvSpPr>
          <p:nvPr>
            <p:ph type="ftr" sz="quarter" idx="11"/>
          </p:nvPr>
        </p:nvSpPr>
        <p:spPr/>
        <p:txBody>
          <a:bodyPr/>
          <a:lstStyle/>
          <a:p>
            <a:endParaRPr lang="es-CO"/>
          </a:p>
        </p:txBody>
      </p:sp>
      <p:sp>
        <p:nvSpPr>
          <p:cNvPr id="7" name="Marcador de número de diapositiva 6">
            <a:extLst>
              <a:ext uri="{FF2B5EF4-FFF2-40B4-BE49-F238E27FC236}">
                <a16:creationId xmlns:a16="http://schemas.microsoft.com/office/drawing/2014/main" id="{D5EFA8E0-E5B9-F4DC-8BCB-81087C6A9C5C}"/>
              </a:ext>
            </a:extLst>
          </p:cNvPr>
          <p:cNvSpPr>
            <a:spLocks noGrp="1"/>
          </p:cNvSpPr>
          <p:nvPr>
            <p:ph type="sldNum" sz="quarter" idx="12"/>
          </p:nvPr>
        </p:nvSpPr>
        <p:spPr/>
        <p:txBody>
          <a:bodyPr/>
          <a:lstStyle/>
          <a:p>
            <a:fld id="{B31F450F-98ED-48A4-8BC8-771CA4AFA025}" type="slidenum">
              <a:rPr lang="es-CO" smtClean="0"/>
              <a:t>‹#›</a:t>
            </a:fld>
            <a:endParaRPr lang="es-CO"/>
          </a:p>
        </p:txBody>
      </p:sp>
    </p:spTree>
    <p:extLst>
      <p:ext uri="{BB962C8B-B14F-4D97-AF65-F5344CB8AC3E}">
        <p14:creationId xmlns:p14="http://schemas.microsoft.com/office/powerpoint/2010/main" val="4167892823"/>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ítulo y texto vertical">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D043C98B-E8CA-F901-2C84-972F65C3CC9D}"/>
              </a:ext>
            </a:extLst>
          </p:cNvPr>
          <p:cNvSpPr>
            <a:spLocks noGrp="1"/>
          </p:cNvSpPr>
          <p:nvPr>
            <p:ph type="title"/>
          </p:nvPr>
        </p:nvSpPr>
        <p:spPr/>
        <p:txBody>
          <a:bodyPr/>
          <a:lstStyle/>
          <a:p>
            <a:r>
              <a:rPr lang="es-ES"/>
              <a:t>Haga clic para modificar el estilo de título del patrón</a:t>
            </a:r>
            <a:endParaRPr lang="es-CO"/>
          </a:p>
        </p:txBody>
      </p:sp>
      <p:sp>
        <p:nvSpPr>
          <p:cNvPr id="3" name="Marcador de texto vertical 2">
            <a:extLst>
              <a:ext uri="{FF2B5EF4-FFF2-40B4-BE49-F238E27FC236}">
                <a16:creationId xmlns:a16="http://schemas.microsoft.com/office/drawing/2014/main" id="{555E2FDB-F8B9-5F29-5E64-876C6C31DDE6}"/>
              </a:ext>
            </a:extLst>
          </p:cNvPr>
          <p:cNvSpPr>
            <a:spLocks noGrp="1"/>
          </p:cNvSpPr>
          <p:nvPr>
            <p:ph type="body" orient="vert" idx="1"/>
          </p:nvPr>
        </p:nvSpPr>
        <p:spPr/>
        <p:txBody>
          <a:bodyPr vert="eaVert"/>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s-CO"/>
          </a:p>
        </p:txBody>
      </p:sp>
      <p:sp>
        <p:nvSpPr>
          <p:cNvPr id="4" name="Marcador de fecha 3">
            <a:extLst>
              <a:ext uri="{FF2B5EF4-FFF2-40B4-BE49-F238E27FC236}">
                <a16:creationId xmlns:a16="http://schemas.microsoft.com/office/drawing/2014/main" id="{401AB0A1-A66E-23D7-524E-B06E7EDF1728}"/>
              </a:ext>
            </a:extLst>
          </p:cNvPr>
          <p:cNvSpPr>
            <a:spLocks noGrp="1"/>
          </p:cNvSpPr>
          <p:nvPr>
            <p:ph type="dt" sz="half" idx="10"/>
          </p:nvPr>
        </p:nvSpPr>
        <p:spPr/>
        <p:txBody>
          <a:bodyPr/>
          <a:lstStyle/>
          <a:p>
            <a:fld id="{F8867779-4CC4-4ADA-8BE2-FCD6D3531C2A}" type="datetimeFigureOut">
              <a:rPr lang="es-CO" smtClean="0"/>
              <a:t>21/09/2026</a:t>
            </a:fld>
            <a:endParaRPr lang="es-CO"/>
          </a:p>
        </p:txBody>
      </p:sp>
      <p:sp>
        <p:nvSpPr>
          <p:cNvPr id="5" name="Marcador de pie de página 4">
            <a:extLst>
              <a:ext uri="{FF2B5EF4-FFF2-40B4-BE49-F238E27FC236}">
                <a16:creationId xmlns:a16="http://schemas.microsoft.com/office/drawing/2014/main" id="{61ADC9F5-E49E-D2C8-644D-534011CBCE46}"/>
              </a:ext>
            </a:extLst>
          </p:cNvPr>
          <p:cNvSpPr>
            <a:spLocks noGrp="1"/>
          </p:cNvSpPr>
          <p:nvPr>
            <p:ph type="ftr" sz="quarter" idx="11"/>
          </p:nvPr>
        </p:nvSpPr>
        <p:spPr/>
        <p:txBody>
          <a:bodyPr/>
          <a:lstStyle/>
          <a:p>
            <a:endParaRPr lang="es-CO"/>
          </a:p>
        </p:txBody>
      </p:sp>
      <p:sp>
        <p:nvSpPr>
          <p:cNvPr id="6" name="Marcador de número de diapositiva 5">
            <a:extLst>
              <a:ext uri="{FF2B5EF4-FFF2-40B4-BE49-F238E27FC236}">
                <a16:creationId xmlns:a16="http://schemas.microsoft.com/office/drawing/2014/main" id="{7833FC53-D566-7A82-4E5B-4B4902AF1506}"/>
              </a:ext>
            </a:extLst>
          </p:cNvPr>
          <p:cNvSpPr>
            <a:spLocks noGrp="1"/>
          </p:cNvSpPr>
          <p:nvPr>
            <p:ph type="sldNum" sz="quarter" idx="12"/>
          </p:nvPr>
        </p:nvSpPr>
        <p:spPr/>
        <p:txBody>
          <a:bodyPr/>
          <a:lstStyle/>
          <a:p>
            <a:fld id="{B31F450F-98ED-48A4-8BC8-771CA4AFA025}" type="slidenum">
              <a:rPr lang="es-CO" smtClean="0"/>
              <a:t>‹#›</a:t>
            </a:fld>
            <a:endParaRPr lang="es-CO"/>
          </a:p>
        </p:txBody>
      </p:sp>
    </p:spTree>
    <p:extLst>
      <p:ext uri="{BB962C8B-B14F-4D97-AF65-F5344CB8AC3E}">
        <p14:creationId xmlns:p14="http://schemas.microsoft.com/office/powerpoint/2010/main" val="354400715"/>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Título vertical y texto">
    <p:spTree>
      <p:nvGrpSpPr>
        <p:cNvPr id="1" name=""/>
        <p:cNvGrpSpPr/>
        <p:nvPr/>
      </p:nvGrpSpPr>
      <p:grpSpPr>
        <a:xfrm>
          <a:off x="0" y="0"/>
          <a:ext cx="0" cy="0"/>
          <a:chOff x="0" y="0"/>
          <a:chExt cx="0" cy="0"/>
        </a:xfrm>
      </p:grpSpPr>
      <p:sp>
        <p:nvSpPr>
          <p:cNvPr id="2" name="Título vertical 1">
            <a:extLst>
              <a:ext uri="{FF2B5EF4-FFF2-40B4-BE49-F238E27FC236}">
                <a16:creationId xmlns:a16="http://schemas.microsoft.com/office/drawing/2014/main" id="{C2740393-9187-A276-8BBB-993A8A9B24E0}"/>
              </a:ext>
            </a:extLst>
          </p:cNvPr>
          <p:cNvSpPr>
            <a:spLocks noGrp="1"/>
          </p:cNvSpPr>
          <p:nvPr>
            <p:ph type="title" orient="vert"/>
          </p:nvPr>
        </p:nvSpPr>
        <p:spPr>
          <a:xfrm>
            <a:off x="8724900" y="365125"/>
            <a:ext cx="2628900" cy="5811838"/>
          </a:xfrm>
        </p:spPr>
        <p:txBody>
          <a:bodyPr vert="eaVert"/>
          <a:lstStyle/>
          <a:p>
            <a:r>
              <a:rPr lang="es-ES"/>
              <a:t>Haga clic para modificar el estilo de título del patrón</a:t>
            </a:r>
            <a:endParaRPr lang="es-CO"/>
          </a:p>
        </p:txBody>
      </p:sp>
      <p:sp>
        <p:nvSpPr>
          <p:cNvPr id="3" name="Marcador de texto vertical 2">
            <a:extLst>
              <a:ext uri="{FF2B5EF4-FFF2-40B4-BE49-F238E27FC236}">
                <a16:creationId xmlns:a16="http://schemas.microsoft.com/office/drawing/2014/main" id="{F0A86A96-1E00-2CFD-A266-AF66F5AFF935}"/>
              </a:ext>
            </a:extLst>
          </p:cNvPr>
          <p:cNvSpPr>
            <a:spLocks noGrp="1"/>
          </p:cNvSpPr>
          <p:nvPr>
            <p:ph type="body" orient="vert" idx="1"/>
          </p:nvPr>
        </p:nvSpPr>
        <p:spPr>
          <a:xfrm>
            <a:off x="838200" y="365125"/>
            <a:ext cx="7734300" cy="5811838"/>
          </a:xfrm>
        </p:spPr>
        <p:txBody>
          <a:bodyPr vert="eaVert"/>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s-CO"/>
          </a:p>
        </p:txBody>
      </p:sp>
      <p:sp>
        <p:nvSpPr>
          <p:cNvPr id="4" name="Marcador de fecha 3">
            <a:extLst>
              <a:ext uri="{FF2B5EF4-FFF2-40B4-BE49-F238E27FC236}">
                <a16:creationId xmlns:a16="http://schemas.microsoft.com/office/drawing/2014/main" id="{AE3A9D4D-8D7D-C7D8-8EA0-AF4E182CFB1E}"/>
              </a:ext>
            </a:extLst>
          </p:cNvPr>
          <p:cNvSpPr>
            <a:spLocks noGrp="1"/>
          </p:cNvSpPr>
          <p:nvPr>
            <p:ph type="dt" sz="half" idx="10"/>
          </p:nvPr>
        </p:nvSpPr>
        <p:spPr/>
        <p:txBody>
          <a:bodyPr/>
          <a:lstStyle/>
          <a:p>
            <a:fld id="{F8867779-4CC4-4ADA-8BE2-FCD6D3531C2A}" type="datetimeFigureOut">
              <a:rPr lang="es-CO" smtClean="0"/>
              <a:t>21/09/2026</a:t>
            </a:fld>
            <a:endParaRPr lang="es-CO"/>
          </a:p>
        </p:txBody>
      </p:sp>
      <p:sp>
        <p:nvSpPr>
          <p:cNvPr id="5" name="Marcador de pie de página 4">
            <a:extLst>
              <a:ext uri="{FF2B5EF4-FFF2-40B4-BE49-F238E27FC236}">
                <a16:creationId xmlns:a16="http://schemas.microsoft.com/office/drawing/2014/main" id="{498CF2AA-5ACB-AA17-AFAC-B8A140CFC2C3}"/>
              </a:ext>
            </a:extLst>
          </p:cNvPr>
          <p:cNvSpPr>
            <a:spLocks noGrp="1"/>
          </p:cNvSpPr>
          <p:nvPr>
            <p:ph type="ftr" sz="quarter" idx="11"/>
          </p:nvPr>
        </p:nvSpPr>
        <p:spPr/>
        <p:txBody>
          <a:bodyPr/>
          <a:lstStyle/>
          <a:p>
            <a:endParaRPr lang="es-CO"/>
          </a:p>
        </p:txBody>
      </p:sp>
      <p:sp>
        <p:nvSpPr>
          <p:cNvPr id="6" name="Marcador de número de diapositiva 5">
            <a:extLst>
              <a:ext uri="{FF2B5EF4-FFF2-40B4-BE49-F238E27FC236}">
                <a16:creationId xmlns:a16="http://schemas.microsoft.com/office/drawing/2014/main" id="{85E915F6-B016-105A-D7F3-C366EECFC18C}"/>
              </a:ext>
            </a:extLst>
          </p:cNvPr>
          <p:cNvSpPr>
            <a:spLocks noGrp="1"/>
          </p:cNvSpPr>
          <p:nvPr>
            <p:ph type="sldNum" sz="quarter" idx="12"/>
          </p:nvPr>
        </p:nvSpPr>
        <p:spPr/>
        <p:txBody>
          <a:bodyPr/>
          <a:lstStyle/>
          <a:p>
            <a:fld id="{B31F450F-98ED-48A4-8BC8-771CA4AFA025}" type="slidenum">
              <a:rPr lang="es-CO" smtClean="0"/>
              <a:t>‹#›</a:t>
            </a:fld>
            <a:endParaRPr lang="es-CO"/>
          </a:p>
        </p:txBody>
      </p:sp>
    </p:spTree>
    <p:extLst>
      <p:ext uri="{BB962C8B-B14F-4D97-AF65-F5344CB8AC3E}">
        <p14:creationId xmlns:p14="http://schemas.microsoft.com/office/powerpoint/2010/main" val="3433198749"/>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Marcador de título 1">
            <a:extLst>
              <a:ext uri="{FF2B5EF4-FFF2-40B4-BE49-F238E27FC236}">
                <a16:creationId xmlns:a16="http://schemas.microsoft.com/office/drawing/2014/main" id="{4EE52982-6930-4E57-AA16-7986217A0F7D}"/>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s-ES"/>
              <a:t>Haga clic para modificar el estilo de título del patrón</a:t>
            </a:r>
            <a:endParaRPr lang="es-CO"/>
          </a:p>
        </p:txBody>
      </p:sp>
      <p:sp>
        <p:nvSpPr>
          <p:cNvPr id="3" name="Marcador de texto 2">
            <a:extLst>
              <a:ext uri="{FF2B5EF4-FFF2-40B4-BE49-F238E27FC236}">
                <a16:creationId xmlns:a16="http://schemas.microsoft.com/office/drawing/2014/main" id="{B9181238-D544-F729-1F81-804828FDC341}"/>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s-CO"/>
          </a:p>
        </p:txBody>
      </p:sp>
      <p:sp>
        <p:nvSpPr>
          <p:cNvPr id="4" name="Marcador de fecha 3">
            <a:extLst>
              <a:ext uri="{FF2B5EF4-FFF2-40B4-BE49-F238E27FC236}">
                <a16:creationId xmlns:a16="http://schemas.microsoft.com/office/drawing/2014/main" id="{75BBB980-9F4F-848A-8B29-4050BADBD3A7}"/>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82000"/>
                  </a:schemeClr>
                </a:solidFill>
              </a:defRPr>
            </a:lvl1pPr>
          </a:lstStyle>
          <a:p>
            <a:fld id="{F8867779-4CC4-4ADA-8BE2-FCD6D3531C2A}" type="datetimeFigureOut">
              <a:rPr lang="es-CO" smtClean="0"/>
              <a:t>21/09/2026</a:t>
            </a:fld>
            <a:endParaRPr lang="es-CO"/>
          </a:p>
        </p:txBody>
      </p:sp>
      <p:sp>
        <p:nvSpPr>
          <p:cNvPr id="5" name="Marcador de pie de página 4">
            <a:extLst>
              <a:ext uri="{FF2B5EF4-FFF2-40B4-BE49-F238E27FC236}">
                <a16:creationId xmlns:a16="http://schemas.microsoft.com/office/drawing/2014/main" id="{6DB4BBAE-0D3D-0D4B-D768-458B4842DC01}"/>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82000"/>
                  </a:schemeClr>
                </a:solidFill>
              </a:defRPr>
            </a:lvl1pPr>
          </a:lstStyle>
          <a:p>
            <a:endParaRPr lang="es-CO"/>
          </a:p>
        </p:txBody>
      </p:sp>
      <p:sp>
        <p:nvSpPr>
          <p:cNvPr id="6" name="Marcador de número de diapositiva 5">
            <a:extLst>
              <a:ext uri="{FF2B5EF4-FFF2-40B4-BE49-F238E27FC236}">
                <a16:creationId xmlns:a16="http://schemas.microsoft.com/office/drawing/2014/main" id="{21C972A0-89A8-5552-544A-D1ACF46822BB}"/>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82000"/>
                  </a:schemeClr>
                </a:solidFill>
              </a:defRPr>
            </a:lvl1pPr>
          </a:lstStyle>
          <a:p>
            <a:fld id="{B31F450F-98ED-48A4-8BC8-771CA4AFA025}" type="slidenum">
              <a:rPr lang="es-CO" smtClean="0"/>
              <a:t>‹#›</a:t>
            </a:fld>
            <a:endParaRPr lang="es-CO"/>
          </a:p>
        </p:txBody>
      </p:sp>
    </p:spTree>
    <p:extLst>
      <p:ext uri="{BB962C8B-B14F-4D97-AF65-F5344CB8AC3E}">
        <p14:creationId xmlns:p14="http://schemas.microsoft.com/office/powerpoint/2010/main" val="2736993900"/>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s-CO"/>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tags" Target="../tags/tag1.xml"/><Relationship Id="rId2" Type="http://schemas.openxmlformats.org/officeDocument/2006/relationships/slideLayout" Target="../slideLayouts/slideLayout1.xml"/><Relationship Id="rId3" Type="http://schemas.openxmlformats.org/officeDocument/2006/relationships/notesSlide" Target="../notesSlides/notesSlide1.xml"/><Relationship Id="rId4" Type="http://schemas.openxmlformats.org/officeDocument/2006/relationships/image" Target="../media/image1.png"/><Relationship Id="rId5" Type="http://schemas.openxmlformats.org/officeDocument/2006/relationships/image" Target="../media/image2.png"/><Relationship Id="rId6" Type="http://schemas.openxmlformats.org/officeDocument/2006/relationships/image" Target="../media/image3.png"/><Relationship Id="rId7" Type="http://schemas.openxmlformats.org/officeDocument/2006/relationships/image" Target="../media/image4.png"/><Relationship Id="rId8" Type="http://schemas.openxmlformats.org/officeDocument/2006/relationships/image" Target="../media/image5.png"/><Relationship Id="rId9" Type="http://schemas.openxmlformats.org/officeDocument/2006/relationships/image" Target="../media/image6.png"/><Relationship Id="rId10" Type="http://schemas.openxmlformats.org/officeDocument/2006/relationships/image" Target="../media/image7.png"/><Relationship Id="rId11" Type="http://schemas.openxmlformats.org/officeDocument/2006/relationships/image" Target="../media/image8.png"/><Relationship Id="rId12" Type="http://schemas.openxmlformats.org/officeDocument/2006/relationships/image" Target="../media/image9.png"/><Relationship Id="rId13" Type="http://schemas.openxmlformats.org/officeDocument/2006/relationships/image" Target="../media/image10.png"/></Relationships>
</file>

<file path=ppt/slides/_rels/slide2.xml.rels><?xml version='1.0' encoding='UTF-8' standalone='yes'?>
<Relationships xmlns="http://schemas.openxmlformats.org/package/2006/relationships"><Relationship Id="rId1" Type="http://schemas.openxmlformats.org/officeDocument/2006/relationships/tags" Target="../tags/tag2.xml"/><Relationship Id="rId2" Type="http://schemas.openxmlformats.org/officeDocument/2006/relationships/slideLayout" Target="../slideLayouts/slideLayout7.xml"/><Relationship Id="rId3" Type="http://schemas.openxmlformats.org/officeDocument/2006/relationships/notesSlide" Target="../notesSlides/notesSlide2.xml"/><Relationship Id="rId4" Type="http://schemas.openxmlformats.org/officeDocument/2006/relationships/image" Target="../media/image1.png"/></Relationships>
</file>

<file path=ppt/slides/_rels/slide3.xml.rels><?xml version='1.0' encoding='UTF-8' standalone='yes'?>
<Relationships xmlns="http://schemas.openxmlformats.org/package/2006/relationships"><Relationship Id="rId1" Type="http://schemas.openxmlformats.org/officeDocument/2006/relationships/tags" Target="../tags/tag3.xml"/><Relationship Id="rId2" Type="http://schemas.openxmlformats.org/officeDocument/2006/relationships/slideLayout" Target="../slideLayouts/slideLayout7.xml"/><Relationship Id="rId3" Type="http://schemas.openxmlformats.org/officeDocument/2006/relationships/notesSlide" Target="../notesSlides/notesSlide3.xml"/><Relationship Id="rId4" Type="http://schemas.openxmlformats.org/officeDocument/2006/relationships/image" Target="../media/image1.png"/></Relationships>
</file>

<file path=ppt/slides/_rels/slide4.xml.rels><?xml version='1.0' encoding='UTF-8' standalone='yes'?>
<Relationships xmlns="http://schemas.openxmlformats.org/package/2006/relationships"><Relationship Id="rId1" Type="http://schemas.openxmlformats.org/officeDocument/2006/relationships/tags" Target="../tags/tag4.xml"/><Relationship Id="rId2" Type="http://schemas.openxmlformats.org/officeDocument/2006/relationships/slideLayout" Target="../slideLayouts/slideLayout7.xml"/><Relationship Id="rId3" Type="http://schemas.openxmlformats.org/officeDocument/2006/relationships/notesSlide" Target="../notesSlides/notesSlide4.xml"/><Relationship Id="rId4" Type="http://schemas.openxmlformats.org/officeDocument/2006/relationships/image" Target="../media/image1.png"/></Relationships>
</file>

<file path=ppt/slides/_rels/slide5.xml.rels><?xml version='1.0' encoding='UTF-8' standalone='yes'?>
<Relationships xmlns="http://schemas.openxmlformats.org/package/2006/relationships"><Relationship Id="rId1" Type="http://schemas.openxmlformats.org/officeDocument/2006/relationships/tags" Target="../tags/tag5.xml"/><Relationship Id="rId2" Type="http://schemas.openxmlformats.org/officeDocument/2006/relationships/slideLayout" Target="../slideLayouts/slideLayout7.xml"/><Relationship Id="rId3" Type="http://schemas.openxmlformats.org/officeDocument/2006/relationships/notesSlide" Target="../notesSlides/notesSlide5.xml"/><Relationship Id="rId4" Type="http://schemas.openxmlformats.org/officeDocument/2006/relationships/image" Target="../media/image1.png"/><Relationship Id="rId5" Type="http://schemas.openxmlformats.org/officeDocument/2006/relationships/image" Target="../media/image11.png"/><Relationship Id="rId6" Type="http://schemas.openxmlformats.org/officeDocument/2006/relationships/image" Target="../media/image13.png"/></Relationships>
</file>

<file path=ppt/slides/_rels/slide6.xml.rels><?xml version='1.0' encoding='UTF-8' standalone='yes'?>
<Relationships xmlns="http://schemas.openxmlformats.org/package/2006/relationships"><Relationship Id="rId1" Type="http://schemas.openxmlformats.org/officeDocument/2006/relationships/tags" Target="../tags/tag6.xml"/><Relationship Id="rId2" Type="http://schemas.openxmlformats.org/officeDocument/2006/relationships/slideLayout" Target="../slideLayouts/slideLayout7.xml"/><Relationship Id="rId3" Type="http://schemas.openxmlformats.org/officeDocument/2006/relationships/notesSlide" Target="../notesSlides/notesSlide6.xml"/><Relationship Id="rId4" Type="http://schemas.openxmlformats.org/officeDocument/2006/relationships/image" Target="../media/image1.png"/></Relationships>
</file>

<file path=ppt/slides/_rels/slide7.xml.rels><?xml version='1.0' encoding='UTF-8' standalone='yes'?>
<Relationships xmlns="http://schemas.openxmlformats.org/package/2006/relationships"><Relationship Id="rId1" Type="http://schemas.openxmlformats.org/officeDocument/2006/relationships/tags" Target="../tags/tag7.xml"/><Relationship Id="rId2" Type="http://schemas.openxmlformats.org/officeDocument/2006/relationships/slideLayout" Target="../slideLayouts/slideLayout7.xml"/><Relationship Id="rId3" Type="http://schemas.openxmlformats.org/officeDocument/2006/relationships/notesSlide" Target="../notesSlides/notesSlide7.xml"/><Relationship Id="rId4" Type="http://schemas.openxmlformats.org/officeDocument/2006/relationships/image" Target="../media/image1.png"/><Relationship Id="rId5" Type="http://schemas.openxmlformats.org/officeDocument/2006/relationships/image" Target="../media/image12.png"/></Relationships>
</file>

<file path=ppt/slides/_rels/slide8.xml.rels><?xml version='1.0' encoding='UTF-8' standalone='yes'?>
<Relationships xmlns="http://schemas.openxmlformats.org/package/2006/relationships"><Relationship Id="rId1" Type="http://schemas.openxmlformats.org/officeDocument/2006/relationships/tags" Target="../tags/tag8.xml"/><Relationship Id="rId2" Type="http://schemas.openxmlformats.org/officeDocument/2006/relationships/slideLayout" Target="../slideLayouts/slideLayout7.xml"/><Relationship Id="rId3" Type="http://schemas.openxmlformats.org/officeDocument/2006/relationships/notesSlide" Target="../notesSlides/notesSlide8.xml"/><Relationship Id="rId4" Type="http://schemas.openxmlformats.org/officeDocument/2006/relationships/image" Target="../media/image1.png"/><Relationship Id="rId5" Type="http://schemas.openxmlformats.org/officeDocument/2006/relationships/image" Target="../media/image14.png"/></Relationships>
</file>

<file path=ppt/slides/_rels/slide9.xml.rels><?xml version='1.0' encoding='UTF-8' standalone='yes'?>
<Relationships xmlns="http://schemas.openxmlformats.org/package/2006/relationships"><Relationship Id="rId1" Type="http://schemas.openxmlformats.org/officeDocument/2006/relationships/tags" Target="../tags/tag9.xml"/><Relationship Id="rId2" Type="http://schemas.openxmlformats.org/officeDocument/2006/relationships/slideLayout" Target="../slideLayouts/slideLayout7.xml"/><Relationship Id="rId3" Type="http://schemas.openxmlformats.org/officeDocument/2006/relationships/notesSlide" Target="../notesSlides/notesSlide9.xml"/><Relationship Id="rId4" Type="http://schemas.openxmlformats.org/officeDocument/2006/relationships/image" Target="../media/image1.png"/></Relationships>
</file>

<file path=ppt/slides/_rels/slide10.xml.rels><?xml version='1.0' encoding='UTF-8' standalone='yes'?>
<Relationships xmlns="http://schemas.openxmlformats.org/package/2006/relationships"><Relationship Id="rId1" Type="http://schemas.openxmlformats.org/officeDocument/2006/relationships/tags" Target="../tags/tag10.xml"/><Relationship Id="rId2" Type="http://schemas.openxmlformats.org/officeDocument/2006/relationships/slideLayout" Target="../slideLayouts/slideLayout7.xml"/><Relationship Id="rId3" Type="http://schemas.openxmlformats.org/officeDocument/2006/relationships/notesSlide" Target="../notesSlides/notesSlide10.xml"/><Relationship Id="rId4" Type="http://schemas.openxmlformats.org/officeDocument/2006/relationships/image" Target="../media/image1.png"/></Relationships>
</file>

<file path=ppt/slides/_rels/slide11.xml.rels><?xml version='1.0' encoding='UTF-8' standalone='yes'?>
<Relationships xmlns="http://schemas.openxmlformats.org/package/2006/relationships"><Relationship Id="rId1" Type="http://schemas.openxmlformats.org/officeDocument/2006/relationships/tags" Target="../tags/tag11.xml"/><Relationship Id="rId2" Type="http://schemas.openxmlformats.org/officeDocument/2006/relationships/slideLayout" Target="../slideLayouts/slideLayout7.xml"/><Relationship Id="rId3" Type="http://schemas.openxmlformats.org/officeDocument/2006/relationships/notesSlide" Target="../notesSlides/notesSlide11.xml"/><Relationship Id="rId4" Type="http://schemas.openxmlformats.org/officeDocument/2006/relationships/image" Target="../media/image1.png"/></Relationships>
</file>

<file path=ppt/slides/_rels/slide12.xml.rels><?xml version='1.0' encoding='UTF-8' standalone='yes'?>
<Relationships xmlns="http://schemas.openxmlformats.org/package/2006/relationships"><Relationship Id="rId1" Type="http://schemas.openxmlformats.org/officeDocument/2006/relationships/tags" Target="../tags/tag12.xml"/><Relationship Id="rId2" Type="http://schemas.openxmlformats.org/officeDocument/2006/relationships/slideLayout" Target="../slideLayouts/slideLayout7.xml"/><Relationship Id="rId3" Type="http://schemas.openxmlformats.org/officeDocument/2006/relationships/notesSlide" Target="../notesSlides/notesSlide12.xml"/><Relationship Id="rId4" Type="http://schemas.openxmlformats.org/officeDocument/2006/relationships/image" Target="../media/image1.png"/></Relationships>
</file>

<file path=ppt/slides/_rels/slide13.xml.rels><?xml version='1.0' encoding='UTF-8' standalone='yes'?>
<Relationships xmlns="http://schemas.openxmlformats.org/package/2006/relationships"><Relationship Id="rId1" Type="http://schemas.openxmlformats.org/officeDocument/2006/relationships/tags" Target="../tags/tag13.xml"/><Relationship Id="rId2" Type="http://schemas.openxmlformats.org/officeDocument/2006/relationships/slideLayout" Target="../slideLayouts/slideLayout7.xml"/><Relationship Id="rId3" Type="http://schemas.openxmlformats.org/officeDocument/2006/relationships/notesSlide" Target="../notesSlides/notesSlide13.xml"/><Relationship Id="rId4" Type="http://schemas.openxmlformats.org/officeDocument/2006/relationships/image" Target="../media/image1.png"/></Relationships>
</file>

<file path=ppt/slides/_rels/slide14.xml.rels><?xml version='1.0' encoding='UTF-8' standalone='yes'?>
<Relationships xmlns="http://schemas.openxmlformats.org/package/2006/relationships"><Relationship Id="rId1" Type="http://schemas.openxmlformats.org/officeDocument/2006/relationships/tags" Target="../tags/tag14.xml"/><Relationship Id="rId2" Type="http://schemas.openxmlformats.org/officeDocument/2006/relationships/slideLayout" Target="../slideLayouts/slideLayout7.xml"/><Relationship Id="rId3" Type="http://schemas.openxmlformats.org/officeDocument/2006/relationships/notesSlide" Target="../notesSlides/notesSlide14.xml"/><Relationship Id="rId4" Type="http://schemas.openxmlformats.org/officeDocument/2006/relationships/image" Target="../media/image1.png"/></Relationships>
</file>

<file path=ppt/slides/_rels/slide15.xml.rels><?xml version='1.0' encoding='UTF-8' standalone='yes'?>
<Relationships xmlns="http://schemas.openxmlformats.org/package/2006/relationships"><Relationship Id="rId1" Type="http://schemas.openxmlformats.org/officeDocument/2006/relationships/tags" Target="../tags/tag15.xml"/><Relationship Id="rId2" Type="http://schemas.openxmlformats.org/officeDocument/2006/relationships/slideLayout" Target="../slideLayouts/slideLayout7.xml"/><Relationship Id="rId3" Type="http://schemas.openxmlformats.org/officeDocument/2006/relationships/notesSlide" Target="../notesSlides/notesSlide15.xml"/><Relationship Id="rId4" Type="http://schemas.openxmlformats.org/officeDocument/2006/relationships/image" Target="../media/image1.png"/></Relationships>
</file>

<file path=ppt/slides/_rels/slide16.xml.rels><?xml version='1.0' encoding='UTF-8' standalone='yes'?>
<Relationships xmlns="http://schemas.openxmlformats.org/package/2006/relationships"><Relationship Id="rId1" Type="http://schemas.openxmlformats.org/officeDocument/2006/relationships/tags" Target="../tags/tag16.xml"/><Relationship Id="rId2" Type="http://schemas.openxmlformats.org/officeDocument/2006/relationships/slideLayout" Target="../slideLayouts/slideLayout7.xml"/><Relationship Id="rId3" Type="http://schemas.openxmlformats.org/officeDocument/2006/relationships/notesSlide" Target="../notesSlides/notesSlide16.xml"/><Relationship Id="rId4" Type="http://schemas.openxmlformats.org/officeDocument/2006/relationships/image" Target="../media/image1.png"/></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15.png"/><Relationship Id="rId4" Type="http://schemas.openxmlformats.org/officeDocument/2006/relationships/notesSlide" Target="../notesSlides/notesSlide17.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8" name="CuadroTexto 7">
            <a:extLst>
              <a:ext uri="{FF2B5EF4-FFF2-40B4-BE49-F238E27FC236}">
                <a16:creationId xmlns:a16="http://schemas.microsoft.com/office/drawing/2014/main" id="{5AB7B6B3-AD13-8119-A6C6-90DCF2ADE002}"/>
              </a:ext>
            </a:extLst>
          </p:cNvPr>
          <p:cNvSpPr txBox="1"/>
          <p:nvPr/>
        </p:nvSpPr>
        <p:spPr>
          <a:xfrm>
            <a:off x="1237869" y="423094"/>
            <a:ext cx="10241638" cy="3200876"/>
          </a:xfrm>
          <a:prstGeom prst="rect">
            <a:avLst/>
          </a:prstGeom>
          <a:noFill/>
        </p:spPr>
        <p:txBody>
          <a:bodyPr wrap="square" lIns="91440" tIns="45720" rIns="91440" bIns="45720" rtlCol="0" anchor="t">
            <a:spAutoFit/>
          </a:bodyPr>
          <a:lstStyle/>
          <a:p>
            <a:pPr algn="ctr"/>
            <a:r>
              <a:rPr lang="es-CO" sz="13800" b="1" dirty="0">
                <a:solidFill>
                  <a:srgbClr val="002060"/>
                </a:solidFill>
                <a:latin typeface="Bell MT" panose="02020503060305020303" pitchFamily="18" charset="0"/>
                <a:ea typeface="Aptos" panose="020B0004020202020204" pitchFamily="34" charset="0"/>
              </a:rPr>
              <a:t>III CEINNA</a:t>
            </a:r>
            <a:endParaRPr lang="es-CO" sz="13800" b="1" dirty="0">
              <a:solidFill>
                <a:srgbClr val="002060"/>
              </a:solidFill>
              <a:effectLst/>
              <a:latin typeface="Bell MT" panose="02020503060305020303" pitchFamily="18" charset="0"/>
              <a:ea typeface="Aptos" panose="020B0004020202020204" pitchFamily="34" charset="0"/>
            </a:endParaRPr>
          </a:p>
          <a:p>
            <a:pPr algn="ctr"/>
            <a:r>
              <a:rPr lang="es-CO" sz="3200" b="1" dirty="0">
                <a:effectLst/>
                <a:latin typeface="Bell MT"/>
                <a:ea typeface="Aptos" panose="020B0004020202020204" pitchFamily="34" charset="0"/>
              </a:rPr>
              <a:t>III Congreso Internacional de Estudios en Innovación y Nuevas </a:t>
            </a:r>
            <a:r>
              <a:rPr lang="es-CO" sz="3200" b="1" dirty="0">
                <a:latin typeface="Bell MT"/>
                <a:ea typeface="Aptos" panose="020B0004020202020204" pitchFamily="34" charset="0"/>
              </a:rPr>
              <a:t>Tecnologías para</a:t>
            </a:r>
            <a:r>
              <a:rPr lang="es-CO" sz="3200" b="1" dirty="0">
                <a:effectLst/>
                <a:latin typeface="Bell MT"/>
                <a:ea typeface="Aptos" panose="020B0004020202020204" pitchFamily="34" charset="0"/>
              </a:rPr>
              <a:t> la Seguridad y la Defensa</a:t>
            </a:r>
            <a:endParaRPr lang="es-CO" sz="3200" dirty="0">
              <a:latin typeface="Bell MT"/>
            </a:endParaRPr>
          </a:p>
        </p:txBody>
      </p:sp>
      <p:grpSp>
        <p:nvGrpSpPr>
          <p:cNvPr id="28" name="Grupo 27">
            <a:extLst>
              <a:ext uri="{FF2B5EF4-FFF2-40B4-BE49-F238E27FC236}">
                <a16:creationId xmlns:a16="http://schemas.microsoft.com/office/drawing/2014/main" id="{B8F8E782-CBFA-DEE5-3356-5D7314DBC717}"/>
              </a:ext>
            </a:extLst>
          </p:cNvPr>
          <p:cNvGrpSpPr/>
          <p:nvPr/>
        </p:nvGrpSpPr>
        <p:grpSpPr>
          <a:xfrm>
            <a:off x="11555690" y="0"/>
            <a:ext cx="636310" cy="6876601"/>
            <a:chOff x="11555690" y="0"/>
            <a:chExt cx="636310" cy="6876601"/>
          </a:xfrm>
        </p:grpSpPr>
        <p:sp>
          <p:nvSpPr>
            <p:cNvPr id="9" name="Rectángulo 8">
              <a:extLst>
                <a:ext uri="{FF2B5EF4-FFF2-40B4-BE49-F238E27FC236}">
                  <a16:creationId xmlns:a16="http://schemas.microsoft.com/office/drawing/2014/main" id="{9575CE6E-9389-C8B9-79C1-3F494C183CF9}"/>
                </a:ext>
              </a:extLst>
            </p:cNvPr>
            <p:cNvSpPr/>
            <p:nvPr/>
          </p:nvSpPr>
          <p:spPr>
            <a:xfrm>
              <a:off x="11557416" y="3496321"/>
              <a:ext cx="634584" cy="1813806"/>
            </a:xfrm>
            <a:prstGeom prst="rect">
              <a:avLst/>
            </a:prstGeom>
            <a:solidFill>
              <a:srgbClr val="000F4D"/>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CO"/>
            </a:p>
          </p:txBody>
        </p:sp>
        <p:sp>
          <p:nvSpPr>
            <p:cNvPr id="22" name="Rectángulo 21">
              <a:extLst>
                <a:ext uri="{FF2B5EF4-FFF2-40B4-BE49-F238E27FC236}">
                  <a16:creationId xmlns:a16="http://schemas.microsoft.com/office/drawing/2014/main" id="{9F0E435E-DE83-B3FC-A55B-4724EA0F3399}"/>
                </a:ext>
              </a:extLst>
            </p:cNvPr>
            <p:cNvSpPr/>
            <p:nvPr/>
          </p:nvSpPr>
          <p:spPr>
            <a:xfrm>
              <a:off x="11557416" y="5227683"/>
              <a:ext cx="634584" cy="1648918"/>
            </a:xfrm>
            <a:prstGeom prst="rect">
              <a:avLst/>
            </a:prstGeom>
            <a:solidFill>
              <a:srgbClr val="26B53B"/>
            </a:solidFill>
            <a:ln>
              <a:solidFill>
                <a:srgbClr val="23B53B"/>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CO"/>
            </a:p>
          </p:txBody>
        </p:sp>
        <p:sp>
          <p:nvSpPr>
            <p:cNvPr id="24" name="Rectángulo 23">
              <a:extLst>
                <a:ext uri="{FF2B5EF4-FFF2-40B4-BE49-F238E27FC236}">
                  <a16:creationId xmlns:a16="http://schemas.microsoft.com/office/drawing/2014/main" id="{E066963C-B48A-1CFA-C844-560A59C6535C}"/>
                </a:ext>
              </a:extLst>
            </p:cNvPr>
            <p:cNvSpPr/>
            <p:nvPr/>
          </p:nvSpPr>
          <p:spPr>
            <a:xfrm>
              <a:off x="11555690" y="0"/>
              <a:ext cx="634584" cy="1648918"/>
            </a:xfrm>
            <a:prstGeom prst="rect">
              <a:avLst/>
            </a:prstGeom>
            <a:solidFill>
              <a:srgbClr val="D9000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CO"/>
            </a:p>
          </p:txBody>
        </p:sp>
        <p:sp>
          <p:nvSpPr>
            <p:cNvPr id="27" name="Rectángulo 26">
              <a:extLst>
                <a:ext uri="{FF2B5EF4-FFF2-40B4-BE49-F238E27FC236}">
                  <a16:creationId xmlns:a16="http://schemas.microsoft.com/office/drawing/2014/main" id="{18BC95E9-1F2D-409E-7CDD-149202EA2BBB}"/>
                </a:ext>
              </a:extLst>
            </p:cNvPr>
            <p:cNvSpPr/>
            <p:nvPr/>
          </p:nvSpPr>
          <p:spPr>
            <a:xfrm>
              <a:off x="11557416" y="1665710"/>
              <a:ext cx="634584" cy="1813806"/>
            </a:xfrm>
            <a:prstGeom prst="rect">
              <a:avLst/>
            </a:prstGeom>
          </p:spPr>
          <p:style>
            <a:lnRef idx="2">
              <a:schemeClr val="dk1">
                <a:shade val="15000"/>
              </a:schemeClr>
            </a:lnRef>
            <a:fillRef idx="1">
              <a:schemeClr val="dk1"/>
            </a:fillRef>
            <a:effectRef idx="0">
              <a:schemeClr val="dk1"/>
            </a:effectRef>
            <a:fontRef idx="minor">
              <a:schemeClr val="lt1"/>
            </a:fontRef>
          </p:style>
          <p:txBody>
            <a:bodyPr rtlCol="0" anchor="ctr"/>
            <a:lstStyle/>
            <a:p>
              <a:pPr algn="ctr"/>
              <a:endParaRPr lang="es-CO"/>
            </a:p>
          </p:txBody>
        </p:sp>
      </p:grpSp>
      <p:sp>
        <p:nvSpPr>
          <p:cNvPr id="29" name="CuadroTexto 28">
            <a:extLst>
              <a:ext uri="{FF2B5EF4-FFF2-40B4-BE49-F238E27FC236}">
                <a16:creationId xmlns:a16="http://schemas.microsoft.com/office/drawing/2014/main" id="{58EBAFAA-CDB1-24F5-ACAE-2228BCBF3F2D}"/>
              </a:ext>
            </a:extLst>
          </p:cNvPr>
          <p:cNvSpPr txBox="1"/>
          <p:nvPr/>
        </p:nvSpPr>
        <p:spPr>
          <a:xfrm>
            <a:off x="1618938" y="6368002"/>
            <a:ext cx="9218951" cy="369332"/>
          </a:xfrm>
          <a:prstGeom prst="rect">
            <a:avLst/>
          </a:prstGeom>
          <a:noFill/>
        </p:spPr>
        <p:txBody>
          <a:bodyPr wrap="square" rtlCol="0">
            <a:spAutoFit/>
          </a:bodyPr>
          <a:lstStyle/>
          <a:p>
            <a:pPr algn="ctr"/>
            <a:r>
              <a:rPr lang="es-CO" sz="1800" i="1" kern="100" dirty="0">
                <a:solidFill>
                  <a:srgbClr val="242424"/>
                </a:solidFill>
                <a:effectLst/>
                <a:latin typeface="Bell MT" panose="02020503060305020303" pitchFamily="18" charset="0"/>
                <a:ea typeface="Aptos" panose="020B0004020202020204" pitchFamily="34" charset="0"/>
                <a:cs typeface="Times New Roman" panose="02020603050405020304" pitchFamily="18" charset="0"/>
              </a:rPr>
              <a:t>“Del conocimiento a la capacidad estratégica”</a:t>
            </a:r>
            <a:endParaRPr lang="es-CO" sz="1800" i="1" kern="100" dirty="0">
              <a:effectLst/>
              <a:latin typeface="Bell MT" panose="02020503060305020303" pitchFamily="18" charset="0"/>
              <a:ea typeface="Aptos" panose="020B0004020202020204" pitchFamily="34" charset="0"/>
              <a:cs typeface="Times New Roman" panose="02020603050405020304" pitchFamily="18" charset="0"/>
            </a:endParaRPr>
          </a:p>
        </p:txBody>
      </p:sp>
      <p:pic>
        <p:nvPicPr>
          <p:cNvPr id="3" name="Imagen 2" descr="Diagrama&#10;&#10;El contenido generado por inteligencia artificial puede ser incorrecto.">
            <a:extLst>
              <a:ext uri="{FF2B5EF4-FFF2-40B4-BE49-F238E27FC236}">
                <a16:creationId xmlns:a16="http://schemas.microsoft.com/office/drawing/2014/main" id="{9F21B5D3-D88B-C180-EF7F-2653E746C90A}"/>
              </a:ext>
            </a:extLst>
          </p:cNvPr>
          <p:cNvPicPr>
            <a:picLocks noChangeAspect="1"/>
          </p:cNvPicPr>
          <p:nvPr/>
        </p:nvPicPr>
        <p:blipFill>
          <a:blip r:embed="rId4"/>
          <a:srcRect l="6260" t="10344" r="5922" b="28494"/>
          <a:stretch/>
        </p:blipFill>
        <p:spPr>
          <a:xfrm>
            <a:off x="0" y="0"/>
            <a:ext cx="1742137" cy="1508926"/>
          </a:xfrm>
          <a:prstGeom prst="rect">
            <a:avLst/>
          </a:prstGeom>
        </p:spPr>
      </p:pic>
      <p:grpSp>
        <p:nvGrpSpPr>
          <p:cNvPr id="17" name="Grupo 16">
            <a:extLst>
              <a:ext uri="{FF2B5EF4-FFF2-40B4-BE49-F238E27FC236}">
                <a16:creationId xmlns:a16="http://schemas.microsoft.com/office/drawing/2014/main" id="{53B94909-D294-4478-8353-9153DCE9819D}"/>
              </a:ext>
            </a:extLst>
          </p:cNvPr>
          <p:cNvGrpSpPr/>
          <p:nvPr/>
        </p:nvGrpSpPr>
        <p:grpSpPr>
          <a:xfrm>
            <a:off x="889613" y="3639910"/>
            <a:ext cx="10183752" cy="2412232"/>
            <a:chOff x="1501476" y="3662819"/>
            <a:chExt cx="10183752" cy="2412232"/>
          </a:xfrm>
        </p:grpSpPr>
        <p:grpSp>
          <p:nvGrpSpPr>
            <p:cNvPr id="15" name="Grupo 14">
              <a:extLst>
                <a:ext uri="{FF2B5EF4-FFF2-40B4-BE49-F238E27FC236}">
                  <a16:creationId xmlns:a16="http://schemas.microsoft.com/office/drawing/2014/main" id="{42BB1509-6EC7-422E-85A5-3BF56EF1CB51}"/>
                </a:ext>
              </a:extLst>
            </p:cNvPr>
            <p:cNvGrpSpPr/>
            <p:nvPr/>
          </p:nvGrpSpPr>
          <p:grpSpPr>
            <a:xfrm>
              <a:off x="1501476" y="3662819"/>
              <a:ext cx="10183752" cy="2412232"/>
              <a:chOff x="1501476" y="3662819"/>
              <a:chExt cx="10183752" cy="2412232"/>
            </a:xfrm>
          </p:grpSpPr>
          <p:grpSp>
            <p:nvGrpSpPr>
              <p:cNvPr id="13" name="Grupo 12">
                <a:extLst>
                  <a:ext uri="{FF2B5EF4-FFF2-40B4-BE49-F238E27FC236}">
                    <a16:creationId xmlns:a16="http://schemas.microsoft.com/office/drawing/2014/main" id="{E5FDF56B-939D-4AF6-866C-115F95371ABE}"/>
                  </a:ext>
                </a:extLst>
              </p:cNvPr>
              <p:cNvGrpSpPr/>
              <p:nvPr/>
            </p:nvGrpSpPr>
            <p:grpSpPr>
              <a:xfrm>
                <a:off x="1501476" y="3662819"/>
                <a:ext cx="8150859" cy="2412232"/>
                <a:chOff x="3463441" y="3647054"/>
                <a:chExt cx="8150859" cy="2412232"/>
              </a:xfrm>
            </p:grpSpPr>
            <p:grpSp>
              <p:nvGrpSpPr>
                <p:cNvPr id="5" name="Grupo 4">
                  <a:extLst>
                    <a:ext uri="{FF2B5EF4-FFF2-40B4-BE49-F238E27FC236}">
                      <a16:creationId xmlns:a16="http://schemas.microsoft.com/office/drawing/2014/main" id="{908A2A3E-AE96-4CDA-99B6-4DFC60197E43}"/>
                    </a:ext>
                  </a:extLst>
                </p:cNvPr>
                <p:cNvGrpSpPr/>
                <p:nvPr/>
              </p:nvGrpSpPr>
              <p:grpSpPr>
                <a:xfrm>
                  <a:off x="3463441" y="3647054"/>
                  <a:ext cx="6252979" cy="2412232"/>
                  <a:chOff x="3410430" y="3725173"/>
                  <a:chExt cx="6252979" cy="2412232"/>
                </a:xfrm>
              </p:grpSpPr>
              <p:grpSp>
                <p:nvGrpSpPr>
                  <p:cNvPr id="11" name="Grupo 10">
                    <a:extLst>
                      <a:ext uri="{FF2B5EF4-FFF2-40B4-BE49-F238E27FC236}">
                        <a16:creationId xmlns:a16="http://schemas.microsoft.com/office/drawing/2014/main" id="{A90D5FF9-54AF-4349-BD2C-2403325815F4}"/>
                      </a:ext>
                    </a:extLst>
                  </p:cNvPr>
                  <p:cNvGrpSpPr/>
                  <p:nvPr/>
                </p:nvGrpSpPr>
                <p:grpSpPr>
                  <a:xfrm>
                    <a:off x="4639605" y="3725173"/>
                    <a:ext cx="5023804" cy="2343711"/>
                    <a:chOff x="4639605" y="3725173"/>
                    <a:chExt cx="5023804" cy="2343711"/>
                  </a:xfrm>
                </p:grpSpPr>
                <p:pic>
                  <p:nvPicPr>
                    <p:cNvPr id="1026" name="Picture 2" descr="Símbolos Fuerza Aérea | Fuerza Aeroespacial Colombiana">
                      <a:extLst>
                        <a:ext uri="{FF2B5EF4-FFF2-40B4-BE49-F238E27FC236}">
                          <a16:creationId xmlns:a16="http://schemas.microsoft.com/office/drawing/2014/main" id="{AC35630A-FF16-81A3-A7A8-647C5E3D5C9A}"/>
                        </a:ext>
                      </a:extLst>
                    </p:cNvPr>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7056709" y="3969023"/>
                      <a:ext cx="1374373" cy="606405"/>
                    </a:xfrm>
                    <a:prstGeom prst="rect">
                      <a:avLst/>
                    </a:prstGeom>
                    <a:noFill/>
                    <a:extLst>
                      <a:ext uri="{909E8E84-426E-40DD-AFC4-6F175D3DCCD1}">
                        <a14:hiddenFill xmlns:a14="http://schemas.microsoft.com/office/drawing/2010/main">
                          <a:solidFill>
                            <a:srgbClr val="FFFFFF"/>
                          </a:solidFill>
                        </a14:hiddenFill>
                      </a:ext>
                    </a:extLst>
                  </p:spPr>
                </p:pic>
                <p:pic>
                  <p:nvPicPr>
                    <p:cNvPr id="31" name="Imagen 30" descr="Imagen que contiene accesorio&#10;&#10;El contenido generado por IA puede ser incorrecto.">
                      <a:extLst>
                        <a:ext uri="{FF2B5EF4-FFF2-40B4-BE49-F238E27FC236}">
                          <a16:creationId xmlns:a16="http://schemas.microsoft.com/office/drawing/2014/main" id="{B881502D-E940-C519-C84D-025440E3F031}"/>
                        </a:ext>
                      </a:extLst>
                    </p:cNvPr>
                    <p:cNvPicPr>
                      <a:picLocks noChangeAspect="1"/>
                    </p:cNvPicPr>
                    <p:nvPr/>
                  </p:nvPicPr>
                  <p:blipFill>
                    <a:blip r:embed="rId6">
                      <a:extLst>
                        <a:ext uri="{28A0092B-C50C-407E-A947-70E740481C1C}">
                          <a14:useLocalDpi xmlns:a14="http://schemas.microsoft.com/office/drawing/2010/main" val="0"/>
                        </a:ext>
                      </a:extLst>
                    </a:blip>
                    <a:stretch>
                      <a:fillRect/>
                    </a:stretch>
                  </p:blipFill>
                  <p:spPr>
                    <a:xfrm>
                      <a:off x="4639605" y="4922790"/>
                      <a:ext cx="1850800" cy="1146094"/>
                    </a:xfrm>
                    <a:prstGeom prst="rect">
                      <a:avLst/>
                    </a:prstGeom>
                  </p:spPr>
                </p:pic>
                <p:pic>
                  <p:nvPicPr>
                    <p:cNvPr id="19" name="Picture 16" descr="Comunicado de prensa | Policía Nacional de Colombia">
                      <a:extLst>
                        <a:ext uri="{FF2B5EF4-FFF2-40B4-BE49-F238E27FC236}">
                          <a16:creationId xmlns:a16="http://schemas.microsoft.com/office/drawing/2014/main" id="{1CE43E72-1C41-4D6A-AB91-71862C15AEFC}"/>
                        </a:ext>
                      </a:extLst>
                    </p:cNvPr>
                    <p:cNvPicPr>
                      <a:picLocks noChangeAspect="1" noChangeArrowheads="1"/>
                    </p:cNvPicPr>
                    <p:nvPr/>
                  </p:nvPicPr>
                  <p:blipFill rotWithShape="1">
                    <a:blip r:embed="rId7">
                      <a:extLst>
                        <a:ext uri="{28A0092B-C50C-407E-A947-70E740481C1C}">
                          <a14:useLocalDpi xmlns:a14="http://schemas.microsoft.com/office/drawing/2010/main" val="0"/>
                        </a:ext>
                      </a:extLst>
                    </a:blip>
                    <a:srcRect l="23083" t="7299" r="25936" b="6512"/>
                    <a:stretch/>
                  </p:blipFill>
                  <p:spPr bwMode="auto">
                    <a:xfrm>
                      <a:off x="7685004" y="4905841"/>
                      <a:ext cx="1081870" cy="1090504"/>
                    </a:xfrm>
                    <a:prstGeom prst="rect">
                      <a:avLst/>
                    </a:prstGeom>
                    <a:noFill/>
                    <a:extLst>
                      <a:ext uri="{909E8E84-426E-40DD-AFC4-6F175D3DCCD1}">
                        <a14:hiddenFill xmlns:a14="http://schemas.microsoft.com/office/drawing/2010/main">
                          <a:solidFill>
                            <a:srgbClr val="FFFFFF"/>
                          </a:solidFill>
                        </a14:hiddenFill>
                      </a:ext>
                    </a:extLst>
                  </p:spPr>
                </p:pic>
                <p:pic>
                  <p:nvPicPr>
                    <p:cNvPr id="20" name="Picture 12" descr="Pontificia Universidad Javeriana - Wikipedia">
                      <a:extLst>
                        <a:ext uri="{FF2B5EF4-FFF2-40B4-BE49-F238E27FC236}">
                          <a16:creationId xmlns:a16="http://schemas.microsoft.com/office/drawing/2014/main" id="{6D9D9918-AEEA-4378-8B6D-CC26F55E6086}"/>
                        </a:ext>
                      </a:extLst>
                    </p:cNvPr>
                    <p:cNvPicPr>
                      <a:picLocks noChangeAspect="1"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8581539" y="3725173"/>
                      <a:ext cx="1081870" cy="1008255"/>
                    </a:xfrm>
                    <a:prstGeom prst="rect">
                      <a:avLst/>
                    </a:prstGeom>
                    <a:noFill/>
                    <a:extLst>
                      <a:ext uri="{909E8E84-426E-40DD-AFC4-6F175D3DCCD1}">
                        <a14:hiddenFill xmlns:a14="http://schemas.microsoft.com/office/drawing/2010/main">
                          <a:solidFill>
                            <a:srgbClr val="FFFFFF"/>
                          </a:solidFill>
                        </a14:hiddenFill>
                      </a:ext>
                    </a:extLst>
                  </p:spPr>
                </p:pic>
              </p:grpSp>
              <p:pic>
                <p:nvPicPr>
                  <p:cNvPr id="23" name="Imagen 22">
                    <a:extLst>
                      <a:ext uri="{FF2B5EF4-FFF2-40B4-BE49-F238E27FC236}">
                        <a16:creationId xmlns:a16="http://schemas.microsoft.com/office/drawing/2014/main" id="{0CBE19ED-908B-4A28-8825-62A064E62F14}"/>
                      </a:ext>
                    </a:extLst>
                  </p:cNvPr>
                  <p:cNvPicPr>
                    <a:picLocks noChangeAspect="1"/>
                  </p:cNvPicPr>
                  <p:nvPr/>
                </p:nvPicPr>
                <p:blipFill>
                  <a:blip r:embed="rId9"/>
                  <a:stretch>
                    <a:fillRect/>
                  </a:stretch>
                </p:blipFill>
                <p:spPr>
                  <a:xfrm>
                    <a:off x="3410430" y="4839253"/>
                    <a:ext cx="1280844" cy="1298152"/>
                  </a:xfrm>
                  <a:prstGeom prst="rect">
                    <a:avLst/>
                  </a:prstGeom>
                </p:spPr>
              </p:pic>
            </p:grpSp>
            <p:pic>
              <p:nvPicPr>
                <p:cNvPr id="7" name="Imagen 6">
                  <a:extLst>
                    <a:ext uri="{FF2B5EF4-FFF2-40B4-BE49-F238E27FC236}">
                      <a16:creationId xmlns:a16="http://schemas.microsoft.com/office/drawing/2014/main" id="{CE88D2FB-79D1-44BF-ACEF-C103907CE774}"/>
                    </a:ext>
                  </a:extLst>
                </p:cNvPr>
                <p:cNvPicPr>
                  <a:picLocks noChangeAspect="1"/>
                </p:cNvPicPr>
                <p:nvPr/>
              </p:nvPicPr>
              <p:blipFill>
                <a:blip r:embed="rId10"/>
                <a:stretch>
                  <a:fillRect/>
                </a:stretch>
              </p:blipFill>
              <p:spPr>
                <a:xfrm>
                  <a:off x="8953517" y="4994880"/>
                  <a:ext cx="1575133" cy="908172"/>
                </a:xfrm>
                <a:prstGeom prst="rect">
                  <a:avLst/>
                </a:prstGeom>
              </p:spPr>
            </p:pic>
            <p:pic>
              <p:nvPicPr>
                <p:cNvPr id="12" name="Imagen 11">
                  <a:extLst>
                    <a:ext uri="{FF2B5EF4-FFF2-40B4-BE49-F238E27FC236}">
                      <a16:creationId xmlns:a16="http://schemas.microsoft.com/office/drawing/2014/main" id="{A15B663F-DF73-4BD2-8FAB-EAC6C69D6CEE}"/>
                    </a:ext>
                  </a:extLst>
                </p:cNvPr>
                <p:cNvPicPr>
                  <a:picLocks noChangeAspect="1"/>
                </p:cNvPicPr>
                <p:nvPr/>
              </p:nvPicPr>
              <p:blipFill>
                <a:blip r:embed="rId11"/>
                <a:stretch>
                  <a:fillRect/>
                </a:stretch>
              </p:blipFill>
              <p:spPr>
                <a:xfrm>
                  <a:off x="10532429" y="5075307"/>
                  <a:ext cx="1081871" cy="720045"/>
                </a:xfrm>
                <a:prstGeom prst="rect">
                  <a:avLst/>
                </a:prstGeom>
              </p:spPr>
            </p:pic>
          </p:grpSp>
          <p:pic>
            <p:nvPicPr>
              <p:cNvPr id="14" name="Picture 2" descr="Universidad Militar Nueva Granada - Unimilitar">
                <a:extLst>
                  <a:ext uri="{FF2B5EF4-FFF2-40B4-BE49-F238E27FC236}">
                    <a16:creationId xmlns:a16="http://schemas.microsoft.com/office/drawing/2014/main" id="{D96B8188-418B-4F84-98B7-EFC022EABB39}"/>
                  </a:ext>
                </a:extLst>
              </p:cNvPr>
              <p:cNvPicPr>
                <a:picLocks noChangeAspect="1" noChangeArrowheads="1"/>
              </p:cNvPicPr>
              <p:nvPr/>
            </p:nvPicPr>
            <p:blipFill>
              <a:blip r:embed="rId12">
                <a:extLst>
                  <a:ext uri="{28A0092B-C50C-407E-A947-70E740481C1C}">
                    <a14:useLocalDpi xmlns:a14="http://schemas.microsoft.com/office/drawing/2010/main" val="0"/>
                  </a:ext>
                </a:extLst>
              </a:blip>
              <a:srcRect/>
              <a:stretch>
                <a:fillRect/>
              </a:stretch>
            </p:blipFill>
            <p:spPr bwMode="auto">
              <a:xfrm>
                <a:off x="9652335" y="5053531"/>
                <a:ext cx="2032893" cy="809981"/>
              </a:xfrm>
              <a:prstGeom prst="rect">
                <a:avLst/>
              </a:prstGeom>
              <a:noFill/>
              <a:extLst>
                <a:ext uri="{909E8E84-426E-40DD-AFC4-6F175D3DCCD1}">
                  <a14:hiddenFill xmlns:a14="http://schemas.microsoft.com/office/drawing/2010/main">
                    <a:solidFill>
                      <a:srgbClr val="FFFFFF"/>
                    </a:solidFill>
                  </a14:hiddenFill>
                </a:ext>
              </a:extLst>
            </p:spPr>
          </p:pic>
        </p:grpSp>
        <p:pic>
          <p:nvPicPr>
            <p:cNvPr id="16" name="Imagen 15">
              <a:extLst>
                <a:ext uri="{FF2B5EF4-FFF2-40B4-BE49-F238E27FC236}">
                  <a16:creationId xmlns:a16="http://schemas.microsoft.com/office/drawing/2014/main" id="{82A8A761-EF06-4DCB-853A-E33DD66E33A5}"/>
                </a:ext>
              </a:extLst>
            </p:cNvPr>
            <p:cNvPicPr>
              <a:picLocks noChangeAspect="1"/>
            </p:cNvPicPr>
            <p:nvPr/>
          </p:nvPicPr>
          <p:blipFill>
            <a:blip r:embed="rId13"/>
            <a:stretch>
              <a:fillRect/>
            </a:stretch>
          </p:blipFill>
          <p:spPr>
            <a:xfrm>
              <a:off x="4361575" y="4736687"/>
              <a:ext cx="1280843" cy="1280843"/>
            </a:xfrm>
            <a:prstGeom prst="rect">
              <a:avLst/>
            </a:prstGeom>
          </p:spPr>
        </p:pic>
      </p:grpSp>
    </p:spTree>
    <p:custDataLst>
      <p:tags r:id="rId1"/>
    </p:custDataLst>
    <p:extLst>
      <p:ext uri="{BB962C8B-B14F-4D97-AF65-F5344CB8AC3E}">
        <p14:creationId xmlns:p14="http://schemas.microsoft.com/office/powerpoint/2010/main" val="766656917"/>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Grupo 1">
            <a:extLst>
              <a:ext uri="{FF2B5EF4-FFF2-40B4-BE49-F238E27FC236}">
                <a16:creationId xmlns:a16="http://schemas.microsoft.com/office/drawing/2014/main" id="{BD7AF115-4062-2F00-424C-FED7B7CD9BBA}"/>
              </a:ext>
            </a:extLst>
          </p:cNvPr>
          <p:cNvGrpSpPr/>
          <p:nvPr/>
        </p:nvGrpSpPr>
        <p:grpSpPr>
          <a:xfrm>
            <a:off x="11555690" y="0"/>
            <a:ext cx="636310" cy="6876601"/>
            <a:chOff x="11555690" y="0"/>
            <a:chExt cx="636310" cy="6876601"/>
          </a:xfrm>
        </p:grpSpPr>
        <p:sp>
          <p:nvSpPr>
            <p:cNvPr id="3" name="Rectángulo 2">
              <a:extLst>
                <a:ext uri="{FF2B5EF4-FFF2-40B4-BE49-F238E27FC236}">
                  <a16:creationId xmlns:a16="http://schemas.microsoft.com/office/drawing/2014/main" id="{39E79AA6-D493-18B1-5F33-201C4FB7F72E}"/>
                </a:ext>
              </a:extLst>
            </p:cNvPr>
            <p:cNvSpPr/>
            <p:nvPr/>
          </p:nvSpPr>
          <p:spPr>
            <a:xfrm>
              <a:off x="11557416" y="3496321"/>
              <a:ext cx="634584" cy="1813806"/>
            </a:xfrm>
            <a:prstGeom prst="rect">
              <a:avLst/>
            </a:prstGeom>
            <a:solidFill>
              <a:srgbClr val="000F4D"/>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CO"/>
            </a:p>
          </p:txBody>
        </p:sp>
        <p:sp>
          <p:nvSpPr>
            <p:cNvPr id="4" name="Rectángulo 3">
              <a:extLst>
                <a:ext uri="{FF2B5EF4-FFF2-40B4-BE49-F238E27FC236}">
                  <a16:creationId xmlns:a16="http://schemas.microsoft.com/office/drawing/2014/main" id="{AEF73883-2598-128E-CE51-6789CA4D752D}"/>
                </a:ext>
              </a:extLst>
            </p:cNvPr>
            <p:cNvSpPr/>
            <p:nvPr/>
          </p:nvSpPr>
          <p:spPr>
            <a:xfrm>
              <a:off x="11557416" y="5227683"/>
              <a:ext cx="634584" cy="1648918"/>
            </a:xfrm>
            <a:prstGeom prst="rect">
              <a:avLst/>
            </a:prstGeom>
            <a:solidFill>
              <a:srgbClr val="26B53B"/>
            </a:solidFill>
            <a:ln>
              <a:solidFill>
                <a:srgbClr val="23B53B"/>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CO"/>
            </a:p>
          </p:txBody>
        </p:sp>
        <p:sp>
          <p:nvSpPr>
            <p:cNvPr id="5" name="Rectángulo 4">
              <a:extLst>
                <a:ext uri="{FF2B5EF4-FFF2-40B4-BE49-F238E27FC236}">
                  <a16:creationId xmlns:a16="http://schemas.microsoft.com/office/drawing/2014/main" id="{080C6193-BF4D-939E-7DAB-DBB455983D58}"/>
                </a:ext>
              </a:extLst>
            </p:cNvPr>
            <p:cNvSpPr/>
            <p:nvPr/>
          </p:nvSpPr>
          <p:spPr>
            <a:xfrm>
              <a:off x="11555690" y="0"/>
              <a:ext cx="634584" cy="1648918"/>
            </a:xfrm>
            <a:prstGeom prst="rect">
              <a:avLst/>
            </a:prstGeom>
            <a:solidFill>
              <a:srgbClr val="D9000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CO"/>
            </a:p>
          </p:txBody>
        </p:sp>
        <p:sp>
          <p:nvSpPr>
            <p:cNvPr id="6" name="Rectángulo 5">
              <a:extLst>
                <a:ext uri="{FF2B5EF4-FFF2-40B4-BE49-F238E27FC236}">
                  <a16:creationId xmlns:a16="http://schemas.microsoft.com/office/drawing/2014/main" id="{88416039-81C3-D797-B1A5-92141569955A}"/>
                </a:ext>
              </a:extLst>
            </p:cNvPr>
            <p:cNvSpPr/>
            <p:nvPr/>
          </p:nvSpPr>
          <p:spPr>
            <a:xfrm>
              <a:off x="11557416" y="1656417"/>
              <a:ext cx="634584" cy="1813806"/>
            </a:xfrm>
            <a:prstGeom prst="rect">
              <a:avLst/>
            </a:prstGeom>
          </p:spPr>
          <p:style>
            <a:lnRef idx="2">
              <a:schemeClr val="dk1">
                <a:shade val="15000"/>
              </a:schemeClr>
            </a:lnRef>
            <a:fillRef idx="1">
              <a:schemeClr val="dk1"/>
            </a:fillRef>
            <a:effectRef idx="0">
              <a:schemeClr val="dk1"/>
            </a:effectRef>
            <a:fontRef idx="minor">
              <a:schemeClr val="lt1"/>
            </a:fontRef>
          </p:style>
          <p:txBody>
            <a:bodyPr rtlCol="0" anchor="ctr"/>
            <a:lstStyle/>
            <a:p>
              <a:pPr algn="ctr"/>
              <a:endParaRPr lang="es-CO"/>
            </a:p>
          </p:txBody>
        </p:sp>
      </p:grpSp>
      <p:pic>
        <p:nvPicPr>
          <p:cNvPr id="12" name="Imagen 11" descr="Diagrama&#10;&#10;El contenido generado por inteligencia artificial puede ser incorrecto.">
            <a:extLst>
              <a:ext uri="{FF2B5EF4-FFF2-40B4-BE49-F238E27FC236}">
                <a16:creationId xmlns:a16="http://schemas.microsoft.com/office/drawing/2014/main" id="{1DFA009E-0576-391A-91D3-E18D072EBF0F}"/>
              </a:ext>
            </a:extLst>
          </p:cNvPr>
          <p:cNvPicPr>
            <a:picLocks noChangeAspect="1"/>
          </p:cNvPicPr>
          <p:nvPr/>
        </p:nvPicPr>
        <p:blipFill>
          <a:blip r:embed="rId4"/>
          <a:srcRect l="6260" t="10344" r="5922" b="28494"/>
          <a:stretch/>
        </p:blipFill>
        <p:spPr>
          <a:xfrm>
            <a:off x="-1859" y="2180"/>
            <a:ext cx="1742137" cy="1508926"/>
          </a:xfrm>
          <a:prstGeom prst="rect">
            <a:avLst/>
          </a:prstGeom>
        </p:spPr>
      </p:pic>
      <p:sp>
        <p:nvSpPr>
          <p:cNvPr id="14" name="CuadroTexto 13">
            <a:extLst>
              <a:ext uri="{FF2B5EF4-FFF2-40B4-BE49-F238E27FC236}">
                <a16:creationId xmlns:a16="http://schemas.microsoft.com/office/drawing/2014/main" id="{69D957E0-8502-4CA8-A3AC-67C0B1BB1AF8}"/>
              </a:ext>
            </a:extLst>
          </p:cNvPr>
          <p:cNvSpPr txBox="1"/>
          <p:nvPr/>
        </p:nvSpPr>
        <p:spPr>
          <a:xfrm>
            <a:off x="1618938" y="6368002"/>
            <a:ext cx="9218951" cy="369332"/>
          </a:xfrm>
          <a:prstGeom prst="rect">
            <a:avLst/>
          </a:prstGeom>
          <a:noFill/>
        </p:spPr>
        <p:txBody>
          <a:bodyPr wrap="square" rtlCol="0">
            <a:spAutoFit/>
          </a:bodyPr>
          <a:lstStyle/>
          <a:p>
            <a:pPr algn="ctr"/>
            <a:r>
              <a:rPr lang="es-CO" sz="1800" i="1" kern="100" dirty="0">
                <a:solidFill>
                  <a:srgbClr val="242424"/>
                </a:solidFill>
                <a:effectLst/>
                <a:latin typeface="Bell MT" panose="02020503060305020303" pitchFamily="18" charset="0"/>
                <a:ea typeface="Aptos" panose="020B0004020202020204" pitchFamily="34" charset="0"/>
                <a:cs typeface="Times New Roman" panose="02020603050405020304" pitchFamily="18" charset="0"/>
              </a:rPr>
              <a:t>“Del conocimiento a la capacidad estratégica”</a:t>
            </a:r>
            <a:endParaRPr lang="es-CO" sz="1800" i="1" kern="100" dirty="0">
              <a:effectLst/>
              <a:latin typeface="Bell MT" panose="02020503060305020303" pitchFamily="18" charset="0"/>
              <a:ea typeface="Aptos" panose="020B0004020202020204" pitchFamily="34" charset="0"/>
              <a:cs typeface="Times New Roman" panose="02020603050405020304" pitchFamily="18" charset="0"/>
            </a:endParaRPr>
          </a:p>
        </p:txBody>
      </p:sp>
      <p:sp>
        <p:nvSpPr>
          <p:cNvPr id="7" name="CEINNA_text_1">
            <a:extLst>
              <a:ext uri="{FF2B5EF4-FFF2-40B4-BE49-F238E27FC236}">
                <a16:creationId xmlns:a16="http://schemas.microsoft.com/office/drawing/2014/main" id="{8619F5CE-34C4-732B-8DEA-6EBA2DD8DC84}"/>
              </a:ext>
            </a:extLst>
          </p:cNvPr>
          <p:cNvSpPr txBox="1"/>
          <p:nvPr/>
        </p:nvSpPr>
        <p:spPr>
          <a:xfrm>
            <a:off x="1993900" y="1866899"/>
            <a:ext cx="8699500" cy="1409700"/>
          </a:xfrm>
          <a:prstGeom prst="rect">
            <a:avLst/>
          </a:prstGeom>
          <a:noFill/>
        </p:spPr>
        <p:txBody>
          <a:bodyPr vert="horz" wrap="square" lIns="0" tIns="0" rIns="0" bIns="0" rtlCol="0" anchor="t">
            <a:noAutofit/>
          </a:bodyPr>
          <a:lstStyle/>
          <a:p>
            <a:pPr algn="ctr"/>
            <a:r>
              <a:rPr lang="es-CO" sz="4300" b="1" dirty="0">
                <a:solidFill>
                  <a:srgbClr val="000F4D"/>
                </a:solidFill>
                <a:latin typeface="Bell MT" panose="02020503060305020303" pitchFamily="18" charset="0"/>
              </a:rPr>
              <a:t>Carga mental y desempeño
multitarea en ASTRA</a:t>
            </a:r>
          </a:p>
        </p:txBody>
      </p:sp>
      <p:sp>
        <p:nvSpPr>
          <p:cNvPr id="8" name="CEINNA_text_2">
            <a:extLst>
              <a:ext uri="{FF2B5EF4-FFF2-40B4-BE49-F238E27FC236}">
                <a16:creationId xmlns:a16="http://schemas.microsoft.com/office/drawing/2014/main" id="{04B578DA-142E-842E-59DC-9AF91007E6A9}"/>
              </a:ext>
            </a:extLst>
          </p:cNvPr>
          <p:cNvSpPr txBox="1"/>
          <p:nvPr/>
        </p:nvSpPr>
        <p:spPr>
          <a:xfrm>
            <a:off x="2057400" y="3378199"/>
            <a:ext cx="8572500" cy="533400"/>
          </a:xfrm>
          <a:prstGeom prst="rect">
            <a:avLst/>
          </a:prstGeom>
          <a:noFill/>
        </p:spPr>
        <p:txBody>
          <a:bodyPr vert="horz" wrap="square" lIns="0" tIns="0" rIns="0" bIns="0" rtlCol="0" anchor="t">
            <a:noAutofit/>
          </a:bodyPr>
          <a:lstStyle/>
          <a:p>
            <a:pPr algn="ctr"/>
            <a:r>
              <a:rPr lang="es-CO" sz="2800" dirty="0">
                <a:solidFill>
                  <a:srgbClr val="000F4D"/>
                </a:solidFill>
                <a:latin typeface="Bell MT" panose="02020503060305020303" pitchFamily="18" charset="0"/>
              </a:rPr>
              <a:t>Diseño longitudinal mediante MATB</a:t>
            </a:r>
          </a:p>
        </p:txBody>
      </p:sp>
      <p:sp>
        <p:nvSpPr>
          <p:cNvPr id="9" name="CEINNA_text_3">
            <a:extLst>
              <a:ext uri="{FF2B5EF4-FFF2-40B4-BE49-F238E27FC236}">
                <a16:creationId xmlns:a16="http://schemas.microsoft.com/office/drawing/2014/main" id="{1C7DF4A9-8217-A29C-6A17-2481641C5B72}"/>
              </a:ext>
            </a:extLst>
          </p:cNvPr>
          <p:cNvSpPr txBox="1"/>
          <p:nvPr/>
        </p:nvSpPr>
        <p:spPr>
          <a:xfrm>
            <a:off x="2095500" y="4292599"/>
            <a:ext cx="8509000" cy="406400"/>
          </a:xfrm>
          <a:prstGeom prst="rect">
            <a:avLst/>
          </a:prstGeom>
          <a:noFill/>
        </p:spPr>
        <p:txBody>
          <a:bodyPr vert="horz" wrap="square" lIns="0" tIns="0" rIns="0" bIns="0" rtlCol="0" anchor="t">
            <a:noAutofit/>
          </a:bodyPr>
          <a:lstStyle/>
          <a:p>
            <a:pPr algn="ctr"/>
            <a:r>
              <a:rPr lang="es-CO" sz="2500" b="1" dirty="0">
                <a:solidFill>
                  <a:srgbClr val="242424"/>
                </a:solidFill>
                <a:latin typeface="Bell MT" panose="02020503060305020303" pitchFamily="18" charset="0"/>
              </a:rPr>
              <a:t>SMSM DIEGO L MALPICA</a:t>
            </a:r>
          </a:p>
        </p:txBody>
      </p:sp>
      <p:sp>
        <p:nvSpPr>
          <p:cNvPr id="13" name="CEINNA_text_4">
            <a:extLst>
              <a:ext uri="{FF2B5EF4-FFF2-40B4-BE49-F238E27FC236}">
                <a16:creationId xmlns:a16="http://schemas.microsoft.com/office/drawing/2014/main" id="{092CA872-F7C3-CD3F-EC79-3E323B44EF5A}"/>
              </a:ext>
            </a:extLst>
          </p:cNvPr>
          <p:cNvSpPr txBox="1"/>
          <p:nvPr/>
        </p:nvSpPr>
        <p:spPr>
          <a:xfrm>
            <a:off x="2095500" y="4749799"/>
            <a:ext cx="8509000" cy="381000"/>
          </a:xfrm>
          <a:prstGeom prst="rect">
            <a:avLst/>
          </a:prstGeom>
          <a:noFill/>
        </p:spPr>
        <p:txBody>
          <a:bodyPr vert="horz" wrap="square" lIns="0" tIns="0" rIns="0" bIns="0" rtlCol="0" anchor="t">
            <a:noAutofit/>
          </a:bodyPr>
          <a:lstStyle/>
          <a:p>
            <a:pPr algn="ctr"/>
            <a:r>
              <a:rPr lang="es-CO" sz="2400" dirty="0">
                <a:solidFill>
                  <a:srgbClr val="242424"/>
                </a:solidFill>
                <a:latin typeface="Bell MT" panose="02020503060305020303" pitchFamily="18" charset="0"/>
              </a:rPr>
              <a:t>Especialista en Medicina Aeroespacial</a:t>
            </a:r>
          </a:p>
        </p:txBody>
      </p:sp>
      <p:sp>
        <p:nvSpPr>
          <p:cNvPr id="15" name="CEINNA_text_5">
            <a:extLst>
              <a:ext uri="{FF2B5EF4-FFF2-40B4-BE49-F238E27FC236}">
                <a16:creationId xmlns:a16="http://schemas.microsoft.com/office/drawing/2014/main" id="{9843D8DD-C595-FC30-BC73-B67E2A6FB314}"/>
              </a:ext>
            </a:extLst>
          </p:cNvPr>
          <p:cNvSpPr txBox="1"/>
          <p:nvPr/>
        </p:nvSpPr>
        <p:spPr>
          <a:xfrm>
            <a:off x="2095500" y="5156199"/>
            <a:ext cx="8509000" cy="482600"/>
          </a:xfrm>
          <a:prstGeom prst="rect">
            <a:avLst/>
          </a:prstGeom>
          <a:noFill/>
        </p:spPr>
        <p:txBody>
          <a:bodyPr vert="horz" wrap="square" lIns="0" tIns="0" rIns="0" bIns="0" rtlCol="0" anchor="t">
            <a:noAutofit/>
          </a:bodyPr>
          <a:lstStyle/>
          <a:p>
            <a:pPr algn="ctr"/>
            <a:r>
              <a:rPr lang="es-CO" sz="2400" dirty="0">
                <a:solidFill>
                  <a:srgbClr val="242424"/>
                </a:solidFill>
                <a:latin typeface="Bell MT" panose="02020503060305020303" pitchFamily="18" charset="0"/>
              </a:rPr>
              <a:t>Subdirección Científica Aeroespacial – DIMAE</a:t>
            </a:r>
          </a:p>
        </p:txBody>
      </p:sp>
      <p:sp>
        <p:nvSpPr>
          <p:cNvPr id="16" name="CEINNA_text_6">
            <a:extLst>
              <a:ext uri="{FF2B5EF4-FFF2-40B4-BE49-F238E27FC236}">
                <a16:creationId xmlns:a16="http://schemas.microsoft.com/office/drawing/2014/main" id="{8616E3A0-6223-B33A-B27B-CE9D3159B568}"/>
              </a:ext>
            </a:extLst>
          </p:cNvPr>
          <p:cNvSpPr txBox="1"/>
          <p:nvPr/>
        </p:nvSpPr>
        <p:spPr>
          <a:xfrm>
            <a:off x="1625600" y="6019800"/>
            <a:ext cx="9334500" cy="266700"/>
          </a:xfrm>
          <a:prstGeom prst="rect">
            <a:avLst/>
          </a:prstGeom>
          <a:noFill/>
        </p:spPr>
        <p:txBody>
          <a:bodyPr vert="horz" wrap="square" lIns="0" tIns="0" rIns="0" bIns="0" rtlCol="0" anchor="t">
            <a:noAutofit/>
          </a:bodyPr>
          <a:lstStyle/>
          <a:p>
            <a:r>
              <a:rPr lang="es-CO" sz="1200" dirty="0">
                <a:solidFill>
                  <a:srgbClr val="4F5A6C"/>
                </a:solidFill>
                <a:latin typeface="Bell MT" panose="02020503060305020303" pitchFamily="18" charset="0"/>
              </a:rPr>
              <a:t>III CEINNA · 13–14 de octubre de 2026</a:t>
            </a:r>
          </a:p>
        </p:txBody>
      </p:sp>
      <p:sp>
        <p:nvSpPr>
          <p:cNvPr id="17" name="CEINNA_text_7">
            <a:extLst>
              <a:ext uri="{FF2B5EF4-FFF2-40B4-BE49-F238E27FC236}">
                <a16:creationId xmlns:a16="http://schemas.microsoft.com/office/drawing/2014/main" id="{3AF1A4ED-CA00-D275-1EE0-C74804309B9A}"/>
              </a:ext>
            </a:extLst>
          </p:cNvPr>
          <p:cNvSpPr txBox="1"/>
          <p:nvPr/>
        </p:nvSpPr>
        <p:spPr>
          <a:xfrm>
            <a:off x="11036300" y="6032500"/>
            <a:ext cx="292100" cy="228600"/>
          </a:xfrm>
          <a:prstGeom prst="rect">
            <a:avLst/>
          </a:prstGeom>
          <a:noFill/>
        </p:spPr>
        <p:txBody>
          <a:bodyPr vert="horz" wrap="square" lIns="0" tIns="0" rIns="0" bIns="0" rtlCol="0" anchor="t">
            <a:noAutofit/>
          </a:bodyPr>
          <a:lstStyle/>
          <a:p>
            <a:pPr algn="r"/>
            <a:r>
              <a:rPr lang="es-CO" sz="1200" dirty="0">
                <a:solidFill>
                  <a:srgbClr val="4F5A6C"/>
                </a:solidFill>
                <a:latin typeface="Bell MT" panose="02020503060305020303" pitchFamily="18" charset="0"/>
              </a:rPr>
              <a:t>2</a:t>
            </a:r>
          </a:p>
        </p:txBody>
      </p:sp>
    </p:spTree>
    <p:custDataLst>
      <p:tags r:id="rId1"/>
    </p:custDataLst>
    <p:extLst>
      <p:ext uri="{BB962C8B-B14F-4D97-AF65-F5344CB8AC3E}">
        <p14:creationId xmlns:p14="http://schemas.microsoft.com/office/powerpoint/2010/main" val="1132279656"/>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DD327DD-631B-0435-2678-45B2F732E782}"/>
            </a:ext>
          </a:extLst>
        </p:cNvPr>
        <p:cNvGrpSpPr/>
        <p:nvPr/>
      </p:nvGrpSpPr>
      <p:grpSpPr>
        <a:xfrm>
          <a:off x="0" y="0"/>
          <a:ext cx="0" cy="0"/>
          <a:chOff x="0" y="0"/>
          <a:chExt cx="0" cy="0"/>
        </a:xfrm>
      </p:grpSpPr>
      <p:grpSp>
        <p:nvGrpSpPr>
          <p:cNvPr id="2" name="Grupo 1">
            <a:extLst>
              <a:ext uri="{FF2B5EF4-FFF2-40B4-BE49-F238E27FC236}">
                <a16:creationId xmlns:a16="http://schemas.microsoft.com/office/drawing/2014/main" id="{CE63DF04-20DE-E150-1839-A04DC0CBA770}"/>
              </a:ext>
            </a:extLst>
          </p:cNvPr>
          <p:cNvGrpSpPr/>
          <p:nvPr/>
        </p:nvGrpSpPr>
        <p:grpSpPr>
          <a:xfrm>
            <a:off x="11555690" y="0"/>
            <a:ext cx="636310" cy="6876601"/>
            <a:chOff x="11555690" y="0"/>
            <a:chExt cx="636310" cy="6876601"/>
          </a:xfrm>
        </p:grpSpPr>
        <p:sp>
          <p:nvSpPr>
            <p:cNvPr id="3" name="Rectángulo 2">
              <a:extLst>
                <a:ext uri="{FF2B5EF4-FFF2-40B4-BE49-F238E27FC236}">
                  <a16:creationId xmlns:a16="http://schemas.microsoft.com/office/drawing/2014/main" id="{8732965D-9696-5A24-7AFB-4AAD1E9E09C3}"/>
                </a:ext>
              </a:extLst>
            </p:cNvPr>
            <p:cNvSpPr/>
            <p:nvPr/>
          </p:nvSpPr>
          <p:spPr>
            <a:xfrm>
              <a:off x="11557416" y="3496321"/>
              <a:ext cx="634584" cy="1813806"/>
            </a:xfrm>
            <a:prstGeom prst="rect">
              <a:avLst/>
            </a:prstGeom>
            <a:solidFill>
              <a:srgbClr val="000F4D"/>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CO"/>
            </a:p>
          </p:txBody>
        </p:sp>
        <p:sp>
          <p:nvSpPr>
            <p:cNvPr id="4" name="Rectángulo 3">
              <a:extLst>
                <a:ext uri="{FF2B5EF4-FFF2-40B4-BE49-F238E27FC236}">
                  <a16:creationId xmlns:a16="http://schemas.microsoft.com/office/drawing/2014/main" id="{6C5D1BAA-C4E0-F0FF-139E-900F8E296C5C}"/>
                </a:ext>
              </a:extLst>
            </p:cNvPr>
            <p:cNvSpPr/>
            <p:nvPr/>
          </p:nvSpPr>
          <p:spPr>
            <a:xfrm>
              <a:off x="11557416" y="5227683"/>
              <a:ext cx="634584" cy="1648918"/>
            </a:xfrm>
            <a:prstGeom prst="rect">
              <a:avLst/>
            </a:prstGeom>
            <a:solidFill>
              <a:srgbClr val="26B53B"/>
            </a:solidFill>
            <a:ln>
              <a:solidFill>
                <a:srgbClr val="23B53B"/>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CO"/>
            </a:p>
          </p:txBody>
        </p:sp>
        <p:sp>
          <p:nvSpPr>
            <p:cNvPr id="5" name="Rectángulo 4">
              <a:extLst>
                <a:ext uri="{FF2B5EF4-FFF2-40B4-BE49-F238E27FC236}">
                  <a16:creationId xmlns:a16="http://schemas.microsoft.com/office/drawing/2014/main" id="{3DF0051E-C1A4-866B-C882-4C2A897BFE12}"/>
                </a:ext>
              </a:extLst>
            </p:cNvPr>
            <p:cNvSpPr/>
            <p:nvPr/>
          </p:nvSpPr>
          <p:spPr>
            <a:xfrm>
              <a:off x="11555690" y="0"/>
              <a:ext cx="634584" cy="1648918"/>
            </a:xfrm>
            <a:prstGeom prst="rect">
              <a:avLst/>
            </a:prstGeom>
            <a:solidFill>
              <a:srgbClr val="D9000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CO"/>
            </a:p>
          </p:txBody>
        </p:sp>
        <p:sp>
          <p:nvSpPr>
            <p:cNvPr id="6" name="Rectángulo 5">
              <a:extLst>
                <a:ext uri="{FF2B5EF4-FFF2-40B4-BE49-F238E27FC236}">
                  <a16:creationId xmlns:a16="http://schemas.microsoft.com/office/drawing/2014/main" id="{B7590AF2-E5DC-D6EB-9B90-1285C969EE0B}"/>
                </a:ext>
              </a:extLst>
            </p:cNvPr>
            <p:cNvSpPr/>
            <p:nvPr/>
          </p:nvSpPr>
          <p:spPr>
            <a:xfrm>
              <a:off x="11557416" y="1656417"/>
              <a:ext cx="634584" cy="1813806"/>
            </a:xfrm>
            <a:prstGeom prst="rect">
              <a:avLst/>
            </a:prstGeom>
          </p:spPr>
          <p:style>
            <a:lnRef idx="2">
              <a:schemeClr val="dk1">
                <a:shade val="15000"/>
              </a:schemeClr>
            </a:lnRef>
            <a:fillRef idx="1">
              <a:schemeClr val="dk1"/>
            </a:fillRef>
            <a:effectRef idx="0">
              <a:schemeClr val="dk1"/>
            </a:effectRef>
            <a:fontRef idx="minor">
              <a:schemeClr val="lt1"/>
            </a:fontRef>
          </p:style>
          <p:txBody>
            <a:bodyPr rtlCol="0" anchor="ctr"/>
            <a:lstStyle/>
            <a:p>
              <a:pPr algn="ctr"/>
              <a:endParaRPr lang="es-CO"/>
            </a:p>
          </p:txBody>
        </p:sp>
      </p:grpSp>
      <p:pic>
        <p:nvPicPr>
          <p:cNvPr id="12" name="Imagen 11" descr="Diagrama&#10;&#10;El contenido generado por inteligencia artificial puede ser incorrecto.">
            <a:extLst>
              <a:ext uri="{FF2B5EF4-FFF2-40B4-BE49-F238E27FC236}">
                <a16:creationId xmlns:a16="http://schemas.microsoft.com/office/drawing/2014/main" id="{5E25A5A2-6279-42E0-3CE5-6516C552ABD9}"/>
              </a:ext>
            </a:extLst>
          </p:cNvPr>
          <p:cNvPicPr>
            <a:picLocks noChangeAspect="1"/>
          </p:cNvPicPr>
          <p:nvPr/>
        </p:nvPicPr>
        <p:blipFill>
          <a:blip r:embed="rId4"/>
          <a:srcRect l="6260" t="10344" r="5922" b="28494"/>
          <a:stretch/>
        </p:blipFill>
        <p:spPr>
          <a:xfrm>
            <a:off x="-1859" y="2180"/>
            <a:ext cx="1742137" cy="1508926"/>
          </a:xfrm>
          <a:prstGeom prst="rect">
            <a:avLst/>
          </a:prstGeom>
        </p:spPr>
      </p:pic>
      <p:sp>
        <p:nvSpPr>
          <p:cNvPr id="13" name="CuadroTexto 12">
            <a:extLst>
              <a:ext uri="{FF2B5EF4-FFF2-40B4-BE49-F238E27FC236}">
                <a16:creationId xmlns:a16="http://schemas.microsoft.com/office/drawing/2014/main" id="{E568883A-10C9-4741-B305-C5C6ACE98753}"/>
              </a:ext>
            </a:extLst>
          </p:cNvPr>
          <p:cNvSpPr txBox="1"/>
          <p:nvPr/>
        </p:nvSpPr>
        <p:spPr>
          <a:xfrm>
            <a:off x="1618938" y="6368002"/>
            <a:ext cx="9218951" cy="369332"/>
          </a:xfrm>
          <a:prstGeom prst="rect">
            <a:avLst/>
          </a:prstGeom>
          <a:noFill/>
        </p:spPr>
        <p:txBody>
          <a:bodyPr wrap="square" rtlCol="0">
            <a:spAutoFit/>
          </a:bodyPr>
          <a:lstStyle/>
          <a:p>
            <a:pPr algn="ctr"/>
            <a:r>
              <a:rPr lang="es-CO" sz="1800" i="1" kern="100" dirty="0">
                <a:solidFill>
                  <a:srgbClr val="242424"/>
                </a:solidFill>
                <a:effectLst/>
                <a:latin typeface="Bell MT" panose="02020503060305020303" pitchFamily="18" charset="0"/>
                <a:ea typeface="Aptos" panose="020B0004020202020204" pitchFamily="34" charset="0"/>
                <a:cs typeface="Times New Roman" panose="02020603050405020304" pitchFamily="18" charset="0"/>
              </a:rPr>
              <a:t>“Del conocimiento a la capacidad estratégica”</a:t>
            </a:r>
            <a:endParaRPr lang="es-CO" sz="1800" i="1" kern="100" dirty="0">
              <a:effectLst/>
              <a:latin typeface="Bell MT" panose="02020503060305020303" pitchFamily="18" charset="0"/>
              <a:ea typeface="Aptos" panose="020B0004020202020204" pitchFamily="34" charset="0"/>
              <a:cs typeface="Times New Roman" panose="02020603050405020304" pitchFamily="18" charset="0"/>
            </a:endParaRPr>
          </a:p>
        </p:txBody>
      </p:sp>
      <p:sp>
        <p:nvSpPr>
          <p:cNvPr id="7" name="CEINNA_text_8">
            <a:extLst>
              <a:ext uri="{FF2B5EF4-FFF2-40B4-BE49-F238E27FC236}">
                <a16:creationId xmlns:a16="http://schemas.microsoft.com/office/drawing/2014/main" id="{49FED7A3-0032-7F5C-4123-77D5A1C7AEE8}"/>
              </a:ext>
            </a:extLst>
          </p:cNvPr>
          <p:cNvSpPr txBox="1"/>
          <p:nvPr/>
        </p:nvSpPr>
        <p:spPr>
          <a:xfrm>
            <a:off x="1841500" y="368299"/>
            <a:ext cx="8966200" cy="876300"/>
          </a:xfrm>
          <a:prstGeom prst="rect">
            <a:avLst/>
          </a:prstGeom>
          <a:noFill/>
        </p:spPr>
        <p:txBody>
          <a:bodyPr vert="horz" wrap="square" lIns="0" tIns="0" rIns="0" bIns="0" rtlCol="0" anchor="t">
            <a:noAutofit/>
          </a:bodyPr>
          <a:lstStyle/>
          <a:p>
            <a:pPr algn="ctr"/>
            <a:r>
              <a:rPr lang="es-CO" sz="3900" b="1" dirty="0">
                <a:solidFill>
                  <a:srgbClr val="000F4D"/>
                </a:solidFill>
                <a:latin typeface="Bell MT" panose="02020503060305020303" pitchFamily="18" charset="0"/>
              </a:rPr>
              <a:t>Aportes de la familia MATB</a:t>
            </a:r>
          </a:p>
        </p:txBody>
      </p:sp>
      <p:sp>
        <p:nvSpPr>
          <p:cNvPr id="9" name="CEINNA_box_9">
            <a:extLst>
              <a:ext uri="{FF2B5EF4-FFF2-40B4-BE49-F238E27FC236}">
                <a16:creationId xmlns:a16="http://schemas.microsoft.com/office/drawing/2014/main" id="{A2BCEBD6-B570-EE80-E5B5-02924DF3EC2C}"/>
              </a:ext>
            </a:extLst>
          </p:cNvPr>
          <p:cNvSpPr/>
          <p:nvPr/>
        </p:nvSpPr>
        <p:spPr>
          <a:xfrm>
            <a:off x="1676400" y="1803400"/>
            <a:ext cx="4610100" cy="1295400"/>
          </a:xfrm>
          <a:prstGeom prst="rect">
            <a:avLst/>
          </a:prstGeom>
          <a:solidFill>
            <a:srgbClr val="EEF1F7"/>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CO"/>
          </a:p>
        </p:txBody>
      </p:sp>
      <p:sp>
        <p:nvSpPr>
          <p:cNvPr id="11" name="CEINNA_text_10">
            <a:extLst>
              <a:ext uri="{FF2B5EF4-FFF2-40B4-BE49-F238E27FC236}">
                <a16:creationId xmlns:a16="http://schemas.microsoft.com/office/drawing/2014/main" id="{4E76644D-246E-3E24-5A24-CF87665CEF0C}"/>
              </a:ext>
            </a:extLst>
          </p:cNvPr>
          <p:cNvSpPr txBox="1"/>
          <p:nvPr/>
        </p:nvSpPr>
        <p:spPr>
          <a:xfrm>
            <a:off x="1866900" y="1955799"/>
            <a:ext cx="4229100" cy="406400"/>
          </a:xfrm>
          <a:prstGeom prst="rect">
            <a:avLst/>
          </a:prstGeom>
          <a:noFill/>
        </p:spPr>
        <p:txBody>
          <a:bodyPr vert="horz" wrap="square" lIns="0" tIns="0" rIns="0" bIns="0" rtlCol="0" anchor="t">
            <a:noAutofit/>
          </a:bodyPr>
          <a:lstStyle/>
          <a:p>
            <a:r>
              <a:rPr lang="es-CO" sz="2500" b="1" dirty="0">
                <a:solidFill>
                  <a:srgbClr val="000F4D"/>
                </a:solidFill>
                <a:latin typeface="Bell MT" panose="02020503060305020303" pitchFamily="18" charset="0"/>
              </a:rPr>
              <a:t>NASA MATB-II · 2011</a:t>
            </a:r>
          </a:p>
        </p:txBody>
      </p:sp>
      <p:sp>
        <p:nvSpPr>
          <p:cNvPr id="14" name="CEINNA_text_11">
            <a:extLst>
              <a:ext uri="{FF2B5EF4-FFF2-40B4-BE49-F238E27FC236}">
                <a16:creationId xmlns:a16="http://schemas.microsoft.com/office/drawing/2014/main" id="{95D32F34-491B-92DA-126E-D12A60EBDDDE}"/>
              </a:ext>
            </a:extLst>
          </p:cNvPr>
          <p:cNvSpPr txBox="1"/>
          <p:nvPr/>
        </p:nvSpPr>
        <p:spPr>
          <a:xfrm>
            <a:off x="1866900" y="2425699"/>
            <a:ext cx="4229100" cy="622300"/>
          </a:xfrm>
          <a:prstGeom prst="rect">
            <a:avLst/>
          </a:prstGeom>
          <a:noFill/>
        </p:spPr>
        <p:txBody>
          <a:bodyPr vert="horz" wrap="square" lIns="0" tIns="0" rIns="0" bIns="0" rtlCol="0" anchor="t">
            <a:noAutofit/>
          </a:bodyPr>
          <a:lstStyle/>
          <a:p>
            <a:r>
              <a:rPr lang="es-CO" sz="2100" dirty="0">
                <a:solidFill>
                  <a:srgbClr val="242424"/>
                </a:solidFill>
                <a:latin typeface="Bell MT" panose="02020503060305020303" pitchFamily="18" charset="0"/>
              </a:rPr>
              <a:t>Tareas de referencia y configuración experimental</a:t>
            </a:r>
          </a:p>
        </p:txBody>
      </p:sp>
      <p:sp>
        <p:nvSpPr>
          <p:cNvPr id="15" name="CEINNA_box_12">
            <a:extLst>
              <a:ext uri="{FF2B5EF4-FFF2-40B4-BE49-F238E27FC236}">
                <a16:creationId xmlns:a16="http://schemas.microsoft.com/office/drawing/2014/main" id="{4B90FF20-F7A1-C961-40A1-FBE8985F00C5}"/>
              </a:ext>
            </a:extLst>
          </p:cNvPr>
          <p:cNvSpPr/>
          <p:nvPr/>
        </p:nvSpPr>
        <p:spPr>
          <a:xfrm>
            <a:off x="6578600" y="1803400"/>
            <a:ext cx="4610100" cy="1295400"/>
          </a:xfrm>
          <a:prstGeom prst="rect">
            <a:avLst/>
          </a:prstGeom>
          <a:solidFill>
            <a:srgbClr val="EEF1F7"/>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CO"/>
          </a:p>
        </p:txBody>
      </p:sp>
      <p:sp>
        <p:nvSpPr>
          <p:cNvPr id="16" name="CEINNA_text_13">
            <a:extLst>
              <a:ext uri="{FF2B5EF4-FFF2-40B4-BE49-F238E27FC236}">
                <a16:creationId xmlns:a16="http://schemas.microsoft.com/office/drawing/2014/main" id="{F0EAAD12-6F1A-3D56-C8F8-ADFD22EF6F1D}"/>
              </a:ext>
            </a:extLst>
          </p:cNvPr>
          <p:cNvSpPr txBox="1"/>
          <p:nvPr/>
        </p:nvSpPr>
        <p:spPr>
          <a:xfrm>
            <a:off x="6769100" y="1955799"/>
            <a:ext cx="4229100" cy="406400"/>
          </a:xfrm>
          <a:prstGeom prst="rect">
            <a:avLst/>
          </a:prstGeom>
          <a:noFill/>
        </p:spPr>
        <p:txBody>
          <a:bodyPr vert="horz" wrap="square" lIns="0" tIns="0" rIns="0" bIns="0" rtlCol="0" anchor="t">
            <a:noAutofit/>
          </a:bodyPr>
          <a:lstStyle/>
          <a:p>
            <a:r>
              <a:rPr lang="es-CO" sz="2500" b="1" dirty="0">
                <a:solidFill>
                  <a:srgbClr val="000F4D"/>
                </a:solidFill>
                <a:latin typeface="Bell MT" panose="02020503060305020303" pitchFamily="18" charset="0"/>
              </a:rPr>
              <a:t>USAF AF-MATB · 2014</a:t>
            </a:r>
          </a:p>
        </p:txBody>
      </p:sp>
      <p:sp>
        <p:nvSpPr>
          <p:cNvPr id="17" name="CEINNA_text_14">
            <a:extLst>
              <a:ext uri="{FF2B5EF4-FFF2-40B4-BE49-F238E27FC236}">
                <a16:creationId xmlns:a16="http://schemas.microsoft.com/office/drawing/2014/main" id="{4B27E676-B70A-7334-2A47-F79F8F9CDDB0}"/>
              </a:ext>
            </a:extLst>
          </p:cNvPr>
          <p:cNvSpPr txBox="1"/>
          <p:nvPr/>
        </p:nvSpPr>
        <p:spPr>
          <a:xfrm>
            <a:off x="6769100" y="2425699"/>
            <a:ext cx="4229100" cy="622300"/>
          </a:xfrm>
          <a:prstGeom prst="rect">
            <a:avLst/>
          </a:prstGeom>
          <a:noFill/>
        </p:spPr>
        <p:txBody>
          <a:bodyPr vert="horz" wrap="square" lIns="0" tIns="0" rIns="0" bIns="0" rtlCol="0" anchor="t">
            <a:noAutofit/>
          </a:bodyPr>
          <a:lstStyle/>
          <a:p>
            <a:r>
              <a:rPr lang="es-CO" sz="2100" dirty="0">
                <a:solidFill>
                  <a:srgbClr val="242424"/>
                </a:solidFill>
                <a:latin typeface="Bell MT" panose="02020503060305020303" pitchFamily="18" charset="0"/>
              </a:rPr>
              <a:t>Generación de guiones y sincronización externa</a:t>
            </a:r>
          </a:p>
        </p:txBody>
      </p:sp>
      <p:sp>
        <p:nvSpPr>
          <p:cNvPr id="18" name="CEINNA_box_15">
            <a:extLst>
              <a:ext uri="{FF2B5EF4-FFF2-40B4-BE49-F238E27FC236}">
                <a16:creationId xmlns:a16="http://schemas.microsoft.com/office/drawing/2014/main" id="{05E05110-2913-4072-7CC9-FF6199026AFE}"/>
              </a:ext>
            </a:extLst>
          </p:cNvPr>
          <p:cNvSpPr/>
          <p:nvPr/>
        </p:nvSpPr>
        <p:spPr>
          <a:xfrm>
            <a:off x="1676400" y="3302000"/>
            <a:ext cx="4610100" cy="1295400"/>
          </a:xfrm>
          <a:prstGeom prst="rect">
            <a:avLst/>
          </a:prstGeom>
          <a:solidFill>
            <a:srgbClr val="EEF1F7"/>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CO"/>
          </a:p>
        </p:txBody>
      </p:sp>
      <p:sp>
        <p:nvSpPr>
          <p:cNvPr id="19" name="CEINNA_text_16">
            <a:extLst>
              <a:ext uri="{FF2B5EF4-FFF2-40B4-BE49-F238E27FC236}">
                <a16:creationId xmlns:a16="http://schemas.microsoft.com/office/drawing/2014/main" id="{ECCEFA11-B28F-C94E-634F-A94B8CB15765}"/>
              </a:ext>
            </a:extLst>
          </p:cNvPr>
          <p:cNvSpPr txBox="1"/>
          <p:nvPr/>
        </p:nvSpPr>
        <p:spPr>
          <a:xfrm>
            <a:off x="1866900" y="3454399"/>
            <a:ext cx="4229100" cy="406400"/>
          </a:xfrm>
          <a:prstGeom prst="rect">
            <a:avLst/>
          </a:prstGeom>
          <a:noFill/>
        </p:spPr>
        <p:txBody>
          <a:bodyPr vert="horz" wrap="square" lIns="0" tIns="0" rIns="0" bIns="0" rtlCol="0" anchor="t">
            <a:noAutofit/>
          </a:bodyPr>
          <a:lstStyle/>
          <a:p>
            <a:r>
              <a:rPr lang="es-CO" sz="2500" b="1" dirty="0" err="1">
                <a:solidFill>
                  <a:srgbClr val="000F4D"/>
                </a:solidFill>
                <a:latin typeface="Bell MT" panose="02020503060305020303" pitchFamily="18" charset="0"/>
              </a:rPr>
              <a:t>OpenMATB</a:t>
            </a:r>
            <a:r>
              <a:rPr lang="es-CO" sz="2500" b="1" dirty="0">
                <a:solidFill>
                  <a:srgbClr val="000F4D"/>
                </a:solidFill>
                <a:latin typeface="Bell MT" panose="02020503060305020303" pitchFamily="18" charset="0"/>
              </a:rPr>
              <a:t> · 2020</a:t>
            </a:r>
          </a:p>
        </p:txBody>
      </p:sp>
      <p:sp>
        <p:nvSpPr>
          <p:cNvPr id="20" name="CEINNA_text_17">
            <a:extLst>
              <a:ext uri="{FF2B5EF4-FFF2-40B4-BE49-F238E27FC236}">
                <a16:creationId xmlns:a16="http://schemas.microsoft.com/office/drawing/2014/main" id="{9779E330-262B-8E24-FF46-57C0A00063CD}"/>
              </a:ext>
            </a:extLst>
          </p:cNvPr>
          <p:cNvSpPr txBox="1"/>
          <p:nvPr/>
        </p:nvSpPr>
        <p:spPr>
          <a:xfrm>
            <a:off x="1866900" y="3924299"/>
            <a:ext cx="4229100" cy="622300"/>
          </a:xfrm>
          <a:prstGeom prst="rect">
            <a:avLst/>
          </a:prstGeom>
          <a:noFill/>
        </p:spPr>
        <p:txBody>
          <a:bodyPr vert="horz" wrap="square" lIns="0" tIns="0" rIns="0" bIns="0" rtlCol="0" anchor="t">
            <a:noAutofit/>
          </a:bodyPr>
          <a:lstStyle/>
          <a:p>
            <a:r>
              <a:rPr lang="es-CO" sz="2100" dirty="0">
                <a:solidFill>
                  <a:srgbClr val="242424"/>
                </a:solidFill>
                <a:latin typeface="Bell MT" panose="02020503060305020303" pitchFamily="18" charset="0"/>
              </a:rPr>
              <a:t>Personalización, código abierto y replicabilidad</a:t>
            </a:r>
          </a:p>
        </p:txBody>
      </p:sp>
      <p:sp>
        <p:nvSpPr>
          <p:cNvPr id="21" name="CEINNA_box_18">
            <a:extLst>
              <a:ext uri="{FF2B5EF4-FFF2-40B4-BE49-F238E27FC236}">
                <a16:creationId xmlns:a16="http://schemas.microsoft.com/office/drawing/2014/main" id="{9F31794B-74CE-C200-1D41-5A5CEBAC7722}"/>
              </a:ext>
            </a:extLst>
          </p:cNvPr>
          <p:cNvSpPr/>
          <p:nvPr/>
        </p:nvSpPr>
        <p:spPr>
          <a:xfrm>
            <a:off x="6578600" y="3302000"/>
            <a:ext cx="4610100" cy="1295400"/>
          </a:xfrm>
          <a:prstGeom prst="rect">
            <a:avLst/>
          </a:prstGeom>
          <a:solidFill>
            <a:srgbClr val="EEF1F7"/>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CO"/>
          </a:p>
        </p:txBody>
      </p:sp>
      <p:sp>
        <p:nvSpPr>
          <p:cNvPr id="22" name="CEINNA_text_19">
            <a:extLst>
              <a:ext uri="{FF2B5EF4-FFF2-40B4-BE49-F238E27FC236}">
                <a16:creationId xmlns:a16="http://schemas.microsoft.com/office/drawing/2014/main" id="{14A66CE5-4602-6E4A-86F8-9654D3115757}"/>
              </a:ext>
            </a:extLst>
          </p:cNvPr>
          <p:cNvSpPr txBox="1"/>
          <p:nvPr/>
        </p:nvSpPr>
        <p:spPr>
          <a:xfrm>
            <a:off x="6769100" y="3454399"/>
            <a:ext cx="4229100" cy="406400"/>
          </a:xfrm>
          <a:prstGeom prst="rect">
            <a:avLst/>
          </a:prstGeom>
          <a:noFill/>
        </p:spPr>
        <p:txBody>
          <a:bodyPr vert="horz" wrap="square" lIns="0" tIns="0" rIns="0" bIns="0" rtlCol="0" anchor="t">
            <a:noAutofit/>
          </a:bodyPr>
          <a:lstStyle/>
          <a:p>
            <a:r>
              <a:rPr lang="es-CO" sz="2500" b="1" dirty="0">
                <a:solidFill>
                  <a:srgbClr val="000F4D"/>
                </a:solidFill>
                <a:latin typeface="Bell MT" panose="02020503060305020303" pitchFamily="18" charset="0"/>
              </a:rPr>
              <a:t>USAARL MATB · 2024</a:t>
            </a:r>
          </a:p>
        </p:txBody>
      </p:sp>
      <p:sp>
        <p:nvSpPr>
          <p:cNvPr id="23" name="CEINNA_text_20">
            <a:extLst>
              <a:ext uri="{FF2B5EF4-FFF2-40B4-BE49-F238E27FC236}">
                <a16:creationId xmlns:a16="http://schemas.microsoft.com/office/drawing/2014/main" id="{D63F97B8-8500-EAB3-4CF6-DF2049BBE4AE}"/>
              </a:ext>
            </a:extLst>
          </p:cNvPr>
          <p:cNvSpPr txBox="1"/>
          <p:nvPr/>
        </p:nvSpPr>
        <p:spPr>
          <a:xfrm>
            <a:off x="6769100" y="3924299"/>
            <a:ext cx="4229100" cy="622300"/>
          </a:xfrm>
          <a:prstGeom prst="rect">
            <a:avLst/>
          </a:prstGeom>
          <a:noFill/>
        </p:spPr>
        <p:txBody>
          <a:bodyPr vert="horz" wrap="square" lIns="0" tIns="0" rIns="0" bIns="0" rtlCol="0" anchor="t">
            <a:noAutofit/>
          </a:bodyPr>
          <a:lstStyle/>
          <a:p>
            <a:r>
              <a:rPr lang="es-CO" sz="2100" dirty="0">
                <a:solidFill>
                  <a:srgbClr val="242424"/>
                </a:solidFill>
                <a:latin typeface="Bell MT" panose="02020503060305020303" pitchFamily="18" charset="0"/>
              </a:rPr>
              <a:t>Transiciones de demanda y automatización adaptativa</a:t>
            </a:r>
          </a:p>
        </p:txBody>
      </p:sp>
      <p:sp>
        <p:nvSpPr>
          <p:cNvPr id="24" name="CEINNA_box_21">
            <a:extLst>
              <a:ext uri="{FF2B5EF4-FFF2-40B4-BE49-F238E27FC236}">
                <a16:creationId xmlns:a16="http://schemas.microsoft.com/office/drawing/2014/main" id="{E6EDCDE1-C8A1-B235-0D04-6DE2FFBAC15A}"/>
              </a:ext>
            </a:extLst>
          </p:cNvPr>
          <p:cNvSpPr/>
          <p:nvPr/>
        </p:nvSpPr>
        <p:spPr>
          <a:xfrm>
            <a:off x="1676400" y="4953000"/>
            <a:ext cx="9512300" cy="889000"/>
          </a:xfrm>
          <a:prstGeom prst="rect">
            <a:avLst/>
          </a:prstGeom>
          <a:solidFill>
            <a:srgbClr val="000F4D"/>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CO"/>
          </a:p>
        </p:txBody>
      </p:sp>
      <p:sp>
        <p:nvSpPr>
          <p:cNvPr id="25" name="CEINNA_text_22">
            <a:extLst>
              <a:ext uri="{FF2B5EF4-FFF2-40B4-BE49-F238E27FC236}">
                <a16:creationId xmlns:a16="http://schemas.microsoft.com/office/drawing/2014/main" id="{4E10ED5E-78A0-D4D8-5333-83DB6CE9ECC0}"/>
              </a:ext>
            </a:extLst>
          </p:cNvPr>
          <p:cNvSpPr txBox="1"/>
          <p:nvPr/>
        </p:nvSpPr>
        <p:spPr>
          <a:xfrm>
            <a:off x="1892300" y="5079999"/>
            <a:ext cx="9080500" cy="342900"/>
          </a:xfrm>
          <a:prstGeom prst="rect">
            <a:avLst/>
          </a:prstGeom>
          <a:noFill/>
        </p:spPr>
        <p:txBody>
          <a:bodyPr vert="horz" wrap="square" lIns="0" tIns="0" rIns="0" bIns="0" rtlCol="0" anchor="t">
            <a:noAutofit/>
          </a:bodyPr>
          <a:lstStyle/>
          <a:p>
            <a:r>
              <a:rPr lang="es-CO" sz="2400" b="1" dirty="0">
                <a:solidFill>
                  <a:srgbClr val="FFFFFF"/>
                </a:solidFill>
                <a:latin typeface="Bell MT" panose="02020503060305020303" pitchFamily="18" charset="0"/>
              </a:rPr>
              <a:t>Integración FAC para ASTRA</a:t>
            </a:r>
          </a:p>
        </p:txBody>
      </p:sp>
      <p:sp>
        <p:nvSpPr>
          <p:cNvPr id="26" name="CEINNA_text_23">
            <a:extLst>
              <a:ext uri="{FF2B5EF4-FFF2-40B4-BE49-F238E27FC236}">
                <a16:creationId xmlns:a16="http://schemas.microsoft.com/office/drawing/2014/main" id="{C92F2CC5-1754-68B6-1EBC-3D974C39C94F}"/>
              </a:ext>
            </a:extLst>
          </p:cNvPr>
          <p:cNvSpPr txBox="1"/>
          <p:nvPr/>
        </p:nvSpPr>
        <p:spPr>
          <a:xfrm>
            <a:off x="1892300" y="5460999"/>
            <a:ext cx="9080500" cy="317500"/>
          </a:xfrm>
          <a:prstGeom prst="rect">
            <a:avLst/>
          </a:prstGeom>
          <a:noFill/>
        </p:spPr>
        <p:txBody>
          <a:bodyPr vert="horz" wrap="square" lIns="0" tIns="0" rIns="0" bIns="0" rtlCol="0" anchor="t">
            <a:noAutofit/>
          </a:bodyPr>
          <a:lstStyle/>
          <a:p>
            <a:r>
              <a:rPr lang="es-CO" sz="2000" dirty="0">
                <a:solidFill>
                  <a:srgbClr val="FFFFFF"/>
                </a:solidFill>
                <a:latin typeface="Bell MT" panose="02020503060305020303" pitchFamily="18" charset="0"/>
              </a:rPr>
              <a:t>Escenario reproducible → registro trazable → seguimiento longitudinal</a:t>
            </a:r>
          </a:p>
        </p:txBody>
      </p:sp>
      <p:sp>
        <p:nvSpPr>
          <p:cNvPr id="27" name="CEINNA_text_24">
            <a:extLst>
              <a:ext uri="{FF2B5EF4-FFF2-40B4-BE49-F238E27FC236}">
                <a16:creationId xmlns:a16="http://schemas.microsoft.com/office/drawing/2014/main" id="{F5D12860-24E8-79EB-E0D4-207AA44F9AEA}"/>
              </a:ext>
            </a:extLst>
          </p:cNvPr>
          <p:cNvSpPr txBox="1"/>
          <p:nvPr/>
        </p:nvSpPr>
        <p:spPr>
          <a:xfrm>
            <a:off x="1625600" y="6019800"/>
            <a:ext cx="9334500" cy="266700"/>
          </a:xfrm>
          <a:prstGeom prst="rect">
            <a:avLst/>
          </a:prstGeom>
          <a:noFill/>
        </p:spPr>
        <p:txBody>
          <a:bodyPr vert="horz" wrap="square" lIns="0" tIns="0" rIns="0" bIns="0" rtlCol="0" anchor="t">
            <a:noAutofit/>
          </a:bodyPr>
          <a:lstStyle/>
          <a:p>
            <a:r>
              <a:rPr lang="es-CO" sz="1200" dirty="0">
                <a:solidFill>
                  <a:srgbClr val="4F5A6C"/>
                </a:solidFill>
                <a:latin typeface="Bell MT" panose="02020503060305020303" pitchFamily="18" charset="0"/>
              </a:rPr>
              <a:t>[1,5] Cegarra et al., 2020; Vogl et al., 2024 (§1.2). Aportes complementarios.</a:t>
            </a:r>
          </a:p>
        </p:txBody>
      </p:sp>
      <p:sp>
        <p:nvSpPr>
          <p:cNvPr id="28" name="CEINNA_text_25">
            <a:extLst>
              <a:ext uri="{FF2B5EF4-FFF2-40B4-BE49-F238E27FC236}">
                <a16:creationId xmlns:a16="http://schemas.microsoft.com/office/drawing/2014/main" id="{30777D3D-1188-C256-B56F-CDE69428DFB4}"/>
              </a:ext>
            </a:extLst>
          </p:cNvPr>
          <p:cNvSpPr txBox="1"/>
          <p:nvPr/>
        </p:nvSpPr>
        <p:spPr>
          <a:xfrm>
            <a:off x="11036300" y="6032500"/>
            <a:ext cx="292100" cy="228600"/>
          </a:xfrm>
          <a:prstGeom prst="rect">
            <a:avLst/>
          </a:prstGeom>
          <a:noFill/>
        </p:spPr>
        <p:txBody>
          <a:bodyPr vert="horz" wrap="square" lIns="0" tIns="0" rIns="0" bIns="0" rtlCol="0" anchor="t">
            <a:noAutofit/>
          </a:bodyPr>
          <a:lstStyle/>
          <a:p>
            <a:pPr algn="r"/>
            <a:r>
              <a:rPr lang="es-CO" sz="1200" dirty="0">
                <a:solidFill>
                  <a:srgbClr val="4F5A6C"/>
                </a:solidFill>
                <a:latin typeface="Bell MT" panose="02020503060305020303" pitchFamily="18" charset="0"/>
              </a:rPr>
              <a:t>3</a:t>
            </a:r>
          </a:p>
        </p:txBody>
      </p:sp>
    </p:spTree>
    <p:custDataLst>
      <p:tags r:id="rId1"/>
    </p:custDataLst>
    <p:extLst>
      <p:ext uri="{BB962C8B-B14F-4D97-AF65-F5344CB8AC3E}">
        <p14:creationId xmlns:p14="http://schemas.microsoft.com/office/powerpoint/2010/main" val="1894218170"/>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F0C0B2F-ABCF-A16D-9B99-96619EC7347F}"/>
            </a:ext>
          </a:extLst>
        </p:cNvPr>
        <p:cNvGrpSpPr/>
        <p:nvPr/>
      </p:nvGrpSpPr>
      <p:grpSpPr>
        <a:xfrm>
          <a:off x="0" y="0"/>
          <a:ext cx="0" cy="0"/>
          <a:chOff x="0" y="0"/>
          <a:chExt cx="0" cy="0"/>
        </a:xfrm>
      </p:grpSpPr>
      <p:grpSp>
        <p:nvGrpSpPr>
          <p:cNvPr id="2" name="Grupo 1">
            <a:extLst>
              <a:ext uri="{FF2B5EF4-FFF2-40B4-BE49-F238E27FC236}">
                <a16:creationId xmlns:a16="http://schemas.microsoft.com/office/drawing/2014/main" id="{B5C8DCE7-7F59-F685-9165-4D848885236E}"/>
              </a:ext>
            </a:extLst>
          </p:cNvPr>
          <p:cNvGrpSpPr/>
          <p:nvPr/>
        </p:nvGrpSpPr>
        <p:grpSpPr>
          <a:xfrm>
            <a:off x="11555690" y="0"/>
            <a:ext cx="636310" cy="6876601"/>
            <a:chOff x="11555690" y="0"/>
            <a:chExt cx="636310" cy="6876601"/>
          </a:xfrm>
        </p:grpSpPr>
        <p:sp>
          <p:nvSpPr>
            <p:cNvPr id="3" name="Rectángulo 2">
              <a:extLst>
                <a:ext uri="{FF2B5EF4-FFF2-40B4-BE49-F238E27FC236}">
                  <a16:creationId xmlns:a16="http://schemas.microsoft.com/office/drawing/2014/main" id="{A8E3883C-A3FB-B076-D9C5-4593E728242E}"/>
                </a:ext>
              </a:extLst>
            </p:cNvPr>
            <p:cNvSpPr/>
            <p:nvPr/>
          </p:nvSpPr>
          <p:spPr>
            <a:xfrm>
              <a:off x="11557416" y="3496321"/>
              <a:ext cx="634584" cy="1813806"/>
            </a:xfrm>
            <a:prstGeom prst="rect">
              <a:avLst/>
            </a:prstGeom>
            <a:solidFill>
              <a:srgbClr val="000F4D"/>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CO"/>
            </a:p>
          </p:txBody>
        </p:sp>
        <p:sp>
          <p:nvSpPr>
            <p:cNvPr id="4" name="Rectángulo 3">
              <a:extLst>
                <a:ext uri="{FF2B5EF4-FFF2-40B4-BE49-F238E27FC236}">
                  <a16:creationId xmlns:a16="http://schemas.microsoft.com/office/drawing/2014/main" id="{7512944A-8633-A84A-8248-74134005AF6D}"/>
                </a:ext>
              </a:extLst>
            </p:cNvPr>
            <p:cNvSpPr/>
            <p:nvPr/>
          </p:nvSpPr>
          <p:spPr>
            <a:xfrm>
              <a:off x="11557416" y="5227683"/>
              <a:ext cx="634584" cy="1648918"/>
            </a:xfrm>
            <a:prstGeom prst="rect">
              <a:avLst/>
            </a:prstGeom>
            <a:solidFill>
              <a:srgbClr val="26B53B"/>
            </a:solidFill>
            <a:ln>
              <a:solidFill>
                <a:srgbClr val="23B53B"/>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CO"/>
            </a:p>
          </p:txBody>
        </p:sp>
        <p:sp>
          <p:nvSpPr>
            <p:cNvPr id="5" name="Rectángulo 4">
              <a:extLst>
                <a:ext uri="{FF2B5EF4-FFF2-40B4-BE49-F238E27FC236}">
                  <a16:creationId xmlns:a16="http://schemas.microsoft.com/office/drawing/2014/main" id="{17EF142A-3A8B-CD16-CBC7-83A3158E79B9}"/>
                </a:ext>
              </a:extLst>
            </p:cNvPr>
            <p:cNvSpPr/>
            <p:nvPr/>
          </p:nvSpPr>
          <p:spPr>
            <a:xfrm>
              <a:off x="11555690" y="0"/>
              <a:ext cx="634584" cy="1648918"/>
            </a:xfrm>
            <a:prstGeom prst="rect">
              <a:avLst/>
            </a:prstGeom>
            <a:solidFill>
              <a:srgbClr val="D9000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CO"/>
            </a:p>
          </p:txBody>
        </p:sp>
        <p:sp>
          <p:nvSpPr>
            <p:cNvPr id="6" name="Rectángulo 5">
              <a:extLst>
                <a:ext uri="{FF2B5EF4-FFF2-40B4-BE49-F238E27FC236}">
                  <a16:creationId xmlns:a16="http://schemas.microsoft.com/office/drawing/2014/main" id="{79078B8D-A80A-1F4B-6797-EB5D560913BE}"/>
                </a:ext>
              </a:extLst>
            </p:cNvPr>
            <p:cNvSpPr/>
            <p:nvPr/>
          </p:nvSpPr>
          <p:spPr>
            <a:xfrm>
              <a:off x="11557416" y="1656417"/>
              <a:ext cx="634584" cy="1813806"/>
            </a:xfrm>
            <a:prstGeom prst="rect">
              <a:avLst/>
            </a:prstGeom>
          </p:spPr>
          <p:style>
            <a:lnRef idx="2">
              <a:schemeClr val="dk1">
                <a:shade val="15000"/>
              </a:schemeClr>
            </a:lnRef>
            <a:fillRef idx="1">
              <a:schemeClr val="dk1"/>
            </a:fillRef>
            <a:effectRef idx="0">
              <a:schemeClr val="dk1"/>
            </a:effectRef>
            <a:fontRef idx="minor">
              <a:schemeClr val="lt1"/>
            </a:fontRef>
          </p:style>
          <p:txBody>
            <a:bodyPr rtlCol="0" anchor="ctr"/>
            <a:lstStyle/>
            <a:p>
              <a:pPr algn="ctr"/>
              <a:endParaRPr lang="es-CO"/>
            </a:p>
          </p:txBody>
        </p:sp>
      </p:grpSp>
      <p:pic>
        <p:nvPicPr>
          <p:cNvPr id="12" name="Imagen 11" descr="Diagrama&#10;&#10;El contenido generado por inteligencia artificial puede ser incorrecto.">
            <a:extLst>
              <a:ext uri="{FF2B5EF4-FFF2-40B4-BE49-F238E27FC236}">
                <a16:creationId xmlns:a16="http://schemas.microsoft.com/office/drawing/2014/main" id="{2AEAE2C5-BA4A-C173-EB20-5D20DFF34BC0}"/>
              </a:ext>
            </a:extLst>
          </p:cNvPr>
          <p:cNvPicPr>
            <a:picLocks noChangeAspect="1"/>
          </p:cNvPicPr>
          <p:nvPr/>
        </p:nvPicPr>
        <p:blipFill>
          <a:blip r:embed="rId4"/>
          <a:srcRect l="6260" t="10344" r="5922" b="28494"/>
          <a:stretch/>
        </p:blipFill>
        <p:spPr>
          <a:xfrm>
            <a:off x="-1859" y="2180"/>
            <a:ext cx="1742137" cy="1508926"/>
          </a:xfrm>
          <a:prstGeom prst="rect">
            <a:avLst/>
          </a:prstGeom>
        </p:spPr>
      </p:pic>
      <p:sp>
        <p:nvSpPr>
          <p:cNvPr id="13" name="CuadroTexto 12">
            <a:extLst>
              <a:ext uri="{FF2B5EF4-FFF2-40B4-BE49-F238E27FC236}">
                <a16:creationId xmlns:a16="http://schemas.microsoft.com/office/drawing/2014/main" id="{6B36561D-2D6B-4EDE-A51D-6DA6EACFF66A}"/>
              </a:ext>
            </a:extLst>
          </p:cNvPr>
          <p:cNvSpPr txBox="1"/>
          <p:nvPr/>
        </p:nvSpPr>
        <p:spPr>
          <a:xfrm>
            <a:off x="1618938" y="6368002"/>
            <a:ext cx="9218951" cy="369332"/>
          </a:xfrm>
          <a:prstGeom prst="rect">
            <a:avLst/>
          </a:prstGeom>
          <a:noFill/>
        </p:spPr>
        <p:txBody>
          <a:bodyPr wrap="square" rtlCol="0">
            <a:spAutoFit/>
          </a:bodyPr>
          <a:lstStyle/>
          <a:p>
            <a:pPr algn="ctr"/>
            <a:r>
              <a:rPr lang="es-CO" sz="1800" i="1" kern="100" dirty="0">
                <a:solidFill>
                  <a:srgbClr val="242424"/>
                </a:solidFill>
                <a:effectLst/>
                <a:latin typeface="Bell MT" panose="02020503060305020303" pitchFamily="18" charset="0"/>
                <a:ea typeface="Aptos" panose="020B0004020202020204" pitchFamily="34" charset="0"/>
                <a:cs typeface="Times New Roman" panose="02020603050405020304" pitchFamily="18" charset="0"/>
              </a:rPr>
              <a:t>“Del conocimiento a la capacidad estratégica”</a:t>
            </a:r>
            <a:endParaRPr lang="es-CO" sz="1800" i="1" kern="100" dirty="0">
              <a:effectLst/>
              <a:latin typeface="Bell MT" panose="02020503060305020303" pitchFamily="18" charset="0"/>
              <a:ea typeface="Aptos" panose="020B0004020202020204" pitchFamily="34" charset="0"/>
              <a:cs typeface="Times New Roman" panose="02020603050405020304" pitchFamily="18" charset="0"/>
            </a:endParaRPr>
          </a:p>
        </p:txBody>
      </p:sp>
      <p:sp>
        <p:nvSpPr>
          <p:cNvPr id="7" name="CEINNA_text_26">
            <a:extLst>
              <a:ext uri="{FF2B5EF4-FFF2-40B4-BE49-F238E27FC236}">
                <a16:creationId xmlns:a16="http://schemas.microsoft.com/office/drawing/2014/main" id="{A098D778-22EC-773B-239C-D8B93B8FFB10}"/>
              </a:ext>
            </a:extLst>
          </p:cNvPr>
          <p:cNvSpPr txBox="1"/>
          <p:nvPr/>
        </p:nvSpPr>
        <p:spPr>
          <a:xfrm>
            <a:off x="1841500" y="368299"/>
            <a:ext cx="8966200" cy="876300"/>
          </a:xfrm>
          <a:prstGeom prst="rect">
            <a:avLst/>
          </a:prstGeom>
          <a:noFill/>
        </p:spPr>
        <p:txBody>
          <a:bodyPr vert="horz" wrap="square" lIns="0" tIns="0" rIns="0" bIns="0" rtlCol="0" anchor="t">
            <a:noAutofit/>
          </a:bodyPr>
          <a:lstStyle/>
          <a:p>
            <a:pPr algn="ctr"/>
            <a:r>
              <a:rPr lang="es-CO" sz="3700" b="1" dirty="0">
                <a:solidFill>
                  <a:srgbClr val="000F4D"/>
                </a:solidFill>
                <a:latin typeface="Bell MT" panose="02020503060305020303" pitchFamily="18" charset="0"/>
              </a:rPr>
              <a:t>De la literatura al diseño ASTRA</a:t>
            </a:r>
          </a:p>
        </p:txBody>
      </p:sp>
      <p:sp>
        <p:nvSpPr>
          <p:cNvPr id="9" name="CEINNA_box_27">
            <a:extLst>
              <a:ext uri="{FF2B5EF4-FFF2-40B4-BE49-F238E27FC236}">
                <a16:creationId xmlns:a16="http://schemas.microsoft.com/office/drawing/2014/main" id="{1C11DF29-39AE-2095-C62B-1596CC696559}"/>
              </a:ext>
            </a:extLst>
          </p:cNvPr>
          <p:cNvSpPr/>
          <p:nvPr/>
        </p:nvSpPr>
        <p:spPr>
          <a:xfrm>
            <a:off x="1676400" y="1816100"/>
            <a:ext cx="3556000" cy="2286000"/>
          </a:xfrm>
          <a:prstGeom prst="rect">
            <a:avLst/>
          </a:prstGeom>
          <a:solidFill>
            <a:srgbClr val="EEF1F7"/>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CO"/>
          </a:p>
        </p:txBody>
      </p:sp>
      <p:sp>
        <p:nvSpPr>
          <p:cNvPr id="11" name="CEINNA_text_28">
            <a:extLst>
              <a:ext uri="{FF2B5EF4-FFF2-40B4-BE49-F238E27FC236}">
                <a16:creationId xmlns:a16="http://schemas.microsoft.com/office/drawing/2014/main" id="{AA5731C0-B972-28D8-A784-33CAD818FC5F}"/>
              </a:ext>
            </a:extLst>
          </p:cNvPr>
          <p:cNvSpPr txBox="1"/>
          <p:nvPr/>
        </p:nvSpPr>
        <p:spPr>
          <a:xfrm>
            <a:off x="1879600" y="1892299"/>
            <a:ext cx="3149600" cy="889000"/>
          </a:xfrm>
          <a:prstGeom prst="rect">
            <a:avLst/>
          </a:prstGeom>
          <a:noFill/>
        </p:spPr>
        <p:txBody>
          <a:bodyPr vert="horz" wrap="square" lIns="0" tIns="0" rIns="0" bIns="0" rtlCol="0" anchor="t">
            <a:noAutofit/>
          </a:bodyPr>
          <a:lstStyle/>
          <a:p>
            <a:pPr algn="ctr"/>
            <a:r>
              <a:rPr lang="es-CO" sz="5500" b="1" dirty="0">
                <a:solidFill>
                  <a:srgbClr val="000F4D"/>
                </a:solidFill>
                <a:latin typeface="Bell MT" panose="02020503060305020303" pitchFamily="18" charset="0"/>
              </a:rPr>
              <a:t>7 / 19</a:t>
            </a:r>
          </a:p>
        </p:txBody>
      </p:sp>
      <p:sp>
        <p:nvSpPr>
          <p:cNvPr id="14" name="CEINNA_text_29">
            <a:extLst>
              <a:ext uri="{FF2B5EF4-FFF2-40B4-BE49-F238E27FC236}">
                <a16:creationId xmlns:a16="http://schemas.microsoft.com/office/drawing/2014/main" id="{406AF5BD-3711-605E-2E8B-AAEBAEF65C58}"/>
              </a:ext>
            </a:extLst>
          </p:cNvPr>
          <p:cNvSpPr txBox="1"/>
          <p:nvPr/>
        </p:nvSpPr>
        <p:spPr>
          <a:xfrm>
            <a:off x="1879600" y="2895599"/>
            <a:ext cx="3149600" cy="1066800"/>
          </a:xfrm>
          <a:prstGeom prst="rect">
            <a:avLst/>
          </a:prstGeom>
          <a:noFill/>
        </p:spPr>
        <p:txBody>
          <a:bodyPr vert="horz" wrap="square" lIns="0" tIns="0" rIns="0" bIns="0" rtlCol="0" anchor="t">
            <a:noAutofit/>
          </a:bodyPr>
          <a:lstStyle/>
          <a:p>
            <a:pPr algn="ctr"/>
            <a:r>
              <a:rPr lang="es-CO" sz="2000" dirty="0">
                <a:solidFill>
                  <a:srgbClr val="242424"/>
                </a:solidFill>
                <a:latin typeface="Bell MT" panose="02020503060305020303" pitchFamily="18" charset="0"/>
              </a:rPr>
              <a:t>Configuración suficiente para replicación o revisión</a:t>
            </a:r>
          </a:p>
        </p:txBody>
      </p:sp>
      <p:sp>
        <p:nvSpPr>
          <p:cNvPr id="15" name="CEINNA_text_30">
            <a:extLst>
              <a:ext uri="{FF2B5EF4-FFF2-40B4-BE49-F238E27FC236}">
                <a16:creationId xmlns:a16="http://schemas.microsoft.com/office/drawing/2014/main" id="{C469BFAA-A224-A14F-FAB9-D5D53D041C14}"/>
              </a:ext>
            </a:extLst>
          </p:cNvPr>
          <p:cNvSpPr txBox="1"/>
          <p:nvPr/>
        </p:nvSpPr>
        <p:spPr>
          <a:xfrm>
            <a:off x="5588000" y="1816099"/>
            <a:ext cx="5562600" cy="457200"/>
          </a:xfrm>
          <a:prstGeom prst="rect">
            <a:avLst/>
          </a:prstGeom>
          <a:noFill/>
        </p:spPr>
        <p:txBody>
          <a:bodyPr vert="horz" wrap="square" lIns="0" tIns="0" rIns="0" bIns="0" rtlCol="0" anchor="t">
            <a:noAutofit/>
          </a:bodyPr>
          <a:lstStyle/>
          <a:p>
            <a:r>
              <a:rPr lang="es-CO" sz="2700" b="1" dirty="0">
                <a:solidFill>
                  <a:srgbClr val="000F4D"/>
                </a:solidFill>
                <a:latin typeface="Bell MT" panose="02020503060305020303" pitchFamily="18" charset="0"/>
              </a:rPr>
              <a:t>Decisión metodológica</a:t>
            </a:r>
          </a:p>
        </p:txBody>
      </p:sp>
      <p:sp>
        <p:nvSpPr>
          <p:cNvPr id="16" name="CEINNA_text_31">
            <a:extLst>
              <a:ext uri="{FF2B5EF4-FFF2-40B4-BE49-F238E27FC236}">
                <a16:creationId xmlns:a16="http://schemas.microsoft.com/office/drawing/2014/main" id="{1394A192-1582-EF58-53EE-D668BB142652}"/>
              </a:ext>
            </a:extLst>
          </p:cNvPr>
          <p:cNvSpPr txBox="1"/>
          <p:nvPr/>
        </p:nvSpPr>
        <p:spPr>
          <a:xfrm>
            <a:off x="5588000" y="2412999"/>
            <a:ext cx="5562600" cy="1524000"/>
          </a:xfrm>
          <a:prstGeom prst="rect">
            <a:avLst/>
          </a:prstGeom>
          <a:noFill/>
        </p:spPr>
        <p:txBody>
          <a:bodyPr vert="horz" wrap="square" lIns="0" tIns="0" rIns="0" bIns="0" rtlCol="0" anchor="t">
            <a:noAutofit/>
          </a:bodyPr>
          <a:lstStyle/>
          <a:p>
            <a:r>
              <a:rPr lang="es-CO" sz="2400" dirty="0">
                <a:solidFill>
                  <a:srgbClr val="242424"/>
                </a:solidFill>
                <a:latin typeface="Bell MT" panose="02020503060305020303" pitchFamily="18" charset="0"/>
              </a:rPr>
              <a:t>Documentar parámetros y versión.
Separar demanda y respuesta.
Conservar contexto y secuencia.</a:t>
            </a:r>
          </a:p>
        </p:txBody>
      </p:sp>
      <p:sp>
        <p:nvSpPr>
          <p:cNvPr id="17" name="CEINNA_text_32">
            <a:extLst>
              <a:ext uri="{FF2B5EF4-FFF2-40B4-BE49-F238E27FC236}">
                <a16:creationId xmlns:a16="http://schemas.microsoft.com/office/drawing/2014/main" id="{8F8C4229-14A7-AA97-5E33-EA83B782B422}"/>
              </a:ext>
            </a:extLst>
          </p:cNvPr>
          <p:cNvSpPr txBox="1"/>
          <p:nvPr/>
        </p:nvSpPr>
        <p:spPr>
          <a:xfrm>
            <a:off x="1676400" y="4368799"/>
            <a:ext cx="9512300" cy="1308100"/>
          </a:xfrm>
          <a:prstGeom prst="rect">
            <a:avLst/>
          </a:prstGeom>
          <a:noFill/>
        </p:spPr>
        <p:txBody>
          <a:bodyPr vert="horz" wrap="square" lIns="0" tIns="0" rIns="0" bIns="0" rtlCol="0" anchor="t">
            <a:noAutofit/>
          </a:bodyPr>
          <a:lstStyle/>
          <a:p>
            <a:r>
              <a:rPr lang="es-CO" sz="3000" b="1" dirty="0">
                <a:solidFill>
                  <a:srgbClr val="000F4D"/>
                </a:solidFill>
                <a:latin typeface="Bell MT" panose="02020503060305020303" pitchFamily="18" charset="0"/>
              </a:rPr>
              <a:t>¿Cómo varían el desempeño y la carga percibida entre condiciones de demanda y a lo largo de ASTRA?</a:t>
            </a:r>
          </a:p>
        </p:txBody>
      </p:sp>
      <p:sp>
        <p:nvSpPr>
          <p:cNvPr id="18" name="CEINNA_text_33">
            <a:extLst>
              <a:ext uri="{FF2B5EF4-FFF2-40B4-BE49-F238E27FC236}">
                <a16:creationId xmlns:a16="http://schemas.microsoft.com/office/drawing/2014/main" id="{29E3A042-4C24-BB1D-CCA5-38788856864E}"/>
              </a:ext>
            </a:extLst>
          </p:cNvPr>
          <p:cNvSpPr txBox="1"/>
          <p:nvPr/>
        </p:nvSpPr>
        <p:spPr>
          <a:xfrm>
            <a:off x="1625600" y="6019800"/>
            <a:ext cx="9334500" cy="266700"/>
          </a:xfrm>
          <a:prstGeom prst="rect">
            <a:avLst/>
          </a:prstGeom>
          <a:noFill/>
        </p:spPr>
        <p:txBody>
          <a:bodyPr vert="horz" wrap="square" lIns="0" tIns="0" rIns="0" bIns="0" rtlCol="0" anchor="t">
            <a:noAutofit/>
          </a:bodyPr>
          <a:lstStyle/>
          <a:p>
            <a:r>
              <a:rPr lang="es-CO" sz="1200" dirty="0">
                <a:solidFill>
                  <a:srgbClr val="4F5A6C"/>
                </a:solidFill>
                <a:latin typeface="Bell MT" panose="02020503060305020303" pitchFamily="18" charset="0"/>
              </a:rPr>
              <a:t>[2] </a:t>
            </a:r>
            <a:r>
              <a:rPr lang="es-CO" sz="1200" dirty="0" err="1">
                <a:solidFill>
                  <a:srgbClr val="4F5A6C"/>
                </a:solidFill>
                <a:latin typeface="Bell MT" panose="02020503060305020303" pitchFamily="18" charset="0"/>
              </a:rPr>
              <a:t>Pontiggia</a:t>
            </a:r>
            <a:r>
              <a:rPr lang="es-CO" sz="1200" dirty="0">
                <a:solidFill>
                  <a:srgbClr val="4F5A6C"/>
                </a:solidFill>
                <a:latin typeface="Bell MT" panose="02020503060305020303" pitchFamily="18" charset="0"/>
              </a:rPr>
              <a:t> et al., 2024, §3. Revisión de 19 estudios; heterogeneidad sin metaanálisis.</a:t>
            </a:r>
          </a:p>
        </p:txBody>
      </p:sp>
      <p:sp>
        <p:nvSpPr>
          <p:cNvPr id="19" name="CEINNA_text_34">
            <a:extLst>
              <a:ext uri="{FF2B5EF4-FFF2-40B4-BE49-F238E27FC236}">
                <a16:creationId xmlns:a16="http://schemas.microsoft.com/office/drawing/2014/main" id="{A7B23D1A-2E31-382D-DDA9-C7B385FE59EF}"/>
              </a:ext>
            </a:extLst>
          </p:cNvPr>
          <p:cNvSpPr txBox="1"/>
          <p:nvPr/>
        </p:nvSpPr>
        <p:spPr>
          <a:xfrm>
            <a:off x="11036300" y="6032500"/>
            <a:ext cx="292100" cy="228600"/>
          </a:xfrm>
          <a:prstGeom prst="rect">
            <a:avLst/>
          </a:prstGeom>
          <a:noFill/>
        </p:spPr>
        <p:txBody>
          <a:bodyPr vert="horz" wrap="square" lIns="0" tIns="0" rIns="0" bIns="0" rtlCol="0" anchor="t">
            <a:noAutofit/>
          </a:bodyPr>
          <a:lstStyle/>
          <a:p>
            <a:pPr algn="r"/>
            <a:r>
              <a:rPr lang="es-CO" sz="1200" dirty="0">
                <a:solidFill>
                  <a:srgbClr val="4F5A6C"/>
                </a:solidFill>
                <a:latin typeface="Bell MT" panose="02020503060305020303" pitchFamily="18" charset="0"/>
              </a:rPr>
              <a:t>4</a:t>
            </a:r>
          </a:p>
        </p:txBody>
      </p:sp>
    </p:spTree>
    <p:custDataLst>
      <p:tags r:id="rId1"/>
    </p:custDataLst>
    <p:extLst>
      <p:ext uri="{BB962C8B-B14F-4D97-AF65-F5344CB8AC3E}">
        <p14:creationId xmlns:p14="http://schemas.microsoft.com/office/powerpoint/2010/main" val="939454095"/>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F0C0B2F-ABCF-A16D-9B99-96619EC7347F}"/>
            </a:ext>
          </a:extLst>
        </p:cNvPr>
        <p:cNvGrpSpPr/>
        <p:nvPr/>
      </p:nvGrpSpPr>
      <p:grpSpPr>
        <a:xfrm>
          <a:off x="0" y="0"/>
          <a:ext cx="0" cy="0"/>
          <a:chOff x="0" y="0"/>
          <a:chExt cx="0" cy="0"/>
        </a:xfrm>
      </p:grpSpPr>
      <p:grpSp>
        <p:nvGrpSpPr>
          <p:cNvPr id="2" name="Grupo 1">
            <a:extLst>
              <a:ext uri="{FF2B5EF4-FFF2-40B4-BE49-F238E27FC236}">
                <a16:creationId xmlns:a16="http://schemas.microsoft.com/office/drawing/2014/main" id="{B5C8DCE7-7F59-F685-9165-4D848885236E}"/>
              </a:ext>
            </a:extLst>
          </p:cNvPr>
          <p:cNvGrpSpPr/>
          <p:nvPr/>
        </p:nvGrpSpPr>
        <p:grpSpPr>
          <a:xfrm>
            <a:off x="11555690" y="0"/>
            <a:ext cx="636310" cy="6876601"/>
            <a:chOff x="11555690" y="0"/>
            <a:chExt cx="636310" cy="6876601"/>
          </a:xfrm>
        </p:grpSpPr>
        <p:sp>
          <p:nvSpPr>
            <p:cNvPr id="3" name="Rectángulo 2">
              <a:extLst>
                <a:ext uri="{FF2B5EF4-FFF2-40B4-BE49-F238E27FC236}">
                  <a16:creationId xmlns:a16="http://schemas.microsoft.com/office/drawing/2014/main" id="{A8E3883C-A3FB-B076-D9C5-4593E728242E}"/>
                </a:ext>
              </a:extLst>
            </p:cNvPr>
            <p:cNvSpPr/>
            <p:nvPr/>
          </p:nvSpPr>
          <p:spPr>
            <a:xfrm>
              <a:off x="11557416" y="3496321"/>
              <a:ext cx="634584" cy="1813806"/>
            </a:xfrm>
            <a:prstGeom prst="rect">
              <a:avLst/>
            </a:prstGeom>
            <a:solidFill>
              <a:srgbClr val="000F4D"/>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CO"/>
            </a:p>
          </p:txBody>
        </p:sp>
        <p:sp>
          <p:nvSpPr>
            <p:cNvPr id="4" name="Rectángulo 3">
              <a:extLst>
                <a:ext uri="{FF2B5EF4-FFF2-40B4-BE49-F238E27FC236}">
                  <a16:creationId xmlns:a16="http://schemas.microsoft.com/office/drawing/2014/main" id="{7512944A-8633-A84A-8248-74134005AF6D}"/>
                </a:ext>
              </a:extLst>
            </p:cNvPr>
            <p:cNvSpPr/>
            <p:nvPr/>
          </p:nvSpPr>
          <p:spPr>
            <a:xfrm>
              <a:off x="11557416" y="5227683"/>
              <a:ext cx="634584" cy="1648918"/>
            </a:xfrm>
            <a:prstGeom prst="rect">
              <a:avLst/>
            </a:prstGeom>
            <a:solidFill>
              <a:srgbClr val="26B53B"/>
            </a:solidFill>
            <a:ln>
              <a:solidFill>
                <a:srgbClr val="23B53B"/>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CO"/>
            </a:p>
          </p:txBody>
        </p:sp>
        <p:sp>
          <p:nvSpPr>
            <p:cNvPr id="5" name="Rectángulo 4">
              <a:extLst>
                <a:ext uri="{FF2B5EF4-FFF2-40B4-BE49-F238E27FC236}">
                  <a16:creationId xmlns:a16="http://schemas.microsoft.com/office/drawing/2014/main" id="{17EF142A-3A8B-CD16-CBC7-83A3158E79B9}"/>
                </a:ext>
              </a:extLst>
            </p:cNvPr>
            <p:cNvSpPr/>
            <p:nvPr/>
          </p:nvSpPr>
          <p:spPr>
            <a:xfrm>
              <a:off x="11555690" y="0"/>
              <a:ext cx="634584" cy="1648918"/>
            </a:xfrm>
            <a:prstGeom prst="rect">
              <a:avLst/>
            </a:prstGeom>
            <a:solidFill>
              <a:srgbClr val="D9000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CO"/>
            </a:p>
          </p:txBody>
        </p:sp>
        <p:sp>
          <p:nvSpPr>
            <p:cNvPr id="6" name="Rectángulo 5">
              <a:extLst>
                <a:ext uri="{FF2B5EF4-FFF2-40B4-BE49-F238E27FC236}">
                  <a16:creationId xmlns:a16="http://schemas.microsoft.com/office/drawing/2014/main" id="{79078B8D-A80A-1F4B-6797-EB5D560913BE}"/>
                </a:ext>
              </a:extLst>
            </p:cNvPr>
            <p:cNvSpPr/>
            <p:nvPr/>
          </p:nvSpPr>
          <p:spPr>
            <a:xfrm>
              <a:off x="11557416" y="1656417"/>
              <a:ext cx="634584" cy="1813806"/>
            </a:xfrm>
            <a:prstGeom prst="rect">
              <a:avLst/>
            </a:prstGeom>
          </p:spPr>
          <p:style>
            <a:lnRef idx="2">
              <a:schemeClr val="dk1">
                <a:shade val="15000"/>
              </a:schemeClr>
            </a:lnRef>
            <a:fillRef idx="1">
              <a:schemeClr val="dk1"/>
            </a:fillRef>
            <a:effectRef idx="0">
              <a:schemeClr val="dk1"/>
            </a:effectRef>
            <a:fontRef idx="minor">
              <a:schemeClr val="lt1"/>
            </a:fontRef>
          </p:style>
          <p:txBody>
            <a:bodyPr rtlCol="0" anchor="ctr"/>
            <a:lstStyle/>
            <a:p>
              <a:pPr algn="ctr"/>
              <a:endParaRPr lang="es-CO"/>
            </a:p>
          </p:txBody>
        </p:sp>
      </p:grpSp>
      <p:pic>
        <p:nvPicPr>
          <p:cNvPr id="12" name="Imagen 11" descr="Diagrama&#10;&#10;El contenido generado por inteligencia artificial puede ser incorrecto.">
            <a:extLst>
              <a:ext uri="{FF2B5EF4-FFF2-40B4-BE49-F238E27FC236}">
                <a16:creationId xmlns:a16="http://schemas.microsoft.com/office/drawing/2014/main" id="{2AEAE2C5-BA4A-C173-EB20-5D20DFF34BC0}"/>
              </a:ext>
            </a:extLst>
          </p:cNvPr>
          <p:cNvPicPr>
            <a:picLocks noChangeAspect="1"/>
          </p:cNvPicPr>
          <p:nvPr/>
        </p:nvPicPr>
        <p:blipFill>
          <a:blip r:embed="rId4"/>
          <a:srcRect l="6260" t="10344" r="5922" b="28494"/>
          <a:stretch/>
        </p:blipFill>
        <p:spPr>
          <a:xfrm>
            <a:off x="-1859" y="2180"/>
            <a:ext cx="1742137" cy="1508926"/>
          </a:xfrm>
          <a:prstGeom prst="rect">
            <a:avLst/>
          </a:prstGeom>
        </p:spPr>
      </p:pic>
      <p:sp>
        <p:nvSpPr>
          <p:cNvPr id="13" name="CuadroTexto 12">
            <a:extLst>
              <a:ext uri="{FF2B5EF4-FFF2-40B4-BE49-F238E27FC236}">
                <a16:creationId xmlns:a16="http://schemas.microsoft.com/office/drawing/2014/main" id="{6B36561D-2D6B-4EDE-A51D-6DA6EACFF66A}"/>
              </a:ext>
            </a:extLst>
          </p:cNvPr>
          <p:cNvSpPr txBox="1"/>
          <p:nvPr/>
        </p:nvSpPr>
        <p:spPr>
          <a:xfrm>
            <a:off x="1618938" y="6368002"/>
            <a:ext cx="9218951" cy="369332"/>
          </a:xfrm>
          <a:prstGeom prst="rect">
            <a:avLst/>
          </a:prstGeom>
          <a:noFill/>
        </p:spPr>
        <p:txBody>
          <a:bodyPr wrap="square" rtlCol="0">
            <a:spAutoFit/>
          </a:bodyPr>
          <a:lstStyle/>
          <a:p>
            <a:pPr algn="ctr"/>
            <a:r>
              <a:rPr lang="es-CO" sz="1800" i="1" kern="100" dirty="0">
                <a:solidFill>
                  <a:srgbClr val="242424"/>
                </a:solidFill>
                <a:effectLst/>
                <a:latin typeface="Bell MT" panose="02020503060305020303" pitchFamily="18" charset="0"/>
                <a:ea typeface="Aptos" panose="020B0004020202020204" pitchFamily="34" charset="0"/>
                <a:cs typeface="Times New Roman" panose="02020603050405020304" pitchFamily="18" charset="0"/>
              </a:rPr>
              <a:t>“Del conocimiento a la capacidad estratégica”</a:t>
            </a:r>
            <a:endParaRPr lang="es-CO" sz="1800" i="1" kern="100" dirty="0">
              <a:effectLst/>
              <a:latin typeface="Bell MT" panose="02020503060305020303" pitchFamily="18" charset="0"/>
              <a:ea typeface="Aptos" panose="020B0004020202020204" pitchFamily="34" charset="0"/>
              <a:cs typeface="Times New Roman" panose="02020603050405020304" pitchFamily="18" charset="0"/>
            </a:endParaRPr>
          </a:p>
        </p:txBody>
      </p:sp>
      <p:sp>
        <p:nvSpPr>
          <p:cNvPr id="7" name="CEINNA_text_35">
            <a:extLst>
              <a:ext uri="{FF2B5EF4-FFF2-40B4-BE49-F238E27FC236}">
                <a16:creationId xmlns:a16="http://schemas.microsoft.com/office/drawing/2014/main" id="{8779FC6D-706C-09D2-F4AC-BF813F4360D6}"/>
              </a:ext>
            </a:extLst>
          </p:cNvPr>
          <p:cNvSpPr txBox="1"/>
          <p:nvPr/>
        </p:nvSpPr>
        <p:spPr>
          <a:xfrm>
            <a:off x="1841500" y="368299"/>
            <a:ext cx="8966200" cy="876300"/>
          </a:xfrm>
          <a:prstGeom prst="rect">
            <a:avLst/>
          </a:prstGeom>
          <a:noFill/>
        </p:spPr>
        <p:txBody>
          <a:bodyPr vert="horz" wrap="square" lIns="0" tIns="0" rIns="0" bIns="0" rtlCol="0" anchor="t">
            <a:noAutofit/>
          </a:bodyPr>
          <a:lstStyle/>
          <a:p>
            <a:pPr algn="ctr"/>
            <a:r>
              <a:rPr lang="es-CO" sz="3900" b="1" dirty="0">
                <a:solidFill>
                  <a:srgbClr val="000F4D"/>
                </a:solidFill>
                <a:latin typeface="Bell MT" panose="02020503060305020303" pitchFamily="18" charset="0"/>
              </a:rPr>
              <a:t>ASTRA: contexto del estudio</a:t>
            </a:r>
          </a:p>
        </p:txBody>
      </p:sp>
      <p:sp>
        <p:nvSpPr>
          <p:cNvPr id="9" name="CEINNA_text_36">
            <a:extLst>
              <a:ext uri="{FF2B5EF4-FFF2-40B4-BE49-F238E27FC236}">
                <a16:creationId xmlns:a16="http://schemas.microsoft.com/office/drawing/2014/main" id="{FCC62E4A-7EA3-8C1D-F322-A9309858B379}"/>
              </a:ext>
            </a:extLst>
          </p:cNvPr>
          <p:cNvSpPr txBox="1"/>
          <p:nvPr/>
        </p:nvSpPr>
        <p:spPr>
          <a:xfrm>
            <a:off x="1651000" y="1841499"/>
            <a:ext cx="4254500" cy="711200"/>
          </a:xfrm>
          <a:prstGeom prst="rect">
            <a:avLst/>
          </a:prstGeom>
          <a:noFill/>
        </p:spPr>
        <p:txBody>
          <a:bodyPr vert="horz" wrap="square" lIns="0" tIns="0" rIns="0" bIns="0" rtlCol="0" anchor="t">
            <a:noAutofit/>
          </a:bodyPr>
          <a:lstStyle/>
          <a:p>
            <a:r>
              <a:rPr lang="es-CO" sz="2300" b="1">
                <a:solidFill>
                  <a:srgbClr val="000F4D"/>
                </a:solidFill>
                <a:latin typeface="Bell MT" panose="02020503060305020303" pitchFamily="18" charset="0"/>
              </a:rPr>
              <a:t>Aerospace Simulation Training Research Analogs</a:t>
            </a:r>
            <a:endParaRPr lang="es-CO" sz="2300" b="1" dirty="0">
              <a:solidFill>
                <a:srgbClr val="000F4D"/>
              </a:solidFill>
              <a:latin typeface="Bell MT" panose="02020503060305020303" pitchFamily="18" charset="0"/>
            </a:endParaRPr>
          </a:p>
        </p:txBody>
      </p:sp>
      <p:sp>
        <p:nvSpPr>
          <p:cNvPr id="11" name="CEINNA_text_37">
            <a:extLst>
              <a:ext uri="{FF2B5EF4-FFF2-40B4-BE49-F238E27FC236}">
                <a16:creationId xmlns:a16="http://schemas.microsoft.com/office/drawing/2014/main" id="{82DF82F5-D30E-32B4-9886-3A1620533BAC}"/>
              </a:ext>
            </a:extLst>
          </p:cNvPr>
          <p:cNvSpPr txBox="1"/>
          <p:nvPr/>
        </p:nvSpPr>
        <p:spPr>
          <a:xfrm>
            <a:off x="1651000" y="2819399"/>
            <a:ext cx="4191000" cy="622300"/>
          </a:xfrm>
          <a:prstGeom prst="rect">
            <a:avLst/>
          </a:prstGeom>
          <a:noFill/>
        </p:spPr>
        <p:txBody>
          <a:bodyPr vert="horz" wrap="square" lIns="0" tIns="0" rIns="0" bIns="0" rtlCol="0" anchor="t">
            <a:noAutofit/>
          </a:bodyPr>
          <a:lstStyle/>
          <a:p>
            <a:r>
              <a:rPr lang="es-CO" sz="3100" b="1" dirty="0">
                <a:solidFill>
                  <a:srgbClr val="000F4D"/>
                </a:solidFill>
                <a:latin typeface="Bell MT" panose="02020503060305020303" pitchFamily="18" charset="0"/>
              </a:rPr>
              <a:t>2 misiones · 15 días</a:t>
            </a:r>
          </a:p>
        </p:txBody>
      </p:sp>
      <p:sp>
        <p:nvSpPr>
          <p:cNvPr id="14" name="CEINNA_text_38">
            <a:extLst>
              <a:ext uri="{FF2B5EF4-FFF2-40B4-BE49-F238E27FC236}">
                <a16:creationId xmlns:a16="http://schemas.microsoft.com/office/drawing/2014/main" id="{A094CF58-FDEA-8307-370D-43368E56B537}"/>
              </a:ext>
            </a:extLst>
          </p:cNvPr>
          <p:cNvSpPr txBox="1"/>
          <p:nvPr/>
        </p:nvSpPr>
        <p:spPr>
          <a:xfrm>
            <a:off x="1651000" y="3594099"/>
            <a:ext cx="4254500" cy="812800"/>
          </a:xfrm>
          <a:prstGeom prst="rect">
            <a:avLst/>
          </a:prstGeom>
          <a:noFill/>
        </p:spPr>
        <p:txBody>
          <a:bodyPr vert="horz" wrap="square" lIns="0" tIns="0" rIns="0" bIns="0" rtlCol="0" anchor="t">
            <a:noAutofit/>
          </a:bodyPr>
          <a:lstStyle/>
          <a:p>
            <a:r>
              <a:rPr lang="es-CO" sz="2500" dirty="0">
                <a:solidFill>
                  <a:srgbClr val="242424"/>
                </a:solidFill>
                <a:latin typeface="Bell MT" panose="02020503060305020303" pitchFamily="18" charset="0"/>
              </a:rPr>
              <a:t>Hasta 6 participantes previstos por misión</a:t>
            </a:r>
          </a:p>
        </p:txBody>
      </p:sp>
      <p:sp>
        <p:nvSpPr>
          <p:cNvPr id="15" name="CEINNA_text_39">
            <a:extLst>
              <a:ext uri="{FF2B5EF4-FFF2-40B4-BE49-F238E27FC236}">
                <a16:creationId xmlns:a16="http://schemas.microsoft.com/office/drawing/2014/main" id="{35D52FB1-AAEE-C3B2-5F32-40C556F4E964}"/>
              </a:ext>
            </a:extLst>
          </p:cNvPr>
          <p:cNvSpPr txBox="1"/>
          <p:nvPr/>
        </p:nvSpPr>
        <p:spPr>
          <a:xfrm>
            <a:off x="1651000" y="4521199"/>
            <a:ext cx="4292600" cy="914400"/>
          </a:xfrm>
          <a:prstGeom prst="rect">
            <a:avLst/>
          </a:prstGeom>
          <a:noFill/>
        </p:spPr>
        <p:txBody>
          <a:bodyPr vert="horz" wrap="square" lIns="0" tIns="0" rIns="0" bIns="0" rtlCol="0" anchor="t">
            <a:noAutofit/>
          </a:bodyPr>
          <a:lstStyle/>
          <a:p>
            <a:r>
              <a:rPr lang="es-CO" sz="2400" dirty="0">
                <a:solidFill>
                  <a:srgbClr val="242424"/>
                </a:solidFill>
                <a:latin typeface="Bell MT" panose="02020503060305020303" pitchFamily="18" charset="0"/>
              </a:rPr>
              <a:t>Aislamiento y confinamiento
Evaluación intrapersonal</a:t>
            </a:r>
          </a:p>
        </p:txBody>
      </p:sp>
      <p:sp>
        <p:nvSpPr>
          <p:cNvPr id="18" name="CEINNA_text_40">
            <a:extLst>
              <a:ext uri="{FF2B5EF4-FFF2-40B4-BE49-F238E27FC236}">
                <a16:creationId xmlns:a16="http://schemas.microsoft.com/office/drawing/2014/main" id="{FC17278B-C2B9-682E-FE9C-975085F34915}"/>
              </a:ext>
            </a:extLst>
          </p:cNvPr>
          <p:cNvSpPr txBox="1"/>
          <p:nvPr/>
        </p:nvSpPr>
        <p:spPr>
          <a:xfrm>
            <a:off x="6184900" y="5702300"/>
            <a:ext cx="5003800" cy="215900"/>
          </a:xfrm>
          <a:prstGeom prst="rect">
            <a:avLst/>
          </a:prstGeom>
          <a:noFill/>
        </p:spPr>
        <p:txBody>
          <a:bodyPr vert="horz" wrap="square" lIns="0" tIns="0" rIns="0" bIns="0" rtlCol="0" anchor="t">
            <a:noAutofit/>
          </a:bodyPr>
          <a:lstStyle/>
          <a:p>
            <a:r>
              <a:rPr lang="es-CO" sz="1150" dirty="0">
                <a:solidFill>
                  <a:srgbClr val="4F5A6C"/>
                </a:solidFill>
                <a:latin typeface="Bell MT" panose="02020503060305020303" pitchFamily="18" charset="0"/>
              </a:rPr>
              <a:t>Ilustración conceptual generada con IA; no fotografía de ASTRA.</a:t>
            </a:r>
          </a:p>
        </p:txBody>
      </p:sp>
      <p:sp>
        <p:nvSpPr>
          <p:cNvPr id="19" name="CEINNA_text_41">
            <a:extLst>
              <a:ext uri="{FF2B5EF4-FFF2-40B4-BE49-F238E27FC236}">
                <a16:creationId xmlns:a16="http://schemas.microsoft.com/office/drawing/2014/main" id="{F0D5A19F-2448-0146-7FC3-783E947516CA}"/>
              </a:ext>
            </a:extLst>
          </p:cNvPr>
          <p:cNvSpPr txBox="1"/>
          <p:nvPr/>
        </p:nvSpPr>
        <p:spPr>
          <a:xfrm>
            <a:off x="1625600" y="6019800"/>
            <a:ext cx="9334500" cy="266700"/>
          </a:xfrm>
          <a:prstGeom prst="rect">
            <a:avLst/>
          </a:prstGeom>
          <a:noFill/>
        </p:spPr>
        <p:txBody>
          <a:bodyPr vert="horz" wrap="square" lIns="0" tIns="0" rIns="0" bIns="0" rtlCol="0" anchor="t">
            <a:noAutofit/>
          </a:bodyPr>
          <a:lstStyle/>
          <a:p>
            <a:r>
              <a:rPr lang="es-CO" sz="1200" dirty="0">
                <a:solidFill>
                  <a:srgbClr val="4F5A6C"/>
                </a:solidFill>
                <a:latin typeface="Bell MT" panose="02020503060305020303" pitchFamily="18" charset="0"/>
              </a:rPr>
              <a:t>Manual ASTRA v2.5 y cronograma, 11-09-2026. Diseño previsto.</a:t>
            </a:r>
          </a:p>
        </p:txBody>
      </p:sp>
      <p:sp>
        <p:nvSpPr>
          <p:cNvPr id="20" name="CEINNA_text_42">
            <a:extLst>
              <a:ext uri="{FF2B5EF4-FFF2-40B4-BE49-F238E27FC236}">
                <a16:creationId xmlns:a16="http://schemas.microsoft.com/office/drawing/2014/main" id="{46146F80-3625-5226-E4A1-55191077247C}"/>
              </a:ext>
            </a:extLst>
          </p:cNvPr>
          <p:cNvSpPr txBox="1"/>
          <p:nvPr/>
        </p:nvSpPr>
        <p:spPr>
          <a:xfrm>
            <a:off x="11036300" y="6032500"/>
            <a:ext cx="292100" cy="228600"/>
          </a:xfrm>
          <a:prstGeom prst="rect">
            <a:avLst/>
          </a:prstGeom>
          <a:noFill/>
        </p:spPr>
        <p:txBody>
          <a:bodyPr vert="horz" wrap="square" lIns="0" tIns="0" rIns="0" bIns="0" rtlCol="0" anchor="t">
            <a:noAutofit/>
          </a:bodyPr>
          <a:lstStyle/>
          <a:p>
            <a:pPr algn="r"/>
            <a:r>
              <a:rPr lang="es-CO" sz="1200" dirty="0">
                <a:solidFill>
                  <a:srgbClr val="4F5A6C"/>
                </a:solidFill>
                <a:latin typeface="Bell MT" panose="02020503060305020303" pitchFamily="18" charset="0"/>
              </a:rPr>
              <a:t>5</a:t>
            </a:r>
          </a:p>
        </p:txBody>
      </p:sp>
      <p:pic>
        <p:nvPicPr>
          <p:cNvPr id="21" name="CEINNA_conceptual_image" descr="Ilustración conceptual generada con IA; procedencia en CEINNA/visuales/PROMPTS_IMAGEGEN.md."/>
          <p:cNvPicPr>
            <a:picLocks noChangeAspect="1"/>
          </p:cNvPicPr>
          <p:nvPr/>
        </p:nvPicPr>
        <p:blipFill>
          <a:blip r:embed="rId6"/>
          <a:stretch>
            <a:fillRect/>
          </a:stretch>
        </p:blipFill>
        <p:spPr>
          <a:xfrm>
            <a:off x="6172200" y="1830387"/>
            <a:ext cx="5041900" cy="3781425"/>
          </a:xfrm>
          <a:prstGeom prst="rect">
            <a:avLst/>
          </a:prstGeom>
        </p:spPr>
      </p:pic>
    </p:spTree>
    <p:custDataLst>
      <p:tags r:id="rId1"/>
    </p:custDataLst>
    <p:extLst>
      <p:ext uri="{BB962C8B-B14F-4D97-AF65-F5344CB8AC3E}">
        <p14:creationId xmlns:p14="http://schemas.microsoft.com/office/powerpoint/2010/main" val="2748590560"/>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F0C0B2F-ABCF-A16D-9B99-96619EC7347F}"/>
            </a:ext>
          </a:extLst>
        </p:cNvPr>
        <p:cNvGrpSpPr/>
        <p:nvPr/>
      </p:nvGrpSpPr>
      <p:grpSpPr>
        <a:xfrm>
          <a:off x="0" y="0"/>
          <a:ext cx="0" cy="0"/>
          <a:chOff x="0" y="0"/>
          <a:chExt cx="0" cy="0"/>
        </a:xfrm>
      </p:grpSpPr>
      <p:grpSp>
        <p:nvGrpSpPr>
          <p:cNvPr id="2" name="Grupo 1">
            <a:extLst>
              <a:ext uri="{FF2B5EF4-FFF2-40B4-BE49-F238E27FC236}">
                <a16:creationId xmlns:a16="http://schemas.microsoft.com/office/drawing/2014/main" id="{B5C8DCE7-7F59-F685-9165-4D848885236E}"/>
              </a:ext>
            </a:extLst>
          </p:cNvPr>
          <p:cNvGrpSpPr/>
          <p:nvPr/>
        </p:nvGrpSpPr>
        <p:grpSpPr>
          <a:xfrm>
            <a:off x="11555690" y="0"/>
            <a:ext cx="636310" cy="6876601"/>
            <a:chOff x="11555690" y="0"/>
            <a:chExt cx="636310" cy="6876601"/>
          </a:xfrm>
        </p:grpSpPr>
        <p:sp>
          <p:nvSpPr>
            <p:cNvPr id="3" name="Rectángulo 2">
              <a:extLst>
                <a:ext uri="{FF2B5EF4-FFF2-40B4-BE49-F238E27FC236}">
                  <a16:creationId xmlns:a16="http://schemas.microsoft.com/office/drawing/2014/main" id="{A8E3883C-A3FB-B076-D9C5-4593E728242E}"/>
                </a:ext>
              </a:extLst>
            </p:cNvPr>
            <p:cNvSpPr/>
            <p:nvPr/>
          </p:nvSpPr>
          <p:spPr>
            <a:xfrm>
              <a:off x="11557416" y="3496321"/>
              <a:ext cx="634584" cy="1813806"/>
            </a:xfrm>
            <a:prstGeom prst="rect">
              <a:avLst/>
            </a:prstGeom>
            <a:solidFill>
              <a:srgbClr val="000F4D"/>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CO"/>
            </a:p>
          </p:txBody>
        </p:sp>
        <p:sp>
          <p:nvSpPr>
            <p:cNvPr id="4" name="Rectángulo 3">
              <a:extLst>
                <a:ext uri="{FF2B5EF4-FFF2-40B4-BE49-F238E27FC236}">
                  <a16:creationId xmlns:a16="http://schemas.microsoft.com/office/drawing/2014/main" id="{7512944A-8633-A84A-8248-74134005AF6D}"/>
                </a:ext>
              </a:extLst>
            </p:cNvPr>
            <p:cNvSpPr/>
            <p:nvPr/>
          </p:nvSpPr>
          <p:spPr>
            <a:xfrm>
              <a:off x="11557416" y="5227683"/>
              <a:ext cx="634584" cy="1648918"/>
            </a:xfrm>
            <a:prstGeom prst="rect">
              <a:avLst/>
            </a:prstGeom>
            <a:solidFill>
              <a:srgbClr val="26B53B"/>
            </a:solidFill>
            <a:ln>
              <a:solidFill>
                <a:srgbClr val="23B53B"/>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CO"/>
            </a:p>
          </p:txBody>
        </p:sp>
        <p:sp>
          <p:nvSpPr>
            <p:cNvPr id="5" name="Rectángulo 4">
              <a:extLst>
                <a:ext uri="{FF2B5EF4-FFF2-40B4-BE49-F238E27FC236}">
                  <a16:creationId xmlns:a16="http://schemas.microsoft.com/office/drawing/2014/main" id="{17EF142A-3A8B-CD16-CBC7-83A3158E79B9}"/>
                </a:ext>
              </a:extLst>
            </p:cNvPr>
            <p:cNvSpPr/>
            <p:nvPr/>
          </p:nvSpPr>
          <p:spPr>
            <a:xfrm>
              <a:off x="11555690" y="0"/>
              <a:ext cx="634584" cy="1648918"/>
            </a:xfrm>
            <a:prstGeom prst="rect">
              <a:avLst/>
            </a:prstGeom>
            <a:solidFill>
              <a:srgbClr val="D9000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CO"/>
            </a:p>
          </p:txBody>
        </p:sp>
        <p:sp>
          <p:nvSpPr>
            <p:cNvPr id="6" name="Rectángulo 5">
              <a:extLst>
                <a:ext uri="{FF2B5EF4-FFF2-40B4-BE49-F238E27FC236}">
                  <a16:creationId xmlns:a16="http://schemas.microsoft.com/office/drawing/2014/main" id="{79078B8D-A80A-1F4B-6797-EB5D560913BE}"/>
                </a:ext>
              </a:extLst>
            </p:cNvPr>
            <p:cNvSpPr/>
            <p:nvPr/>
          </p:nvSpPr>
          <p:spPr>
            <a:xfrm>
              <a:off x="11557416" y="1656417"/>
              <a:ext cx="634584" cy="1813806"/>
            </a:xfrm>
            <a:prstGeom prst="rect">
              <a:avLst/>
            </a:prstGeom>
          </p:spPr>
          <p:style>
            <a:lnRef idx="2">
              <a:schemeClr val="dk1">
                <a:shade val="15000"/>
              </a:schemeClr>
            </a:lnRef>
            <a:fillRef idx="1">
              <a:schemeClr val="dk1"/>
            </a:fillRef>
            <a:effectRef idx="0">
              <a:schemeClr val="dk1"/>
            </a:effectRef>
            <a:fontRef idx="minor">
              <a:schemeClr val="lt1"/>
            </a:fontRef>
          </p:style>
          <p:txBody>
            <a:bodyPr rtlCol="0" anchor="ctr"/>
            <a:lstStyle/>
            <a:p>
              <a:pPr algn="ctr"/>
              <a:endParaRPr lang="es-CO"/>
            </a:p>
          </p:txBody>
        </p:sp>
      </p:grpSp>
      <p:pic>
        <p:nvPicPr>
          <p:cNvPr id="12" name="Imagen 11" descr="Diagrama&#10;&#10;El contenido generado por inteligencia artificial puede ser incorrecto.">
            <a:extLst>
              <a:ext uri="{FF2B5EF4-FFF2-40B4-BE49-F238E27FC236}">
                <a16:creationId xmlns:a16="http://schemas.microsoft.com/office/drawing/2014/main" id="{2AEAE2C5-BA4A-C173-EB20-5D20DFF34BC0}"/>
              </a:ext>
            </a:extLst>
          </p:cNvPr>
          <p:cNvPicPr>
            <a:picLocks noChangeAspect="1"/>
          </p:cNvPicPr>
          <p:nvPr/>
        </p:nvPicPr>
        <p:blipFill>
          <a:blip r:embed="rId4"/>
          <a:srcRect l="6260" t="10344" r="5922" b="28494"/>
          <a:stretch/>
        </p:blipFill>
        <p:spPr>
          <a:xfrm>
            <a:off x="-1859" y="2180"/>
            <a:ext cx="1742137" cy="1508926"/>
          </a:xfrm>
          <a:prstGeom prst="rect">
            <a:avLst/>
          </a:prstGeom>
        </p:spPr>
      </p:pic>
      <p:sp>
        <p:nvSpPr>
          <p:cNvPr id="13" name="CuadroTexto 12">
            <a:extLst>
              <a:ext uri="{FF2B5EF4-FFF2-40B4-BE49-F238E27FC236}">
                <a16:creationId xmlns:a16="http://schemas.microsoft.com/office/drawing/2014/main" id="{6B36561D-2D6B-4EDE-A51D-6DA6EACFF66A}"/>
              </a:ext>
            </a:extLst>
          </p:cNvPr>
          <p:cNvSpPr txBox="1"/>
          <p:nvPr/>
        </p:nvSpPr>
        <p:spPr>
          <a:xfrm>
            <a:off x="1618938" y="6368002"/>
            <a:ext cx="9218951" cy="369332"/>
          </a:xfrm>
          <a:prstGeom prst="rect">
            <a:avLst/>
          </a:prstGeom>
          <a:noFill/>
        </p:spPr>
        <p:txBody>
          <a:bodyPr wrap="square" rtlCol="0">
            <a:spAutoFit/>
          </a:bodyPr>
          <a:lstStyle/>
          <a:p>
            <a:pPr algn="ctr"/>
            <a:r>
              <a:rPr lang="es-CO" sz="1800" i="1" kern="100" dirty="0">
                <a:solidFill>
                  <a:srgbClr val="242424"/>
                </a:solidFill>
                <a:effectLst/>
                <a:latin typeface="Bell MT" panose="02020503060305020303" pitchFamily="18" charset="0"/>
                <a:ea typeface="Aptos" panose="020B0004020202020204" pitchFamily="34" charset="0"/>
                <a:cs typeface="Times New Roman" panose="02020603050405020304" pitchFamily="18" charset="0"/>
              </a:rPr>
              <a:t>“Del conocimiento a la capacidad estratégica”</a:t>
            </a:r>
            <a:endParaRPr lang="es-CO" sz="1800" i="1" kern="100" dirty="0">
              <a:effectLst/>
              <a:latin typeface="Bell MT" panose="02020503060305020303" pitchFamily="18" charset="0"/>
              <a:ea typeface="Aptos" panose="020B0004020202020204" pitchFamily="34" charset="0"/>
              <a:cs typeface="Times New Roman" panose="02020603050405020304" pitchFamily="18" charset="0"/>
            </a:endParaRPr>
          </a:p>
        </p:txBody>
      </p:sp>
      <p:sp>
        <p:nvSpPr>
          <p:cNvPr id="7" name="CEINNA_text_43">
            <a:extLst>
              <a:ext uri="{FF2B5EF4-FFF2-40B4-BE49-F238E27FC236}">
                <a16:creationId xmlns:a16="http://schemas.microsoft.com/office/drawing/2014/main" id="{1DF5BFCC-1EB5-C8D7-DBF3-04C4EDA9EA20}"/>
              </a:ext>
            </a:extLst>
          </p:cNvPr>
          <p:cNvSpPr txBox="1"/>
          <p:nvPr/>
        </p:nvSpPr>
        <p:spPr>
          <a:xfrm>
            <a:off x="1841500" y="368299"/>
            <a:ext cx="8966200" cy="876300"/>
          </a:xfrm>
          <a:prstGeom prst="rect">
            <a:avLst/>
          </a:prstGeom>
          <a:noFill/>
        </p:spPr>
        <p:txBody>
          <a:bodyPr vert="horz" wrap="square" lIns="0" tIns="0" rIns="0" bIns="0" rtlCol="0" anchor="t">
            <a:noAutofit/>
          </a:bodyPr>
          <a:lstStyle/>
          <a:p>
            <a:pPr algn="ctr"/>
            <a:r>
              <a:rPr lang="es-CO" sz="3900" b="1" dirty="0">
                <a:solidFill>
                  <a:srgbClr val="000F4D"/>
                </a:solidFill>
                <a:latin typeface="Bell MT" panose="02020503060305020303" pitchFamily="18" charset="0"/>
              </a:rPr>
              <a:t>Ocho visitas por participante</a:t>
            </a:r>
          </a:p>
        </p:txBody>
      </p:sp>
      <p:sp>
        <p:nvSpPr>
          <p:cNvPr id="9" name="CEINNA_text_44">
            <a:extLst>
              <a:ext uri="{FF2B5EF4-FFF2-40B4-BE49-F238E27FC236}">
                <a16:creationId xmlns:a16="http://schemas.microsoft.com/office/drawing/2014/main" id="{C7466736-18F6-CBAB-D355-7920A8D6DB9B}"/>
              </a:ext>
            </a:extLst>
          </p:cNvPr>
          <p:cNvSpPr txBox="1"/>
          <p:nvPr/>
        </p:nvSpPr>
        <p:spPr>
          <a:xfrm>
            <a:off x="1663700" y="1777999"/>
            <a:ext cx="9461500" cy="609600"/>
          </a:xfrm>
          <a:prstGeom prst="rect">
            <a:avLst/>
          </a:prstGeom>
          <a:noFill/>
        </p:spPr>
        <p:txBody>
          <a:bodyPr vert="horz" wrap="square" lIns="0" tIns="0" rIns="0" bIns="0" rtlCol="0" anchor="t">
            <a:noAutofit/>
          </a:bodyPr>
          <a:lstStyle/>
          <a:p>
            <a:r>
              <a:rPr lang="es-CO" sz="2600" dirty="0">
                <a:solidFill>
                  <a:srgbClr val="242424"/>
                </a:solidFill>
                <a:latin typeface="Bell MT" panose="02020503060305020303" pitchFamily="18" charset="0"/>
              </a:rPr>
              <a:t>Dos series longitudinales: ASTRA 1 y ASTRA 2</a:t>
            </a:r>
          </a:p>
        </p:txBody>
      </p:sp>
      <p:cxnSp>
        <p:nvCxnSpPr>
          <p:cNvPr id="11" name="Straight Connector 10">
            <a:extLst>
              <a:ext uri="{FF2B5EF4-FFF2-40B4-BE49-F238E27FC236}">
                <a16:creationId xmlns:a16="http://schemas.microsoft.com/office/drawing/2014/main" id="{4C1EECD1-3EE0-7827-DD8A-35B8CAD4D261}"/>
              </a:ext>
            </a:extLst>
          </p:cNvPr>
          <p:cNvCxnSpPr/>
          <p:nvPr/>
        </p:nvCxnSpPr>
        <p:spPr>
          <a:xfrm>
            <a:off x="2044700" y="3289300"/>
            <a:ext cx="8724900" cy="0"/>
          </a:xfrm>
          <a:prstGeom prst="line">
            <a:avLst/>
          </a:prstGeom>
          <a:ln w="19050">
            <a:solidFill>
              <a:srgbClr val="000F4D"/>
            </a:solidFill>
          </a:ln>
        </p:spPr>
        <p:style>
          <a:lnRef idx="2">
            <a:schemeClr val="accent1"/>
          </a:lnRef>
          <a:fillRef idx="0">
            <a:schemeClr val="accent1"/>
          </a:fillRef>
          <a:effectRef idx="1">
            <a:schemeClr val="accent1"/>
          </a:effectRef>
          <a:fontRef idx="minor">
            <a:schemeClr val="tx1"/>
          </a:fontRef>
        </p:style>
      </p:cxnSp>
      <p:sp>
        <p:nvSpPr>
          <p:cNvPr id="14" name="CEINNA_text_45">
            <a:extLst>
              <a:ext uri="{FF2B5EF4-FFF2-40B4-BE49-F238E27FC236}">
                <a16:creationId xmlns:a16="http://schemas.microsoft.com/office/drawing/2014/main" id="{1D5996FB-0E3B-A164-9155-FC25E6CD6201}"/>
              </a:ext>
            </a:extLst>
          </p:cNvPr>
          <p:cNvSpPr txBox="1"/>
          <p:nvPr/>
        </p:nvSpPr>
        <p:spPr>
          <a:xfrm>
            <a:off x="1676400" y="2603499"/>
            <a:ext cx="927100" cy="444500"/>
          </a:xfrm>
          <a:prstGeom prst="rect">
            <a:avLst/>
          </a:prstGeom>
          <a:noFill/>
        </p:spPr>
        <p:txBody>
          <a:bodyPr vert="horz" wrap="square" lIns="0" tIns="0" rIns="0" bIns="0" rtlCol="0" anchor="t">
            <a:noAutofit/>
          </a:bodyPr>
          <a:lstStyle/>
          <a:p>
            <a:pPr algn="ctr"/>
            <a:r>
              <a:rPr lang="es-CO" sz="2400" b="1" dirty="0">
                <a:solidFill>
                  <a:srgbClr val="000F4D"/>
                </a:solidFill>
                <a:latin typeface="Bell MT" panose="02020503060305020303" pitchFamily="18" charset="0"/>
              </a:rPr>
              <a:t>V0</a:t>
            </a:r>
          </a:p>
        </p:txBody>
      </p:sp>
      <p:sp>
        <p:nvSpPr>
          <p:cNvPr id="15" name="Oval 14">
            <a:extLst>
              <a:ext uri="{FF2B5EF4-FFF2-40B4-BE49-F238E27FC236}">
                <a16:creationId xmlns:a16="http://schemas.microsoft.com/office/drawing/2014/main" id="{6863528E-D666-3ED2-C774-D9A87C8AC508}"/>
              </a:ext>
            </a:extLst>
          </p:cNvPr>
          <p:cNvSpPr/>
          <p:nvPr/>
        </p:nvSpPr>
        <p:spPr>
          <a:xfrm>
            <a:off x="2070100" y="3213100"/>
            <a:ext cx="152400" cy="152400"/>
          </a:xfrm>
          <a:prstGeom prst="ellipse">
            <a:avLst/>
          </a:prstGeom>
          <a:solidFill>
            <a:srgbClr val="000F4D"/>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CO"/>
          </a:p>
        </p:txBody>
      </p:sp>
      <p:sp>
        <p:nvSpPr>
          <p:cNvPr id="16" name="CEINNA_text_46">
            <a:extLst>
              <a:ext uri="{FF2B5EF4-FFF2-40B4-BE49-F238E27FC236}">
                <a16:creationId xmlns:a16="http://schemas.microsoft.com/office/drawing/2014/main" id="{C9D13520-0810-DE7D-3C6C-A5DE973B2C8C}"/>
              </a:ext>
            </a:extLst>
          </p:cNvPr>
          <p:cNvSpPr txBox="1"/>
          <p:nvPr/>
        </p:nvSpPr>
        <p:spPr>
          <a:xfrm>
            <a:off x="1574800" y="3568699"/>
            <a:ext cx="1143000" cy="457200"/>
          </a:xfrm>
          <a:prstGeom prst="rect">
            <a:avLst/>
          </a:prstGeom>
          <a:noFill/>
        </p:spPr>
        <p:txBody>
          <a:bodyPr vert="horz" wrap="square" lIns="0" tIns="0" rIns="0" bIns="0" rtlCol="0" anchor="t">
            <a:noAutofit/>
          </a:bodyPr>
          <a:lstStyle/>
          <a:p>
            <a:pPr algn="ctr"/>
            <a:r>
              <a:rPr lang="es-CO" sz="2300" dirty="0">
                <a:solidFill>
                  <a:srgbClr val="242424"/>
                </a:solidFill>
                <a:latin typeface="Bell MT" panose="02020503060305020303" pitchFamily="18" charset="0"/>
              </a:rPr>
              <a:t>Basal</a:t>
            </a:r>
          </a:p>
        </p:txBody>
      </p:sp>
      <p:sp>
        <p:nvSpPr>
          <p:cNvPr id="17" name="CEINNA_text_47">
            <a:extLst>
              <a:ext uri="{FF2B5EF4-FFF2-40B4-BE49-F238E27FC236}">
                <a16:creationId xmlns:a16="http://schemas.microsoft.com/office/drawing/2014/main" id="{3DDC9FCA-6B3A-6699-E41E-6A549F7E12F3}"/>
              </a:ext>
            </a:extLst>
          </p:cNvPr>
          <p:cNvSpPr txBox="1"/>
          <p:nvPr/>
        </p:nvSpPr>
        <p:spPr>
          <a:xfrm>
            <a:off x="2921000" y="2603499"/>
            <a:ext cx="927100" cy="444500"/>
          </a:xfrm>
          <a:prstGeom prst="rect">
            <a:avLst/>
          </a:prstGeom>
          <a:noFill/>
        </p:spPr>
        <p:txBody>
          <a:bodyPr vert="horz" wrap="square" lIns="0" tIns="0" rIns="0" bIns="0" rtlCol="0" anchor="t">
            <a:noAutofit/>
          </a:bodyPr>
          <a:lstStyle/>
          <a:p>
            <a:pPr algn="ctr"/>
            <a:r>
              <a:rPr lang="es-CO" sz="2400" b="1" dirty="0">
                <a:solidFill>
                  <a:srgbClr val="000F4D"/>
                </a:solidFill>
                <a:latin typeface="Bell MT" panose="02020503060305020303" pitchFamily="18" charset="0"/>
              </a:rPr>
              <a:t>V1</a:t>
            </a:r>
          </a:p>
        </p:txBody>
      </p:sp>
      <p:sp>
        <p:nvSpPr>
          <p:cNvPr id="18" name="Oval 17">
            <a:extLst>
              <a:ext uri="{FF2B5EF4-FFF2-40B4-BE49-F238E27FC236}">
                <a16:creationId xmlns:a16="http://schemas.microsoft.com/office/drawing/2014/main" id="{20707C22-8DEC-525D-C7F9-FFAB017120A1}"/>
              </a:ext>
            </a:extLst>
          </p:cNvPr>
          <p:cNvSpPr/>
          <p:nvPr/>
        </p:nvSpPr>
        <p:spPr>
          <a:xfrm>
            <a:off x="3314700" y="3213100"/>
            <a:ext cx="152400" cy="152400"/>
          </a:xfrm>
          <a:prstGeom prst="ellipse">
            <a:avLst/>
          </a:prstGeom>
          <a:solidFill>
            <a:srgbClr val="000F4D"/>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CO"/>
          </a:p>
        </p:txBody>
      </p:sp>
      <p:sp>
        <p:nvSpPr>
          <p:cNvPr id="19" name="CEINNA_text_48">
            <a:extLst>
              <a:ext uri="{FF2B5EF4-FFF2-40B4-BE49-F238E27FC236}">
                <a16:creationId xmlns:a16="http://schemas.microsoft.com/office/drawing/2014/main" id="{B2448660-B241-3DD0-4905-458558E13595}"/>
              </a:ext>
            </a:extLst>
          </p:cNvPr>
          <p:cNvSpPr txBox="1"/>
          <p:nvPr/>
        </p:nvSpPr>
        <p:spPr>
          <a:xfrm>
            <a:off x="2819400" y="3568699"/>
            <a:ext cx="1143000" cy="457200"/>
          </a:xfrm>
          <a:prstGeom prst="rect">
            <a:avLst/>
          </a:prstGeom>
          <a:noFill/>
        </p:spPr>
        <p:txBody>
          <a:bodyPr vert="horz" wrap="square" lIns="0" tIns="0" rIns="0" bIns="0" rtlCol="0" anchor="t">
            <a:noAutofit/>
          </a:bodyPr>
          <a:lstStyle/>
          <a:p>
            <a:pPr algn="ctr"/>
            <a:r>
              <a:rPr lang="es-CO" sz="2300" dirty="0">
                <a:solidFill>
                  <a:srgbClr val="242424"/>
                </a:solidFill>
                <a:latin typeface="Bell MT" panose="02020503060305020303" pitchFamily="18" charset="0"/>
              </a:rPr>
              <a:t>DM2</a:t>
            </a:r>
          </a:p>
        </p:txBody>
      </p:sp>
      <p:sp>
        <p:nvSpPr>
          <p:cNvPr id="20" name="CEINNA_text_49">
            <a:extLst>
              <a:ext uri="{FF2B5EF4-FFF2-40B4-BE49-F238E27FC236}">
                <a16:creationId xmlns:a16="http://schemas.microsoft.com/office/drawing/2014/main" id="{7E5FE68C-37CB-20F4-5EA9-FAD53A6B20E6}"/>
              </a:ext>
            </a:extLst>
          </p:cNvPr>
          <p:cNvSpPr txBox="1"/>
          <p:nvPr/>
        </p:nvSpPr>
        <p:spPr>
          <a:xfrm>
            <a:off x="4165600" y="2603499"/>
            <a:ext cx="927100" cy="444500"/>
          </a:xfrm>
          <a:prstGeom prst="rect">
            <a:avLst/>
          </a:prstGeom>
          <a:noFill/>
        </p:spPr>
        <p:txBody>
          <a:bodyPr vert="horz" wrap="square" lIns="0" tIns="0" rIns="0" bIns="0" rtlCol="0" anchor="t">
            <a:noAutofit/>
          </a:bodyPr>
          <a:lstStyle/>
          <a:p>
            <a:pPr algn="ctr"/>
            <a:r>
              <a:rPr lang="es-CO" sz="2400" b="1" dirty="0">
                <a:solidFill>
                  <a:srgbClr val="000F4D"/>
                </a:solidFill>
                <a:latin typeface="Bell MT" panose="02020503060305020303" pitchFamily="18" charset="0"/>
              </a:rPr>
              <a:t>V2</a:t>
            </a:r>
          </a:p>
        </p:txBody>
      </p:sp>
      <p:sp>
        <p:nvSpPr>
          <p:cNvPr id="21" name="Oval 20">
            <a:extLst>
              <a:ext uri="{FF2B5EF4-FFF2-40B4-BE49-F238E27FC236}">
                <a16:creationId xmlns:a16="http://schemas.microsoft.com/office/drawing/2014/main" id="{007F8C07-231B-B260-03A1-3AF1BE2B0E88}"/>
              </a:ext>
            </a:extLst>
          </p:cNvPr>
          <p:cNvSpPr/>
          <p:nvPr/>
        </p:nvSpPr>
        <p:spPr>
          <a:xfrm>
            <a:off x="4559300" y="3213100"/>
            <a:ext cx="152400" cy="152400"/>
          </a:xfrm>
          <a:prstGeom prst="ellipse">
            <a:avLst/>
          </a:prstGeom>
          <a:solidFill>
            <a:srgbClr val="000F4D"/>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CO"/>
          </a:p>
        </p:txBody>
      </p:sp>
      <p:sp>
        <p:nvSpPr>
          <p:cNvPr id="22" name="CEINNA_text_50">
            <a:extLst>
              <a:ext uri="{FF2B5EF4-FFF2-40B4-BE49-F238E27FC236}">
                <a16:creationId xmlns:a16="http://schemas.microsoft.com/office/drawing/2014/main" id="{41EEF36E-AC12-7A54-EBD4-04E4DA6DA152}"/>
              </a:ext>
            </a:extLst>
          </p:cNvPr>
          <p:cNvSpPr txBox="1"/>
          <p:nvPr/>
        </p:nvSpPr>
        <p:spPr>
          <a:xfrm>
            <a:off x="4064000" y="3568699"/>
            <a:ext cx="1143000" cy="457200"/>
          </a:xfrm>
          <a:prstGeom prst="rect">
            <a:avLst/>
          </a:prstGeom>
          <a:noFill/>
        </p:spPr>
        <p:txBody>
          <a:bodyPr vert="horz" wrap="square" lIns="0" tIns="0" rIns="0" bIns="0" rtlCol="0" anchor="t">
            <a:noAutofit/>
          </a:bodyPr>
          <a:lstStyle/>
          <a:p>
            <a:pPr algn="ctr"/>
            <a:r>
              <a:rPr lang="es-CO" sz="2300" dirty="0">
                <a:solidFill>
                  <a:srgbClr val="242424"/>
                </a:solidFill>
                <a:latin typeface="Bell MT" panose="02020503060305020303" pitchFamily="18" charset="0"/>
              </a:rPr>
              <a:t>DM4</a:t>
            </a:r>
          </a:p>
        </p:txBody>
      </p:sp>
      <p:sp>
        <p:nvSpPr>
          <p:cNvPr id="23" name="CEINNA_text_51">
            <a:extLst>
              <a:ext uri="{FF2B5EF4-FFF2-40B4-BE49-F238E27FC236}">
                <a16:creationId xmlns:a16="http://schemas.microsoft.com/office/drawing/2014/main" id="{85EC9B36-45CC-2345-04EF-6C10F19F25FF}"/>
              </a:ext>
            </a:extLst>
          </p:cNvPr>
          <p:cNvSpPr txBox="1"/>
          <p:nvPr/>
        </p:nvSpPr>
        <p:spPr>
          <a:xfrm>
            <a:off x="5410200" y="2603499"/>
            <a:ext cx="927100" cy="444500"/>
          </a:xfrm>
          <a:prstGeom prst="rect">
            <a:avLst/>
          </a:prstGeom>
          <a:noFill/>
        </p:spPr>
        <p:txBody>
          <a:bodyPr vert="horz" wrap="square" lIns="0" tIns="0" rIns="0" bIns="0" rtlCol="0" anchor="t">
            <a:noAutofit/>
          </a:bodyPr>
          <a:lstStyle/>
          <a:p>
            <a:pPr algn="ctr"/>
            <a:r>
              <a:rPr lang="es-CO" sz="2400" b="1" dirty="0">
                <a:solidFill>
                  <a:srgbClr val="000F4D"/>
                </a:solidFill>
                <a:latin typeface="Bell MT" panose="02020503060305020303" pitchFamily="18" charset="0"/>
              </a:rPr>
              <a:t>V3</a:t>
            </a:r>
          </a:p>
        </p:txBody>
      </p:sp>
      <p:sp>
        <p:nvSpPr>
          <p:cNvPr id="24" name="Oval 23">
            <a:extLst>
              <a:ext uri="{FF2B5EF4-FFF2-40B4-BE49-F238E27FC236}">
                <a16:creationId xmlns:a16="http://schemas.microsoft.com/office/drawing/2014/main" id="{3D2E50D1-3E52-A60D-1ACF-2147F105AA63}"/>
              </a:ext>
            </a:extLst>
          </p:cNvPr>
          <p:cNvSpPr/>
          <p:nvPr/>
        </p:nvSpPr>
        <p:spPr>
          <a:xfrm>
            <a:off x="5803900" y="3213100"/>
            <a:ext cx="152400" cy="152400"/>
          </a:xfrm>
          <a:prstGeom prst="ellipse">
            <a:avLst/>
          </a:prstGeom>
          <a:solidFill>
            <a:srgbClr val="000F4D"/>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CO"/>
          </a:p>
        </p:txBody>
      </p:sp>
      <p:sp>
        <p:nvSpPr>
          <p:cNvPr id="25" name="CEINNA_text_52">
            <a:extLst>
              <a:ext uri="{FF2B5EF4-FFF2-40B4-BE49-F238E27FC236}">
                <a16:creationId xmlns:a16="http://schemas.microsoft.com/office/drawing/2014/main" id="{1D5A24EA-EA57-A468-C501-43E66F96D3A7}"/>
              </a:ext>
            </a:extLst>
          </p:cNvPr>
          <p:cNvSpPr txBox="1"/>
          <p:nvPr/>
        </p:nvSpPr>
        <p:spPr>
          <a:xfrm>
            <a:off x="5308600" y="3568699"/>
            <a:ext cx="1143000" cy="457200"/>
          </a:xfrm>
          <a:prstGeom prst="rect">
            <a:avLst/>
          </a:prstGeom>
          <a:noFill/>
        </p:spPr>
        <p:txBody>
          <a:bodyPr vert="horz" wrap="square" lIns="0" tIns="0" rIns="0" bIns="0" rtlCol="0" anchor="t">
            <a:noAutofit/>
          </a:bodyPr>
          <a:lstStyle/>
          <a:p>
            <a:pPr algn="ctr"/>
            <a:r>
              <a:rPr lang="es-CO" sz="2300" dirty="0">
                <a:solidFill>
                  <a:srgbClr val="242424"/>
                </a:solidFill>
                <a:latin typeface="Bell MT" panose="02020503060305020303" pitchFamily="18" charset="0"/>
              </a:rPr>
              <a:t>DM7</a:t>
            </a:r>
          </a:p>
        </p:txBody>
      </p:sp>
      <p:sp>
        <p:nvSpPr>
          <p:cNvPr id="26" name="CEINNA_text_53">
            <a:extLst>
              <a:ext uri="{FF2B5EF4-FFF2-40B4-BE49-F238E27FC236}">
                <a16:creationId xmlns:a16="http://schemas.microsoft.com/office/drawing/2014/main" id="{CAAE5F7A-51A0-8E45-1402-2BB8B753AFD2}"/>
              </a:ext>
            </a:extLst>
          </p:cNvPr>
          <p:cNvSpPr txBox="1"/>
          <p:nvPr/>
        </p:nvSpPr>
        <p:spPr>
          <a:xfrm>
            <a:off x="6654800" y="2603499"/>
            <a:ext cx="927100" cy="444500"/>
          </a:xfrm>
          <a:prstGeom prst="rect">
            <a:avLst/>
          </a:prstGeom>
          <a:noFill/>
        </p:spPr>
        <p:txBody>
          <a:bodyPr vert="horz" wrap="square" lIns="0" tIns="0" rIns="0" bIns="0" rtlCol="0" anchor="t">
            <a:noAutofit/>
          </a:bodyPr>
          <a:lstStyle/>
          <a:p>
            <a:pPr algn="ctr"/>
            <a:r>
              <a:rPr lang="es-CO" sz="2400" b="1" dirty="0">
                <a:solidFill>
                  <a:srgbClr val="000F4D"/>
                </a:solidFill>
                <a:latin typeface="Bell MT" panose="02020503060305020303" pitchFamily="18" charset="0"/>
              </a:rPr>
              <a:t>V4</a:t>
            </a:r>
          </a:p>
        </p:txBody>
      </p:sp>
      <p:sp>
        <p:nvSpPr>
          <p:cNvPr id="27" name="Oval 26">
            <a:extLst>
              <a:ext uri="{FF2B5EF4-FFF2-40B4-BE49-F238E27FC236}">
                <a16:creationId xmlns:a16="http://schemas.microsoft.com/office/drawing/2014/main" id="{5921B524-FAF3-B9C5-446F-5CE91CD5F1E4}"/>
              </a:ext>
            </a:extLst>
          </p:cNvPr>
          <p:cNvSpPr/>
          <p:nvPr/>
        </p:nvSpPr>
        <p:spPr>
          <a:xfrm>
            <a:off x="7048500" y="3213100"/>
            <a:ext cx="152400" cy="152400"/>
          </a:xfrm>
          <a:prstGeom prst="ellipse">
            <a:avLst/>
          </a:prstGeom>
          <a:solidFill>
            <a:srgbClr val="000F4D"/>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CO"/>
          </a:p>
        </p:txBody>
      </p:sp>
      <p:sp>
        <p:nvSpPr>
          <p:cNvPr id="28" name="CEINNA_text_54">
            <a:extLst>
              <a:ext uri="{FF2B5EF4-FFF2-40B4-BE49-F238E27FC236}">
                <a16:creationId xmlns:a16="http://schemas.microsoft.com/office/drawing/2014/main" id="{99DE08A7-A849-A9B5-C1C3-D22BEC262E4D}"/>
              </a:ext>
            </a:extLst>
          </p:cNvPr>
          <p:cNvSpPr txBox="1"/>
          <p:nvPr/>
        </p:nvSpPr>
        <p:spPr>
          <a:xfrm>
            <a:off x="6553200" y="3568699"/>
            <a:ext cx="1143000" cy="457200"/>
          </a:xfrm>
          <a:prstGeom prst="rect">
            <a:avLst/>
          </a:prstGeom>
          <a:noFill/>
        </p:spPr>
        <p:txBody>
          <a:bodyPr vert="horz" wrap="square" lIns="0" tIns="0" rIns="0" bIns="0" rtlCol="0" anchor="t">
            <a:noAutofit/>
          </a:bodyPr>
          <a:lstStyle/>
          <a:p>
            <a:pPr algn="ctr"/>
            <a:r>
              <a:rPr lang="es-CO" sz="2300" dirty="0">
                <a:solidFill>
                  <a:srgbClr val="242424"/>
                </a:solidFill>
                <a:latin typeface="Bell MT" panose="02020503060305020303" pitchFamily="18" charset="0"/>
              </a:rPr>
              <a:t>DM10</a:t>
            </a:r>
          </a:p>
        </p:txBody>
      </p:sp>
      <p:sp>
        <p:nvSpPr>
          <p:cNvPr id="29" name="CEINNA_text_55">
            <a:extLst>
              <a:ext uri="{FF2B5EF4-FFF2-40B4-BE49-F238E27FC236}">
                <a16:creationId xmlns:a16="http://schemas.microsoft.com/office/drawing/2014/main" id="{D05F16E2-E0CB-2840-1EDD-C0FA12D9D21C}"/>
              </a:ext>
            </a:extLst>
          </p:cNvPr>
          <p:cNvSpPr txBox="1"/>
          <p:nvPr/>
        </p:nvSpPr>
        <p:spPr>
          <a:xfrm>
            <a:off x="7899400" y="2603499"/>
            <a:ext cx="927100" cy="444500"/>
          </a:xfrm>
          <a:prstGeom prst="rect">
            <a:avLst/>
          </a:prstGeom>
          <a:noFill/>
        </p:spPr>
        <p:txBody>
          <a:bodyPr vert="horz" wrap="square" lIns="0" tIns="0" rIns="0" bIns="0" rtlCol="0" anchor="t">
            <a:noAutofit/>
          </a:bodyPr>
          <a:lstStyle/>
          <a:p>
            <a:pPr algn="ctr"/>
            <a:r>
              <a:rPr lang="es-CO" sz="2400" b="1" dirty="0">
                <a:solidFill>
                  <a:srgbClr val="000F4D"/>
                </a:solidFill>
                <a:latin typeface="Bell MT" panose="02020503060305020303" pitchFamily="18" charset="0"/>
              </a:rPr>
              <a:t>V5</a:t>
            </a:r>
          </a:p>
        </p:txBody>
      </p:sp>
      <p:sp>
        <p:nvSpPr>
          <p:cNvPr id="30" name="Oval 29">
            <a:extLst>
              <a:ext uri="{FF2B5EF4-FFF2-40B4-BE49-F238E27FC236}">
                <a16:creationId xmlns:a16="http://schemas.microsoft.com/office/drawing/2014/main" id="{9A11F008-0EE0-C296-0812-97CDBB85987D}"/>
              </a:ext>
            </a:extLst>
          </p:cNvPr>
          <p:cNvSpPr/>
          <p:nvPr/>
        </p:nvSpPr>
        <p:spPr>
          <a:xfrm>
            <a:off x="8293100" y="3213100"/>
            <a:ext cx="152400" cy="152400"/>
          </a:xfrm>
          <a:prstGeom prst="ellipse">
            <a:avLst/>
          </a:prstGeom>
          <a:solidFill>
            <a:srgbClr val="000F4D"/>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CO"/>
          </a:p>
        </p:txBody>
      </p:sp>
      <p:sp>
        <p:nvSpPr>
          <p:cNvPr id="31" name="CEINNA_text_56">
            <a:extLst>
              <a:ext uri="{FF2B5EF4-FFF2-40B4-BE49-F238E27FC236}">
                <a16:creationId xmlns:a16="http://schemas.microsoft.com/office/drawing/2014/main" id="{8CE5B73F-1280-354D-AEAD-894365483B3E}"/>
              </a:ext>
            </a:extLst>
          </p:cNvPr>
          <p:cNvSpPr txBox="1"/>
          <p:nvPr/>
        </p:nvSpPr>
        <p:spPr>
          <a:xfrm>
            <a:off x="7797800" y="3568699"/>
            <a:ext cx="1143000" cy="457200"/>
          </a:xfrm>
          <a:prstGeom prst="rect">
            <a:avLst/>
          </a:prstGeom>
          <a:noFill/>
        </p:spPr>
        <p:txBody>
          <a:bodyPr vert="horz" wrap="square" lIns="0" tIns="0" rIns="0" bIns="0" rtlCol="0" anchor="t">
            <a:noAutofit/>
          </a:bodyPr>
          <a:lstStyle/>
          <a:p>
            <a:pPr algn="ctr"/>
            <a:r>
              <a:rPr lang="es-CO" sz="2300" dirty="0">
                <a:solidFill>
                  <a:srgbClr val="242424"/>
                </a:solidFill>
                <a:latin typeface="Bell MT" panose="02020503060305020303" pitchFamily="18" charset="0"/>
              </a:rPr>
              <a:t>DM13</a:t>
            </a:r>
          </a:p>
        </p:txBody>
      </p:sp>
      <p:sp>
        <p:nvSpPr>
          <p:cNvPr id="32" name="CEINNA_text_57">
            <a:extLst>
              <a:ext uri="{FF2B5EF4-FFF2-40B4-BE49-F238E27FC236}">
                <a16:creationId xmlns:a16="http://schemas.microsoft.com/office/drawing/2014/main" id="{6E259C55-CC73-9B99-7B3E-7A05A80154C0}"/>
              </a:ext>
            </a:extLst>
          </p:cNvPr>
          <p:cNvSpPr txBox="1"/>
          <p:nvPr/>
        </p:nvSpPr>
        <p:spPr>
          <a:xfrm>
            <a:off x="9144000" y="2603499"/>
            <a:ext cx="927100" cy="444500"/>
          </a:xfrm>
          <a:prstGeom prst="rect">
            <a:avLst/>
          </a:prstGeom>
          <a:noFill/>
        </p:spPr>
        <p:txBody>
          <a:bodyPr vert="horz" wrap="square" lIns="0" tIns="0" rIns="0" bIns="0" rtlCol="0" anchor="t">
            <a:noAutofit/>
          </a:bodyPr>
          <a:lstStyle/>
          <a:p>
            <a:pPr algn="ctr"/>
            <a:r>
              <a:rPr lang="es-CO" sz="2400" b="1" dirty="0">
                <a:solidFill>
                  <a:srgbClr val="000F4D"/>
                </a:solidFill>
                <a:latin typeface="Bell MT" panose="02020503060305020303" pitchFamily="18" charset="0"/>
              </a:rPr>
              <a:t>V6</a:t>
            </a:r>
          </a:p>
        </p:txBody>
      </p:sp>
      <p:sp>
        <p:nvSpPr>
          <p:cNvPr id="33" name="Oval 32">
            <a:extLst>
              <a:ext uri="{FF2B5EF4-FFF2-40B4-BE49-F238E27FC236}">
                <a16:creationId xmlns:a16="http://schemas.microsoft.com/office/drawing/2014/main" id="{AB701212-3156-AA3B-D069-F8837D048B5B}"/>
              </a:ext>
            </a:extLst>
          </p:cNvPr>
          <p:cNvSpPr/>
          <p:nvPr/>
        </p:nvSpPr>
        <p:spPr>
          <a:xfrm>
            <a:off x="9537700" y="3213100"/>
            <a:ext cx="152400" cy="152400"/>
          </a:xfrm>
          <a:prstGeom prst="ellipse">
            <a:avLst/>
          </a:prstGeom>
          <a:solidFill>
            <a:srgbClr val="000F4D"/>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CO"/>
          </a:p>
        </p:txBody>
      </p:sp>
      <p:sp>
        <p:nvSpPr>
          <p:cNvPr id="34" name="CEINNA_text_58">
            <a:extLst>
              <a:ext uri="{FF2B5EF4-FFF2-40B4-BE49-F238E27FC236}">
                <a16:creationId xmlns:a16="http://schemas.microsoft.com/office/drawing/2014/main" id="{8380B62F-91CD-75B4-33F2-975F7D34F640}"/>
              </a:ext>
            </a:extLst>
          </p:cNvPr>
          <p:cNvSpPr txBox="1"/>
          <p:nvPr/>
        </p:nvSpPr>
        <p:spPr>
          <a:xfrm>
            <a:off x="9042400" y="3568699"/>
            <a:ext cx="1143000" cy="457200"/>
          </a:xfrm>
          <a:prstGeom prst="rect">
            <a:avLst/>
          </a:prstGeom>
          <a:noFill/>
        </p:spPr>
        <p:txBody>
          <a:bodyPr vert="horz" wrap="square" lIns="0" tIns="0" rIns="0" bIns="0" rtlCol="0" anchor="t">
            <a:noAutofit/>
          </a:bodyPr>
          <a:lstStyle/>
          <a:p>
            <a:pPr algn="ctr"/>
            <a:r>
              <a:rPr lang="es-CO" sz="2300" dirty="0">
                <a:solidFill>
                  <a:srgbClr val="242424"/>
                </a:solidFill>
                <a:latin typeface="Bell MT" panose="02020503060305020303" pitchFamily="18" charset="0"/>
              </a:rPr>
              <a:t>DM15</a:t>
            </a:r>
          </a:p>
        </p:txBody>
      </p:sp>
      <p:sp>
        <p:nvSpPr>
          <p:cNvPr id="35" name="CEINNA_text_59">
            <a:extLst>
              <a:ext uri="{FF2B5EF4-FFF2-40B4-BE49-F238E27FC236}">
                <a16:creationId xmlns:a16="http://schemas.microsoft.com/office/drawing/2014/main" id="{F04D56BD-918D-E8A3-BE14-4133CC3946C2}"/>
              </a:ext>
            </a:extLst>
          </p:cNvPr>
          <p:cNvSpPr txBox="1"/>
          <p:nvPr/>
        </p:nvSpPr>
        <p:spPr>
          <a:xfrm>
            <a:off x="10388600" y="2603499"/>
            <a:ext cx="927100" cy="444500"/>
          </a:xfrm>
          <a:prstGeom prst="rect">
            <a:avLst/>
          </a:prstGeom>
          <a:noFill/>
        </p:spPr>
        <p:txBody>
          <a:bodyPr vert="horz" wrap="square" lIns="0" tIns="0" rIns="0" bIns="0" rtlCol="0" anchor="t">
            <a:noAutofit/>
          </a:bodyPr>
          <a:lstStyle/>
          <a:p>
            <a:pPr algn="ctr"/>
            <a:r>
              <a:rPr lang="es-CO" sz="2400" b="1" dirty="0">
                <a:solidFill>
                  <a:srgbClr val="000F4D"/>
                </a:solidFill>
                <a:latin typeface="Bell MT" panose="02020503060305020303" pitchFamily="18" charset="0"/>
              </a:rPr>
              <a:t>V7</a:t>
            </a:r>
          </a:p>
        </p:txBody>
      </p:sp>
      <p:sp>
        <p:nvSpPr>
          <p:cNvPr id="36" name="Oval 35">
            <a:extLst>
              <a:ext uri="{FF2B5EF4-FFF2-40B4-BE49-F238E27FC236}">
                <a16:creationId xmlns:a16="http://schemas.microsoft.com/office/drawing/2014/main" id="{2A935AA1-1C68-8E19-32D0-73C607A468A6}"/>
              </a:ext>
            </a:extLst>
          </p:cNvPr>
          <p:cNvSpPr/>
          <p:nvPr/>
        </p:nvSpPr>
        <p:spPr>
          <a:xfrm>
            <a:off x="10782300" y="3213100"/>
            <a:ext cx="152400" cy="152400"/>
          </a:xfrm>
          <a:prstGeom prst="ellipse">
            <a:avLst/>
          </a:prstGeom>
          <a:solidFill>
            <a:srgbClr val="000F4D"/>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CO"/>
          </a:p>
        </p:txBody>
      </p:sp>
      <p:sp>
        <p:nvSpPr>
          <p:cNvPr id="37" name="CEINNA_text_60">
            <a:extLst>
              <a:ext uri="{FF2B5EF4-FFF2-40B4-BE49-F238E27FC236}">
                <a16:creationId xmlns:a16="http://schemas.microsoft.com/office/drawing/2014/main" id="{379B53AC-D0A1-C776-7144-684DE0A3B3F8}"/>
              </a:ext>
            </a:extLst>
          </p:cNvPr>
          <p:cNvSpPr txBox="1"/>
          <p:nvPr/>
        </p:nvSpPr>
        <p:spPr>
          <a:xfrm>
            <a:off x="10287000" y="3568699"/>
            <a:ext cx="1143000" cy="457200"/>
          </a:xfrm>
          <a:prstGeom prst="rect">
            <a:avLst/>
          </a:prstGeom>
          <a:noFill/>
        </p:spPr>
        <p:txBody>
          <a:bodyPr vert="horz" wrap="square" lIns="0" tIns="0" rIns="0" bIns="0" rtlCol="0" anchor="t">
            <a:noAutofit/>
          </a:bodyPr>
          <a:lstStyle/>
          <a:p>
            <a:pPr algn="ctr"/>
            <a:r>
              <a:rPr lang="es-CO" sz="2300" dirty="0">
                <a:solidFill>
                  <a:srgbClr val="242424"/>
                </a:solidFill>
                <a:latin typeface="Bell MT" panose="02020503060305020303" pitchFamily="18" charset="0"/>
              </a:rPr>
              <a:t>D+1</a:t>
            </a:r>
          </a:p>
        </p:txBody>
      </p:sp>
      <p:sp>
        <p:nvSpPr>
          <p:cNvPr id="38" name="CEINNA_text_61">
            <a:extLst>
              <a:ext uri="{FF2B5EF4-FFF2-40B4-BE49-F238E27FC236}">
                <a16:creationId xmlns:a16="http://schemas.microsoft.com/office/drawing/2014/main" id="{1F1AD8C2-4AD5-4F8B-F9E0-8A8157936CFA}"/>
              </a:ext>
            </a:extLst>
          </p:cNvPr>
          <p:cNvSpPr txBox="1"/>
          <p:nvPr/>
        </p:nvSpPr>
        <p:spPr>
          <a:xfrm>
            <a:off x="1676400" y="4076699"/>
            <a:ext cx="9410700" cy="304800"/>
          </a:xfrm>
          <a:prstGeom prst="rect">
            <a:avLst/>
          </a:prstGeom>
          <a:noFill/>
        </p:spPr>
        <p:txBody>
          <a:bodyPr vert="horz" wrap="square" lIns="0" tIns="0" rIns="0" bIns="0" rtlCol="0" anchor="t">
            <a:noAutofit/>
          </a:bodyPr>
          <a:lstStyle/>
          <a:p>
            <a:r>
              <a:rPr lang="es-CO" sz="1500" dirty="0">
                <a:solidFill>
                  <a:srgbClr val="4F5A6C"/>
                </a:solidFill>
                <a:latin typeface="Bell MT" panose="02020503060305020303" pitchFamily="18" charset="0"/>
              </a:rPr>
              <a:t>Secuencia de visitas; separación gráfica no proporcional al tiempo.</a:t>
            </a:r>
          </a:p>
        </p:txBody>
      </p:sp>
      <p:sp>
        <p:nvSpPr>
          <p:cNvPr id="39" name="CEINNA_text_62">
            <a:extLst>
              <a:ext uri="{FF2B5EF4-FFF2-40B4-BE49-F238E27FC236}">
                <a16:creationId xmlns:a16="http://schemas.microsoft.com/office/drawing/2014/main" id="{7B2A5457-0664-6419-F366-794D19DF8DFA}"/>
              </a:ext>
            </a:extLst>
          </p:cNvPr>
          <p:cNvSpPr txBox="1"/>
          <p:nvPr/>
        </p:nvSpPr>
        <p:spPr>
          <a:xfrm>
            <a:off x="1676400" y="4406899"/>
            <a:ext cx="9410700" cy="431800"/>
          </a:xfrm>
          <a:prstGeom prst="rect">
            <a:avLst/>
          </a:prstGeom>
          <a:noFill/>
        </p:spPr>
        <p:txBody>
          <a:bodyPr vert="horz" wrap="square" lIns="0" tIns="0" rIns="0" bIns="0" rtlCol="0" anchor="t">
            <a:noAutofit/>
          </a:bodyPr>
          <a:lstStyle/>
          <a:p>
            <a:r>
              <a:rPr lang="es-CO" sz="2300" dirty="0">
                <a:solidFill>
                  <a:srgbClr val="242424"/>
                </a:solidFill>
                <a:latin typeface="Bell MT" panose="02020503060305020303" pitchFamily="18" charset="0"/>
              </a:rPr>
              <a:t>V0: 29 sep. (ASTRA 1) · 28 sep. (ASTRA 2)</a:t>
            </a:r>
          </a:p>
        </p:txBody>
      </p:sp>
      <p:sp>
        <p:nvSpPr>
          <p:cNvPr id="40" name="CEINNA_text_63">
            <a:extLst>
              <a:ext uri="{FF2B5EF4-FFF2-40B4-BE49-F238E27FC236}">
                <a16:creationId xmlns:a16="http://schemas.microsoft.com/office/drawing/2014/main" id="{F2D2CC97-0326-3701-7A63-6CF5917E4AB5}"/>
              </a:ext>
            </a:extLst>
          </p:cNvPr>
          <p:cNvSpPr txBox="1"/>
          <p:nvPr/>
        </p:nvSpPr>
        <p:spPr>
          <a:xfrm>
            <a:off x="1676400" y="4940299"/>
            <a:ext cx="9410700" cy="431800"/>
          </a:xfrm>
          <a:prstGeom prst="rect">
            <a:avLst/>
          </a:prstGeom>
          <a:noFill/>
        </p:spPr>
        <p:txBody>
          <a:bodyPr vert="horz" wrap="square" lIns="0" tIns="0" rIns="0" bIns="0" rtlCol="0" anchor="t">
            <a:noAutofit/>
          </a:bodyPr>
          <a:lstStyle/>
          <a:p>
            <a:r>
              <a:rPr lang="es-CO" sz="2300" dirty="0">
                <a:solidFill>
                  <a:srgbClr val="242424"/>
                </a:solidFill>
                <a:latin typeface="Bell MT" panose="02020503060305020303" pitchFamily="18" charset="0"/>
              </a:rPr>
              <a:t>V7: 20 oct. (ASTRA 1) · 5 nov. (ASTRA 2)</a:t>
            </a:r>
          </a:p>
        </p:txBody>
      </p:sp>
      <p:sp>
        <p:nvSpPr>
          <p:cNvPr id="41" name="CEINNA_text_64">
            <a:extLst>
              <a:ext uri="{FF2B5EF4-FFF2-40B4-BE49-F238E27FC236}">
                <a16:creationId xmlns:a16="http://schemas.microsoft.com/office/drawing/2014/main" id="{C3ABF844-3B4E-BA8A-71E6-A7FD327486B9}"/>
              </a:ext>
            </a:extLst>
          </p:cNvPr>
          <p:cNvSpPr txBox="1"/>
          <p:nvPr/>
        </p:nvSpPr>
        <p:spPr>
          <a:xfrm>
            <a:off x="1676400" y="5473699"/>
            <a:ext cx="9410700" cy="368300"/>
          </a:xfrm>
          <a:prstGeom prst="rect">
            <a:avLst/>
          </a:prstGeom>
          <a:noFill/>
        </p:spPr>
        <p:txBody>
          <a:bodyPr vert="horz" wrap="square" lIns="0" tIns="0" rIns="0" bIns="0" rtlCol="0" anchor="t">
            <a:noAutofit/>
          </a:bodyPr>
          <a:lstStyle/>
          <a:p>
            <a:r>
              <a:rPr lang="es-CO" sz="1900" dirty="0">
                <a:solidFill>
                  <a:srgbClr val="4F5A6C"/>
                </a:solidFill>
                <a:latin typeface="Bell MT" panose="02020503060305020303" pitchFamily="18" charset="0"/>
              </a:rPr>
              <a:t>Basal respecto al ingreso: D−6 y D−23, respectivamente.</a:t>
            </a:r>
          </a:p>
        </p:txBody>
      </p:sp>
      <p:sp>
        <p:nvSpPr>
          <p:cNvPr id="42" name="CEINNA_text_65">
            <a:extLst>
              <a:ext uri="{FF2B5EF4-FFF2-40B4-BE49-F238E27FC236}">
                <a16:creationId xmlns:a16="http://schemas.microsoft.com/office/drawing/2014/main" id="{B7AE181B-9D7F-D481-BFEE-924893C96C5C}"/>
              </a:ext>
            </a:extLst>
          </p:cNvPr>
          <p:cNvSpPr txBox="1"/>
          <p:nvPr/>
        </p:nvSpPr>
        <p:spPr>
          <a:xfrm>
            <a:off x="1625600" y="6019800"/>
            <a:ext cx="9334500" cy="266700"/>
          </a:xfrm>
          <a:prstGeom prst="rect">
            <a:avLst/>
          </a:prstGeom>
          <a:noFill/>
        </p:spPr>
        <p:txBody>
          <a:bodyPr vert="horz" wrap="square" lIns="0" tIns="0" rIns="0" bIns="0" rtlCol="0" anchor="t">
            <a:noAutofit/>
          </a:bodyPr>
          <a:lstStyle/>
          <a:p>
            <a:r>
              <a:rPr lang="es-CO" sz="1200" dirty="0">
                <a:solidFill>
                  <a:srgbClr val="4F5A6C"/>
                </a:solidFill>
                <a:latin typeface="Bell MT" panose="02020503060305020303" pitchFamily="18" charset="0"/>
              </a:rPr>
              <a:t>Manual §4.7.6 y cronograma §§2, 4.1 y 7. DM = día de misión. Fechas previstas.</a:t>
            </a:r>
          </a:p>
        </p:txBody>
      </p:sp>
      <p:sp>
        <p:nvSpPr>
          <p:cNvPr id="43" name="CEINNA_text_66">
            <a:extLst>
              <a:ext uri="{FF2B5EF4-FFF2-40B4-BE49-F238E27FC236}">
                <a16:creationId xmlns:a16="http://schemas.microsoft.com/office/drawing/2014/main" id="{8A211085-E860-5156-3C1E-543B13B10364}"/>
              </a:ext>
            </a:extLst>
          </p:cNvPr>
          <p:cNvSpPr txBox="1"/>
          <p:nvPr/>
        </p:nvSpPr>
        <p:spPr>
          <a:xfrm>
            <a:off x="11036300" y="6032500"/>
            <a:ext cx="292100" cy="228600"/>
          </a:xfrm>
          <a:prstGeom prst="rect">
            <a:avLst/>
          </a:prstGeom>
          <a:noFill/>
        </p:spPr>
        <p:txBody>
          <a:bodyPr vert="horz" wrap="square" lIns="0" tIns="0" rIns="0" bIns="0" rtlCol="0" anchor="t">
            <a:noAutofit/>
          </a:bodyPr>
          <a:lstStyle/>
          <a:p>
            <a:pPr algn="r"/>
            <a:r>
              <a:rPr lang="es-CO" sz="1200" dirty="0">
                <a:solidFill>
                  <a:srgbClr val="4F5A6C"/>
                </a:solidFill>
                <a:latin typeface="Bell MT" panose="02020503060305020303" pitchFamily="18" charset="0"/>
              </a:rPr>
              <a:t>6</a:t>
            </a:r>
          </a:p>
        </p:txBody>
      </p:sp>
    </p:spTree>
    <p:custDataLst>
      <p:tags r:id="rId1"/>
    </p:custDataLst>
    <p:extLst>
      <p:ext uri="{BB962C8B-B14F-4D97-AF65-F5344CB8AC3E}">
        <p14:creationId xmlns:p14="http://schemas.microsoft.com/office/powerpoint/2010/main" val="1818174372"/>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F0C0B2F-ABCF-A16D-9B99-96619EC7347F}"/>
            </a:ext>
          </a:extLst>
        </p:cNvPr>
        <p:cNvGrpSpPr/>
        <p:nvPr/>
      </p:nvGrpSpPr>
      <p:grpSpPr>
        <a:xfrm>
          <a:off x="0" y="0"/>
          <a:ext cx="0" cy="0"/>
          <a:chOff x="0" y="0"/>
          <a:chExt cx="0" cy="0"/>
        </a:xfrm>
      </p:grpSpPr>
      <p:grpSp>
        <p:nvGrpSpPr>
          <p:cNvPr id="2" name="Grupo 1">
            <a:extLst>
              <a:ext uri="{FF2B5EF4-FFF2-40B4-BE49-F238E27FC236}">
                <a16:creationId xmlns:a16="http://schemas.microsoft.com/office/drawing/2014/main" id="{B5C8DCE7-7F59-F685-9165-4D848885236E}"/>
              </a:ext>
            </a:extLst>
          </p:cNvPr>
          <p:cNvGrpSpPr/>
          <p:nvPr/>
        </p:nvGrpSpPr>
        <p:grpSpPr>
          <a:xfrm>
            <a:off x="11555690" y="0"/>
            <a:ext cx="636310" cy="6876601"/>
            <a:chOff x="11555690" y="0"/>
            <a:chExt cx="636310" cy="6876601"/>
          </a:xfrm>
        </p:grpSpPr>
        <p:sp>
          <p:nvSpPr>
            <p:cNvPr id="3" name="Rectángulo 2">
              <a:extLst>
                <a:ext uri="{FF2B5EF4-FFF2-40B4-BE49-F238E27FC236}">
                  <a16:creationId xmlns:a16="http://schemas.microsoft.com/office/drawing/2014/main" id="{A8E3883C-A3FB-B076-D9C5-4593E728242E}"/>
                </a:ext>
              </a:extLst>
            </p:cNvPr>
            <p:cNvSpPr/>
            <p:nvPr/>
          </p:nvSpPr>
          <p:spPr>
            <a:xfrm>
              <a:off x="11557416" y="3496321"/>
              <a:ext cx="634584" cy="1813806"/>
            </a:xfrm>
            <a:prstGeom prst="rect">
              <a:avLst/>
            </a:prstGeom>
            <a:solidFill>
              <a:srgbClr val="000F4D"/>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CO"/>
            </a:p>
          </p:txBody>
        </p:sp>
        <p:sp>
          <p:nvSpPr>
            <p:cNvPr id="4" name="Rectángulo 3">
              <a:extLst>
                <a:ext uri="{FF2B5EF4-FFF2-40B4-BE49-F238E27FC236}">
                  <a16:creationId xmlns:a16="http://schemas.microsoft.com/office/drawing/2014/main" id="{7512944A-8633-A84A-8248-74134005AF6D}"/>
                </a:ext>
              </a:extLst>
            </p:cNvPr>
            <p:cNvSpPr/>
            <p:nvPr/>
          </p:nvSpPr>
          <p:spPr>
            <a:xfrm>
              <a:off x="11557416" y="5227683"/>
              <a:ext cx="634584" cy="1648918"/>
            </a:xfrm>
            <a:prstGeom prst="rect">
              <a:avLst/>
            </a:prstGeom>
            <a:solidFill>
              <a:srgbClr val="26B53B"/>
            </a:solidFill>
            <a:ln>
              <a:solidFill>
                <a:srgbClr val="23B53B"/>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CO"/>
            </a:p>
          </p:txBody>
        </p:sp>
        <p:sp>
          <p:nvSpPr>
            <p:cNvPr id="5" name="Rectángulo 4">
              <a:extLst>
                <a:ext uri="{FF2B5EF4-FFF2-40B4-BE49-F238E27FC236}">
                  <a16:creationId xmlns:a16="http://schemas.microsoft.com/office/drawing/2014/main" id="{17EF142A-3A8B-CD16-CBC7-83A3158E79B9}"/>
                </a:ext>
              </a:extLst>
            </p:cNvPr>
            <p:cNvSpPr/>
            <p:nvPr/>
          </p:nvSpPr>
          <p:spPr>
            <a:xfrm>
              <a:off x="11555690" y="0"/>
              <a:ext cx="634584" cy="1648918"/>
            </a:xfrm>
            <a:prstGeom prst="rect">
              <a:avLst/>
            </a:prstGeom>
            <a:solidFill>
              <a:srgbClr val="D9000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CO"/>
            </a:p>
          </p:txBody>
        </p:sp>
        <p:sp>
          <p:nvSpPr>
            <p:cNvPr id="6" name="Rectángulo 5">
              <a:extLst>
                <a:ext uri="{FF2B5EF4-FFF2-40B4-BE49-F238E27FC236}">
                  <a16:creationId xmlns:a16="http://schemas.microsoft.com/office/drawing/2014/main" id="{79078B8D-A80A-1F4B-6797-EB5D560913BE}"/>
                </a:ext>
              </a:extLst>
            </p:cNvPr>
            <p:cNvSpPr/>
            <p:nvPr/>
          </p:nvSpPr>
          <p:spPr>
            <a:xfrm>
              <a:off x="11557416" y="1656417"/>
              <a:ext cx="634584" cy="1813806"/>
            </a:xfrm>
            <a:prstGeom prst="rect">
              <a:avLst/>
            </a:prstGeom>
          </p:spPr>
          <p:style>
            <a:lnRef idx="2">
              <a:schemeClr val="dk1">
                <a:shade val="15000"/>
              </a:schemeClr>
            </a:lnRef>
            <a:fillRef idx="1">
              <a:schemeClr val="dk1"/>
            </a:fillRef>
            <a:effectRef idx="0">
              <a:schemeClr val="dk1"/>
            </a:effectRef>
            <a:fontRef idx="minor">
              <a:schemeClr val="lt1"/>
            </a:fontRef>
          </p:style>
          <p:txBody>
            <a:bodyPr rtlCol="0" anchor="ctr"/>
            <a:lstStyle/>
            <a:p>
              <a:pPr algn="ctr"/>
              <a:endParaRPr lang="es-CO"/>
            </a:p>
          </p:txBody>
        </p:sp>
      </p:grpSp>
      <p:pic>
        <p:nvPicPr>
          <p:cNvPr id="12" name="Imagen 11" descr="Diagrama&#10;&#10;El contenido generado por inteligencia artificial puede ser incorrecto.">
            <a:extLst>
              <a:ext uri="{FF2B5EF4-FFF2-40B4-BE49-F238E27FC236}">
                <a16:creationId xmlns:a16="http://schemas.microsoft.com/office/drawing/2014/main" id="{2AEAE2C5-BA4A-C173-EB20-5D20DFF34BC0}"/>
              </a:ext>
            </a:extLst>
          </p:cNvPr>
          <p:cNvPicPr>
            <a:picLocks noChangeAspect="1"/>
          </p:cNvPicPr>
          <p:nvPr/>
        </p:nvPicPr>
        <p:blipFill>
          <a:blip r:embed="rId4"/>
          <a:srcRect l="6260" t="10344" r="5922" b="28494"/>
          <a:stretch/>
        </p:blipFill>
        <p:spPr>
          <a:xfrm>
            <a:off x="-1859" y="2180"/>
            <a:ext cx="1742137" cy="1508926"/>
          </a:xfrm>
          <a:prstGeom prst="rect">
            <a:avLst/>
          </a:prstGeom>
        </p:spPr>
      </p:pic>
      <p:sp>
        <p:nvSpPr>
          <p:cNvPr id="13" name="CuadroTexto 12">
            <a:extLst>
              <a:ext uri="{FF2B5EF4-FFF2-40B4-BE49-F238E27FC236}">
                <a16:creationId xmlns:a16="http://schemas.microsoft.com/office/drawing/2014/main" id="{6B36561D-2D6B-4EDE-A51D-6DA6EACFF66A}"/>
              </a:ext>
            </a:extLst>
          </p:cNvPr>
          <p:cNvSpPr txBox="1"/>
          <p:nvPr/>
        </p:nvSpPr>
        <p:spPr>
          <a:xfrm>
            <a:off x="1618938" y="6368002"/>
            <a:ext cx="9218951" cy="369332"/>
          </a:xfrm>
          <a:prstGeom prst="rect">
            <a:avLst/>
          </a:prstGeom>
          <a:noFill/>
        </p:spPr>
        <p:txBody>
          <a:bodyPr wrap="square" rtlCol="0">
            <a:spAutoFit/>
          </a:bodyPr>
          <a:lstStyle/>
          <a:p>
            <a:pPr algn="ctr"/>
            <a:r>
              <a:rPr lang="es-CO" sz="1800" i="1" kern="100" dirty="0">
                <a:solidFill>
                  <a:srgbClr val="242424"/>
                </a:solidFill>
                <a:effectLst/>
                <a:latin typeface="Bell MT" panose="02020503060305020303" pitchFamily="18" charset="0"/>
                <a:ea typeface="Aptos" panose="020B0004020202020204" pitchFamily="34" charset="0"/>
                <a:cs typeface="Times New Roman" panose="02020603050405020304" pitchFamily="18" charset="0"/>
              </a:rPr>
              <a:t>“Del conocimiento a la capacidad estratégica”</a:t>
            </a:r>
            <a:endParaRPr lang="es-CO" sz="1800" i="1" kern="100" dirty="0">
              <a:effectLst/>
              <a:latin typeface="Bell MT" panose="02020503060305020303" pitchFamily="18" charset="0"/>
              <a:ea typeface="Aptos" panose="020B0004020202020204" pitchFamily="34" charset="0"/>
              <a:cs typeface="Times New Roman" panose="02020603050405020304" pitchFamily="18" charset="0"/>
            </a:endParaRPr>
          </a:p>
        </p:txBody>
      </p:sp>
      <p:sp>
        <p:nvSpPr>
          <p:cNvPr id="7" name="CEINNA_text_67">
            <a:extLst>
              <a:ext uri="{FF2B5EF4-FFF2-40B4-BE49-F238E27FC236}">
                <a16:creationId xmlns:a16="http://schemas.microsoft.com/office/drawing/2014/main" id="{3ED419C6-97BD-B945-F40F-77320DB36EF1}"/>
              </a:ext>
            </a:extLst>
          </p:cNvPr>
          <p:cNvSpPr txBox="1"/>
          <p:nvPr/>
        </p:nvSpPr>
        <p:spPr>
          <a:xfrm>
            <a:off x="1841500" y="368299"/>
            <a:ext cx="8966200" cy="876300"/>
          </a:xfrm>
          <a:prstGeom prst="rect">
            <a:avLst/>
          </a:prstGeom>
          <a:noFill/>
        </p:spPr>
        <p:txBody>
          <a:bodyPr vert="horz" wrap="square" lIns="0" tIns="0" rIns="0" bIns="0" rtlCol="0" anchor="t">
            <a:noAutofit/>
          </a:bodyPr>
          <a:lstStyle/>
          <a:p>
            <a:pPr algn="ctr"/>
            <a:r>
              <a:rPr lang="es-CO" sz="3900" b="1" dirty="0">
                <a:solidFill>
                  <a:srgbClr val="000F4D"/>
                </a:solidFill>
                <a:latin typeface="Bell MT" panose="02020503060305020303" pitchFamily="18" charset="0"/>
              </a:rPr>
              <a:t>Cuatro tareas simultáneas</a:t>
            </a:r>
          </a:p>
        </p:txBody>
      </p:sp>
      <p:pic>
        <p:nvPicPr>
          <p:cNvPr id="11" name="Picture 10" descr="Recurso con procedencia en visuales/registro_activos.csv">
            <a:extLst>
              <a:ext uri="{FF2B5EF4-FFF2-40B4-BE49-F238E27FC236}">
                <a16:creationId xmlns:a16="http://schemas.microsoft.com/office/drawing/2014/main" id="{763335FA-00DB-0E8D-EEA6-C33CD6F13F2B}"/>
              </a:ext>
            </a:extLst>
          </p:cNvPr>
          <p:cNvPicPr>
            <a:picLocks/>
          </p:cNvPicPr>
          <p:nvPr/>
        </p:nvPicPr>
        <p:blipFill>
          <a:blip r:embed="rId5">
            <a:extLst>
              <a:ext uri="{28A0092B-C50C-407E-A947-70E740481C1C}">
                <a14:useLocalDpi xmlns:a14="http://schemas.microsoft.com/office/drawing/2010/main" val="0"/>
              </a:ext>
            </a:extLst>
          </a:blip>
          <a:stretch>
            <a:fillRect/>
          </a:stretch>
        </p:blipFill>
        <p:spPr>
          <a:xfrm>
            <a:off x="1651000" y="2031408"/>
            <a:ext cx="5930900" cy="3265084"/>
          </a:xfrm>
          <a:prstGeom prst="rect">
            <a:avLst/>
          </a:prstGeom>
        </p:spPr>
      </p:pic>
      <p:sp>
        <p:nvSpPr>
          <p:cNvPr id="14" name="CEINNA_text_68">
            <a:extLst>
              <a:ext uri="{FF2B5EF4-FFF2-40B4-BE49-F238E27FC236}">
                <a16:creationId xmlns:a16="http://schemas.microsoft.com/office/drawing/2014/main" id="{5A4340A8-8C87-26E2-3E0A-0379ABE9EF7C}"/>
              </a:ext>
            </a:extLst>
          </p:cNvPr>
          <p:cNvSpPr txBox="1"/>
          <p:nvPr/>
        </p:nvSpPr>
        <p:spPr>
          <a:xfrm>
            <a:off x="7874000" y="1892299"/>
            <a:ext cx="3365500" cy="381000"/>
          </a:xfrm>
          <a:prstGeom prst="rect">
            <a:avLst/>
          </a:prstGeom>
          <a:noFill/>
        </p:spPr>
        <p:txBody>
          <a:bodyPr vert="horz" wrap="square" lIns="0" tIns="0" rIns="0" bIns="0" rtlCol="0" anchor="t">
            <a:noAutofit/>
          </a:bodyPr>
          <a:lstStyle/>
          <a:p>
            <a:r>
              <a:rPr lang="es-CO" sz="2500" b="1" dirty="0">
                <a:solidFill>
                  <a:srgbClr val="000F4D"/>
                </a:solidFill>
                <a:latin typeface="Bell MT" panose="02020503060305020303" pitchFamily="18" charset="0"/>
              </a:rPr>
              <a:t>SYSMON</a:t>
            </a:r>
          </a:p>
        </p:txBody>
      </p:sp>
      <p:sp>
        <p:nvSpPr>
          <p:cNvPr id="15" name="CEINNA_text_69">
            <a:extLst>
              <a:ext uri="{FF2B5EF4-FFF2-40B4-BE49-F238E27FC236}">
                <a16:creationId xmlns:a16="http://schemas.microsoft.com/office/drawing/2014/main" id="{0542A3A4-A278-0EBF-3E95-AFE69B1DA13E}"/>
              </a:ext>
            </a:extLst>
          </p:cNvPr>
          <p:cNvSpPr txBox="1"/>
          <p:nvPr/>
        </p:nvSpPr>
        <p:spPr>
          <a:xfrm>
            <a:off x="7874000" y="2285999"/>
            <a:ext cx="3365500" cy="508000"/>
          </a:xfrm>
          <a:prstGeom prst="rect">
            <a:avLst/>
          </a:prstGeom>
          <a:noFill/>
        </p:spPr>
        <p:txBody>
          <a:bodyPr vert="horz" wrap="square" lIns="0" tIns="0" rIns="0" bIns="0" rtlCol="0" anchor="t">
            <a:noAutofit/>
          </a:bodyPr>
          <a:lstStyle/>
          <a:p>
            <a:r>
              <a:rPr lang="es-CO" sz="2000" dirty="0">
                <a:solidFill>
                  <a:srgbClr val="242424"/>
                </a:solidFill>
                <a:latin typeface="Bell MT" panose="02020503060305020303" pitchFamily="18" charset="0"/>
              </a:rPr>
              <a:t>Supervisión de sistemas</a:t>
            </a:r>
          </a:p>
        </p:txBody>
      </p:sp>
      <p:sp>
        <p:nvSpPr>
          <p:cNvPr id="16" name="CEINNA_text_70">
            <a:extLst>
              <a:ext uri="{FF2B5EF4-FFF2-40B4-BE49-F238E27FC236}">
                <a16:creationId xmlns:a16="http://schemas.microsoft.com/office/drawing/2014/main" id="{E8A79CDD-3A8D-5859-F419-984382F463C5}"/>
              </a:ext>
            </a:extLst>
          </p:cNvPr>
          <p:cNvSpPr txBox="1"/>
          <p:nvPr/>
        </p:nvSpPr>
        <p:spPr>
          <a:xfrm>
            <a:off x="7874000" y="2832099"/>
            <a:ext cx="3365500" cy="381000"/>
          </a:xfrm>
          <a:prstGeom prst="rect">
            <a:avLst/>
          </a:prstGeom>
          <a:noFill/>
        </p:spPr>
        <p:txBody>
          <a:bodyPr vert="horz" wrap="square" lIns="0" tIns="0" rIns="0" bIns="0" rtlCol="0" anchor="t">
            <a:noAutofit/>
          </a:bodyPr>
          <a:lstStyle/>
          <a:p>
            <a:r>
              <a:rPr lang="es-CO" sz="2500" b="1" dirty="0">
                <a:solidFill>
                  <a:srgbClr val="000F4D"/>
                </a:solidFill>
                <a:latin typeface="Bell MT" panose="02020503060305020303" pitchFamily="18" charset="0"/>
              </a:rPr>
              <a:t>TRACK</a:t>
            </a:r>
          </a:p>
        </p:txBody>
      </p:sp>
      <p:sp>
        <p:nvSpPr>
          <p:cNvPr id="17" name="CEINNA_text_71">
            <a:extLst>
              <a:ext uri="{FF2B5EF4-FFF2-40B4-BE49-F238E27FC236}">
                <a16:creationId xmlns:a16="http://schemas.microsoft.com/office/drawing/2014/main" id="{C5C39AF4-57E0-54B0-C64F-69B530CED2A6}"/>
              </a:ext>
            </a:extLst>
          </p:cNvPr>
          <p:cNvSpPr txBox="1"/>
          <p:nvPr/>
        </p:nvSpPr>
        <p:spPr>
          <a:xfrm>
            <a:off x="7874000" y="3225799"/>
            <a:ext cx="3365500" cy="508000"/>
          </a:xfrm>
          <a:prstGeom prst="rect">
            <a:avLst/>
          </a:prstGeom>
          <a:noFill/>
        </p:spPr>
        <p:txBody>
          <a:bodyPr vert="horz" wrap="square" lIns="0" tIns="0" rIns="0" bIns="0" rtlCol="0" anchor="t">
            <a:noAutofit/>
          </a:bodyPr>
          <a:lstStyle/>
          <a:p>
            <a:r>
              <a:rPr lang="es-CO" sz="2000" dirty="0">
                <a:solidFill>
                  <a:srgbClr val="242424"/>
                </a:solidFill>
                <a:latin typeface="Bell MT" panose="02020503060305020303" pitchFamily="18" charset="0"/>
              </a:rPr>
              <a:t>Seguimiento compensatorio</a:t>
            </a:r>
          </a:p>
        </p:txBody>
      </p:sp>
      <p:sp>
        <p:nvSpPr>
          <p:cNvPr id="18" name="CEINNA_text_72">
            <a:extLst>
              <a:ext uri="{FF2B5EF4-FFF2-40B4-BE49-F238E27FC236}">
                <a16:creationId xmlns:a16="http://schemas.microsoft.com/office/drawing/2014/main" id="{EB1453FD-5085-DB12-419D-6CAE5B45879C}"/>
              </a:ext>
            </a:extLst>
          </p:cNvPr>
          <p:cNvSpPr txBox="1"/>
          <p:nvPr/>
        </p:nvSpPr>
        <p:spPr>
          <a:xfrm>
            <a:off x="7874000" y="3771899"/>
            <a:ext cx="3365500" cy="381000"/>
          </a:xfrm>
          <a:prstGeom prst="rect">
            <a:avLst/>
          </a:prstGeom>
          <a:noFill/>
        </p:spPr>
        <p:txBody>
          <a:bodyPr vert="horz" wrap="square" lIns="0" tIns="0" rIns="0" bIns="0" rtlCol="0" anchor="t">
            <a:noAutofit/>
          </a:bodyPr>
          <a:lstStyle/>
          <a:p>
            <a:r>
              <a:rPr lang="es-CO" sz="2500" b="1" dirty="0">
                <a:solidFill>
                  <a:srgbClr val="000F4D"/>
                </a:solidFill>
                <a:latin typeface="Bell MT" panose="02020503060305020303" pitchFamily="18" charset="0"/>
              </a:rPr>
              <a:t>COMM</a:t>
            </a:r>
          </a:p>
        </p:txBody>
      </p:sp>
      <p:sp>
        <p:nvSpPr>
          <p:cNvPr id="19" name="CEINNA_text_73">
            <a:extLst>
              <a:ext uri="{FF2B5EF4-FFF2-40B4-BE49-F238E27FC236}">
                <a16:creationId xmlns:a16="http://schemas.microsoft.com/office/drawing/2014/main" id="{CA80E5BF-67AE-9F51-8C3C-132C0D8CB15F}"/>
              </a:ext>
            </a:extLst>
          </p:cNvPr>
          <p:cNvSpPr txBox="1"/>
          <p:nvPr/>
        </p:nvSpPr>
        <p:spPr>
          <a:xfrm>
            <a:off x="7874000" y="4165599"/>
            <a:ext cx="3365500" cy="508000"/>
          </a:xfrm>
          <a:prstGeom prst="rect">
            <a:avLst/>
          </a:prstGeom>
          <a:noFill/>
        </p:spPr>
        <p:txBody>
          <a:bodyPr vert="horz" wrap="square" lIns="0" tIns="0" rIns="0" bIns="0" rtlCol="0" anchor="t">
            <a:noAutofit/>
          </a:bodyPr>
          <a:lstStyle/>
          <a:p>
            <a:r>
              <a:rPr lang="es-CO" sz="2000" dirty="0">
                <a:solidFill>
                  <a:srgbClr val="242424"/>
                </a:solidFill>
                <a:latin typeface="Bell MT" panose="02020503060305020303" pitchFamily="18" charset="0"/>
              </a:rPr>
              <a:t>Comunicaciones</a:t>
            </a:r>
          </a:p>
        </p:txBody>
      </p:sp>
      <p:sp>
        <p:nvSpPr>
          <p:cNvPr id="20" name="CEINNA_text_74">
            <a:extLst>
              <a:ext uri="{FF2B5EF4-FFF2-40B4-BE49-F238E27FC236}">
                <a16:creationId xmlns:a16="http://schemas.microsoft.com/office/drawing/2014/main" id="{7A54E266-7D13-6AA9-C246-1C7CD52AB8C6}"/>
              </a:ext>
            </a:extLst>
          </p:cNvPr>
          <p:cNvSpPr txBox="1"/>
          <p:nvPr/>
        </p:nvSpPr>
        <p:spPr>
          <a:xfrm>
            <a:off x="7874000" y="4711699"/>
            <a:ext cx="3365500" cy="381000"/>
          </a:xfrm>
          <a:prstGeom prst="rect">
            <a:avLst/>
          </a:prstGeom>
          <a:noFill/>
        </p:spPr>
        <p:txBody>
          <a:bodyPr vert="horz" wrap="square" lIns="0" tIns="0" rIns="0" bIns="0" rtlCol="0" anchor="t">
            <a:noAutofit/>
          </a:bodyPr>
          <a:lstStyle/>
          <a:p>
            <a:r>
              <a:rPr lang="es-CO" sz="2500" b="1" dirty="0">
                <a:solidFill>
                  <a:srgbClr val="000F4D"/>
                </a:solidFill>
                <a:latin typeface="Bell MT" panose="02020503060305020303" pitchFamily="18" charset="0"/>
              </a:rPr>
              <a:t>RESMAN</a:t>
            </a:r>
          </a:p>
        </p:txBody>
      </p:sp>
      <p:sp>
        <p:nvSpPr>
          <p:cNvPr id="21" name="CEINNA_text_75">
            <a:extLst>
              <a:ext uri="{FF2B5EF4-FFF2-40B4-BE49-F238E27FC236}">
                <a16:creationId xmlns:a16="http://schemas.microsoft.com/office/drawing/2014/main" id="{6F8CFE51-7678-F6BC-7F09-FB7B847C0684}"/>
              </a:ext>
            </a:extLst>
          </p:cNvPr>
          <p:cNvSpPr txBox="1"/>
          <p:nvPr/>
        </p:nvSpPr>
        <p:spPr>
          <a:xfrm>
            <a:off x="7874000" y="5105399"/>
            <a:ext cx="3365500" cy="508000"/>
          </a:xfrm>
          <a:prstGeom prst="rect">
            <a:avLst/>
          </a:prstGeom>
          <a:noFill/>
        </p:spPr>
        <p:txBody>
          <a:bodyPr vert="horz" wrap="square" lIns="0" tIns="0" rIns="0" bIns="0" rtlCol="0" anchor="t">
            <a:noAutofit/>
          </a:bodyPr>
          <a:lstStyle/>
          <a:p>
            <a:r>
              <a:rPr lang="es-CO" sz="2000" dirty="0">
                <a:solidFill>
                  <a:srgbClr val="242424"/>
                </a:solidFill>
                <a:latin typeface="Bell MT" panose="02020503060305020303" pitchFamily="18" charset="0"/>
              </a:rPr>
              <a:t>Gestión de recursos</a:t>
            </a:r>
          </a:p>
        </p:txBody>
      </p:sp>
      <p:sp>
        <p:nvSpPr>
          <p:cNvPr id="22" name="CEINNA_text_76">
            <a:extLst>
              <a:ext uri="{FF2B5EF4-FFF2-40B4-BE49-F238E27FC236}">
                <a16:creationId xmlns:a16="http://schemas.microsoft.com/office/drawing/2014/main" id="{49F5EBD5-8DC7-2332-9B2E-20975280D9E7}"/>
              </a:ext>
            </a:extLst>
          </p:cNvPr>
          <p:cNvSpPr txBox="1"/>
          <p:nvPr/>
        </p:nvSpPr>
        <p:spPr>
          <a:xfrm>
            <a:off x="1663700" y="5587999"/>
            <a:ext cx="6045200" cy="368300"/>
          </a:xfrm>
          <a:prstGeom prst="rect">
            <a:avLst/>
          </a:prstGeom>
          <a:noFill/>
        </p:spPr>
        <p:txBody>
          <a:bodyPr vert="horz" wrap="square" lIns="0" tIns="0" rIns="0" bIns="0" rtlCol="0" anchor="t">
            <a:noAutofit/>
          </a:bodyPr>
          <a:lstStyle/>
          <a:p>
            <a:r>
              <a:rPr lang="es-CO" sz="1200" dirty="0">
                <a:solidFill>
                  <a:srgbClr val="4F5A6C"/>
                </a:solidFill>
                <a:latin typeface="Bell MT" panose="02020503060305020303" pitchFamily="18" charset="0"/>
              </a:rPr>
              <a:t>Captura documental de </a:t>
            </a:r>
            <a:r>
              <a:rPr lang="es-CO" sz="1200" dirty="0" err="1">
                <a:solidFill>
                  <a:srgbClr val="4F5A6C"/>
                </a:solidFill>
                <a:latin typeface="Bell MT" panose="02020503060305020303" pitchFamily="18" charset="0"/>
              </a:rPr>
              <a:t>OpenMATB</a:t>
            </a:r>
            <a:r>
              <a:rPr lang="es-CO" sz="1200" dirty="0">
                <a:solidFill>
                  <a:srgbClr val="4F5A6C"/>
                </a:solidFill>
                <a:latin typeface="Bell MT" panose="02020503060305020303" pitchFamily="18" charset="0"/>
              </a:rPr>
              <a:t> (interfaz original en francés).</a:t>
            </a:r>
          </a:p>
        </p:txBody>
      </p:sp>
      <p:sp>
        <p:nvSpPr>
          <p:cNvPr id="23" name="CEINNA_text_77">
            <a:extLst>
              <a:ext uri="{FF2B5EF4-FFF2-40B4-BE49-F238E27FC236}">
                <a16:creationId xmlns:a16="http://schemas.microsoft.com/office/drawing/2014/main" id="{4D26D994-7C6F-8330-041C-1197C8C90249}"/>
              </a:ext>
            </a:extLst>
          </p:cNvPr>
          <p:cNvSpPr txBox="1"/>
          <p:nvPr/>
        </p:nvSpPr>
        <p:spPr>
          <a:xfrm>
            <a:off x="1625600" y="6019800"/>
            <a:ext cx="9334500" cy="266700"/>
          </a:xfrm>
          <a:prstGeom prst="rect">
            <a:avLst/>
          </a:prstGeom>
          <a:noFill/>
        </p:spPr>
        <p:txBody>
          <a:bodyPr vert="horz" wrap="square" lIns="0" tIns="0" rIns="0" bIns="0" rtlCol="0" anchor="t">
            <a:noAutofit/>
          </a:bodyPr>
          <a:lstStyle/>
          <a:p>
            <a:r>
              <a:rPr lang="es-CO" sz="1200" dirty="0">
                <a:solidFill>
                  <a:srgbClr val="4F5A6C"/>
                </a:solidFill>
                <a:latin typeface="Bell MT" panose="02020503060305020303" pitchFamily="18" charset="0"/>
              </a:rPr>
              <a:t>[1] Cegarra et al., 2020; </a:t>
            </a:r>
            <a:r>
              <a:rPr lang="es-CO" sz="1200" dirty="0" err="1">
                <a:solidFill>
                  <a:srgbClr val="4F5A6C"/>
                </a:solidFill>
                <a:latin typeface="Bell MT" panose="02020503060305020303" pitchFamily="18" charset="0"/>
              </a:rPr>
              <a:t>plugins</a:t>
            </a:r>
            <a:r>
              <a:rPr lang="es-CO" sz="1200" dirty="0">
                <a:solidFill>
                  <a:srgbClr val="4F5A6C"/>
                </a:solidFill>
                <a:latin typeface="Bell MT" panose="02020503060305020303" pitchFamily="18" charset="0"/>
              </a:rPr>
              <a:t> del repositorio MATB, revisión fd5e1318.</a:t>
            </a:r>
          </a:p>
        </p:txBody>
      </p:sp>
      <p:sp>
        <p:nvSpPr>
          <p:cNvPr id="24" name="CEINNA_text_78">
            <a:extLst>
              <a:ext uri="{FF2B5EF4-FFF2-40B4-BE49-F238E27FC236}">
                <a16:creationId xmlns:a16="http://schemas.microsoft.com/office/drawing/2014/main" id="{6218DA2C-2CD9-319E-1971-5D14C6569ED7}"/>
              </a:ext>
            </a:extLst>
          </p:cNvPr>
          <p:cNvSpPr txBox="1"/>
          <p:nvPr/>
        </p:nvSpPr>
        <p:spPr>
          <a:xfrm>
            <a:off x="11036300" y="6032500"/>
            <a:ext cx="292100" cy="228600"/>
          </a:xfrm>
          <a:prstGeom prst="rect">
            <a:avLst/>
          </a:prstGeom>
          <a:noFill/>
        </p:spPr>
        <p:txBody>
          <a:bodyPr vert="horz" wrap="square" lIns="0" tIns="0" rIns="0" bIns="0" rtlCol="0" anchor="t">
            <a:noAutofit/>
          </a:bodyPr>
          <a:lstStyle/>
          <a:p>
            <a:pPr algn="r"/>
            <a:r>
              <a:rPr lang="es-CO" sz="1200" dirty="0">
                <a:solidFill>
                  <a:srgbClr val="4F5A6C"/>
                </a:solidFill>
                <a:latin typeface="Bell MT" panose="02020503060305020303" pitchFamily="18" charset="0"/>
              </a:rPr>
              <a:t>7</a:t>
            </a:r>
          </a:p>
        </p:txBody>
      </p:sp>
    </p:spTree>
    <p:custDataLst>
      <p:tags r:id="rId1"/>
    </p:custDataLst>
    <p:extLst>
      <p:ext uri="{BB962C8B-B14F-4D97-AF65-F5344CB8AC3E}">
        <p14:creationId xmlns:p14="http://schemas.microsoft.com/office/powerpoint/2010/main" val="34532257"/>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F0C0B2F-ABCF-A16D-9B99-96619EC7347F}"/>
            </a:ext>
          </a:extLst>
        </p:cNvPr>
        <p:cNvGrpSpPr/>
        <p:nvPr/>
      </p:nvGrpSpPr>
      <p:grpSpPr>
        <a:xfrm>
          <a:off x="0" y="0"/>
          <a:ext cx="0" cy="0"/>
          <a:chOff x="0" y="0"/>
          <a:chExt cx="0" cy="0"/>
        </a:xfrm>
      </p:grpSpPr>
      <p:grpSp>
        <p:nvGrpSpPr>
          <p:cNvPr id="2" name="Grupo 1">
            <a:extLst>
              <a:ext uri="{FF2B5EF4-FFF2-40B4-BE49-F238E27FC236}">
                <a16:creationId xmlns:a16="http://schemas.microsoft.com/office/drawing/2014/main" id="{B5C8DCE7-7F59-F685-9165-4D848885236E}"/>
              </a:ext>
            </a:extLst>
          </p:cNvPr>
          <p:cNvGrpSpPr/>
          <p:nvPr/>
        </p:nvGrpSpPr>
        <p:grpSpPr>
          <a:xfrm>
            <a:off x="11555690" y="0"/>
            <a:ext cx="636310" cy="6876601"/>
            <a:chOff x="11555690" y="0"/>
            <a:chExt cx="636310" cy="6876601"/>
          </a:xfrm>
        </p:grpSpPr>
        <p:sp>
          <p:nvSpPr>
            <p:cNvPr id="3" name="Rectángulo 2">
              <a:extLst>
                <a:ext uri="{FF2B5EF4-FFF2-40B4-BE49-F238E27FC236}">
                  <a16:creationId xmlns:a16="http://schemas.microsoft.com/office/drawing/2014/main" id="{A8E3883C-A3FB-B076-D9C5-4593E728242E}"/>
                </a:ext>
              </a:extLst>
            </p:cNvPr>
            <p:cNvSpPr/>
            <p:nvPr/>
          </p:nvSpPr>
          <p:spPr>
            <a:xfrm>
              <a:off x="11557416" y="3496321"/>
              <a:ext cx="634584" cy="1813806"/>
            </a:xfrm>
            <a:prstGeom prst="rect">
              <a:avLst/>
            </a:prstGeom>
            <a:solidFill>
              <a:srgbClr val="000F4D"/>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CO"/>
            </a:p>
          </p:txBody>
        </p:sp>
        <p:sp>
          <p:nvSpPr>
            <p:cNvPr id="4" name="Rectángulo 3">
              <a:extLst>
                <a:ext uri="{FF2B5EF4-FFF2-40B4-BE49-F238E27FC236}">
                  <a16:creationId xmlns:a16="http://schemas.microsoft.com/office/drawing/2014/main" id="{7512944A-8633-A84A-8248-74134005AF6D}"/>
                </a:ext>
              </a:extLst>
            </p:cNvPr>
            <p:cNvSpPr/>
            <p:nvPr/>
          </p:nvSpPr>
          <p:spPr>
            <a:xfrm>
              <a:off x="11557416" y="5227683"/>
              <a:ext cx="634584" cy="1648918"/>
            </a:xfrm>
            <a:prstGeom prst="rect">
              <a:avLst/>
            </a:prstGeom>
            <a:solidFill>
              <a:srgbClr val="26B53B"/>
            </a:solidFill>
            <a:ln>
              <a:solidFill>
                <a:srgbClr val="23B53B"/>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CO"/>
            </a:p>
          </p:txBody>
        </p:sp>
        <p:sp>
          <p:nvSpPr>
            <p:cNvPr id="5" name="Rectángulo 4">
              <a:extLst>
                <a:ext uri="{FF2B5EF4-FFF2-40B4-BE49-F238E27FC236}">
                  <a16:creationId xmlns:a16="http://schemas.microsoft.com/office/drawing/2014/main" id="{17EF142A-3A8B-CD16-CBC7-83A3158E79B9}"/>
                </a:ext>
              </a:extLst>
            </p:cNvPr>
            <p:cNvSpPr/>
            <p:nvPr/>
          </p:nvSpPr>
          <p:spPr>
            <a:xfrm>
              <a:off x="11555690" y="0"/>
              <a:ext cx="634584" cy="1648918"/>
            </a:xfrm>
            <a:prstGeom prst="rect">
              <a:avLst/>
            </a:prstGeom>
            <a:solidFill>
              <a:srgbClr val="D9000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CO"/>
            </a:p>
          </p:txBody>
        </p:sp>
        <p:sp>
          <p:nvSpPr>
            <p:cNvPr id="6" name="Rectángulo 5">
              <a:extLst>
                <a:ext uri="{FF2B5EF4-FFF2-40B4-BE49-F238E27FC236}">
                  <a16:creationId xmlns:a16="http://schemas.microsoft.com/office/drawing/2014/main" id="{79078B8D-A80A-1F4B-6797-EB5D560913BE}"/>
                </a:ext>
              </a:extLst>
            </p:cNvPr>
            <p:cNvSpPr/>
            <p:nvPr/>
          </p:nvSpPr>
          <p:spPr>
            <a:xfrm>
              <a:off x="11557416" y="1656417"/>
              <a:ext cx="634584" cy="1813806"/>
            </a:xfrm>
            <a:prstGeom prst="rect">
              <a:avLst/>
            </a:prstGeom>
          </p:spPr>
          <p:style>
            <a:lnRef idx="2">
              <a:schemeClr val="dk1">
                <a:shade val="15000"/>
              </a:schemeClr>
            </a:lnRef>
            <a:fillRef idx="1">
              <a:schemeClr val="dk1"/>
            </a:fillRef>
            <a:effectRef idx="0">
              <a:schemeClr val="dk1"/>
            </a:effectRef>
            <a:fontRef idx="minor">
              <a:schemeClr val="lt1"/>
            </a:fontRef>
          </p:style>
          <p:txBody>
            <a:bodyPr rtlCol="0" anchor="ctr"/>
            <a:lstStyle/>
            <a:p>
              <a:pPr algn="ctr"/>
              <a:endParaRPr lang="es-CO"/>
            </a:p>
          </p:txBody>
        </p:sp>
      </p:grpSp>
      <p:pic>
        <p:nvPicPr>
          <p:cNvPr id="12" name="Imagen 11" descr="Diagrama&#10;&#10;El contenido generado por inteligencia artificial puede ser incorrecto.">
            <a:extLst>
              <a:ext uri="{FF2B5EF4-FFF2-40B4-BE49-F238E27FC236}">
                <a16:creationId xmlns:a16="http://schemas.microsoft.com/office/drawing/2014/main" id="{2AEAE2C5-BA4A-C173-EB20-5D20DFF34BC0}"/>
              </a:ext>
            </a:extLst>
          </p:cNvPr>
          <p:cNvPicPr>
            <a:picLocks noChangeAspect="1"/>
          </p:cNvPicPr>
          <p:nvPr/>
        </p:nvPicPr>
        <p:blipFill>
          <a:blip r:embed="rId4"/>
          <a:srcRect l="6260" t="10344" r="5922" b="28494"/>
          <a:stretch/>
        </p:blipFill>
        <p:spPr>
          <a:xfrm>
            <a:off x="-1859" y="2180"/>
            <a:ext cx="1742137" cy="1508926"/>
          </a:xfrm>
          <a:prstGeom prst="rect">
            <a:avLst/>
          </a:prstGeom>
        </p:spPr>
      </p:pic>
      <p:sp>
        <p:nvSpPr>
          <p:cNvPr id="13" name="CuadroTexto 12">
            <a:extLst>
              <a:ext uri="{FF2B5EF4-FFF2-40B4-BE49-F238E27FC236}">
                <a16:creationId xmlns:a16="http://schemas.microsoft.com/office/drawing/2014/main" id="{6B36561D-2D6B-4EDE-A51D-6DA6EACFF66A}"/>
              </a:ext>
            </a:extLst>
          </p:cNvPr>
          <p:cNvSpPr txBox="1"/>
          <p:nvPr/>
        </p:nvSpPr>
        <p:spPr>
          <a:xfrm>
            <a:off x="1618938" y="6368002"/>
            <a:ext cx="9218951" cy="369332"/>
          </a:xfrm>
          <a:prstGeom prst="rect">
            <a:avLst/>
          </a:prstGeom>
          <a:noFill/>
        </p:spPr>
        <p:txBody>
          <a:bodyPr wrap="square" rtlCol="0">
            <a:spAutoFit/>
          </a:bodyPr>
          <a:lstStyle/>
          <a:p>
            <a:pPr algn="ctr"/>
            <a:r>
              <a:rPr lang="es-CO" sz="1800" i="1" kern="100" dirty="0">
                <a:solidFill>
                  <a:srgbClr val="242424"/>
                </a:solidFill>
                <a:effectLst/>
                <a:latin typeface="Bell MT" panose="02020503060305020303" pitchFamily="18" charset="0"/>
                <a:ea typeface="Aptos" panose="020B0004020202020204" pitchFamily="34" charset="0"/>
                <a:cs typeface="Times New Roman" panose="02020603050405020304" pitchFamily="18" charset="0"/>
              </a:rPr>
              <a:t>“Del conocimiento a la capacidad estratégica”</a:t>
            </a:r>
            <a:endParaRPr lang="es-CO" sz="1800" i="1" kern="100" dirty="0">
              <a:effectLst/>
              <a:latin typeface="Bell MT" panose="02020503060305020303" pitchFamily="18" charset="0"/>
              <a:ea typeface="Aptos" panose="020B0004020202020204" pitchFamily="34" charset="0"/>
              <a:cs typeface="Times New Roman" panose="02020603050405020304" pitchFamily="18" charset="0"/>
            </a:endParaRPr>
          </a:p>
        </p:txBody>
      </p:sp>
      <p:sp>
        <p:nvSpPr>
          <p:cNvPr id="14" name="CEINNA_visual_text"/>
          <p:cNvSpPr txBox="1"/>
          <p:nvPr/>
        </p:nvSpPr>
        <p:spPr>
          <a:xfrm>
            <a:off x="1841500" y="368300"/>
            <a:ext cx="8966200" cy="876300"/>
          </a:xfrm>
          <a:prstGeom prst="rect">
            <a:avLst/>
          </a:prstGeom>
          <a:noFill/>
        </p:spPr>
        <p:txBody>
          <a:bodyPr wrap="square" lIns="0" rIns="0" tIns="0" bIns="0" anchor="t">
            <a:spAutoFit/>
          </a:bodyPr>
          <a:lstStyle/>
          <a:p>
            <a:pPr algn="ctr">
              <a:spcAft>
                <a:spcPts val="0"/>
              </a:spcAft>
            </a:pPr>
            <a:r>
              <a:rPr sz="3900" b="1">
                <a:solidFill>
                  <a:srgbClr val="000F4D"/>
                </a:solidFill>
                <a:latin typeface="Bell MT"/>
              </a:rPr>
              <a:t>Estructura de una visita</a:t>
            </a:r>
          </a:p>
        </p:txBody>
      </p:sp>
      <p:sp>
        <p:nvSpPr>
          <p:cNvPr id="15" name="CEINNA_visual_text"/>
          <p:cNvSpPr txBox="1"/>
          <p:nvPr/>
        </p:nvSpPr>
        <p:spPr>
          <a:xfrm>
            <a:off x="1676400" y="1816100"/>
            <a:ext cx="4279900" cy="533400"/>
          </a:xfrm>
          <a:prstGeom prst="rect">
            <a:avLst/>
          </a:prstGeom>
          <a:noFill/>
        </p:spPr>
        <p:txBody>
          <a:bodyPr wrap="square" lIns="0" rIns="0" tIns="0" bIns="0" anchor="t">
            <a:spAutoFit/>
          </a:bodyPr>
          <a:lstStyle/>
          <a:p>
            <a:pPr algn="l">
              <a:spcAft>
                <a:spcPts val="0"/>
              </a:spcAft>
            </a:pPr>
            <a:r>
              <a:rPr sz="2900" b="1">
                <a:solidFill>
                  <a:srgbClr val="000F4D"/>
                </a:solidFill>
                <a:latin typeface="Bell MT"/>
              </a:rPr>
              <a:t>90 min de reserva</a:t>
            </a:r>
          </a:p>
        </p:txBody>
      </p:sp>
      <p:sp>
        <p:nvSpPr>
          <p:cNvPr id="16" name="CEINNA_visual_text"/>
          <p:cNvSpPr txBox="1"/>
          <p:nvPr/>
        </p:nvSpPr>
        <p:spPr>
          <a:xfrm>
            <a:off x="1676400" y="2489200"/>
            <a:ext cx="4279900" cy="495300"/>
          </a:xfrm>
          <a:prstGeom prst="rect">
            <a:avLst/>
          </a:prstGeom>
          <a:noFill/>
        </p:spPr>
        <p:txBody>
          <a:bodyPr wrap="square" lIns="0" rIns="0" tIns="0" bIns="0" anchor="t">
            <a:spAutoFit/>
          </a:bodyPr>
          <a:lstStyle/>
          <a:p>
            <a:pPr algn="l">
              <a:spcAft>
                <a:spcPts val="0"/>
              </a:spcAft>
            </a:pPr>
            <a:r>
              <a:rPr sz="2500" b="1">
                <a:solidFill>
                  <a:srgbClr val="000F4D"/>
                </a:solidFill>
                <a:latin typeface="Bell MT"/>
              </a:rPr>
              <a:t>3 × 900 s de escenario</a:t>
            </a:r>
          </a:p>
        </p:txBody>
      </p:sp>
      <p:sp>
        <p:nvSpPr>
          <p:cNvPr id="17" name="CEINNA_visual_text"/>
          <p:cNvSpPr txBox="1"/>
          <p:nvPr/>
        </p:nvSpPr>
        <p:spPr>
          <a:xfrm>
            <a:off x="1676400" y="3213100"/>
            <a:ext cx="4279900" cy="457200"/>
          </a:xfrm>
          <a:prstGeom prst="rect">
            <a:avLst/>
          </a:prstGeom>
          <a:noFill/>
        </p:spPr>
        <p:txBody>
          <a:bodyPr wrap="square" lIns="0" rIns="0" tIns="0" bIns="0" anchor="t">
            <a:spAutoFit/>
          </a:bodyPr>
          <a:lstStyle/>
          <a:p>
            <a:pPr algn="l">
              <a:spcAft>
                <a:spcPts val="0"/>
              </a:spcAft>
            </a:pPr>
            <a:r>
              <a:rPr sz="2400" b="1">
                <a:solidFill>
                  <a:srgbClr val="000F4D"/>
                </a:solidFill>
                <a:latin typeface="Bell MT"/>
              </a:rPr>
              <a:t>LOW · MEDIUM · HIGH</a:t>
            </a:r>
          </a:p>
        </p:txBody>
      </p:sp>
      <p:sp>
        <p:nvSpPr>
          <p:cNvPr id="18" name="CEINNA_visual_text"/>
          <p:cNvSpPr txBox="1"/>
          <p:nvPr/>
        </p:nvSpPr>
        <p:spPr>
          <a:xfrm>
            <a:off x="1676400" y="3797300"/>
            <a:ext cx="4279900" cy="393700"/>
          </a:xfrm>
          <a:prstGeom prst="rect">
            <a:avLst/>
          </a:prstGeom>
          <a:noFill/>
        </p:spPr>
        <p:txBody>
          <a:bodyPr wrap="square" lIns="0" rIns="0" tIns="0" bIns="0" anchor="t">
            <a:spAutoFit/>
          </a:bodyPr>
          <a:lstStyle/>
          <a:p>
            <a:pPr algn="l">
              <a:spcAft>
                <a:spcPts val="0"/>
              </a:spcAft>
            </a:pPr>
            <a:r>
              <a:rPr sz="2100" b="0">
                <a:solidFill>
                  <a:srgbClr val="242424"/>
                </a:solidFill>
                <a:latin typeface="Bell MT"/>
              </a:rPr>
              <a:t>Orden contrabalanceado</a:t>
            </a:r>
          </a:p>
        </p:txBody>
      </p:sp>
      <p:sp>
        <p:nvSpPr>
          <p:cNvPr id="19" name="CEINNA_visual_text"/>
          <p:cNvSpPr txBox="1"/>
          <p:nvPr/>
        </p:nvSpPr>
        <p:spPr>
          <a:xfrm>
            <a:off x="1676400" y="4533900"/>
            <a:ext cx="4279900" cy="406400"/>
          </a:xfrm>
          <a:prstGeom prst="rect">
            <a:avLst/>
          </a:prstGeom>
          <a:noFill/>
        </p:spPr>
        <p:txBody>
          <a:bodyPr wrap="square" lIns="0" rIns="0" tIns="0" bIns="0" anchor="t">
            <a:spAutoFit/>
          </a:bodyPr>
          <a:lstStyle/>
          <a:p>
            <a:pPr algn="l">
              <a:spcAft>
                <a:spcPts val="0"/>
              </a:spcAft>
            </a:pPr>
            <a:r>
              <a:rPr sz="2200" b="1">
                <a:solidFill>
                  <a:srgbClr val="000F4D"/>
                </a:solidFill>
                <a:latin typeface="Bell MT"/>
              </a:rPr>
              <a:t>KSS → ISA → NASA-TLX</a:t>
            </a:r>
          </a:p>
        </p:txBody>
      </p:sp>
      <p:sp>
        <p:nvSpPr>
          <p:cNvPr id="20" name="CEINNA_visual_text"/>
          <p:cNvSpPr txBox="1"/>
          <p:nvPr/>
        </p:nvSpPr>
        <p:spPr>
          <a:xfrm>
            <a:off x="1676400" y="5054600"/>
            <a:ext cx="4279900" cy="609600"/>
          </a:xfrm>
          <a:prstGeom prst="rect">
            <a:avLst/>
          </a:prstGeom>
          <a:noFill/>
        </p:spPr>
        <p:txBody>
          <a:bodyPr wrap="square" lIns="0" rIns="0" tIns="0" bIns="0" anchor="t">
            <a:spAutoFit/>
          </a:bodyPr>
          <a:lstStyle/>
          <a:p>
            <a:pPr algn="l">
              <a:spcAft>
                <a:spcPts val="0"/>
              </a:spcAft>
            </a:pPr>
            <a:r>
              <a:rPr sz="2000" b="0">
                <a:solidFill>
                  <a:srgbClr val="242424"/>
                </a:solidFill>
                <a:latin typeface="Bell MT"/>
              </a:rPr>
              <a:t>Antes · durante · después</a:t>
            </a:r>
          </a:p>
        </p:txBody>
      </p:sp>
      <p:pic>
        <p:nvPicPr>
          <p:cNvPr id="21" name="CEINNA_conceptual_image" descr="Ilustración conceptual generada con IA; procedencia en CEINNA/visuales/PROMPTS_IMAGEGEN.md."/>
          <p:cNvPicPr>
            <a:picLocks noChangeAspect="1"/>
          </p:cNvPicPr>
          <p:nvPr/>
        </p:nvPicPr>
        <p:blipFill>
          <a:blip r:embed="rId5"/>
          <a:stretch>
            <a:fillRect/>
          </a:stretch>
        </p:blipFill>
        <p:spPr>
          <a:xfrm>
            <a:off x="6210300" y="1972733"/>
            <a:ext cx="4978400" cy="3318933"/>
          </a:xfrm>
          <a:prstGeom prst="rect">
            <a:avLst/>
          </a:prstGeom>
        </p:spPr>
      </p:pic>
      <p:sp>
        <p:nvSpPr>
          <p:cNvPr id="22" name="CEINNA_visual_text"/>
          <p:cNvSpPr txBox="1"/>
          <p:nvPr/>
        </p:nvSpPr>
        <p:spPr>
          <a:xfrm>
            <a:off x="6223000" y="5448300"/>
            <a:ext cx="4965700" cy="266700"/>
          </a:xfrm>
          <a:prstGeom prst="rect">
            <a:avLst/>
          </a:prstGeom>
          <a:noFill/>
        </p:spPr>
        <p:txBody>
          <a:bodyPr wrap="square" lIns="0" rIns="0" tIns="0" bIns="0" anchor="t">
            <a:spAutoFit/>
          </a:bodyPr>
          <a:lstStyle/>
          <a:p>
            <a:pPr algn="l">
              <a:spcAft>
                <a:spcPts val="0"/>
              </a:spcAft>
            </a:pPr>
            <a:r>
              <a:rPr sz="1150" b="0">
                <a:solidFill>
                  <a:srgbClr val="4F5A6C"/>
                </a:solidFill>
                <a:latin typeface="Bell MT"/>
              </a:rPr>
              <a:t>Ilustración conceptual generada con IA.</a:t>
            </a:r>
          </a:p>
        </p:txBody>
      </p:sp>
      <p:sp>
        <p:nvSpPr>
          <p:cNvPr id="23" name="CEINNA_visual_text"/>
          <p:cNvSpPr txBox="1"/>
          <p:nvPr/>
        </p:nvSpPr>
        <p:spPr>
          <a:xfrm>
            <a:off x="1625600" y="6019800"/>
            <a:ext cx="9334500" cy="266700"/>
          </a:xfrm>
          <a:prstGeom prst="rect">
            <a:avLst/>
          </a:prstGeom>
          <a:noFill/>
        </p:spPr>
        <p:txBody>
          <a:bodyPr wrap="square" lIns="0" rIns="0" tIns="0" bIns="0" anchor="t">
            <a:spAutoFit/>
          </a:bodyPr>
          <a:lstStyle/>
          <a:p>
            <a:pPr algn="l">
              <a:spcAft>
                <a:spcPts val="0"/>
              </a:spcAft>
            </a:pPr>
            <a:r>
              <a:rPr sz="1200" b="0">
                <a:solidFill>
                  <a:srgbClr val="4F5A6C"/>
                </a:solidFill>
                <a:latin typeface="Bell MT"/>
              </a:rPr>
              <a:t>Manual §4.7; [6] Laverde-López et al., 2022. Preparación, reposo y pausas en la reserva.</a:t>
            </a:r>
          </a:p>
        </p:txBody>
      </p:sp>
      <p:sp>
        <p:nvSpPr>
          <p:cNvPr id="24" name="CEINNA_visual_text"/>
          <p:cNvSpPr txBox="1"/>
          <p:nvPr/>
        </p:nvSpPr>
        <p:spPr>
          <a:xfrm>
            <a:off x="11036300" y="6032500"/>
            <a:ext cx="292100" cy="228600"/>
          </a:xfrm>
          <a:prstGeom prst="rect">
            <a:avLst/>
          </a:prstGeom>
          <a:noFill/>
        </p:spPr>
        <p:txBody>
          <a:bodyPr wrap="square" lIns="0" rIns="0" tIns="0" bIns="0" anchor="t">
            <a:spAutoFit/>
          </a:bodyPr>
          <a:lstStyle/>
          <a:p>
            <a:pPr algn="l">
              <a:spcAft>
                <a:spcPts val="0"/>
              </a:spcAft>
            </a:pPr>
            <a:r>
              <a:rPr sz="1200" b="0">
                <a:solidFill>
                  <a:srgbClr val="4F5A6C"/>
                </a:solidFill>
                <a:latin typeface="Bell MT"/>
              </a:rPr>
              <a:t>8</a:t>
            </a:r>
          </a:p>
        </p:txBody>
      </p:sp>
    </p:spTree>
    <p:custDataLst>
      <p:tags r:id="rId1"/>
    </p:custDataLst>
    <p:extLst>
      <p:ext uri="{BB962C8B-B14F-4D97-AF65-F5344CB8AC3E}">
        <p14:creationId xmlns:p14="http://schemas.microsoft.com/office/powerpoint/2010/main" val="1679908408"/>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F0C0B2F-ABCF-A16D-9B99-96619EC7347F}"/>
            </a:ext>
          </a:extLst>
        </p:cNvPr>
        <p:cNvGrpSpPr/>
        <p:nvPr/>
      </p:nvGrpSpPr>
      <p:grpSpPr>
        <a:xfrm>
          <a:off x="0" y="0"/>
          <a:ext cx="0" cy="0"/>
          <a:chOff x="0" y="0"/>
          <a:chExt cx="0" cy="0"/>
        </a:xfrm>
      </p:grpSpPr>
      <p:grpSp>
        <p:nvGrpSpPr>
          <p:cNvPr id="2" name="Grupo 1">
            <a:extLst>
              <a:ext uri="{FF2B5EF4-FFF2-40B4-BE49-F238E27FC236}">
                <a16:creationId xmlns:a16="http://schemas.microsoft.com/office/drawing/2014/main" id="{B5C8DCE7-7F59-F685-9165-4D848885236E}"/>
              </a:ext>
            </a:extLst>
          </p:cNvPr>
          <p:cNvGrpSpPr/>
          <p:nvPr/>
        </p:nvGrpSpPr>
        <p:grpSpPr>
          <a:xfrm>
            <a:off x="11555690" y="0"/>
            <a:ext cx="636310" cy="6876601"/>
            <a:chOff x="11555690" y="0"/>
            <a:chExt cx="636310" cy="6876601"/>
          </a:xfrm>
        </p:grpSpPr>
        <p:sp>
          <p:nvSpPr>
            <p:cNvPr id="3" name="Rectángulo 2">
              <a:extLst>
                <a:ext uri="{FF2B5EF4-FFF2-40B4-BE49-F238E27FC236}">
                  <a16:creationId xmlns:a16="http://schemas.microsoft.com/office/drawing/2014/main" id="{A8E3883C-A3FB-B076-D9C5-4593E728242E}"/>
                </a:ext>
              </a:extLst>
            </p:cNvPr>
            <p:cNvSpPr/>
            <p:nvPr/>
          </p:nvSpPr>
          <p:spPr>
            <a:xfrm>
              <a:off x="11557416" y="3496321"/>
              <a:ext cx="634584" cy="1813806"/>
            </a:xfrm>
            <a:prstGeom prst="rect">
              <a:avLst/>
            </a:prstGeom>
            <a:solidFill>
              <a:srgbClr val="000F4D"/>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CO"/>
            </a:p>
          </p:txBody>
        </p:sp>
        <p:sp>
          <p:nvSpPr>
            <p:cNvPr id="4" name="Rectángulo 3">
              <a:extLst>
                <a:ext uri="{FF2B5EF4-FFF2-40B4-BE49-F238E27FC236}">
                  <a16:creationId xmlns:a16="http://schemas.microsoft.com/office/drawing/2014/main" id="{7512944A-8633-A84A-8248-74134005AF6D}"/>
                </a:ext>
              </a:extLst>
            </p:cNvPr>
            <p:cNvSpPr/>
            <p:nvPr/>
          </p:nvSpPr>
          <p:spPr>
            <a:xfrm>
              <a:off x="11557416" y="5227683"/>
              <a:ext cx="634584" cy="1648918"/>
            </a:xfrm>
            <a:prstGeom prst="rect">
              <a:avLst/>
            </a:prstGeom>
            <a:solidFill>
              <a:srgbClr val="26B53B"/>
            </a:solidFill>
            <a:ln>
              <a:solidFill>
                <a:srgbClr val="23B53B"/>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CO"/>
            </a:p>
          </p:txBody>
        </p:sp>
        <p:sp>
          <p:nvSpPr>
            <p:cNvPr id="5" name="Rectángulo 4">
              <a:extLst>
                <a:ext uri="{FF2B5EF4-FFF2-40B4-BE49-F238E27FC236}">
                  <a16:creationId xmlns:a16="http://schemas.microsoft.com/office/drawing/2014/main" id="{17EF142A-3A8B-CD16-CBC7-83A3158E79B9}"/>
                </a:ext>
              </a:extLst>
            </p:cNvPr>
            <p:cNvSpPr/>
            <p:nvPr/>
          </p:nvSpPr>
          <p:spPr>
            <a:xfrm>
              <a:off x="11555690" y="0"/>
              <a:ext cx="634584" cy="1648918"/>
            </a:xfrm>
            <a:prstGeom prst="rect">
              <a:avLst/>
            </a:prstGeom>
            <a:solidFill>
              <a:srgbClr val="D9000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CO"/>
            </a:p>
          </p:txBody>
        </p:sp>
        <p:sp>
          <p:nvSpPr>
            <p:cNvPr id="6" name="Rectángulo 5">
              <a:extLst>
                <a:ext uri="{FF2B5EF4-FFF2-40B4-BE49-F238E27FC236}">
                  <a16:creationId xmlns:a16="http://schemas.microsoft.com/office/drawing/2014/main" id="{79078B8D-A80A-1F4B-6797-EB5D560913BE}"/>
                </a:ext>
              </a:extLst>
            </p:cNvPr>
            <p:cNvSpPr/>
            <p:nvPr/>
          </p:nvSpPr>
          <p:spPr>
            <a:xfrm>
              <a:off x="11557416" y="1656417"/>
              <a:ext cx="634584" cy="1813806"/>
            </a:xfrm>
            <a:prstGeom prst="rect">
              <a:avLst/>
            </a:prstGeom>
          </p:spPr>
          <p:style>
            <a:lnRef idx="2">
              <a:schemeClr val="dk1">
                <a:shade val="15000"/>
              </a:schemeClr>
            </a:lnRef>
            <a:fillRef idx="1">
              <a:schemeClr val="dk1"/>
            </a:fillRef>
            <a:effectRef idx="0">
              <a:schemeClr val="dk1"/>
            </a:effectRef>
            <a:fontRef idx="minor">
              <a:schemeClr val="lt1"/>
            </a:fontRef>
          </p:style>
          <p:txBody>
            <a:bodyPr rtlCol="0" anchor="ctr"/>
            <a:lstStyle/>
            <a:p>
              <a:pPr algn="ctr"/>
              <a:endParaRPr lang="es-CO"/>
            </a:p>
          </p:txBody>
        </p:sp>
      </p:grpSp>
      <p:pic>
        <p:nvPicPr>
          <p:cNvPr id="12" name="Imagen 11" descr="Diagrama&#10;&#10;El contenido generado por inteligencia artificial puede ser incorrecto.">
            <a:extLst>
              <a:ext uri="{FF2B5EF4-FFF2-40B4-BE49-F238E27FC236}">
                <a16:creationId xmlns:a16="http://schemas.microsoft.com/office/drawing/2014/main" id="{2AEAE2C5-BA4A-C173-EB20-5D20DFF34BC0}"/>
              </a:ext>
            </a:extLst>
          </p:cNvPr>
          <p:cNvPicPr>
            <a:picLocks noChangeAspect="1"/>
          </p:cNvPicPr>
          <p:nvPr/>
        </p:nvPicPr>
        <p:blipFill>
          <a:blip r:embed="rId4"/>
          <a:srcRect l="6260" t="10344" r="5922" b="28494"/>
          <a:stretch/>
        </p:blipFill>
        <p:spPr>
          <a:xfrm>
            <a:off x="-1859" y="2180"/>
            <a:ext cx="1742137" cy="1508926"/>
          </a:xfrm>
          <a:prstGeom prst="rect">
            <a:avLst/>
          </a:prstGeom>
        </p:spPr>
      </p:pic>
      <p:sp>
        <p:nvSpPr>
          <p:cNvPr id="13" name="CuadroTexto 12">
            <a:extLst>
              <a:ext uri="{FF2B5EF4-FFF2-40B4-BE49-F238E27FC236}">
                <a16:creationId xmlns:a16="http://schemas.microsoft.com/office/drawing/2014/main" id="{6B36561D-2D6B-4EDE-A51D-6DA6EACFF66A}"/>
              </a:ext>
            </a:extLst>
          </p:cNvPr>
          <p:cNvSpPr txBox="1"/>
          <p:nvPr/>
        </p:nvSpPr>
        <p:spPr>
          <a:xfrm>
            <a:off x="1618938" y="6368002"/>
            <a:ext cx="9218951" cy="369332"/>
          </a:xfrm>
          <a:prstGeom prst="rect">
            <a:avLst/>
          </a:prstGeom>
          <a:noFill/>
        </p:spPr>
        <p:txBody>
          <a:bodyPr wrap="square" rtlCol="0">
            <a:spAutoFit/>
          </a:bodyPr>
          <a:lstStyle/>
          <a:p>
            <a:pPr algn="ctr"/>
            <a:r>
              <a:rPr lang="es-CO" sz="1800" i="1" kern="100" dirty="0">
                <a:solidFill>
                  <a:srgbClr val="242424"/>
                </a:solidFill>
                <a:effectLst/>
                <a:latin typeface="Bell MT" panose="02020503060305020303" pitchFamily="18" charset="0"/>
                <a:ea typeface="Aptos" panose="020B0004020202020204" pitchFamily="34" charset="0"/>
                <a:cs typeface="Times New Roman" panose="02020603050405020304" pitchFamily="18" charset="0"/>
              </a:rPr>
              <a:t>“Del conocimiento a la capacidad estratégica”</a:t>
            </a:r>
            <a:endParaRPr lang="es-CO" sz="1800" i="1" kern="100" dirty="0">
              <a:effectLst/>
              <a:latin typeface="Bell MT" panose="02020503060305020303" pitchFamily="18" charset="0"/>
              <a:ea typeface="Aptos" panose="020B0004020202020204" pitchFamily="34" charset="0"/>
              <a:cs typeface="Times New Roman" panose="02020603050405020304" pitchFamily="18" charset="0"/>
            </a:endParaRPr>
          </a:p>
        </p:txBody>
      </p:sp>
      <p:sp>
        <p:nvSpPr>
          <p:cNvPr id="7" name="CEINNA_text_99">
            <a:extLst>
              <a:ext uri="{FF2B5EF4-FFF2-40B4-BE49-F238E27FC236}">
                <a16:creationId xmlns:a16="http://schemas.microsoft.com/office/drawing/2014/main" id="{E85AFD5B-EA3B-E992-2207-CB90480B4820}"/>
              </a:ext>
            </a:extLst>
          </p:cNvPr>
          <p:cNvSpPr txBox="1"/>
          <p:nvPr/>
        </p:nvSpPr>
        <p:spPr>
          <a:xfrm>
            <a:off x="1841500" y="368299"/>
            <a:ext cx="8966200" cy="876300"/>
          </a:xfrm>
          <a:prstGeom prst="rect">
            <a:avLst/>
          </a:prstGeom>
          <a:noFill/>
        </p:spPr>
        <p:txBody>
          <a:bodyPr vert="horz" wrap="square" lIns="0" tIns="0" rIns="0" bIns="0" rtlCol="0" anchor="t">
            <a:noAutofit/>
          </a:bodyPr>
          <a:lstStyle/>
          <a:p>
            <a:pPr algn="ctr"/>
            <a:r>
              <a:rPr lang="es-CO" sz="3300" b="1" dirty="0">
                <a:solidFill>
                  <a:srgbClr val="000F4D"/>
                </a:solidFill>
                <a:latin typeface="Bell MT" panose="02020503060305020303" pitchFamily="18" charset="0"/>
              </a:rPr>
              <a:t>Del escenario a una métrica interpretable</a:t>
            </a:r>
          </a:p>
        </p:txBody>
      </p:sp>
      <p:sp>
        <p:nvSpPr>
          <p:cNvPr id="9" name="CEINNA_box_100">
            <a:extLst>
              <a:ext uri="{FF2B5EF4-FFF2-40B4-BE49-F238E27FC236}">
                <a16:creationId xmlns:a16="http://schemas.microsoft.com/office/drawing/2014/main" id="{7B058DA8-612A-D232-0AE8-83E33E6C54CA}"/>
              </a:ext>
            </a:extLst>
          </p:cNvPr>
          <p:cNvSpPr/>
          <p:nvPr/>
        </p:nvSpPr>
        <p:spPr>
          <a:xfrm>
            <a:off x="1676400" y="1981200"/>
            <a:ext cx="2159000" cy="1981200"/>
          </a:xfrm>
          <a:prstGeom prst="rect">
            <a:avLst/>
          </a:prstGeom>
          <a:solidFill>
            <a:srgbClr val="EEF1F7"/>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CO"/>
          </a:p>
        </p:txBody>
      </p:sp>
      <p:sp>
        <p:nvSpPr>
          <p:cNvPr id="11" name="CEINNA_text_101">
            <a:extLst>
              <a:ext uri="{FF2B5EF4-FFF2-40B4-BE49-F238E27FC236}">
                <a16:creationId xmlns:a16="http://schemas.microsoft.com/office/drawing/2014/main" id="{747986D4-4729-B86C-A806-0AF18FCCEF71}"/>
              </a:ext>
            </a:extLst>
          </p:cNvPr>
          <p:cNvSpPr txBox="1"/>
          <p:nvPr/>
        </p:nvSpPr>
        <p:spPr>
          <a:xfrm>
            <a:off x="1828800" y="2158999"/>
            <a:ext cx="1879600" cy="495300"/>
          </a:xfrm>
          <a:prstGeom prst="rect">
            <a:avLst/>
          </a:prstGeom>
          <a:noFill/>
        </p:spPr>
        <p:txBody>
          <a:bodyPr vert="horz" wrap="square" lIns="0" tIns="0" rIns="0" bIns="0" rtlCol="0" anchor="t">
            <a:noAutofit/>
          </a:bodyPr>
          <a:lstStyle/>
          <a:p>
            <a:pPr algn="ctr"/>
            <a:r>
              <a:rPr lang="es-CO" sz="2600" b="1" dirty="0">
                <a:solidFill>
                  <a:srgbClr val="000F4D"/>
                </a:solidFill>
                <a:latin typeface="Bell MT" panose="02020503060305020303" pitchFamily="18" charset="0"/>
              </a:rPr>
              <a:t>Escenario</a:t>
            </a:r>
          </a:p>
        </p:txBody>
      </p:sp>
      <p:sp>
        <p:nvSpPr>
          <p:cNvPr id="14" name="CEINNA_text_102">
            <a:extLst>
              <a:ext uri="{FF2B5EF4-FFF2-40B4-BE49-F238E27FC236}">
                <a16:creationId xmlns:a16="http://schemas.microsoft.com/office/drawing/2014/main" id="{E32E4E1A-D9E2-1C6F-E1C0-385171914CA5}"/>
              </a:ext>
            </a:extLst>
          </p:cNvPr>
          <p:cNvSpPr txBox="1"/>
          <p:nvPr/>
        </p:nvSpPr>
        <p:spPr>
          <a:xfrm>
            <a:off x="1828800" y="2768599"/>
            <a:ext cx="1879600" cy="1130300"/>
          </a:xfrm>
          <a:prstGeom prst="rect">
            <a:avLst/>
          </a:prstGeom>
          <a:noFill/>
        </p:spPr>
        <p:txBody>
          <a:bodyPr vert="horz" wrap="square" lIns="0" tIns="0" rIns="0" bIns="0" rtlCol="0" anchor="t">
            <a:noAutofit/>
          </a:bodyPr>
          <a:lstStyle/>
          <a:p>
            <a:pPr algn="ctr"/>
            <a:r>
              <a:rPr lang="es-CO" sz="2200" dirty="0">
                <a:solidFill>
                  <a:srgbClr val="242424"/>
                </a:solidFill>
                <a:latin typeface="Bell MT" panose="02020503060305020303" pitchFamily="18" charset="0"/>
              </a:rPr>
              <a:t>Parámetros
Semilla
Orden</a:t>
            </a:r>
          </a:p>
        </p:txBody>
      </p:sp>
      <p:sp>
        <p:nvSpPr>
          <p:cNvPr id="15" name="CEINNA_text_103">
            <a:extLst>
              <a:ext uri="{FF2B5EF4-FFF2-40B4-BE49-F238E27FC236}">
                <a16:creationId xmlns:a16="http://schemas.microsoft.com/office/drawing/2014/main" id="{F0A10A54-BFC0-F102-903A-4FC09E28E641}"/>
              </a:ext>
            </a:extLst>
          </p:cNvPr>
          <p:cNvSpPr txBox="1"/>
          <p:nvPr/>
        </p:nvSpPr>
        <p:spPr>
          <a:xfrm>
            <a:off x="3873500" y="2793999"/>
            <a:ext cx="317500" cy="469900"/>
          </a:xfrm>
          <a:prstGeom prst="rect">
            <a:avLst/>
          </a:prstGeom>
          <a:noFill/>
        </p:spPr>
        <p:txBody>
          <a:bodyPr vert="horz" wrap="square" lIns="0" tIns="0" rIns="0" bIns="0" rtlCol="0" anchor="t">
            <a:noAutofit/>
          </a:bodyPr>
          <a:lstStyle/>
          <a:p>
            <a:pPr algn="ctr"/>
            <a:r>
              <a:rPr lang="es-CO" sz="2400" dirty="0">
                <a:solidFill>
                  <a:srgbClr val="000F4D"/>
                </a:solidFill>
                <a:latin typeface="Bell MT" panose="02020503060305020303" pitchFamily="18" charset="0"/>
              </a:rPr>
              <a:t>→</a:t>
            </a:r>
          </a:p>
        </p:txBody>
      </p:sp>
      <p:sp>
        <p:nvSpPr>
          <p:cNvPr id="16" name="CEINNA_box_104">
            <a:extLst>
              <a:ext uri="{FF2B5EF4-FFF2-40B4-BE49-F238E27FC236}">
                <a16:creationId xmlns:a16="http://schemas.microsoft.com/office/drawing/2014/main" id="{AE78EF1B-1CAB-CD15-7222-754187D8AF72}"/>
              </a:ext>
            </a:extLst>
          </p:cNvPr>
          <p:cNvSpPr/>
          <p:nvPr/>
        </p:nvSpPr>
        <p:spPr>
          <a:xfrm>
            <a:off x="4127500" y="1981200"/>
            <a:ext cx="2159000" cy="1981200"/>
          </a:xfrm>
          <a:prstGeom prst="rect">
            <a:avLst/>
          </a:prstGeom>
          <a:solidFill>
            <a:srgbClr val="EEF1F7"/>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CO"/>
          </a:p>
        </p:txBody>
      </p:sp>
      <p:sp>
        <p:nvSpPr>
          <p:cNvPr id="17" name="CEINNA_text_105">
            <a:extLst>
              <a:ext uri="{FF2B5EF4-FFF2-40B4-BE49-F238E27FC236}">
                <a16:creationId xmlns:a16="http://schemas.microsoft.com/office/drawing/2014/main" id="{78073557-1DB8-D53E-CA0E-B62ED4A8F96D}"/>
              </a:ext>
            </a:extLst>
          </p:cNvPr>
          <p:cNvSpPr txBox="1"/>
          <p:nvPr/>
        </p:nvSpPr>
        <p:spPr>
          <a:xfrm>
            <a:off x="4279900" y="2158999"/>
            <a:ext cx="1879600" cy="495300"/>
          </a:xfrm>
          <a:prstGeom prst="rect">
            <a:avLst/>
          </a:prstGeom>
          <a:noFill/>
        </p:spPr>
        <p:txBody>
          <a:bodyPr vert="horz" wrap="square" lIns="0" tIns="0" rIns="0" bIns="0" rtlCol="0" anchor="t">
            <a:noAutofit/>
          </a:bodyPr>
          <a:lstStyle/>
          <a:p>
            <a:pPr algn="ctr"/>
            <a:r>
              <a:rPr lang="es-CO" sz="2600" b="1" dirty="0">
                <a:solidFill>
                  <a:srgbClr val="000F4D"/>
                </a:solidFill>
                <a:latin typeface="Bell MT" panose="02020503060305020303" pitchFamily="18" charset="0"/>
              </a:rPr>
              <a:t>Registro</a:t>
            </a:r>
          </a:p>
        </p:txBody>
      </p:sp>
      <p:sp>
        <p:nvSpPr>
          <p:cNvPr id="18" name="CEINNA_text_106">
            <a:extLst>
              <a:ext uri="{FF2B5EF4-FFF2-40B4-BE49-F238E27FC236}">
                <a16:creationId xmlns:a16="http://schemas.microsoft.com/office/drawing/2014/main" id="{C92FDE7E-6470-AFA3-FD13-A0490D50FB0C}"/>
              </a:ext>
            </a:extLst>
          </p:cNvPr>
          <p:cNvSpPr txBox="1"/>
          <p:nvPr/>
        </p:nvSpPr>
        <p:spPr>
          <a:xfrm>
            <a:off x="4279900" y="2768599"/>
            <a:ext cx="1879600" cy="1130300"/>
          </a:xfrm>
          <a:prstGeom prst="rect">
            <a:avLst/>
          </a:prstGeom>
          <a:noFill/>
        </p:spPr>
        <p:txBody>
          <a:bodyPr vert="horz" wrap="square" lIns="0" tIns="0" rIns="0" bIns="0" rtlCol="0" anchor="t">
            <a:noAutofit/>
          </a:bodyPr>
          <a:lstStyle/>
          <a:p>
            <a:pPr algn="ctr"/>
            <a:r>
              <a:rPr lang="es-CO" sz="2200" dirty="0">
                <a:solidFill>
                  <a:srgbClr val="242424"/>
                </a:solidFill>
                <a:latin typeface="Bell MT" panose="02020503060305020303" pitchFamily="18" charset="0"/>
              </a:rPr>
              <a:t>Identidad
Visita
Eventos</a:t>
            </a:r>
          </a:p>
        </p:txBody>
      </p:sp>
      <p:sp>
        <p:nvSpPr>
          <p:cNvPr id="19" name="CEINNA_text_107">
            <a:extLst>
              <a:ext uri="{FF2B5EF4-FFF2-40B4-BE49-F238E27FC236}">
                <a16:creationId xmlns:a16="http://schemas.microsoft.com/office/drawing/2014/main" id="{A2BF669D-CD94-554D-7FC7-6678C645BC37}"/>
              </a:ext>
            </a:extLst>
          </p:cNvPr>
          <p:cNvSpPr txBox="1"/>
          <p:nvPr/>
        </p:nvSpPr>
        <p:spPr>
          <a:xfrm>
            <a:off x="6324600" y="2793999"/>
            <a:ext cx="317500" cy="469900"/>
          </a:xfrm>
          <a:prstGeom prst="rect">
            <a:avLst/>
          </a:prstGeom>
          <a:noFill/>
        </p:spPr>
        <p:txBody>
          <a:bodyPr vert="horz" wrap="square" lIns="0" tIns="0" rIns="0" bIns="0" rtlCol="0" anchor="t">
            <a:noAutofit/>
          </a:bodyPr>
          <a:lstStyle/>
          <a:p>
            <a:pPr algn="ctr"/>
            <a:r>
              <a:rPr lang="es-CO" sz="2400" dirty="0">
                <a:solidFill>
                  <a:srgbClr val="000F4D"/>
                </a:solidFill>
                <a:latin typeface="Bell MT" panose="02020503060305020303" pitchFamily="18" charset="0"/>
              </a:rPr>
              <a:t>→</a:t>
            </a:r>
          </a:p>
        </p:txBody>
      </p:sp>
      <p:sp>
        <p:nvSpPr>
          <p:cNvPr id="20" name="CEINNA_box_108">
            <a:extLst>
              <a:ext uri="{FF2B5EF4-FFF2-40B4-BE49-F238E27FC236}">
                <a16:creationId xmlns:a16="http://schemas.microsoft.com/office/drawing/2014/main" id="{D7FF232C-35C9-DB18-AFC9-D607DBC863A0}"/>
              </a:ext>
            </a:extLst>
          </p:cNvPr>
          <p:cNvSpPr/>
          <p:nvPr/>
        </p:nvSpPr>
        <p:spPr>
          <a:xfrm>
            <a:off x="6578600" y="1981200"/>
            <a:ext cx="2159000" cy="1981200"/>
          </a:xfrm>
          <a:prstGeom prst="rect">
            <a:avLst/>
          </a:prstGeom>
          <a:solidFill>
            <a:srgbClr val="EEF1F7"/>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CO"/>
          </a:p>
        </p:txBody>
      </p:sp>
      <p:sp>
        <p:nvSpPr>
          <p:cNvPr id="21" name="CEINNA_text_109">
            <a:extLst>
              <a:ext uri="{FF2B5EF4-FFF2-40B4-BE49-F238E27FC236}">
                <a16:creationId xmlns:a16="http://schemas.microsoft.com/office/drawing/2014/main" id="{58E61CE5-362A-E81C-A64C-E96F71493D9C}"/>
              </a:ext>
            </a:extLst>
          </p:cNvPr>
          <p:cNvSpPr txBox="1"/>
          <p:nvPr/>
        </p:nvSpPr>
        <p:spPr>
          <a:xfrm>
            <a:off x="6731000" y="2158999"/>
            <a:ext cx="1879600" cy="495300"/>
          </a:xfrm>
          <a:prstGeom prst="rect">
            <a:avLst/>
          </a:prstGeom>
          <a:noFill/>
        </p:spPr>
        <p:txBody>
          <a:bodyPr vert="horz" wrap="square" lIns="0" tIns="0" rIns="0" bIns="0" rtlCol="0" anchor="t">
            <a:noAutofit/>
          </a:bodyPr>
          <a:lstStyle/>
          <a:p>
            <a:pPr algn="ctr"/>
            <a:r>
              <a:rPr lang="es-CO" sz="2600" b="1" dirty="0">
                <a:solidFill>
                  <a:srgbClr val="000F4D"/>
                </a:solidFill>
                <a:latin typeface="Bell MT" panose="02020503060305020303" pitchFamily="18" charset="0"/>
              </a:rPr>
              <a:t>Métricas</a:t>
            </a:r>
          </a:p>
        </p:txBody>
      </p:sp>
      <p:sp>
        <p:nvSpPr>
          <p:cNvPr id="22" name="CEINNA_text_110">
            <a:extLst>
              <a:ext uri="{FF2B5EF4-FFF2-40B4-BE49-F238E27FC236}">
                <a16:creationId xmlns:a16="http://schemas.microsoft.com/office/drawing/2014/main" id="{8602FC23-BA80-2D26-034B-32031C350F9D}"/>
              </a:ext>
            </a:extLst>
          </p:cNvPr>
          <p:cNvSpPr txBox="1"/>
          <p:nvPr/>
        </p:nvSpPr>
        <p:spPr>
          <a:xfrm>
            <a:off x="6731000" y="2768599"/>
            <a:ext cx="1879600" cy="1130300"/>
          </a:xfrm>
          <a:prstGeom prst="rect">
            <a:avLst/>
          </a:prstGeom>
          <a:noFill/>
        </p:spPr>
        <p:txBody>
          <a:bodyPr vert="horz" wrap="square" lIns="0" tIns="0" rIns="0" bIns="0" rtlCol="0" anchor="t">
            <a:noAutofit/>
          </a:bodyPr>
          <a:lstStyle/>
          <a:p>
            <a:pPr algn="ctr"/>
            <a:r>
              <a:rPr lang="es-CO" sz="2200" dirty="0">
                <a:solidFill>
                  <a:srgbClr val="242424"/>
                </a:solidFill>
                <a:latin typeface="Bell MT" panose="02020503060305020303" pitchFamily="18" charset="0"/>
              </a:rPr>
              <a:t>Definición
Unidades
Versión</a:t>
            </a:r>
          </a:p>
        </p:txBody>
      </p:sp>
      <p:sp>
        <p:nvSpPr>
          <p:cNvPr id="23" name="CEINNA_text_111">
            <a:extLst>
              <a:ext uri="{FF2B5EF4-FFF2-40B4-BE49-F238E27FC236}">
                <a16:creationId xmlns:a16="http://schemas.microsoft.com/office/drawing/2014/main" id="{D6DAF9F0-DD74-0BC0-80C1-B333CDD34BA5}"/>
              </a:ext>
            </a:extLst>
          </p:cNvPr>
          <p:cNvSpPr txBox="1"/>
          <p:nvPr/>
        </p:nvSpPr>
        <p:spPr>
          <a:xfrm>
            <a:off x="8775700" y="2793999"/>
            <a:ext cx="317500" cy="469900"/>
          </a:xfrm>
          <a:prstGeom prst="rect">
            <a:avLst/>
          </a:prstGeom>
          <a:noFill/>
        </p:spPr>
        <p:txBody>
          <a:bodyPr vert="horz" wrap="square" lIns="0" tIns="0" rIns="0" bIns="0" rtlCol="0" anchor="t">
            <a:noAutofit/>
          </a:bodyPr>
          <a:lstStyle/>
          <a:p>
            <a:pPr algn="ctr"/>
            <a:r>
              <a:rPr lang="es-CO" sz="2400" dirty="0">
                <a:solidFill>
                  <a:srgbClr val="000F4D"/>
                </a:solidFill>
                <a:latin typeface="Bell MT" panose="02020503060305020303" pitchFamily="18" charset="0"/>
              </a:rPr>
              <a:t>→</a:t>
            </a:r>
          </a:p>
        </p:txBody>
      </p:sp>
      <p:sp>
        <p:nvSpPr>
          <p:cNvPr id="24" name="CEINNA_box_112">
            <a:extLst>
              <a:ext uri="{FF2B5EF4-FFF2-40B4-BE49-F238E27FC236}">
                <a16:creationId xmlns:a16="http://schemas.microsoft.com/office/drawing/2014/main" id="{10779CC3-402D-433E-560C-D409881B032B}"/>
              </a:ext>
            </a:extLst>
          </p:cNvPr>
          <p:cNvSpPr/>
          <p:nvPr/>
        </p:nvSpPr>
        <p:spPr>
          <a:xfrm>
            <a:off x="9029700" y="1981200"/>
            <a:ext cx="2159000" cy="1981200"/>
          </a:xfrm>
          <a:prstGeom prst="rect">
            <a:avLst/>
          </a:prstGeom>
          <a:solidFill>
            <a:srgbClr val="EEF1F7"/>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CO"/>
          </a:p>
        </p:txBody>
      </p:sp>
      <p:sp>
        <p:nvSpPr>
          <p:cNvPr id="25" name="CEINNA_text_113">
            <a:extLst>
              <a:ext uri="{FF2B5EF4-FFF2-40B4-BE49-F238E27FC236}">
                <a16:creationId xmlns:a16="http://schemas.microsoft.com/office/drawing/2014/main" id="{93EA18F0-518A-D1D9-8724-3CD9471C0D68}"/>
              </a:ext>
            </a:extLst>
          </p:cNvPr>
          <p:cNvSpPr txBox="1"/>
          <p:nvPr/>
        </p:nvSpPr>
        <p:spPr>
          <a:xfrm>
            <a:off x="9182100" y="2158999"/>
            <a:ext cx="1879600" cy="495300"/>
          </a:xfrm>
          <a:prstGeom prst="rect">
            <a:avLst/>
          </a:prstGeom>
          <a:noFill/>
        </p:spPr>
        <p:txBody>
          <a:bodyPr vert="horz" wrap="square" lIns="0" tIns="0" rIns="0" bIns="0" rtlCol="0" anchor="t">
            <a:noAutofit/>
          </a:bodyPr>
          <a:lstStyle/>
          <a:p>
            <a:pPr algn="ctr"/>
            <a:r>
              <a:rPr lang="es-CO" sz="2600" b="1" dirty="0">
                <a:solidFill>
                  <a:srgbClr val="000F4D"/>
                </a:solidFill>
                <a:latin typeface="Bell MT" panose="02020503060305020303" pitchFamily="18" charset="0"/>
              </a:rPr>
              <a:t>Análisis</a:t>
            </a:r>
          </a:p>
        </p:txBody>
      </p:sp>
      <p:sp>
        <p:nvSpPr>
          <p:cNvPr id="26" name="CEINNA_text_114">
            <a:extLst>
              <a:ext uri="{FF2B5EF4-FFF2-40B4-BE49-F238E27FC236}">
                <a16:creationId xmlns:a16="http://schemas.microsoft.com/office/drawing/2014/main" id="{215F90E4-6CDE-D25E-FDE8-A77D234D6255}"/>
              </a:ext>
            </a:extLst>
          </p:cNvPr>
          <p:cNvSpPr txBox="1"/>
          <p:nvPr/>
        </p:nvSpPr>
        <p:spPr>
          <a:xfrm>
            <a:off x="9182100" y="2768599"/>
            <a:ext cx="1879600" cy="1130300"/>
          </a:xfrm>
          <a:prstGeom prst="rect">
            <a:avLst/>
          </a:prstGeom>
          <a:noFill/>
        </p:spPr>
        <p:txBody>
          <a:bodyPr vert="horz" wrap="square" lIns="0" tIns="0" rIns="0" bIns="0" rtlCol="0" anchor="t">
            <a:noAutofit/>
          </a:bodyPr>
          <a:lstStyle/>
          <a:p>
            <a:pPr algn="ctr"/>
            <a:r>
              <a:rPr lang="es-CO" sz="2200" dirty="0">
                <a:solidFill>
                  <a:srgbClr val="242424"/>
                </a:solidFill>
                <a:latin typeface="Bell MT" panose="02020503060305020303" pitchFamily="18" charset="0"/>
              </a:rPr>
              <a:t>Calidad
Elegibilidad
Trazabilidad</a:t>
            </a:r>
          </a:p>
        </p:txBody>
      </p:sp>
      <p:sp>
        <p:nvSpPr>
          <p:cNvPr id="27" name="CEINNA_text_115">
            <a:extLst>
              <a:ext uri="{FF2B5EF4-FFF2-40B4-BE49-F238E27FC236}">
                <a16:creationId xmlns:a16="http://schemas.microsoft.com/office/drawing/2014/main" id="{B78C2C0C-09DA-AB6D-EBAE-8BC0386E080D}"/>
              </a:ext>
            </a:extLst>
          </p:cNvPr>
          <p:cNvSpPr txBox="1"/>
          <p:nvPr/>
        </p:nvSpPr>
        <p:spPr>
          <a:xfrm>
            <a:off x="1676400" y="4292599"/>
            <a:ext cx="9512300" cy="419100"/>
          </a:xfrm>
          <a:prstGeom prst="rect">
            <a:avLst/>
          </a:prstGeom>
          <a:noFill/>
        </p:spPr>
        <p:txBody>
          <a:bodyPr vert="horz" wrap="square" lIns="0" tIns="0" rIns="0" bIns="0" rtlCol="0" anchor="t">
            <a:noAutofit/>
          </a:bodyPr>
          <a:lstStyle/>
          <a:p>
            <a:r>
              <a:rPr lang="es-CO" sz="2600" b="1" dirty="0">
                <a:solidFill>
                  <a:srgbClr val="000F4D"/>
                </a:solidFill>
                <a:latin typeface="Bell MT" panose="02020503060305020303" pitchFamily="18" charset="0"/>
              </a:rPr>
              <a:t>Ejemplo: carga percibida con RTLX</a:t>
            </a:r>
          </a:p>
        </p:txBody>
      </p:sp>
      <p:sp>
        <p:nvSpPr>
          <p:cNvPr id="28" name="CEINNA_text_116">
            <a:extLst>
              <a:ext uri="{FF2B5EF4-FFF2-40B4-BE49-F238E27FC236}">
                <a16:creationId xmlns:a16="http://schemas.microsoft.com/office/drawing/2014/main" id="{F8177148-9D55-4451-A060-0B7EC4C8E402}"/>
              </a:ext>
            </a:extLst>
          </p:cNvPr>
          <p:cNvSpPr txBox="1"/>
          <p:nvPr/>
        </p:nvSpPr>
        <p:spPr>
          <a:xfrm>
            <a:off x="1676400" y="4864099"/>
            <a:ext cx="9512300" cy="419100"/>
          </a:xfrm>
          <a:prstGeom prst="rect">
            <a:avLst/>
          </a:prstGeom>
          <a:noFill/>
        </p:spPr>
        <p:txBody>
          <a:bodyPr vert="horz" wrap="square" lIns="0" tIns="0" rIns="0" bIns="0" rtlCol="0" anchor="t">
            <a:noAutofit/>
          </a:bodyPr>
          <a:lstStyle/>
          <a:p>
            <a:r>
              <a:rPr lang="es-CO" sz="2400" dirty="0">
                <a:solidFill>
                  <a:srgbClr val="242424"/>
                </a:solidFill>
                <a:latin typeface="Bell MT" panose="02020503060305020303" pitchFamily="18" charset="0"/>
              </a:rPr>
              <a:t>6 respuestas completas (0–10) → media × 10 → índice 0–100</a:t>
            </a:r>
          </a:p>
        </p:txBody>
      </p:sp>
      <p:sp>
        <p:nvSpPr>
          <p:cNvPr id="29" name="CEINNA_text_117">
            <a:extLst>
              <a:ext uri="{FF2B5EF4-FFF2-40B4-BE49-F238E27FC236}">
                <a16:creationId xmlns:a16="http://schemas.microsoft.com/office/drawing/2014/main" id="{300D9829-39EB-85BD-855D-7632231E2165}"/>
              </a:ext>
            </a:extLst>
          </p:cNvPr>
          <p:cNvSpPr txBox="1"/>
          <p:nvPr/>
        </p:nvSpPr>
        <p:spPr>
          <a:xfrm>
            <a:off x="1676400" y="5473699"/>
            <a:ext cx="9512300" cy="330200"/>
          </a:xfrm>
          <a:prstGeom prst="rect">
            <a:avLst/>
          </a:prstGeom>
          <a:noFill/>
        </p:spPr>
        <p:txBody>
          <a:bodyPr vert="horz" wrap="square" lIns="0" tIns="0" rIns="0" bIns="0" rtlCol="0" anchor="t">
            <a:noAutofit/>
          </a:bodyPr>
          <a:lstStyle/>
          <a:p>
            <a:r>
              <a:rPr lang="es-CO" sz="2100" dirty="0">
                <a:solidFill>
                  <a:srgbClr val="4F5A6C"/>
                </a:solidFill>
                <a:latin typeface="Bell MT" panose="02020503060305020303" pitchFamily="18" charset="0"/>
              </a:rPr>
              <a:t>Cada resultado conserva versión, unidad, regla de cálculo y procedencia.</a:t>
            </a:r>
          </a:p>
        </p:txBody>
      </p:sp>
      <p:sp>
        <p:nvSpPr>
          <p:cNvPr id="30" name="CEINNA_text_118">
            <a:extLst>
              <a:ext uri="{FF2B5EF4-FFF2-40B4-BE49-F238E27FC236}">
                <a16:creationId xmlns:a16="http://schemas.microsoft.com/office/drawing/2014/main" id="{6F94BB3B-BC41-4B4C-069B-7507386F7514}"/>
              </a:ext>
            </a:extLst>
          </p:cNvPr>
          <p:cNvSpPr txBox="1"/>
          <p:nvPr/>
        </p:nvSpPr>
        <p:spPr>
          <a:xfrm>
            <a:off x="1625600" y="6019800"/>
            <a:ext cx="9334500" cy="266700"/>
          </a:xfrm>
          <a:prstGeom prst="rect">
            <a:avLst/>
          </a:prstGeom>
          <a:noFill/>
        </p:spPr>
        <p:txBody>
          <a:bodyPr vert="horz" wrap="square" lIns="0" tIns="0" rIns="0" bIns="0" rtlCol="0" anchor="t">
            <a:noAutofit/>
          </a:bodyPr>
          <a:lstStyle/>
          <a:p>
            <a:r>
              <a:rPr lang="es-CO" sz="1200" dirty="0">
                <a:solidFill>
                  <a:srgbClr val="4F5A6C"/>
                </a:solidFill>
                <a:latin typeface="Bell MT" panose="02020503060305020303" pitchFamily="18" charset="0"/>
              </a:rPr>
              <a:t>[1,5] Replicabilidad y registro. Ejemplo local: </a:t>
            </a:r>
            <a:r>
              <a:rPr lang="es-CO" sz="1200" dirty="0" err="1">
                <a:solidFill>
                  <a:srgbClr val="4F5A6C"/>
                </a:solidFill>
                <a:latin typeface="Bell MT" panose="02020503060305020303" pitchFamily="18" charset="0"/>
              </a:rPr>
              <a:t>metrics_spec.json</a:t>
            </a:r>
            <a:r>
              <a:rPr lang="es-CO" sz="1200" dirty="0">
                <a:solidFill>
                  <a:srgbClr val="4F5A6C"/>
                </a:solidFill>
                <a:latin typeface="Bell MT" panose="02020503060305020303" pitchFamily="18" charset="0"/>
              </a:rPr>
              <a:t> y log_converter.py.</a:t>
            </a:r>
          </a:p>
        </p:txBody>
      </p:sp>
      <p:sp>
        <p:nvSpPr>
          <p:cNvPr id="31" name="CEINNA_text_119">
            <a:extLst>
              <a:ext uri="{FF2B5EF4-FFF2-40B4-BE49-F238E27FC236}">
                <a16:creationId xmlns:a16="http://schemas.microsoft.com/office/drawing/2014/main" id="{CCABA96F-644E-3956-5D0A-51016A9A19E5}"/>
              </a:ext>
            </a:extLst>
          </p:cNvPr>
          <p:cNvSpPr txBox="1"/>
          <p:nvPr/>
        </p:nvSpPr>
        <p:spPr>
          <a:xfrm>
            <a:off x="11036300" y="6032500"/>
            <a:ext cx="292100" cy="228600"/>
          </a:xfrm>
          <a:prstGeom prst="rect">
            <a:avLst/>
          </a:prstGeom>
          <a:noFill/>
        </p:spPr>
        <p:txBody>
          <a:bodyPr vert="horz" wrap="square" lIns="0" tIns="0" rIns="0" bIns="0" rtlCol="0" anchor="t">
            <a:noAutofit/>
          </a:bodyPr>
          <a:lstStyle/>
          <a:p>
            <a:r>
              <a:t>10</a:t>
            </a:r>
          </a:p>
        </p:txBody>
      </p:sp>
    </p:spTree>
    <p:custDataLst>
      <p:tags r:id="rId1"/>
    </p:custDataLst>
    <p:extLst>
      <p:ext uri="{BB962C8B-B14F-4D97-AF65-F5344CB8AC3E}">
        <p14:creationId xmlns:p14="http://schemas.microsoft.com/office/powerpoint/2010/main" val="3102387299"/>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F0C0B2F-ABCF-A16D-9B99-96619EC7347F}"/>
            </a:ext>
          </a:extLst>
        </p:cNvPr>
        <p:cNvGrpSpPr/>
        <p:nvPr/>
      </p:nvGrpSpPr>
      <p:grpSpPr>
        <a:xfrm>
          <a:off x="0" y="0"/>
          <a:ext cx="0" cy="0"/>
          <a:chOff x="0" y="0"/>
          <a:chExt cx="0" cy="0"/>
        </a:xfrm>
      </p:grpSpPr>
      <p:grpSp>
        <p:nvGrpSpPr>
          <p:cNvPr id="2" name="Grupo 1">
            <a:extLst>
              <a:ext uri="{FF2B5EF4-FFF2-40B4-BE49-F238E27FC236}">
                <a16:creationId xmlns:a16="http://schemas.microsoft.com/office/drawing/2014/main" id="{B5C8DCE7-7F59-F685-9165-4D848885236E}"/>
              </a:ext>
            </a:extLst>
          </p:cNvPr>
          <p:cNvGrpSpPr/>
          <p:nvPr/>
        </p:nvGrpSpPr>
        <p:grpSpPr>
          <a:xfrm>
            <a:off x="11555690" y="0"/>
            <a:ext cx="636310" cy="6876601"/>
            <a:chOff x="11555690" y="0"/>
            <a:chExt cx="636310" cy="6876601"/>
          </a:xfrm>
        </p:grpSpPr>
        <p:sp>
          <p:nvSpPr>
            <p:cNvPr id="3" name="Rectángulo 2">
              <a:extLst>
                <a:ext uri="{FF2B5EF4-FFF2-40B4-BE49-F238E27FC236}">
                  <a16:creationId xmlns:a16="http://schemas.microsoft.com/office/drawing/2014/main" id="{A8E3883C-A3FB-B076-D9C5-4593E728242E}"/>
                </a:ext>
              </a:extLst>
            </p:cNvPr>
            <p:cNvSpPr/>
            <p:nvPr/>
          </p:nvSpPr>
          <p:spPr>
            <a:xfrm>
              <a:off x="11557416" y="3496321"/>
              <a:ext cx="634584" cy="1813806"/>
            </a:xfrm>
            <a:prstGeom prst="rect">
              <a:avLst/>
            </a:prstGeom>
            <a:solidFill>
              <a:srgbClr val="000F4D"/>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CO"/>
            </a:p>
          </p:txBody>
        </p:sp>
        <p:sp>
          <p:nvSpPr>
            <p:cNvPr id="4" name="Rectángulo 3">
              <a:extLst>
                <a:ext uri="{FF2B5EF4-FFF2-40B4-BE49-F238E27FC236}">
                  <a16:creationId xmlns:a16="http://schemas.microsoft.com/office/drawing/2014/main" id="{7512944A-8633-A84A-8248-74134005AF6D}"/>
                </a:ext>
              </a:extLst>
            </p:cNvPr>
            <p:cNvSpPr/>
            <p:nvPr/>
          </p:nvSpPr>
          <p:spPr>
            <a:xfrm>
              <a:off x="11557416" y="5227683"/>
              <a:ext cx="634584" cy="1648918"/>
            </a:xfrm>
            <a:prstGeom prst="rect">
              <a:avLst/>
            </a:prstGeom>
            <a:solidFill>
              <a:srgbClr val="26B53B"/>
            </a:solidFill>
            <a:ln>
              <a:solidFill>
                <a:srgbClr val="23B53B"/>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CO"/>
            </a:p>
          </p:txBody>
        </p:sp>
        <p:sp>
          <p:nvSpPr>
            <p:cNvPr id="5" name="Rectángulo 4">
              <a:extLst>
                <a:ext uri="{FF2B5EF4-FFF2-40B4-BE49-F238E27FC236}">
                  <a16:creationId xmlns:a16="http://schemas.microsoft.com/office/drawing/2014/main" id="{17EF142A-3A8B-CD16-CBC7-83A3158E79B9}"/>
                </a:ext>
              </a:extLst>
            </p:cNvPr>
            <p:cNvSpPr/>
            <p:nvPr/>
          </p:nvSpPr>
          <p:spPr>
            <a:xfrm>
              <a:off x="11555690" y="0"/>
              <a:ext cx="634584" cy="1648918"/>
            </a:xfrm>
            <a:prstGeom prst="rect">
              <a:avLst/>
            </a:prstGeom>
            <a:solidFill>
              <a:srgbClr val="D9000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CO"/>
            </a:p>
          </p:txBody>
        </p:sp>
        <p:sp>
          <p:nvSpPr>
            <p:cNvPr id="6" name="Rectángulo 5">
              <a:extLst>
                <a:ext uri="{FF2B5EF4-FFF2-40B4-BE49-F238E27FC236}">
                  <a16:creationId xmlns:a16="http://schemas.microsoft.com/office/drawing/2014/main" id="{79078B8D-A80A-1F4B-6797-EB5D560913BE}"/>
                </a:ext>
              </a:extLst>
            </p:cNvPr>
            <p:cNvSpPr/>
            <p:nvPr/>
          </p:nvSpPr>
          <p:spPr>
            <a:xfrm>
              <a:off x="11557416" y="1656417"/>
              <a:ext cx="634584" cy="1813806"/>
            </a:xfrm>
            <a:prstGeom prst="rect">
              <a:avLst/>
            </a:prstGeom>
          </p:spPr>
          <p:style>
            <a:lnRef idx="2">
              <a:schemeClr val="dk1">
                <a:shade val="15000"/>
              </a:schemeClr>
            </a:lnRef>
            <a:fillRef idx="1">
              <a:schemeClr val="dk1"/>
            </a:fillRef>
            <a:effectRef idx="0">
              <a:schemeClr val="dk1"/>
            </a:effectRef>
            <a:fontRef idx="minor">
              <a:schemeClr val="lt1"/>
            </a:fontRef>
          </p:style>
          <p:txBody>
            <a:bodyPr rtlCol="0" anchor="ctr"/>
            <a:lstStyle/>
            <a:p>
              <a:pPr algn="ctr"/>
              <a:endParaRPr lang="es-CO"/>
            </a:p>
          </p:txBody>
        </p:sp>
      </p:grpSp>
      <p:pic>
        <p:nvPicPr>
          <p:cNvPr id="12" name="Imagen 11" descr="Diagrama&#10;&#10;El contenido generado por inteligencia artificial puede ser incorrecto.">
            <a:extLst>
              <a:ext uri="{FF2B5EF4-FFF2-40B4-BE49-F238E27FC236}">
                <a16:creationId xmlns:a16="http://schemas.microsoft.com/office/drawing/2014/main" id="{2AEAE2C5-BA4A-C173-EB20-5D20DFF34BC0}"/>
              </a:ext>
            </a:extLst>
          </p:cNvPr>
          <p:cNvPicPr>
            <a:picLocks noChangeAspect="1"/>
          </p:cNvPicPr>
          <p:nvPr/>
        </p:nvPicPr>
        <p:blipFill>
          <a:blip r:embed="rId4"/>
          <a:srcRect l="6260" t="10344" r="5922" b="28494"/>
          <a:stretch/>
        </p:blipFill>
        <p:spPr>
          <a:xfrm>
            <a:off x="-1859" y="2180"/>
            <a:ext cx="1742137" cy="1508926"/>
          </a:xfrm>
          <a:prstGeom prst="rect">
            <a:avLst/>
          </a:prstGeom>
        </p:spPr>
      </p:pic>
      <p:sp>
        <p:nvSpPr>
          <p:cNvPr id="13" name="CuadroTexto 12">
            <a:extLst>
              <a:ext uri="{FF2B5EF4-FFF2-40B4-BE49-F238E27FC236}">
                <a16:creationId xmlns:a16="http://schemas.microsoft.com/office/drawing/2014/main" id="{FE96F9A2-CC29-44DE-B819-E23B17405AAA}"/>
              </a:ext>
            </a:extLst>
          </p:cNvPr>
          <p:cNvSpPr txBox="1"/>
          <p:nvPr/>
        </p:nvSpPr>
        <p:spPr>
          <a:xfrm>
            <a:off x="1618938" y="6368002"/>
            <a:ext cx="9218951" cy="369332"/>
          </a:xfrm>
          <a:prstGeom prst="rect">
            <a:avLst/>
          </a:prstGeom>
          <a:noFill/>
        </p:spPr>
        <p:txBody>
          <a:bodyPr wrap="square" rtlCol="0">
            <a:spAutoFit/>
          </a:bodyPr>
          <a:lstStyle/>
          <a:p>
            <a:pPr algn="ctr"/>
            <a:r>
              <a:rPr lang="es-CO" sz="1800" i="1" kern="100" dirty="0">
                <a:solidFill>
                  <a:srgbClr val="242424"/>
                </a:solidFill>
                <a:effectLst/>
                <a:latin typeface="Bell MT" panose="02020503060305020303" pitchFamily="18" charset="0"/>
                <a:ea typeface="Aptos" panose="020B0004020202020204" pitchFamily="34" charset="0"/>
                <a:cs typeface="Times New Roman" panose="02020603050405020304" pitchFamily="18" charset="0"/>
              </a:rPr>
              <a:t>“Del conocimiento a la capacidad estratégica”</a:t>
            </a:r>
            <a:endParaRPr lang="es-CO" sz="1800" i="1" kern="100" dirty="0">
              <a:effectLst/>
              <a:latin typeface="Bell MT" panose="02020503060305020303" pitchFamily="18" charset="0"/>
              <a:ea typeface="Aptos" panose="020B0004020202020204" pitchFamily="34" charset="0"/>
              <a:cs typeface="Times New Roman" panose="02020603050405020304" pitchFamily="18" charset="0"/>
            </a:endParaRPr>
          </a:p>
        </p:txBody>
      </p:sp>
      <p:sp>
        <p:nvSpPr>
          <p:cNvPr id="7" name="CEINNA_text_120">
            <a:extLst>
              <a:ext uri="{FF2B5EF4-FFF2-40B4-BE49-F238E27FC236}">
                <a16:creationId xmlns:a16="http://schemas.microsoft.com/office/drawing/2014/main" id="{EC81C7DD-B571-127D-47D1-C62D2F5B87AB}"/>
              </a:ext>
            </a:extLst>
          </p:cNvPr>
          <p:cNvSpPr txBox="1"/>
          <p:nvPr/>
        </p:nvSpPr>
        <p:spPr>
          <a:xfrm>
            <a:off x="1841500" y="368299"/>
            <a:ext cx="8966200" cy="876300"/>
          </a:xfrm>
          <a:prstGeom prst="rect">
            <a:avLst/>
          </a:prstGeom>
          <a:noFill/>
        </p:spPr>
        <p:txBody>
          <a:bodyPr vert="horz" wrap="square" lIns="0" tIns="0" rIns="0" bIns="0" rtlCol="0" anchor="t">
            <a:noAutofit/>
          </a:bodyPr>
          <a:lstStyle/>
          <a:p>
            <a:pPr algn="ctr"/>
            <a:r>
              <a:rPr lang="es-CO" sz="3900" b="1" dirty="0">
                <a:solidFill>
                  <a:srgbClr val="000F4D"/>
                </a:solidFill>
                <a:latin typeface="Bell MT" panose="02020503060305020303" pitchFamily="18" charset="0"/>
              </a:rPr>
              <a:t>Resultados de desarrollo</a:t>
            </a:r>
          </a:p>
        </p:txBody>
      </p:sp>
      <p:sp>
        <p:nvSpPr>
          <p:cNvPr id="9" name="CEINNA_text_121">
            <a:extLst>
              <a:ext uri="{FF2B5EF4-FFF2-40B4-BE49-F238E27FC236}">
                <a16:creationId xmlns:a16="http://schemas.microsoft.com/office/drawing/2014/main" id="{AEB2A132-FC98-B47A-8265-BAEC991B1787}"/>
              </a:ext>
            </a:extLst>
          </p:cNvPr>
          <p:cNvSpPr txBox="1"/>
          <p:nvPr/>
        </p:nvSpPr>
        <p:spPr>
          <a:xfrm>
            <a:off x="1663700" y="1714499"/>
            <a:ext cx="9525000" cy="546100"/>
          </a:xfrm>
          <a:prstGeom prst="rect">
            <a:avLst/>
          </a:prstGeom>
          <a:noFill/>
        </p:spPr>
        <p:txBody>
          <a:bodyPr vert="horz" wrap="square" lIns="0" tIns="0" rIns="0" bIns="0" rtlCol="0" anchor="t">
            <a:noAutofit/>
          </a:bodyPr>
          <a:lstStyle/>
          <a:p>
            <a:r>
              <a:rPr lang="es-CO" sz="2600" b="1" dirty="0">
                <a:solidFill>
                  <a:srgbClr val="000F4D"/>
                </a:solidFill>
                <a:latin typeface="Bell MT" panose="02020503060305020303" pitchFamily="18" charset="0"/>
              </a:rPr>
              <a:t>Demostración técnica con datos sintéticos</a:t>
            </a:r>
          </a:p>
        </p:txBody>
      </p:sp>
      <p:sp>
        <p:nvSpPr>
          <p:cNvPr id="11" name="CEINNA_box_122">
            <a:extLst>
              <a:ext uri="{FF2B5EF4-FFF2-40B4-BE49-F238E27FC236}">
                <a16:creationId xmlns:a16="http://schemas.microsoft.com/office/drawing/2014/main" id="{A256FE74-C7E5-B1B3-5A46-F3445CB5401A}"/>
              </a:ext>
            </a:extLst>
          </p:cNvPr>
          <p:cNvSpPr/>
          <p:nvPr/>
        </p:nvSpPr>
        <p:spPr>
          <a:xfrm>
            <a:off x="1663700" y="2540000"/>
            <a:ext cx="9525000" cy="889000"/>
          </a:xfrm>
          <a:prstGeom prst="rect">
            <a:avLst/>
          </a:prstGeom>
          <a:solidFill>
            <a:srgbClr val="EEF1F7"/>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CO"/>
          </a:p>
        </p:txBody>
      </p:sp>
      <p:sp>
        <p:nvSpPr>
          <p:cNvPr id="14" name="CEINNA_text_123">
            <a:extLst>
              <a:ext uri="{FF2B5EF4-FFF2-40B4-BE49-F238E27FC236}">
                <a16:creationId xmlns:a16="http://schemas.microsoft.com/office/drawing/2014/main" id="{BA838FA9-4443-273A-656E-F915C866E608}"/>
              </a:ext>
            </a:extLst>
          </p:cNvPr>
          <p:cNvSpPr txBox="1"/>
          <p:nvPr/>
        </p:nvSpPr>
        <p:spPr>
          <a:xfrm>
            <a:off x="1841500" y="2628899"/>
            <a:ext cx="2794000" cy="736600"/>
          </a:xfrm>
          <a:prstGeom prst="rect">
            <a:avLst/>
          </a:prstGeom>
          <a:noFill/>
        </p:spPr>
        <p:txBody>
          <a:bodyPr vert="horz" wrap="square" lIns="0" tIns="0" rIns="0" bIns="0" rtlCol="0" anchor="t">
            <a:noAutofit/>
          </a:bodyPr>
          <a:lstStyle/>
          <a:p>
            <a:r>
              <a:rPr lang="es-CO" sz="2400" b="1" dirty="0">
                <a:solidFill>
                  <a:srgbClr val="000F4D"/>
                </a:solidFill>
                <a:latin typeface="Bell MT" panose="02020503060305020303" pitchFamily="18" charset="0"/>
              </a:rPr>
              <a:t>Generación</a:t>
            </a:r>
          </a:p>
        </p:txBody>
      </p:sp>
      <p:sp>
        <p:nvSpPr>
          <p:cNvPr id="15" name="CEINNA_text_124">
            <a:extLst>
              <a:ext uri="{FF2B5EF4-FFF2-40B4-BE49-F238E27FC236}">
                <a16:creationId xmlns:a16="http://schemas.microsoft.com/office/drawing/2014/main" id="{2965BED3-3AD5-9D8C-70BE-F1736BFE9682}"/>
              </a:ext>
            </a:extLst>
          </p:cNvPr>
          <p:cNvSpPr txBox="1"/>
          <p:nvPr/>
        </p:nvSpPr>
        <p:spPr>
          <a:xfrm>
            <a:off x="4826000" y="2679699"/>
            <a:ext cx="6108700" cy="698500"/>
          </a:xfrm>
          <a:prstGeom prst="rect">
            <a:avLst/>
          </a:prstGeom>
          <a:noFill/>
        </p:spPr>
        <p:txBody>
          <a:bodyPr vert="horz" wrap="square" lIns="0" tIns="0" rIns="0" bIns="0" rtlCol="0" anchor="t">
            <a:noAutofit/>
          </a:bodyPr>
          <a:lstStyle/>
          <a:p>
            <a:r>
              <a:rPr lang="es-CO" sz="2300" dirty="0">
                <a:solidFill>
                  <a:srgbClr val="242424"/>
                </a:solidFill>
                <a:latin typeface="Bell MT" panose="02020503060305020303" pitchFamily="18" charset="0"/>
              </a:rPr>
              <a:t>Tres escenarios de 900 s: LOW, MEDIUM y HIGH.</a:t>
            </a:r>
          </a:p>
        </p:txBody>
      </p:sp>
      <p:sp>
        <p:nvSpPr>
          <p:cNvPr id="16" name="CEINNA_box_125">
            <a:extLst>
              <a:ext uri="{FF2B5EF4-FFF2-40B4-BE49-F238E27FC236}">
                <a16:creationId xmlns:a16="http://schemas.microsoft.com/office/drawing/2014/main" id="{8DE2E583-ECBC-6710-3510-EF8585FB72D8}"/>
              </a:ext>
            </a:extLst>
          </p:cNvPr>
          <p:cNvSpPr/>
          <p:nvPr/>
        </p:nvSpPr>
        <p:spPr>
          <a:xfrm>
            <a:off x="1663700" y="3568700"/>
            <a:ext cx="9525000" cy="889000"/>
          </a:xfrm>
          <a:prstGeom prst="rect">
            <a:avLst/>
          </a:prstGeom>
          <a:solidFill>
            <a:srgbClr val="FFFFFF"/>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CO"/>
          </a:p>
        </p:txBody>
      </p:sp>
      <p:sp>
        <p:nvSpPr>
          <p:cNvPr id="17" name="CEINNA_text_126">
            <a:extLst>
              <a:ext uri="{FF2B5EF4-FFF2-40B4-BE49-F238E27FC236}">
                <a16:creationId xmlns:a16="http://schemas.microsoft.com/office/drawing/2014/main" id="{94F34D3B-8EA4-31C6-1838-7FEA4816B22C}"/>
              </a:ext>
            </a:extLst>
          </p:cNvPr>
          <p:cNvSpPr txBox="1"/>
          <p:nvPr/>
        </p:nvSpPr>
        <p:spPr>
          <a:xfrm>
            <a:off x="1841500" y="3657599"/>
            <a:ext cx="2794000" cy="736600"/>
          </a:xfrm>
          <a:prstGeom prst="rect">
            <a:avLst/>
          </a:prstGeom>
          <a:noFill/>
        </p:spPr>
        <p:txBody>
          <a:bodyPr vert="horz" wrap="square" lIns="0" tIns="0" rIns="0" bIns="0" rtlCol="0" anchor="t">
            <a:noAutofit/>
          </a:bodyPr>
          <a:lstStyle/>
          <a:p>
            <a:r>
              <a:rPr lang="es-CO" sz="2400" b="1" dirty="0">
                <a:solidFill>
                  <a:srgbClr val="000F4D"/>
                </a:solidFill>
                <a:latin typeface="Bell MT" panose="02020503060305020303" pitchFamily="18" charset="0"/>
              </a:rPr>
              <a:t>Reproducción</a:t>
            </a:r>
          </a:p>
        </p:txBody>
      </p:sp>
      <p:sp>
        <p:nvSpPr>
          <p:cNvPr id="18" name="CEINNA_text_127">
            <a:extLst>
              <a:ext uri="{FF2B5EF4-FFF2-40B4-BE49-F238E27FC236}">
                <a16:creationId xmlns:a16="http://schemas.microsoft.com/office/drawing/2014/main" id="{BF410769-5898-FC33-ED4D-0CB0B416900B}"/>
              </a:ext>
            </a:extLst>
          </p:cNvPr>
          <p:cNvSpPr txBox="1"/>
          <p:nvPr/>
        </p:nvSpPr>
        <p:spPr>
          <a:xfrm>
            <a:off x="4826000" y="3708399"/>
            <a:ext cx="6108700" cy="698500"/>
          </a:xfrm>
          <a:prstGeom prst="rect">
            <a:avLst/>
          </a:prstGeom>
          <a:noFill/>
        </p:spPr>
        <p:txBody>
          <a:bodyPr vert="horz" wrap="square" lIns="0" tIns="0" rIns="0" bIns="0" rtlCol="0" anchor="t">
            <a:noAutofit/>
          </a:bodyPr>
          <a:lstStyle/>
          <a:p>
            <a:r>
              <a:rPr lang="es-CO" sz="2300" dirty="0">
                <a:solidFill>
                  <a:srgbClr val="242424"/>
                </a:solidFill>
                <a:latin typeface="Bell MT" panose="02020503060305020303" pitchFamily="18" charset="0"/>
              </a:rPr>
              <a:t>Archivos idénticos al repetir parámetros y semillas.</a:t>
            </a:r>
          </a:p>
        </p:txBody>
      </p:sp>
      <p:sp>
        <p:nvSpPr>
          <p:cNvPr id="19" name="CEINNA_box_128">
            <a:extLst>
              <a:ext uri="{FF2B5EF4-FFF2-40B4-BE49-F238E27FC236}">
                <a16:creationId xmlns:a16="http://schemas.microsoft.com/office/drawing/2014/main" id="{C39F2E38-554F-595A-9F09-1D5B96912CF7}"/>
              </a:ext>
            </a:extLst>
          </p:cNvPr>
          <p:cNvSpPr/>
          <p:nvPr/>
        </p:nvSpPr>
        <p:spPr>
          <a:xfrm>
            <a:off x="1663700" y="4597400"/>
            <a:ext cx="9525000" cy="889000"/>
          </a:xfrm>
          <a:prstGeom prst="rect">
            <a:avLst/>
          </a:prstGeom>
          <a:solidFill>
            <a:srgbClr val="EEF1F7"/>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CO"/>
          </a:p>
        </p:txBody>
      </p:sp>
      <p:sp>
        <p:nvSpPr>
          <p:cNvPr id="20" name="CEINNA_text_129">
            <a:extLst>
              <a:ext uri="{FF2B5EF4-FFF2-40B4-BE49-F238E27FC236}">
                <a16:creationId xmlns:a16="http://schemas.microsoft.com/office/drawing/2014/main" id="{F1D8A7A7-E766-8AE6-B878-B7C6C2180726}"/>
              </a:ext>
            </a:extLst>
          </p:cNvPr>
          <p:cNvSpPr txBox="1"/>
          <p:nvPr/>
        </p:nvSpPr>
        <p:spPr>
          <a:xfrm>
            <a:off x="1841500" y="4686299"/>
            <a:ext cx="2794000" cy="736600"/>
          </a:xfrm>
          <a:prstGeom prst="rect">
            <a:avLst/>
          </a:prstGeom>
          <a:noFill/>
        </p:spPr>
        <p:txBody>
          <a:bodyPr vert="horz" wrap="square" lIns="0" tIns="0" rIns="0" bIns="0" rtlCol="0" anchor="t">
            <a:noAutofit/>
          </a:bodyPr>
          <a:lstStyle/>
          <a:p>
            <a:r>
              <a:rPr lang="es-CO" sz="2400" b="1" dirty="0">
                <a:solidFill>
                  <a:srgbClr val="000F4D"/>
                </a:solidFill>
                <a:latin typeface="Bell MT" panose="02020503060305020303" pitchFamily="18" charset="0"/>
              </a:rPr>
              <a:t>Integridad y conversión</a:t>
            </a:r>
          </a:p>
        </p:txBody>
      </p:sp>
      <p:sp>
        <p:nvSpPr>
          <p:cNvPr id="21" name="CEINNA_text_130">
            <a:extLst>
              <a:ext uri="{FF2B5EF4-FFF2-40B4-BE49-F238E27FC236}">
                <a16:creationId xmlns:a16="http://schemas.microsoft.com/office/drawing/2014/main" id="{494FDFDE-61E2-F0C2-0601-8C057660E4BB}"/>
              </a:ext>
            </a:extLst>
          </p:cNvPr>
          <p:cNvSpPr txBox="1"/>
          <p:nvPr/>
        </p:nvSpPr>
        <p:spPr>
          <a:xfrm>
            <a:off x="4826000" y="4737099"/>
            <a:ext cx="6108700" cy="698500"/>
          </a:xfrm>
          <a:prstGeom prst="rect">
            <a:avLst/>
          </a:prstGeom>
          <a:noFill/>
        </p:spPr>
        <p:txBody>
          <a:bodyPr vert="horz" wrap="square" lIns="0" tIns="0" rIns="0" bIns="0" rtlCol="0" anchor="t">
            <a:noAutofit/>
          </a:bodyPr>
          <a:lstStyle/>
          <a:p>
            <a:r>
              <a:rPr lang="es-CO" sz="2300" dirty="0">
                <a:solidFill>
                  <a:srgbClr val="242424"/>
                </a:solidFill>
                <a:latin typeface="Bell MT" panose="02020503060305020303" pitchFamily="18" charset="0"/>
              </a:rPr>
              <a:t>Hashes SHA-256 verificados; tres archivos CSV sintéticos convertidos.</a:t>
            </a:r>
          </a:p>
        </p:txBody>
      </p:sp>
      <p:sp>
        <p:nvSpPr>
          <p:cNvPr id="22" name="CEINNA_text_131">
            <a:extLst>
              <a:ext uri="{FF2B5EF4-FFF2-40B4-BE49-F238E27FC236}">
                <a16:creationId xmlns:a16="http://schemas.microsoft.com/office/drawing/2014/main" id="{C4B7D3A7-B0C2-95EF-2EC3-FFA6AFCF355C}"/>
              </a:ext>
            </a:extLst>
          </p:cNvPr>
          <p:cNvSpPr txBox="1"/>
          <p:nvPr/>
        </p:nvSpPr>
        <p:spPr>
          <a:xfrm>
            <a:off x="1625600" y="6019800"/>
            <a:ext cx="9334500" cy="266700"/>
          </a:xfrm>
          <a:prstGeom prst="rect">
            <a:avLst/>
          </a:prstGeom>
          <a:noFill/>
        </p:spPr>
        <p:txBody>
          <a:bodyPr vert="horz" wrap="square" lIns="0" tIns="0" rIns="0" bIns="0" rtlCol="0" anchor="t">
            <a:noAutofit/>
          </a:bodyPr>
          <a:lstStyle/>
          <a:p>
            <a:r>
              <a:rPr lang="es-CO" sz="1200" dirty="0">
                <a:solidFill>
                  <a:srgbClr val="4F5A6C"/>
                </a:solidFill>
                <a:latin typeface="Bell MT" panose="02020503060305020303" pitchFamily="18" charset="0"/>
              </a:rPr>
              <a:t>Ejecución local: 21-09-2026 · </a:t>
            </a:r>
            <a:r>
              <a:rPr lang="es-CO" sz="1200" dirty="0" err="1">
                <a:solidFill>
                  <a:srgbClr val="4F5A6C"/>
                </a:solidFill>
                <a:latin typeface="Bell MT" panose="02020503060305020303" pitchFamily="18" charset="0"/>
              </a:rPr>
              <a:t>commit</a:t>
            </a:r>
            <a:r>
              <a:rPr lang="es-CO" sz="1200" dirty="0">
                <a:solidFill>
                  <a:srgbClr val="4F5A6C"/>
                </a:solidFill>
                <a:latin typeface="Bell MT" panose="02020503060305020303" pitchFamily="18" charset="0"/>
              </a:rPr>
              <a:t> fd5e1318 · evidencia/</a:t>
            </a:r>
            <a:r>
              <a:rPr lang="es-CO" sz="1200" dirty="0" err="1">
                <a:solidFill>
                  <a:srgbClr val="4F5A6C"/>
                </a:solidFill>
                <a:latin typeface="Bell MT" panose="02020503060305020303" pitchFamily="18" charset="0"/>
              </a:rPr>
              <a:t>verificacion_tecnica</a:t>
            </a:r>
            <a:r>
              <a:rPr lang="es-CO" sz="1200" dirty="0">
                <a:solidFill>
                  <a:srgbClr val="4F5A6C"/>
                </a:solidFill>
                <a:latin typeface="Bell MT" panose="02020503060305020303" pitchFamily="18" charset="0"/>
              </a:rPr>
              <a:t>/.</a:t>
            </a:r>
          </a:p>
        </p:txBody>
      </p:sp>
      <p:sp>
        <p:nvSpPr>
          <p:cNvPr id="23" name="CEINNA_text_132">
            <a:extLst>
              <a:ext uri="{FF2B5EF4-FFF2-40B4-BE49-F238E27FC236}">
                <a16:creationId xmlns:a16="http://schemas.microsoft.com/office/drawing/2014/main" id="{BD172D0C-1626-695A-B3C5-F08BE42F4F56}"/>
              </a:ext>
            </a:extLst>
          </p:cNvPr>
          <p:cNvSpPr txBox="1"/>
          <p:nvPr/>
        </p:nvSpPr>
        <p:spPr>
          <a:xfrm>
            <a:off x="11036300" y="6032500"/>
            <a:ext cx="292100" cy="228600"/>
          </a:xfrm>
          <a:prstGeom prst="rect">
            <a:avLst/>
          </a:prstGeom>
          <a:noFill/>
        </p:spPr>
        <p:txBody>
          <a:bodyPr vert="horz" wrap="square" lIns="0" tIns="0" rIns="0" bIns="0" rtlCol="0" anchor="t">
            <a:noAutofit/>
          </a:bodyPr>
          <a:lstStyle/>
          <a:p>
            <a:r>
              <a:t>11</a:t>
            </a:r>
          </a:p>
        </p:txBody>
      </p:sp>
    </p:spTree>
    <p:custDataLst>
      <p:tags r:id="rId1"/>
    </p:custDataLst>
    <p:extLst>
      <p:ext uri="{BB962C8B-B14F-4D97-AF65-F5344CB8AC3E}">
        <p14:creationId xmlns:p14="http://schemas.microsoft.com/office/powerpoint/2010/main" val="4144129037"/>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F0C0B2F-ABCF-A16D-9B99-96619EC7347F}"/>
            </a:ext>
          </a:extLst>
        </p:cNvPr>
        <p:cNvGrpSpPr/>
        <p:nvPr/>
      </p:nvGrpSpPr>
      <p:grpSpPr>
        <a:xfrm>
          <a:off x="0" y="0"/>
          <a:ext cx="0" cy="0"/>
          <a:chOff x="0" y="0"/>
          <a:chExt cx="0" cy="0"/>
        </a:xfrm>
      </p:grpSpPr>
      <p:grpSp>
        <p:nvGrpSpPr>
          <p:cNvPr id="2" name="Grupo 1">
            <a:extLst>
              <a:ext uri="{FF2B5EF4-FFF2-40B4-BE49-F238E27FC236}">
                <a16:creationId xmlns:a16="http://schemas.microsoft.com/office/drawing/2014/main" id="{B5C8DCE7-7F59-F685-9165-4D848885236E}"/>
              </a:ext>
            </a:extLst>
          </p:cNvPr>
          <p:cNvGrpSpPr/>
          <p:nvPr/>
        </p:nvGrpSpPr>
        <p:grpSpPr>
          <a:xfrm>
            <a:off x="11555690" y="0"/>
            <a:ext cx="636310" cy="6876601"/>
            <a:chOff x="11555690" y="0"/>
            <a:chExt cx="636310" cy="6876601"/>
          </a:xfrm>
        </p:grpSpPr>
        <p:sp>
          <p:nvSpPr>
            <p:cNvPr id="3" name="Rectángulo 2">
              <a:extLst>
                <a:ext uri="{FF2B5EF4-FFF2-40B4-BE49-F238E27FC236}">
                  <a16:creationId xmlns:a16="http://schemas.microsoft.com/office/drawing/2014/main" id="{A8E3883C-A3FB-B076-D9C5-4593E728242E}"/>
                </a:ext>
              </a:extLst>
            </p:cNvPr>
            <p:cNvSpPr/>
            <p:nvPr/>
          </p:nvSpPr>
          <p:spPr>
            <a:xfrm>
              <a:off x="11557416" y="3496321"/>
              <a:ext cx="634584" cy="1813806"/>
            </a:xfrm>
            <a:prstGeom prst="rect">
              <a:avLst/>
            </a:prstGeom>
            <a:solidFill>
              <a:srgbClr val="000F4D"/>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CO"/>
            </a:p>
          </p:txBody>
        </p:sp>
        <p:sp>
          <p:nvSpPr>
            <p:cNvPr id="4" name="Rectángulo 3">
              <a:extLst>
                <a:ext uri="{FF2B5EF4-FFF2-40B4-BE49-F238E27FC236}">
                  <a16:creationId xmlns:a16="http://schemas.microsoft.com/office/drawing/2014/main" id="{7512944A-8633-A84A-8248-74134005AF6D}"/>
                </a:ext>
              </a:extLst>
            </p:cNvPr>
            <p:cNvSpPr/>
            <p:nvPr/>
          </p:nvSpPr>
          <p:spPr>
            <a:xfrm>
              <a:off x="11557416" y="5227683"/>
              <a:ext cx="634584" cy="1648918"/>
            </a:xfrm>
            <a:prstGeom prst="rect">
              <a:avLst/>
            </a:prstGeom>
            <a:solidFill>
              <a:srgbClr val="26B53B"/>
            </a:solidFill>
            <a:ln>
              <a:solidFill>
                <a:srgbClr val="23B53B"/>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CO"/>
            </a:p>
          </p:txBody>
        </p:sp>
        <p:sp>
          <p:nvSpPr>
            <p:cNvPr id="5" name="Rectángulo 4">
              <a:extLst>
                <a:ext uri="{FF2B5EF4-FFF2-40B4-BE49-F238E27FC236}">
                  <a16:creationId xmlns:a16="http://schemas.microsoft.com/office/drawing/2014/main" id="{17EF142A-3A8B-CD16-CBC7-83A3158E79B9}"/>
                </a:ext>
              </a:extLst>
            </p:cNvPr>
            <p:cNvSpPr/>
            <p:nvPr/>
          </p:nvSpPr>
          <p:spPr>
            <a:xfrm>
              <a:off x="11555690" y="0"/>
              <a:ext cx="634584" cy="1648918"/>
            </a:xfrm>
            <a:prstGeom prst="rect">
              <a:avLst/>
            </a:prstGeom>
            <a:solidFill>
              <a:srgbClr val="D9000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CO"/>
            </a:p>
          </p:txBody>
        </p:sp>
        <p:sp>
          <p:nvSpPr>
            <p:cNvPr id="6" name="Rectángulo 5">
              <a:extLst>
                <a:ext uri="{FF2B5EF4-FFF2-40B4-BE49-F238E27FC236}">
                  <a16:creationId xmlns:a16="http://schemas.microsoft.com/office/drawing/2014/main" id="{79078B8D-A80A-1F4B-6797-EB5D560913BE}"/>
                </a:ext>
              </a:extLst>
            </p:cNvPr>
            <p:cNvSpPr/>
            <p:nvPr/>
          </p:nvSpPr>
          <p:spPr>
            <a:xfrm>
              <a:off x="11557416" y="1656417"/>
              <a:ext cx="634584" cy="1813806"/>
            </a:xfrm>
            <a:prstGeom prst="rect">
              <a:avLst/>
            </a:prstGeom>
          </p:spPr>
          <p:style>
            <a:lnRef idx="2">
              <a:schemeClr val="dk1">
                <a:shade val="15000"/>
              </a:schemeClr>
            </a:lnRef>
            <a:fillRef idx="1">
              <a:schemeClr val="dk1"/>
            </a:fillRef>
            <a:effectRef idx="0">
              <a:schemeClr val="dk1"/>
            </a:effectRef>
            <a:fontRef idx="minor">
              <a:schemeClr val="lt1"/>
            </a:fontRef>
          </p:style>
          <p:txBody>
            <a:bodyPr rtlCol="0" anchor="ctr"/>
            <a:lstStyle/>
            <a:p>
              <a:pPr algn="ctr"/>
              <a:endParaRPr lang="es-CO"/>
            </a:p>
          </p:txBody>
        </p:sp>
      </p:grpSp>
      <p:pic>
        <p:nvPicPr>
          <p:cNvPr id="12" name="Imagen 11" descr="Diagrama&#10;&#10;El contenido generado por inteligencia artificial puede ser incorrecto.">
            <a:extLst>
              <a:ext uri="{FF2B5EF4-FFF2-40B4-BE49-F238E27FC236}">
                <a16:creationId xmlns:a16="http://schemas.microsoft.com/office/drawing/2014/main" id="{2AEAE2C5-BA4A-C173-EB20-5D20DFF34BC0}"/>
              </a:ext>
            </a:extLst>
          </p:cNvPr>
          <p:cNvPicPr>
            <a:picLocks noChangeAspect="1"/>
          </p:cNvPicPr>
          <p:nvPr/>
        </p:nvPicPr>
        <p:blipFill>
          <a:blip r:embed="rId4"/>
          <a:srcRect l="6260" t="10344" r="5922" b="28494"/>
          <a:stretch/>
        </p:blipFill>
        <p:spPr>
          <a:xfrm>
            <a:off x="-1859" y="2180"/>
            <a:ext cx="1742137" cy="1508926"/>
          </a:xfrm>
          <a:prstGeom prst="rect">
            <a:avLst/>
          </a:prstGeom>
        </p:spPr>
      </p:pic>
      <p:sp>
        <p:nvSpPr>
          <p:cNvPr id="13" name="CuadroTexto 12">
            <a:extLst>
              <a:ext uri="{FF2B5EF4-FFF2-40B4-BE49-F238E27FC236}">
                <a16:creationId xmlns:a16="http://schemas.microsoft.com/office/drawing/2014/main" id="{6B36561D-2D6B-4EDE-A51D-6DA6EACFF66A}"/>
              </a:ext>
            </a:extLst>
          </p:cNvPr>
          <p:cNvSpPr txBox="1"/>
          <p:nvPr/>
        </p:nvSpPr>
        <p:spPr>
          <a:xfrm>
            <a:off x="1618938" y="6368002"/>
            <a:ext cx="9218951" cy="369332"/>
          </a:xfrm>
          <a:prstGeom prst="rect">
            <a:avLst/>
          </a:prstGeom>
          <a:noFill/>
        </p:spPr>
        <p:txBody>
          <a:bodyPr wrap="square" rtlCol="0">
            <a:spAutoFit/>
          </a:bodyPr>
          <a:lstStyle/>
          <a:p>
            <a:pPr algn="ctr"/>
            <a:r>
              <a:rPr lang="es-CO" sz="1800" i="1" kern="100" dirty="0">
                <a:solidFill>
                  <a:srgbClr val="242424"/>
                </a:solidFill>
                <a:effectLst/>
                <a:latin typeface="Bell MT" panose="02020503060305020303" pitchFamily="18" charset="0"/>
                <a:ea typeface="Aptos" panose="020B0004020202020204" pitchFamily="34" charset="0"/>
                <a:cs typeface="Times New Roman" panose="02020603050405020304" pitchFamily="18" charset="0"/>
              </a:rPr>
              <a:t>“Del conocimiento a la capacidad estratégica”</a:t>
            </a:r>
            <a:endParaRPr lang="es-CO" sz="1800" i="1" kern="100" dirty="0">
              <a:effectLst/>
              <a:latin typeface="Bell MT" panose="02020503060305020303" pitchFamily="18" charset="0"/>
              <a:ea typeface="Aptos" panose="020B0004020202020204" pitchFamily="34" charset="0"/>
              <a:cs typeface="Times New Roman" panose="02020603050405020304" pitchFamily="18" charset="0"/>
            </a:endParaRPr>
          </a:p>
        </p:txBody>
      </p:sp>
      <p:sp>
        <p:nvSpPr>
          <p:cNvPr id="7" name="CEINNA_text_133">
            <a:extLst>
              <a:ext uri="{FF2B5EF4-FFF2-40B4-BE49-F238E27FC236}">
                <a16:creationId xmlns:a16="http://schemas.microsoft.com/office/drawing/2014/main" id="{41212CE5-E749-BAD0-B68A-44D69101CAFD}"/>
              </a:ext>
            </a:extLst>
          </p:cNvPr>
          <p:cNvSpPr txBox="1"/>
          <p:nvPr/>
        </p:nvSpPr>
        <p:spPr>
          <a:xfrm>
            <a:off x="1841500" y="368299"/>
            <a:ext cx="8966200" cy="876300"/>
          </a:xfrm>
          <a:prstGeom prst="rect">
            <a:avLst/>
          </a:prstGeom>
          <a:noFill/>
        </p:spPr>
        <p:txBody>
          <a:bodyPr vert="horz" wrap="square" lIns="0" tIns="0" rIns="0" bIns="0" rtlCol="0" anchor="t">
            <a:noAutofit/>
          </a:bodyPr>
          <a:lstStyle/>
          <a:p>
            <a:pPr algn="ctr"/>
            <a:r>
              <a:rPr lang="es-CO" sz="3900" b="1" dirty="0">
                <a:solidFill>
                  <a:srgbClr val="000F4D"/>
                </a:solidFill>
                <a:latin typeface="Bell MT" panose="02020503060305020303" pitchFamily="18" charset="0"/>
              </a:rPr>
              <a:t>Análisis de medidas repetidas</a:t>
            </a:r>
          </a:p>
        </p:txBody>
      </p:sp>
      <p:sp>
        <p:nvSpPr>
          <p:cNvPr id="9" name="CEINNA_text_134">
            <a:extLst>
              <a:ext uri="{FF2B5EF4-FFF2-40B4-BE49-F238E27FC236}">
                <a16:creationId xmlns:a16="http://schemas.microsoft.com/office/drawing/2014/main" id="{3107450D-44EA-5052-CE8E-3B028CE1E25A}"/>
              </a:ext>
            </a:extLst>
          </p:cNvPr>
          <p:cNvSpPr txBox="1"/>
          <p:nvPr/>
        </p:nvSpPr>
        <p:spPr>
          <a:xfrm>
            <a:off x="1663700" y="1816099"/>
            <a:ext cx="9398000" cy="520700"/>
          </a:xfrm>
          <a:prstGeom prst="rect">
            <a:avLst/>
          </a:prstGeom>
          <a:noFill/>
        </p:spPr>
        <p:txBody>
          <a:bodyPr vert="horz" wrap="square" lIns="0" tIns="0" rIns="0" bIns="0" rtlCol="0" anchor="t">
            <a:noAutofit/>
          </a:bodyPr>
          <a:lstStyle/>
          <a:p>
            <a:r>
              <a:rPr lang="es-CO" sz="2800" b="1" dirty="0">
                <a:solidFill>
                  <a:srgbClr val="000F4D"/>
                </a:solidFill>
                <a:latin typeface="Bell MT" panose="02020503060305020303" pitchFamily="18" charset="0"/>
              </a:rPr>
              <a:t>Unidad de seguimiento: la persona</a:t>
            </a:r>
          </a:p>
        </p:txBody>
      </p:sp>
      <p:sp>
        <p:nvSpPr>
          <p:cNvPr id="11" name="CEINNA_box_135">
            <a:extLst>
              <a:ext uri="{FF2B5EF4-FFF2-40B4-BE49-F238E27FC236}">
                <a16:creationId xmlns:a16="http://schemas.microsoft.com/office/drawing/2014/main" id="{766BE1E0-ABF4-0DD8-F4B0-E5D519A76F74}"/>
              </a:ext>
            </a:extLst>
          </p:cNvPr>
          <p:cNvSpPr/>
          <p:nvPr/>
        </p:nvSpPr>
        <p:spPr>
          <a:xfrm>
            <a:off x="1663700" y="2705100"/>
            <a:ext cx="5613400" cy="1371600"/>
          </a:xfrm>
          <a:prstGeom prst="rect">
            <a:avLst/>
          </a:prstGeom>
          <a:solidFill>
            <a:srgbClr val="EEF1F7"/>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CO"/>
          </a:p>
        </p:txBody>
      </p:sp>
      <p:sp>
        <p:nvSpPr>
          <p:cNvPr id="14" name="CEINNA_text_136">
            <a:extLst>
              <a:ext uri="{FF2B5EF4-FFF2-40B4-BE49-F238E27FC236}">
                <a16:creationId xmlns:a16="http://schemas.microsoft.com/office/drawing/2014/main" id="{B5E8FB76-2316-EC22-B942-826947054A2E}"/>
              </a:ext>
            </a:extLst>
          </p:cNvPr>
          <p:cNvSpPr txBox="1"/>
          <p:nvPr/>
        </p:nvSpPr>
        <p:spPr>
          <a:xfrm>
            <a:off x="1854200" y="3073399"/>
            <a:ext cx="5232400" cy="546100"/>
          </a:xfrm>
          <a:prstGeom prst="rect">
            <a:avLst/>
          </a:prstGeom>
          <a:noFill/>
        </p:spPr>
        <p:txBody>
          <a:bodyPr vert="horz" wrap="square" lIns="0" tIns="0" rIns="0" bIns="0" rtlCol="0" anchor="t">
            <a:noAutofit/>
          </a:bodyPr>
          <a:lstStyle/>
          <a:p>
            <a:pPr algn="ctr"/>
            <a:r>
              <a:rPr lang="es-CO" sz="3000" b="1" dirty="0">
                <a:solidFill>
                  <a:srgbClr val="000F4D"/>
                </a:solidFill>
                <a:latin typeface="Bell MT" panose="02020503060305020303" pitchFamily="18" charset="0"/>
              </a:rPr>
              <a:t>Persona → visita → bloque</a:t>
            </a:r>
          </a:p>
        </p:txBody>
      </p:sp>
      <p:sp>
        <p:nvSpPr>
          <p:cNvPr id="15" name="CEINNA_text_137">
            <a:extLst>
              <a:ext uri="{FF2B5EF4-FFF2-40B4-BE49-F238E27FC236}">
                <a16:creationId xmlns:a16="http://schemas.microsoft.com/office/drawing/2014/main" id="{08B3943B-6840-0E8C-DC24-3C0D05D71C67}"/>
              </a:ext>
            </a:extLst>
          </p:cNvPr>
          <p:cNvSpPr txBox="1"/>
          <p:nvPr/>
        </p:nvSpPr>
        <p:spPr>
          <a:xfrm>
            <a:off x="1676400" y="4444999"/>
            <a:ext cx="5600700" cy="1295400"/>
          </a:xfrm>
          <a:prstGeom prst="rect">
            <a:avLst/>
          </a:prstGeom>
          <a:noFill/>
        </p:spPr>
        <p:txBody>
          <a:bodyPr vert="horz" wrap="square" lIns="0" tIns="0" rIns="0" bIns="0" rtlCol="0" anchor="t">
            <a:noAutofit/>
          </a:bodyPr>
          <a:lstStyle/>
          <a:p>
            <a:r>
              <a:rPr lang="es-CO" sz="2400" dirty="0">
                <a:solidFill>
                  <a:srgbClr val="242424"/>
                </a:solidFill>
                <a:latin typeface="Bell MT" panose="02020503060305020303" pitchFamily="18" charset="0"/>
              </a:rPr>
              <a:t>Trayectorias individuales
Contrastes entre condiciones
Cambios entre visitas</a:t>
            </a:r>
          </a:p>
        </p:txBody>
      </p:sp>
      <p:sp>
        <p:nvSpPr>
          <p:cNvPr id="16" name="CEINNA_text_138">
            <a:extLst>
              <a:ext uri="{FF2B5EF4-FFF2-40B4-BE49-F238E27FC236}">
                <a16:creationId xmlns:a16="http://schemas.microsoft.com/office/drawing/2014/main" id="{669BCCE3-61FB-5EED-0D2C-A8E24BC0EDD9}"/>
              </a:ext>
            </a:extLst>
          </p:cNvPr>
          <p:cNvSpPr txBox="1"/>
          <p:nvPr/>
        </p:nvSpPr>
        <p:spPr>
          <a:xfrm>
            <a:off x="7797800" y="2679699"/>
            <a:ext cx="3378200" cy="457200"/>
          </a:xfrm>
          <a:prstGeom prst="rect">
            <a:avLst/>
          </a:prstGeom>
          <a:noFill/>
        </p:spPr>
        <p:txBody>
          <a:bodyPr vert="horz" wrap="square" lIns="0" tIns="0" rIns="0" bIns="0" rtlCol="0" anchor="t">
            <a:noAutofit/>
          </a:bodyPr>
          <a:lstStyle/>
          <a:p>
            <a:r>
              <a:rPr lang="es-CO" sz="2500" b="1" dirty="0">
                <a:solidFill>
                  <a:srgbClr val="000F4D"/>
                </a:solidFill>
                <a:latin typeface="Bell MT" panose="02020503060305020303" pitchFamily="18" charset="0"/>
              </a:rPr>
              <a:t>Contexto de medición</a:t>
            </a:r>
          </a:p>
        </p:txBody>
      </p:sp>
      <p:sp>
        <p:nvSpPr>
          <p:cNvPr id="17" name="CEINNA_text_139">
            <a:extLst>
              <a:ext uri="{FF2B5EF4-FFF2-40B4-BE49-F238E27FC236}">
                <a16:creationId xmlns:a16="http://schemas.microsoft.com/office/drawing/2014/main" id="{DC6E25A4-BDD1-F684-F106-62600D867B23}"/>
              </a:ext>
            </a:extLst>
          </p:cNvPr>
          <p:cNvSpPr txBox="1"/>
          <p:nvPr/>
        </p:nvSpPr>
        <p:spPr>
          <a:xfrm>
            <a:off x="7797800" y="3314699"/>
            <a:ext cx="3365500" cy="2260600"/>
          </a:xfrm>
          <a:prstGeom prst="rect">
            <a:avLst/>
          </a:prstGeom>
          <a:noFill/>
        </p:spPr>
        <p:txBody>
          <a:bodyPr vert="horz" wrap="square" lIns="0" tIns="0" rIns="0" bIns="0" rtlCol="0" anchor="t">
            <a:noAutofit/>
          </a:bodyPr>
          <a:lstStyle/>
          <a:p>
            <a:r>
              <a:rPr lang="es-CO" sz="2400" dirty="0">
                <a:solidFill>
                  <a:srgbClr val="242424"/>
                </a:solidFill>
                <a:latin typeface="Bell MT" panose="02020503060305020303" pitchFamily="18" charset="0"/>
              </a:rPr>
              <a:t>Orden de bloques
Hora y estación
Sueño previo
Días desde V0</a:t>
            </a:r>
          </a:p>
        </p:txBody>
      </p:sp>
      <p:sp>
        <p:nvSpPr>
          <p:cNvPr id="18" name="CEINNA_text_140">
            <a:extLst>
              <a:ext uri="{FF2B5EF4-FFF2-40B4-BE49-F238E27FC236}">
                <a16:creationId xmlns:a16="http://schemas.microsoft.com/office/drawing/2014/main" id="{C5AFA459-2671-CA63-0716-F896B48BB351}"/>
              </a:ext>
            </a:extLst>
          </p:cNvPr>
          <p:cNvSpPr txBox="1"/>
          <p:nvPr/>
        </p:nvSpPr>
        <p:spPr>
          <a:xfrm>
            <a:off x="1625600" y="6019800"/>
            <a:ext cx="9334500" cy="266700"/>
          </a:xfrm>
          <a:prstGeom prst="rect">
            <a:avLst/>
          </a:prstGeom>
          <a:noFill/>
        </p:spPr>
        <p:txBody>
          <a:bodyPr vert="horz" wrap="square" lIns="0" tIns="0" rIns="0" bIns="0" rtlCol="0" anchor="t">
            <a:noAutofit/>
          </a:bodyPr>
          <a:lstStyle/>
          <a:p>
            <a:r>
              <a:rPr lang="es-CO" sz="1200" dirty="0">
                <a:solidFill>
                  <a:srgbClr val="4F5A6C"/>
                </a:solidFill>
                <a:latin typeface="Bell MT" panose="02020503060305020303" pitchFamily="18" charset="0"/>
              </a:rPr>
              <a:t>[3,4] </a:t>
            </a:r>
            <a:r>
              <a:rPr lang="es-CO" sz="1200" dirty="0" err="1">
                <a:solidFill>
                  <a:srgbClr val="4F5A6C"/>
                </a:solidFill>
                <a:latin typeface="Bell MT" panose="02020503060305020303" pitchFamily="18" charset="0"/>
              </a:rPr>
              <a:t>Pontiggia</a:t>
            </a:r>
            <a:r>
              <a:rPr lang="es-CO" sz="1200" dirty="0">
                <a:solidFill>
                  <a:srgbClr val="4F5A6C"/>
                </a:solidFill>
                <a:latin typeface="Bell MT" panose="02020503060305020303" pitchFamily="18" charset="0"/>
              </a:rPr>
              <a:t> et al., 2024 (experimento); </a:t>
            </a:r>
            <a:r>
              <a:rPr lang="es-CO" sz="1200" dirty="0" err="1">
                <a:solidFill>
                  <a:srgbClr val="4F5A6C"/>
                </a:solidFill>
                <a:latin typeface="Bell MT" panose="02020503060305020303" pitchFamily="18" charset="0"/>
              </a:rPr>
              <a:t>Tortello</a:t>
            </a:r>
            <a:r>
              <a:rPr lang="es-CO" sz="1200" dirty="0">
                <a:solidFill>
                  <a:srgbClr val="4F5A6C"/>
                </a:solidFill>
                <a:latin typeface="Bell MT" panose="02020503060305020303" pitchFamily="18" charset="0"/>
              </a:rPr>
              <a:t> et al., 2020. Manual §4.7.</a:t>
            </a:r>
          </a:p>
        </p:txBody>
      </p:sp>
      <p:sp>
        <p:nvSpPr>
          <p:cNvPr id="19" name="CEINNA_text_141">
            <a:extLst>
              <a:ext uri="{FF2B5EF4-FFF2-40B4-BE49-F238E27FC236}">
                <a16:creationId xmlns:a16="http://schemas.microsoft.com/office/drawing/2014/main" id="{52DA4ABB-5E2D-C332-C000-E3F39BEA7CEC}"/>
              </a:ext>
            </a:extLst>
          </p:cNvPr>
          <p:cNvSpPr txBox="1"/>
          <p:nvPr/>
        </p:nvSpPr>
        <p:spPr>
          <a:xfrm>
            <a:off x="11036300" y="6032500"/>
            <a:ext cx="292100" cy="228600"/>
          </a:xfrm>
          <a:prstGeom prst="rect">
            <a:avLst/>
          </a:prstGeom>
          <a:noFill/>
        </p:spPr>
        <p:txBody>
          <a:bodyPr vert="horz" wrap="square" lIns="0" tIns="0" rIns="0" bIns="0" rtlCol="0" anchor="t">
            <a:noAutofit/>
          </a:bodyPr>
          <a:lstStyle/>
          <a:p>
            <a:r>
              <a:t>12</a:t>
            </a:r>
          </a:p>
        </p:txBody>
      </p:sp>
    </p:spTree>
    <p:custDataLst>
      <p:tags r:id="rId1"/>
    </p:custDataLst>
    <p:extLst>
      <p:ext uri="{BB962C8B-B14F-4D97-AF65-F5344CB8AC3E}">
        <p14:creationId xmlns:p14="http://schemas.microsoft.com/office/powerpoint/2010/main" val="3156824910"/>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F0C0B2F-ABCF-A16D-9B99-96619EC7347F}"/>
            </a:ext>
          </a:extLst>
        </p:cNvPr>
        <p:cNvGrpSpPr/>
        <p:nvPr/>
      </p:nvGrpSpPr>
      <p:grpSpPr>
        <a:xfrm>
          <a:off x="0" y="0"/>
          <a:ext cx="0" cy="0"/>
          <a:chOff x="0" y="0"/>
          <a:chExt cx="0" cy="0"/>
        </a:xfrm>
      </p:grpSpPr>
      <p:grpSp>
        <p:nvGrpSpPr>
          <p:cNvPr id="2" name="Grupo 1">
            <a:extLst>
              <a:ext uri="{FF2B5EF4-FFF2-40B4-BE49-F238E27FC236}">
                <a16:creationId xmlns:a16="http://schemas.microsoft.com/office/drawing/2014/main" id="{B5C8DCE7-7F59-F685-9165-4D848885236E}"/>
              </a:ext>
            </a:extLst>
          </p:cNvPr>
          <p:cNvGrpSpPr/>
          <p:nvPr/>
        </p:nvGrpSpPr>
        <p:grpSpPr>
          <a:xfrm>
            <a:off x="11555690" y="0"/>
            <a:ext cx="636310" cy="6876601"/>
            <a:chOff x="11555690" y="0"/>
            <a:chExt cx="636310" cy="6876601"/>
          </a:xfrm>
        </p:grpSpPr>
        <p:sp>
          <p:nvSpPr>
            <p:cNvPr id="3" name="Rectángulo 2">
              <a:extLst>
                <a:ext uri="{FF2B5EF4-FFF2-40B4-BE49-F238E27FC236}">
                  <a16:creationId xmlns:a16="http://schemas.microsoft.com/office/drawing/2014/main" id="{A8E3883C-A3FB-B076-D9C5-4593E728242E}"/>
                </a:ext>
              </a:extLst>
            </p:cNvPr>
            <p:cNvSpPr/>
            <p:nvPr/>
          </p:nvSpPr>
          <p:spPr>
            <a:xfrm>
              <a:off x="11557416" y="3496321"/>
              <a:ext cx="634584" cy="1813806"/>
            </a:xfrm>
            <a:prstGeom prst="rect">
              <a:avLst/>
            </a:prstGeom>
            <a:solidFill>
              <a:srgbClr val="000F4D"/>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CO"/>
            </a:p>
          </p:txBody>
        </p:sp>
        <p:sp>
          <p:nvSpPr>
            <p:cNvPr id="4" name="Rectángulo 3">
              <a:extLst>
                <a:ext uri="{FF2B5EF4-FFF2-40B4-BE49-F238E27FC236}">
                  <a16:creationId xmlns:a16="http://schemas.microsoft.com/office/drawing/2014/main" id="{7512944A-8633-A84A-8248-74134005AF6D}"/>
                </a:ext>
              </a:extLst>
            </p:cNvPr>
            <p:cNvSpPr/>
            <p:nvPr/>
          </p:nvSpPr>
          <p:spPr>
            <a:xfrm>
              <a:off x="11557416" y="5227683"/>
              <a:ext cx="634584" cy="1648918"/>
            </a:xfrm>
            <a:prstGeom prst="rect">
              <a:avLst/>
            </a:prstGeom>
            <a:solidFill>
              <a:srgbClr val="26B53B"/>
            </a:solidFill>
            <a:ln>
              <a:solidFill>
                <a:srgbClr val="23B53B"/>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CO"/>
            </a:p>
          </p:txBody>
        </p:sp>
        <p:sp>
          <p:nvSpPr>
            <p:cNvPr id="5" name="Rectángulo 4">
              <a:extLst>
                <a:ext uri="{FF2B5EF4-FFF2-40B4-BE49-F238E27FC236}">
                  <a16:creationId xmlns:a16="http://schemas.microsoft.com/office/drawing/2014/main" id="{17EF142A-3A8B-CD16-CBC7-83A3158E79B9}"/>
                </a:ext>
              </a:extLst>
            </p:cNvPr>
            <p:cNvSpPr/>
            <p:nvPr/>
          </p:nvSpPr>
          <p:spPr>
            <a:xfrm>
              <a:off x="11555690" y="0"/>
              <a:ext cx="634584" cy="1648918"/>
            </a:xfrm>
            <a:prstGeom prst="rect">
              <a:avLst/>
            </a:prstGeom>
            <a:solidFill>
              <a:srgbClr val="D9000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CO"/>
            </a:p>
          </p:txBody>
        </p:sp>
        <p:sp>
          <p:nvSpPr>
            <p:cNvPr id="6" name="Rectángulo 5">
              <a:extLst>
                <a:ext uri="{FF2B5EF4-FFF2-40B4-BE49-F238E27FC236}">
                  <a16:creationId xmlns:a16="http://schemas.microsoft.com/office/drawing/2014/main" id="{79078B8D-A80A-1F4B-6797-EB5D560913BE}"/>
                </a:ext>
              </a:extLst>
            </p:cNvPr>
            <p:cNvSpPr/>
            <p:nvPr/>
          </p:nvSpPr>
          <p:spPr>
            <a:xfrm>
              <a:off x="11557416" y="1656417"/>
              <a:ext cx="634584" cy="1813806"/>
            </a:xfrm>
            <a:prstGeom prst="rect">
              <a:avLst/>
            </a:prstGeom>
          </p:spPr>
          <p:style>
            <a:lnRef idx="2">
              <a:schemeClr val="dk1">
                <a:shade val="15000"/>
              </a:schemeClr>
            </a:lnRef>
            <a:fillRef idx="1">
              <a:schemeClr val="dk1"/>
            </a:fillRef>
            <a:effectRef idx="0">
              <a:schemeClr val="dk1"/>
            </a:effectRef>
            <a:fontRef idx="minor">
              <a:schemeClr val="lt1"/>
            </a:fontRef>
          </p:style>
          <p:txBody>
            <a:bodyPr rtlCol="0" anchor="ctr"/>
            <a:lstStyle/>
            <a:p>
              <a:pPr algn="ctr"/>
              <a:endParaRPr lang="es-CO"/>
            </a:p>
          </p:txBody>
        </p:sp>
      </p:grpSp>
      <p:pic>
        <p:nvPicPr>
          <p:cNvPr id="12" name="Imagen 11" descr="Diagrama&#10;&#10;El contenido generado por inteligencia artificial puede ser incorrecto.">
            <a:extLst>
              <a:ext uri="{FF2B5EF4-FFF2-40B4-BE49-F238E27FC236}">
                <a16:creationId xmlns:a16="http://schemas.microsoft.com/office/drawing/2014/main" id="{2AEAE2C5-BA4A-C173-EB20-5D20DFF34BC0}"/>
              </a:ext>
            </a:extLst>
          </p:cNvPr>
          <p:cNvPicPr>
            <a:picLocks noChangeAspect="1"/>
          </p:cNvPicPr>
          <p:nvPr/>
        </p:nvPicPr>
        <p:blipFill>
          <a:blip r:embed="rId4"/>
          <a:srcRect l="6260" t="10344" r="5922" b="28494"/>
          <a:stretch/>
        </p:blipFill>
        <p:spPr>
          <a:xfrm>
            <a:off x="-1859" y="2180"/>
            <a:ext cx="1742137" cy="1508926"/>
          </a:xfrm>
          <a:prstGeom prst="rect">
            <a:avLst/>
          </a:prstGeom>
        </p:spPr>
      </p:pic>
      <p:sp>
        <p:nvSpPr>
          <p:cNvPr id="13" name="CuadroTexto 12">
            <a:extLst>
              <a:ext uri="{FF2B5EF4-FFF2-40B4-BE49-F238E27FC236}">
                <a16:creationId xmlns:a16="http://schemas.microsoft.com/office/drawing/2014/main" id="{6B36561D-2D6B-4EDE-A51D-6DA6EACFF66A}"/>
              </a:ext>
            </a:extLst>
          </p:cNvPr>
          <p:cNvSpPr txBox="1"/>
          <p:nvPr/>
        </p:nvSpPr>
        <p:spPr>
          <a:xfrm>
            <a:off x="1618938" y="6368002"/>
            <a:ext cx="9218951" cy="369332"/>
          </a:xfrm>
          <a:prstGeom prst="rect">
            <a:avLst/>
          </a:prstGeom>
          <a:noFill/>
        </p:spPr>
        <p:txBody>
          <a:bodyPr wrap="square" rtlCol="0">
            <a:spAutoFit/>
          </a:bodyPr>
          <a:lstStyle/>
          <a:p>
            <a:pPr algn="ctr"/>
            <a:r>
              <a:rPr lang="es-CO" sz="1800" i="1" kern="100" dirty="0">
                <a:solidFill>
                  <a:srgbClr val="242424"/>
                </a:solidFill>
                <a:effectLst/>
                <a:latin typeface="Bell MT" panose="02020503060305020303" pitchFamily="18" charset="0"/>
                <a:ea typeface="Aptos" panose="020B0004020202020204" pitchFamily="34" charset="0"/>
                <a:cs typeface="Times New Roman" panose="02020603050405020304" pitchFamily="18" charset="0"/>
              </a:rPr>
              <a:t>“Del conocimiento a la capacidad estratégica”</a:t>
            </a:r>
            <a:endParaRPr lang="es-CO" sz="1800" i="1" kern="100" dirty="0">
              <a:effectLst/>
              <a:latin typeface="Bell MT" panose="02020503060305020303" pitchFamily="18" charset="0"/>
              <a:ea typeface="Aptos" panose="020B0004020202020204" pitchFamily="34" charset="0"/>
              <a:cs typeface="Times New Roman" panose="02020603050405020304" pitchFamily="18" charset="0"/>
            </a:endParaRPr>
          </a:p>
        </p:txBody>
      </p:sp>
      <p:sp>
        <p:nvSpPr>
          <p:cNvPr id="7" name="CEINNA_text_142">
            <a:extLst>
              <a:ext uri="{FF2B5EF4-FFF2-40B4-BE49-F238E27FC236}">
                <a16:creationId xmlns:a16="http://schemas.microsoft.com/office/drawing/2014/main" id="{2C98495D-9BB7-45CF-08C5-0985266B9F7F}"/>
              </a:ext>
            </a:extLst>
          </p:cNvPr>
          <p:cNvSpPr txBox="1"/>
          <p:nvPr/>
        </p:nvSpPr>
        <p:spPr>
          <a:xfrm>
            <a:off x="1841500" y="368299"/>
            <a:ext cx="8966200" cy="876300"/>
          </a:xfrm>
          <a:prstGeom prst="rect">
            <a:avLst/>
          </a:prstGeom>
          <a:noFill/>
        </p:spPr>
        <p:txBody>
          <a:bodyPr vert="horz" wrap="square" lIns="0" tIns="0" rIns="0" bIns="0" rtlCol="0" anchor="t">
            <a:noAutofit/>
          </a:bodyPr>
          <a:lstStyle/>
          <a:p>
            <a:pPr algn="ctr"/>
            <a:r>
              <a:rPr lang="es-CO" sz="3700" b="1" dirty="0">
                <a:solidFill>
                  <a:srgbClr val="000F4D"/>
                </a:solidFill>
                <a:latin typeface="Bell MT" panose="02020503060305020303" pitchFamily="18" charset="0"/>
              </a:rPr>
              <a:t>Marco de calificación científica</a:t>
            </a:r>
          </a:p>
        </p:txBody>
      </p:sp>
      <p:sp>
        <p:nvSpPr>
          <p:cNvPr id="9" name="CEINNA_box_143">
            <a:extLst>
              <a:ext uri="{FF2B5EF4-FFF2-40B4-BE49-F238E27FC236}">
                <a16:creationId xmlns:a16="http://schemas.microsoft.com/office/drawing/2014/main" id="{700248BA-9F64-0FB0-ADEA-44AC2E2FB1D3}"/>
              </a:ext>
            </a:extLst>
          </p:cNvPr>
          <p:cNvSpPr/>
          <p:nvPr/>
        </p:nvSpPr>
        <p:spPr>
          <a:xfrm>
            <a:off x="1676400" y="1790700"/>
            <a:ext cx="9512300" cy="584200"/>
          </a:xfrm>
          <a:prstGeom prst="rect">
            <a:avLst/>
          </a:prstGeom>
          <a:solidFill>
            <a:srgbClr val="EEF1F7"/>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CO"/>
          </a:p>
        </p:txBody>
      </p:sp>
      <p:sp>
        <p:nvSpPr>
          <p:cNvPr id="11" name="CEINNA_text_144">
            <a:extLst>
              <a:ext uri="{FF2B5EF4-FFF2-40B4-BE49-F238E27FC236}">
                <a16:creationId xmlns:a16="http://schemas.microsoft.com/office/drawing/2014/main" id="{0308D846-0CEA-6FD9-3D23-87B718F80FF0}"/>
              </a:ext>
            </a:extLst>
          </p:cNvPr>
          <p:cNvSpPr txBox="1"/>
          <p:nvPr/>
        </p:nvSpPr>
        <p:spPr>
          <a:xfrm>
            <a:off x="1841500" y="1892299"/>
            <a:ext cx="2844800" cy="431800"/>
          </a:xfrm>
          <a:prstGeom prst="rect">
            <a:avLst/>
          </a:prstGeom>
          <a:noFill/>
        </p:spPr>
        <p:txBody>
          <a:bodyPr vert="horz" wrap="square" lIns="0" tIns="0" rIns="0" bIns="0" rtlCol="0" anchor="t">
            <a:noAutofit/>
          </a:bodyPr>
          <a:lstStyle/>
          <a:p>
            <a:r>
              <a:rPr lang="es-CO" sz="2300" b="1" dirty="0">
                <a:solidFill>
                  <a:srgbClr val="000F4D"/>
                </a:solidFill>
                <a:latin typeface="Bell MT" panose="02020503060305020303" pitchFamily="18" charset="0"/>
              </a:rPr>
              <a:t>Reproducción</a:t>
            </a:r>
          </a:p>
        </p:txBody>
      </p:sp>
      <p:sp>
        <p:nvSpPr>
          <p:cNvPr id="14" name="CEINNA_text_145">
            <a:extLst>
              <a:ext uri="{FF2B5EF4-FFF2-40B4-BE49-F238E27FC236}">
                <a16:creationId xmlns:a16="http://schemas.microsoft.com/office/drawing/2014/main" id="{E4F00E24-2F08-07F9-9164-40CFCF788A6F}"/>
              </a:ext>
            </a:extLst>
          </p:cNvPr>
          <p:cNvSpPr txBox="1"/>
          <p:nvPr/>
        </p:nvSpPr>
        <p:spPr>
          <a:xfrm>
            <a:off x="4914900" y="1892299"/>
            <a:ext cx="6108700" cy="431800"/>
          </a:xfrm>
          <a:prstGeom prst="rect">
            <a:avLst/>
          </a:prstGeom>
          <a:noFill/>
        </p:spPr>
        <p:txBody>
          <a:bodyPr vert="horz" wrap="square" lIns="0" tIns="0" rIns="0" bIns="0" rtlCol="0" anchor="t">
            <a:noAutofit/>
          </a:bodyPr>
          <a:lstStyle/>
          <a:p>
            <a:r>
              <a:rPr lang="es-CO" sz="2200" dirty="0">
                <a:solidFill>
                  <a:srgbClr val="242424"/>
                </a:solidFill>
                <a:latin typeface="Bell MT" panose="02020503060305020303" pitchFamily="18" charset="0"/>
              </a:rPr>
              <a:t>¿Se repite el escenario programado?</a:t>
            </a:r>
          </a:p>
        </p:txBody>
      </p:sp>
      <p:sp>
        <p:nvSpPr>
          <p:cNvPr id="15" name="CEINNA_box_146">
            <a:extLst>
              <a:ext uri="{FF2B5EF4-FFF2-40B4-BE49-F238E27FC236}">
                <a16:creationId xmlns:a16="http://schemas.microsoft.com/office/drawing/2014/main" id="{6C284D01-F341-6142-8CCF-53178B606723}"/>
              </a:ext>
            </a:extLst>
          </p:cNvPr>
          <p:cNvSpPr/>
          <p:nvPr/>
        </p:nvSpPr>
        <p:spPr>
          <a:xfrm>
            <a:off x="1676400" y="2489200"/>
            <a:ext cx="9512300" cy="584200"/>
          </a:xfrm>
          <a:prstGeom prst="rect">
            <a:avLst/>
          </a:prstGeom>
          <a:solidFill>
            <a:srgbClr val="FFFFFF"/>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CO"/>
          </a:p>
        </p:txBody>
      </p:sp>
      <p:sp>
        <p:nvSpPr>
          <p:cNvPr id="16" name="CEINNA_text_147">
            <a:extLst>
              <a:ext uri="{FF2B5EF4-FFF2-40B4-BE49-F238E27FC236}">
                <a16:creationId xmlns:a16="http://schemas.microsoft.com/office/drawing/2014/main" id="{4709A773-363E-7B3F-0166-CED0BEB6A11E}"/>
              </a:ext>
            </a:extLst>
          </p:cNvPr>
          <p:cNvSpPr txBox="1"/>
          <p:nvPr/>
        </p:nvSpPr>
        <p:spPr>
          <a:xfrm>
            <a:off x="1841500" y="2590799"/>
            <a:ext cx="2844800" cy="431800"/>
          </a:xfrm>
          <a:prstGeom prst="rect">
            <a:avLst/>
          </a:prstGeom>
          <a:noFill/>
        </p:spPr>
        <p:txBody>
          <a:bodyPr vert="horz" wrap="square" lIns="0" tIns="0" rIns="0" bIns="0" rtlCol="0" anchor="t">
            <a:noAutofit/>
          </a:bodyPr>
          <a:lstStyle/>
          <a:p>
            <a:r>
              <a:rPr lang="es-CO" sz="2300" b="1" dirty="0">
                <a:solidFill>
                  <a:srgbClr val="000F4D"/>
                </a:solidFill>
                <a:latin typeface="Bell MT" panose="02020503060305020303" pitchFamily="18" charset="0"/>
              </a:rPr>
              <a:t>Fidelidad temporal</a:t>
            </a:r>
          </a:p>
        </p:txBody>
      </p:sp>
      <p:sp>
        <p:nvSpPr>
          <p:cNvPr id="17" name="CEINNA_text_148">
            <a:extLst>
              <a:ext uri="{FF2B5EF4-FFF2-40B4-BE49-F238E27FC236}">
                <a16:creationId xmlns:a16="http://schemas.microsoft.com/office/drawing/2014/main" id="{80B97976-2BD2-DE04-88B5-ABDCA6C60203}"/>
              </a:ext>
            </a:extLst>
          </p:cNvPr>
          <p:cNvSpPr txBox="1"/>
          <p:nvPr/>
        </p:nvSpPr>
        <p:spPr>
          <a:xfrm>
            <a:off x="4914900" y="2590799"/>
            <a:ext cx="6108700" cy="431800"/>
          </a:xfrm>
          <a:prstGeom prst="rect">
            <a:avLst/>
          </a:prstGeom>
          <a:noFill/>
        </p:spPr>
        <p:txBody>
          <a:bodyPr vert="horz" wrap="square" lIns="0" tIns="0" rIns="0" bIns="0" rtlCol="0" anchor="t">
            <a:noAutofit/>
          </a:bodyPr>
          <a:lstStyle/>
          <a:p>
            <a:r>
              <a:rPr lang="es-CO" sz="2200" dirty="0">
                <a:solidFill>
                  <a:srgbClr val="242424"/>
                </a:solidFill>
                <a:latin typeface="Bell MT" panose="02020503060305020303" pitchFamily="18" charset="0"/>
              </a:rPr>
              <a:t>¿Cuándo se presenta el estímulo físico?</a:t>
            </a:r>
          </a:p>
        </p:txBody>
      </p:sp>
      <p:sp>
        <p:nvSpPr>
          <p:cNvPr id="18" name="CEINNA_box_149">
            <a:extLst>
              <a:ext uri="{FF2B5EF4-FFF2-40B4-BE49-F238E27FC236}">
                <a16:creationId xmlns:a16="http://schemas.microsoft.com/office/drawing/2014/main" id="{EDE18A10-A2A9-73BB-1081-756A5A5BBE0F}"/>
              </a:ext>
            </a:extLst>
          </p:cNvPr>
          <p:cNvSpPr/>
          <p:nvPr/>
        </p:nvSpPr>
        <p:spPr>
          <a:xfrm>
            <a:off x="1676400" y="3187700"/>
            <a:ext cx="9512300" cy="584200"/>
          </a:xfrm>
          <a:prstGeom prst="rect">
            <a:avLst/>
          </a:prstGeom>
          <a:solidFill>
            <a:srgbClr val="EEF1F7"/>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CO"/>
          </a:p>
        </p:txBody>
      </p:sp>
      <p:sp>
        <p:nvSpPr>
          <p:cNvPr id="19" name="CEINNA_text_150">
            <a:extLst>
              <a:ext uri="{FF2B5EF4-FFF2-40B4-BE49-F238E27FC236}">
                <a16:creationId xmlns:a16="http://schemas.microsoft.com/office/drawing/2014/main" id="{6EEE861C-4293-2667-F2F8-34CEAD2E273D}"/>
              </a:ext>
            </a:extLst>
          </p:cNvPr>
          <p:cNvSpPr txBox="1"/>
          <p:nvPr/>
        </p:nvSpPr>
        <p:spPr>
          <a:xfrm>
            <a:off x="1841500" y="3289299"/>
            <a:ext cx="2844800" cy="431800"/>
          </a:xfrm>
          <a:prstGeom prst="rect">
            <a:avLst/>
          </a:prstGeom>
          <a:noFill/>
        </p:spPr>
        <p:txBody>
          <a:bodyPr vert="horz" wrap="square" lIns="0" tIns="0" rIns="0" bIns="0" rtlCol="0" anchor="t">
            <a:noAutofit/>
          </a:bodyPr>
          <a:lstStyle/>
          <a:p>
            <a:r>
              <a:rPr lang="es-CO" sz="2300" b="1" dirty="0">
                <a:solidFill>
                  <a:srgbClr val="000F4D"/>
                </a:solidFill>
                <a:latin typeface="Bell MT" panose="02020503060305020303" pitchFamily="18" charset="0"/>
              </a:rPr>
              <a:t>Respuesta humana</a:t>
            </a:r>
          </a:p>
        </p:txBody>
      </p:sp>
      <p:sp>
        <p:nvSpPr>
          <p:cNvPr id="20" name="CEINNA_text_151">
            <a:extLst>
              <a:ext uri="{FF2B5EF4-FFF2-40B4-BE49-F238E27FC236}">
                <a16:creationId xmlns:a16="http://schemas.microsoft.com/office/drawing/2014/main" id="{1C6B560C-4BE2-4AD7-5C18-E918E5BE9D99}"/>
              </a:ext>
            </a:extLst>
          </p:cNvPr>
          <p:cNvSpPr txBox="1"/>
          <p:nvPr/>
        </p:nvSpPr>
        <p:spPr>
          <a:xfrm>
            <a:off x="4914900" y="3289299"/>
            <a:ext cx="6108700" cy="431800"/>
          </a:xfrm>
          <a:prstGeom prst="rect">
            <a:avLst/>
          </a:prstGeom>
          <a:noFill/>
        </p:spPr>
        <p:txBody>
          <a:bodyPr vert="horz" wrap="square" lIns="0" tIns="0" rIns="0" bIns="0" rtlCol="0" anchor="t">
            <a:noAutofit/>
          </a:bodyPr>
          <a:lstStyle/>
          <a:p>
            <a:r>
              <a:rPr lang="es-CO" sz="2200" dirty="0">
                <a:solidFill>
                  <a:srgbClr val="242424"/>
                </a:solidFill>
                <a:latin typeface="Bell MT" panose="02020503060305020303" pitchFamily="18" charset="0"/>
              </a:rPr>
              <a:t>¿Cómo se relacionan demanda y respuesta?</a:t>
            </a:r>
          </a:p>
        </p:txBody>
      </p:sp>
      <p:sp>
        <p:nvSpPr>
          <p:cNvPr id="21" name="CEINNA_box_152">
            <a:extLst>
              <a:ext uri="{FF2B5EF4-FFF2-40B4-BE49-F238E27FC236}">
                <a16:creationId xmlns:a16="http://schemas.microsoft.com/office/drawing/2014/main" id="{FC5D9BA8-C925-BAB6-A7A6-39E1E66B6D2D}"/>
              </a:ext>
            </a:extLst>
          </p:cNvPr>
          <p:cNvSpPr/>
          <p:nvPr/>
        </p:nvSpPr>
        <p:spPr>
          <a:xfrm>
            <a:off x="1676400" y="3886200"/>
            <a:ext cx="9512300" cy="584200"/>
          </a:xfrm>
          <a:prstGeom prst="rect">
            <a:avLst/>
          </a:prstGeom>
          <a:solidFill>
            <a:srgbClr val="FFFFFF"/>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CO"/>
          </a:p>
        </p:txBody>
      </p:sp>
      <p:sp>
        <p:nvSpPr>
          <p:cNvPr id="22" name="CEINNA_text_153">
            <a:extLst>
              <a:ext uri="{FF2B5EF4-FFF2-40B4-BE49-F238E27FC236}">
                <a16:creationId xmlns:a16="http://schemas.microsoft.com/office/drawing/2014/main" id="{B3A367BA-00B2-37DE-3969-B7463CE69599}"/>
              </a:ext>
            </a:extLst>
          </p:cNvPr>
          <p:cNvSpPr txBox="1"/>
          <p:nvPr/>
        </p:nvSpPr>
        <p:spPr>
          <a:xfrm>
            <a:off x="1841500" y="3987799"/>
            <a:ext cx="2844800" cy="431800"/>
          </a:xfrm>
          <a:prstGeom prst="rect">
            <a:avLst/>
          </a:prstGeom>
          <a:noFill/>
        </p:spPr>
        <p:txBody>
          <a:bodyPr vert="horz" wrap="square" lIns="0" tIns="0" rIns="0" bIns="0" rtlCol="0" anchor="t">
            <a:noAutofit/>
          </a:bodyPr>
          <a:lstStyle/>
          <a:p>
            <a:r>
              <a:rPr lang="es-CO" sz="2300" b="1" dirty="0">
                <a:solidFill>
                  <a:srgbClr val="000F4D"/>
                </a:solidFill>
                <a:latin typeface="Bell MT" panose="02020503060305020303" pitchFamily="18" charset="0"/>
              </a:rPr>
              <a:t>Estabilidad</a:t>
            </a:r>
          </a:p>
        </p:txBody>
      </p:sp>
      <p:sp>
        <p:nvSpPr>
          <p:cNvPr id="23" name="CEINNA_text_154">
            <a:extLst>
              <a:ext uri="{FF2B5EF4-FFF2-40B4-BE49-F238E27FC236}">
                <a16:creationId xmlns:a16="http://schemas.microsoft.com/office/drawing/2014/main" id="{444255BA-F268-D7B4-AD04-FA983B6AEEE5}"/>
              </a:ext>
            </a:extLst>
          </p:cNvPr>
          <p:cNvSpPr txBox="1"/>
          <p:nvPr/>
        </p:nvSpPr>
        <p:spPr>
          <a:xfrm>
            <a:off x="4914900" y="3987799"/>
            <a:ext cx="6108700" cy="431800"/>
          </a:xfrm>
          <a:prstGeom prst="rect">
            <a:avLst/>
          </a:prstGeom>
          <a:noFill/>
        </p:spPr>
        <p:txBody>
          <a:bodyPr vert="horz" wrap="square" lIns="0" tIns="0" rIns="0" bIns="0" rtlCol="0" anchor="t">
            <a:noAutofit/>
          </a:bodyPr>
          <a:lstStyle/>
          <a:p>
            <a:r>
              <a:rPr lang="es-CO" sz="2200" dirty="0">
                <a:solidFill>
                  <a:srgbClr val="242424"/>
                </a:solidFill>
                <a:latin typeface="Bell MT" panose="02020503060305020303" pitchFamily="18" charset="0"/>
              </a:rPr>
              <a:t>¿Qué variación aparece al repetir la medición?</a:t>
            </a:r>
          </a:p>
        </p:txBody>
      </p:sp>
      <p:sp>
        <p:nvSpPr>
          <p:cNvPr id="24" name="CEINNA_box_155">
            <a:extLst>
              <a:ext uri="{FF2B5EF4-FFF2-40B4-BE49-F238E27FC236}">
                <a16:creationId xmlns:a16="http://schemas.microsoft.com/office/drawing/2014/main" id="{3C99BC2D-00DE-63CA-29DC-A8CCDE2C58C7}"/>
              </a:ext>
            </a:extLst>
          </p:cNvPr>
          <p:cNvSpPr/>
          <p:nvPr/>
        </p:nvSpPr>
        <p:spPr>
          <a:xfrm>
            <a:off x="1676400" y="4584700"/>
            <a:ext cx="9512300" cy="584200"/>
          </a:xfrm>
          <a:prstGeom prst="rect">
            <a:avLst/>
          </a:prstGeom>
          <a:solidFill>
            <a:srgbClr val="EEF1F7"/>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CO"/>
          </a:p>
        </p:txBody>
      </p:sp>
      <p:sp>
        <p:nvSpPr>
          <p:cNvPr id="25" name="CEINNA_text_156">
            <a:extLst>
              <a:ext uri="{FF2B5EF4-FFF2-40B4-BE49-F238E27FC236}">
                <a16:creationId xmlns:a16="http://schemas.microsoft.com/office/drawing/2014/main" id="{7DDFE552-4E38-DF89-C5DE-9457DAA30A95}"/>
              </a:ext>
            </a:extLst>
          </p:cNvPr>
          <p:cNvSpPr txBox="1"/>
          <p:nvPr/>
        </p:nvSpPr>
        <p:spPr>
          <a:xfrm>
            <a:off x="1841500" y="4686299"/>
            <a:ext cx="2844800" cy="431800"/>
          </a:xfrm>
          <a:prstGeom prst="rect">
            <a:avLst/>
          </a:prstGeom>
          <a:noFill/>
        </p:spPr>
        <p:txBody>
          <a:bodyPr vert="horz" wrap="square" lIns="0" tIns="0" rIns="0" bIns="0" rtlCol="0" anchor="t">
            <a:noAutofit/>
          </a:bodyPr>
          <a:lstStyle/>
          <a:p>
            <a:r>
              <a:rPr lang="es-CO" sz="2300" b="1" dirty="0">
                <a:solidFill>
                  <a:srgbClr val="000F4D"/>
                </a:solidFill>
                <a:latin typeface="Bell MT" panose="02020503060305020303" pitchFamily="18" charset="0"/>
              </a:rPr>
              <a:t>Comparabilidad</a:t>
            </a:r>
          </a:p>
        </p:txBody>
      </p:sp>
      <p:sp>
        <p:nvSpPr>
          <p:cNvPr id="26" name="CEINNA_text_157">
            <a:extLst>
              <a:ext uri="{FF2B5EF4-FFF2-40B4-BE49-F238E27FC236}">
                <a16:creationId xmlns:a16="http://schemas.microsoft.com/office/drawing/2014/main" id="{1523126B-3E80-1EF2-4076-5E84037E729A}"/>
              </a:ext>
            </a:extLst>
          </p:cNvPr>
          <p:cNvSpPr txBox="1"/>
          <p:nvPr/>
        </p:nvSpPr>
        <p:spPr>
          <a:xfrm>
            <a:off x="4914900" y="4686299"/>
            <a:ext cx="6108700" cy="431800"/>
          </a:xfrm>
          <a:prstGeom prst="rect">
            <a:avLst/>
          </a:prstGeom>
          <a:noFill/>
        </p:spPr>
        <p:txBody>
          <a:bodyPr vert="horz" wrap="square" lIns="0" tIns="0" rIns="0" bIns="0" rtlCol="0" anchor="t">
            <a:noAutofit/>
          </a:bodyPr>
          <a:lstStyle/>
          <a:p>
            <a:r>
              <a:rPr lang="es-CO" sz="2200" dirty="0">
                <a:solidFill>
                  <a:srgbClr val="242424"/>
                </a:solidFill>
                <a:latin typeface="Bell MT" panose="02020503060305020303" pitchFamily="18" charset="0"/>
              </a:rPr>
              <a:t>¿Qué se conserva entre implementaciones?</a:t>
            </a:r>
          </a:p>
        </p:txBody>
      </p:sp>
      <p:sp>
        <p:nvSpPr>
          <p:cNvPr id="27" name="CEINNA_text_158">
            <a:extLst>
              <a:ext uri="{FF2B5EF4-FFF2-40B4-BE49-F238E27FC236}">
                <a16:creationId xmlns:a16="http://schemas.microsoft.com/office/drawing/2014/main" id="{5FA6CD81-4F73-FFD2-1BF3-C105776B53B4}"/>
              </a:ext>
            </a:extLst>
          </p:cNvPr>
          <p:cNvSpPr txBox="1"/>
          <p:nvPr/>
        </p:nvSpPr>
        <p:spPr>
          <a:xfrm>
            <a:off x="1676400" y="5499099"/>
            <a:ext cx="9512300" cy="381000"/>
          </a:xfrm>
          <a:prstGeom prst="rect">
            <a:avLst/>
          </a:prstGeom>
          <a:noFill/>
        </p:spPr>
        <p:txBody>
          <a:bodyPr vert="horz" wrap="square" lIns="0" tIns="0" rIns="0" bIns="0" rtlCol="0" anchor="t">
            <a:noAutofit/>
          </a:bodyPr>
          <a:lstStyle/>
          <a:p>
            <a:r>
              <a:rPr lang="es-CO" sz="2200" b="1" dirty="0">
                <a:solidFill>
                  <a:srgbClr val="000F4D"/>
                </a:solidFill>
                <a:latin typeface="Bell MT" panose="02020503060305020303" pitchFamily="18" charset="0"/>
              </a:rPr>
              <a:t>Cada pregunta se vincula con su procedimiento y evidencia específicos.</a:t>
            </a:r>
          </a:p>
        </p:txBody>
      </p:sp>
      <p:sp>
        <p:nvSpPr>
          <p:cNvPr id="28" name="CEINNA_text_159">
            <a:extLst>
              <a:ext uri="{FF2B5EF4-FFF2-40B4-BE49-F238E27FC236}">
                <a16:creationId xmlns:a16="http://schemas.microsoft.com/office/drawing/2014/main" id="{C9ED5E09-A3F8-EEEC-6AD5-62E9A3A4E955}"/>
              </a:ext>
            </a:extLst>
          </p:cNvPr>
          <p:cNvSpPr txBox="1"/>
          <p:nvPr/>
        </p:nvSpPr>
        <p:spPr>
          <a:xfrm>
            <a:off x="1625600" y="6019800"/>
            <a:ext cx="9334500" cy="266700"/>
          </a:xfrm>
          <a:prstGeom prst="rect">
            <a:avLst/>
          </a:prstGeom>
          <a:noFill/>
        </p:spPr>
        <p:txBody>
          <a:bodyPr vert="horz" wrap="square" lIns="0" tIns="0" rIns="0" bIns="0" rtlCol="0" anchor="t">
            <a:noAutofit/>
          </a:bodyPr>
          <a:lstStyle/>
          <a:p>
            <a:r>
              <a:rPr lang="es-CO" sz="1200" dirty="0">
                <a:solidFill>
                  <a:srgbClr val="4F5A6C"/>
                </a:solidFill>
                <a:latin typeface="Bell MT" panose="02020503060305020303" pitchFamily="18" charset="0"/>
              </a:rPr>
              <a:t>Marco del proyecto: resúmenes CEINNA y contratos locales; contexto metodológico [1,2,5].</a:t>
            </a:r>
          </a:p>
        </p:txBody>
      </p:sp>
      <p:sp>
        <p:nvSpPr>
          <p:cNvPr id="29" name="CEINNA_text_160">
            <a:extLst>
              <a:ext uri="{FF2B5EF4-FFF2-40B4-BE49-F238E27FC236}">
                <a16:creationId xmlns:a16="http://schemas.microsoft.com/office/drawing/2014/main" id="{450CA09F-B93B-F29C-B1EA-E1D4C18A23C4}"/>
              </a:ext>
            </a:extLst>
          </p:cNvPr>
          <p:cNvSpPr txBox="1"/>
          <p:nvPr/>
        </p:nvSpPr>
        <p:spPr>
          <a:xfrm>
            <a:off x="11036300" y="6032500"/>
            <a:ext cx="292100" cy="228600"/>
          </a:xfrm>
          <a:prstGeom prst="rect">
            <a:avLst/>
          </a:prstGeom>
          <a:noFill/>
        </p:spPr>
        <p:txBody>
          <a:bodyPr vert="horz" wrap="square" lIns="0" tIns="0" rIns="0" bIns="0" rtlCol="0" anchor="t">
            <a:noAutofit/>
          </a:bodyPr>
          <a:lstStyle/>
          <a:p>
            <a:r>
              <a:t>13</a:t>
            </a:r>
          </a:p>
        </p:txBody>
      </p:sp>
    </p:spTree>
    <p:custDataLst>
      <p:tags r:id="rId1"/>
    </p:custDataLst>
    <p:extLst>
      <p:ext uri="{BB962C8B-B14F-4D97-AF65-F5344CB8AC3E}">
        <p14:creationId xmlns:p14="http://schemas.microsoft.com/office/powerpoint/2010/main" val="749403221"/>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F0C0B2F-ABCF-A16D-9B99-96619EC7347F}"/>
            </a:ext>
          </a:extLst>
        </p:cNvPr>
        <p:cNvGrpSpPr/>
        <p:nvPr/>
      </p:nvGrpSpPr>
      <p:grpSpPr>
        <a:xfrm>
          <a:off x="0" y="0"/>
          <a:ext cx="0" cy="0"/>
          <a:chOff x="0" y="0"/>
          <a:chExt cx="0" cy="0"/>
        </a:xfrm>
      </p:grpSpPr>
      <p:grpSp>
        <p:nvGrpSpPr>
          <p:cNvPr id="2" name="Grupo 1">
            <a:extLst>
              <a:ext uri="{FF2B5EF4-FFF2-40B4-BE49-F238E27FC236}">
                <a16:creationId xmlns:a16="http://schemas.microsoft.com/office/drawing/2014/main" id="{B5C8DCE7-7F59-F685-9165-4D848885236E}"/>
              </a:ext>
            </a:extLst>
          </p:cNvPr>
          <p:cNvGrpSpPr/>
          <p:nvPr/>
        </p:nvGrpSpPr>
        <p:grpSpPr>
          <a:xfrm>
            <a:off x="11555690" y="0"/>
            <a:ext cx="636310" cy="6876601"/>
            <a:chOff x="11555690" y="0"/>
            <a:chExt cx="636310" cy="6876601"/>
          </a:xfrm>
        </p:grpSpPr>
        <p:sp>
          <p:nvSpPr>
            <p:cNvPr id="3" name="Rectángulo 2">
              <a:extLst>
                <a:ext uri="{FF2B5EF4-FFF2-40B4-BE49-F238E27FC236}">
                  <a16:creationId xmlns:a16="http://schemas.microsoft.com/office/drawing/2014/main" id="{A8E3883C-A3FB-B076-D9C5-4593E728242E}"/>
                </a:ext>
              </a:extLst>
            </p:cNvPr>
            <p:cNvSpPr/>
            <p:nvPr/>
          </p:nvSpPr>
          <p:spPr>
            <a:xfrm>
              <a:off x="11557416" y="3496321"/>
              <a:ext cx="634584" cy="1813806"/>
            </a:xfrm>
            <a:prstGeom prst="rect">
              <a:avLst/>
            </a:prstGeom>
            <a:solidFill>
              <a:srgbClr val="000F4D"/>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CO"/>
            </a:p>
          </p:txBody>
        </p:sp>
        <p:sp>
          <p:nvSpPr>
            <p:cNvPr id="4" name="Rectángulo 3">
              <a:extLst>
                <a:ext uri="{FF2B5EF4-FFF2-40B4-BE49-F238E27FC236}">
                  <a16:creationId xmlns:a16="http://schemas.microsoft.com/office/drawing/2014/main" id="{7512944A-8633-A84A-8248-74134005AF6D}"/>
                </a:ext>
              </a:extLst>
            </p:cNvPr>
            <p:cNvSpPr/>
            <p:nvPr/>
          </p:nvSpPr>
          <p:spPr>
            <a:xfrm>
              <a:off x="11557416" y="5227683"/>
              <a:ext cx="634584" cy="1648918"/>
            </a:xfrm>
            <a:prstGeom prst="rect">
              <a:avLst/>
            </a:prstGeom>
            <a:solidFill>
              <a:srgbClr val="26B53B"/>
            </a:solidFill>
            <a:ln>
              <a:solidFill>
                <a:srgbClr val="23B53B"/>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CO"/>
            </a:p>
          </p:txBody>
        </p:sp>
        <p:sp>
          <p:nvSpPr>
            <p:cNvPr id="5" name="Rectángulo 4">
              <a:extLst>
                <a:ext uri="{FF2B5EF4-FFF2-40B4-BE49-F238E27FC236}">
                  <a16:creationId xmlns:a16="http://schemas.microsoft.com/office/drawing/2014/main" id="{17EF142A-3A8B-CD16-CBC7-83A3158E79B9}"/>
                </a:ext>
              </a:extLst>
            </p:cNvPr>
            <p:cNvSpPr/>
            <p:nvPr/>
          </p:nvSpPr>
          <p:spPr>
            <a:xfrm>
              <a:off x="11555690" y="0"/>
              <a:ext cx="634584" cy="1648918"/>
            </a:xfrm>
            <a:prstGeom prst="rect">
              <a:avLst/>
            </a:prstGeom>
            <a:solidFill>
              <a:srgbClr val="D9000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CO"/>
            </a:p>
          </p:txBody>
        </p:sp>
        <p:sp>
          <p:nvSpPr>
            <p:cNvPr id="6" name="Rectángulo 5">
              <a:extLst>
                <a:ext uri="{FF2B5EF4-FFF2-40B4-BE49-F238E27FC236}">
                  <a16:creationId xmlns:a16="http://schemas.microsoft.com/office/drawing/2014/main" id="{79078B8D-A80A-1F4B-6797-EB5D560913BE}"/>
                </a:ext>
              </a:extLst>
            </p:cNvPr>
            <p:cNvSpPr/>
            <p:nvPr/>
          </p:nvSpPr>
          <p:spPr>
            <a:xfrm>
              <a:off x="11557416" y="1656417"/>
              <a:ext cx="634584" cy="1813806"/>
            </a:xfrm>
            <a:prstGeom prst="rect">
              <a:avLst/>
            </a:prstGeom>
          </p:spPr>
          <p:style>
            <a:lnRef idx="2">
              <a:schemeClr val="dk1">
                <a:shade val="15000"/>
              </a:schemeClr>
            </a:lnRef>
            <a:fillRef idx="1">
              <a:schemeClr val="dk1"/>
            </a:fillRef>
            <a:effectRef idx="0">
              <a:schemeClr val="dk1"/>
            </a:effectRef>
            <a:fontRef idx="minor">
              <a:schemeClr val="lt1"/>
            </a:fontRef>
          </p:style>
          <p:txBody>
            <a:bodyPr rtlCol="0" anchor="ctr"/>
            <a:lstStyle/>
            <a:p>
              <a:pPr algn="ctr"/>
              <a:endParaRPr lang="es-CO"/>
            </a:p>
          </p:txBody>
        </p:sp>
      </p:grpSp>
      <p:pic>
        <p:nvPicPr>
          <p:cNvPr id="12" name="Imagen 11" descr="Diagrama&#10;&#10;El contenido generado por inteligencia artificial puede ser incorrecto.">
            <a:extLst>
              <a:ext uri="{FF2B5EF4-FFF2-40B4-BE49-F238E27FC236}">
                <a16:creationId xmlns:a16="http://schemas.microsoft.com/office/drawing/2014/main" id="{2AEAE2C5-BA4A-C173-EB20-5D20DFF34BC0}"/>
              </a:ext>
            </a:extLst>
          </p:cNvPr>
          <p:cNvPicPr>
            <a:picLocks noChangeAspect="1"/>
          </p:cNvPicPr>
          <p:nvPr/>
        </p:nvPicPr>
        <p:blipFill>
          <a:blip r:embed="rId4"/>
          <a:srcRect l="6260" t="10344" r="5922" b="28494"/>
          <a:stretch/>
        </p:blipFill>
        <p:spPr>
          <a:xfrm>
            <a:off x="-1859" y="2180"/>
            <a:ext cx="1742137" cy="1508926"/>
          </a:xfrm>
          <a:prstGeom prst="rect">
            <a:avLst/>
          </a:prstGeom>
        </p:spPr>
      </p:pic>
      <p:sp>
        <p:nvSpPr>
          <p:cNvPr id="13" name="CuadroTexto 12">
            <a:extLst>
              <a:ext uri="{FF2B5EF4-FFF2-40B4-BE49-F238E27FC236}">
                <a16:creationId xmlns:a16="http://schemas.microsoft.com/office/drawing/2014/main" id="{4DC38E82-7351-479E-95E0-92862B8BF264}"/>
              </a:ext>
            </a:extLst>
          </p:cNvPr>
          <p:cNvSpPr txBox="1"/>
          <p:nvPr/>
        </p:nvSpPr>
        <p:spPr>
          <a:xfrm>
            <a:off x="1618938" y="6368002"/>
            <a:ext cx="9218951" cy="369332"/>
          </a:xfrm>
          <a:prstGeom prst="rect">
            <a:avLst/>
          </a:prstGeom>
          <a:noFill/>
        </p:spPr>
        <p:txBody>
          <a:bodyPr wrap="square" rtlCol="0">
            <a:spAutoFit/>
          </a:bodyPr>
          <a:lstStyle/>
          <a:p>
            <a:pPr algn="ctr"/>
            <a:r>
              <a:rPr lang="es-CO" sz="1800" i="1" kern="100" dirty="0">
                <a:solidFill>
                  <a:srgbClr val="242424"/>
                </a:solidFill>
                <a:effectLst/>
                <a:latin typeface="Bell MT" panose="02020503060305020303" pitchFamily="18" charset="0"/>
                <a:ea typeface="Aptos" panose="020B0004020202020204" pitchFamily="34" charset="0"/>
                <a:cs typeface="Times New Roman" panose="02020603050405020304" pitchFamily="18" charset="0"/>
              </a:rPr>
              <a:t>“Del conocimiento a la capacidad estratégica”</a:t>
            </a:r>
            <a:endParaRPr lang="es-CO" sz="1800" i="1" kern="100" dirty="0">
              <a:effectLst/>
              <a:latin typeface="Bell MT" panose="02020503060305020303" pitchFamily="18" charset="0"/>
              <a:ea typeface="Aptos" panose="020B0004020202020204" pitchFamily="34" charset="0"/>
              <a:cs typeface="Times New Roman" panose="02020603050405020304" pitchFamily="18" charset="0"/>
            </a:endParaRPr>
          </a:p>
        </p:txBody>
      </p:sp>
      <p:sp>
        <p:nvSpPr>
          <p:cNvPr id="7" name="CEINNA_text_161">
            <a:extLst>
              <a:ext uri="{FF2B5EF4-FFF2-40B4-BE49-F238E27FC236}">
                <a16:creationId xmlns:a16="http://schemas.microsoft.com/office/drawing/2014/main" id="{F2659C27-C2C0-9F8C-BE83-09A1832CCA41}"/>
              </a:ext>
            </a:extLst>
          </p:cNvPr>
          <p:cNvSpPr txBox="1"/>
          <p:nvPr/>
        </p:nvSpPr>
        <p:spPr>
          <a:xfrm>
            <a:off x="1841500" y="368299"/>
            <a:ext cx="8966200" cy="876300"/>
          </a:xfrm>
          <a:prstGeom prst="rect">
            <a:avLst/>
          </a:prstGeom>
          <a:noFill/>
        </p:spPr>
        <p:txBody>
          <a:bodyPr vert="horz" wrap="square" lIns="0" tIns="0" rIns="0" bIns="0" rtlCol="0" anchor="t">
            <a:noAutofit/>
          </a:bodyPr>
          <a:lstStyle/>
          <a:p>
            <a:pPr algn="ctr"/>
            <a:r>
              <a:rPr lang="es-CO" sz="3600" b="1" dirty="0">
                <a:solidFill>
                  <a:srgbClr val="000F4D"/>
                </a:solidFill>
                <a:latin typeface="Bell MT" panose="02020503060305020303" pitchFamily="18" charset="0"/>
              </a:rPr>
              <a:t>Conclusiones y recomendaciones</a:t>
            </a:r>
          </a:p>
        </p:txBody>
      </p:sp>
      <p:sp>
        <p:nvSpPr>
          <p:cNvPr id="9" name="CEINNA_text_162">
            <a:extLst>
              <a:ext uri="{FF2B5EF4-FFF2-40B4-BE49-F238E27FC236}">
                <a16:creationId xmlns:a16="http://schemas.microsoft.com/office/drawing/2014/main" id="{CC8B3F84-0451-0020-67A6-A2D87089F87A}"/>
              </a:ext>
            </a:extLst>
          </p:cNvPr>
          <p:cNvSpPr txBox="1"/>
          <p:nvPr/>
        </p:nvSpPr>
        <p:spPr>
          <a:xfrm>
            <a:off x="1689100" y="1816099"/>
            <a:ext cx="596900" cy="533400"/>
          </a:xfrm>
          <a:prstGeom prst="rect">
            <a:avLst/>
          </a:prstGeom>
          <a:noFill/>
        </p:spPr>
        <p:txBody>
          <a:bodyPr vert="horz" wrap="square" lIns="0" tIns="0" rIns="0" bIns="0" rtlCol="0" anchor="t">
            <a:noAutofit/>
          </a:bodyPr>
          <a:lstStyle/>
          <a:p>
            <a:r>
              <a:rPr lang="es-CO" sz="3100" b="1" dirty="0">
                <a:solidFill>
                  <a:srgbClr val="000F4D"/>
                </a:solidFill>
                <a:latin typeface="Bell MT" panose="02020503060305020303" pitchFamily="18" charset="0"/>
              </a:rPr>
              <a:t>1</a:t>
            </a:r>
          </a:p>
        </p:txBody>
      </p:sp>
      <p:sp>
        <p:nvSpPr>
          <p:cNvPr id="11" name="CEINNA_text_163">
            <a:extLst>
              <a:ext uri="{FF2B5EF4-FFF2-40B4-BE49-F238E27FC236}">
                <a16:creationId xmlns:a16="http://schemas.microsoft.com/office/drawing/2014/main" id="{1FED7A69-90E2-13AA-3F60-6F1A04A66F42}"/>
              </a:ext>
            </a:extLst>
          </p:cNvPr>
          <p:cNvSpPr txBox="1"/>
          <p:nvPr/>
        </p:nvSpPr>
        <p:spPr>
          <a:xfrm>
            <a:off x="2451100" y="1816099"/>
            <a:ext cx="8686800" cy="914400"/>
          </a:xfrm>
          <a:prstGeom prst="rect">
            <a:avLst/>
          </a:prstGeom>
          <a:noFill/>
        </p:spPr>
        <p:txBody>
          <a:bodyPr vert="horz" wrap="square" lIns="0" tIns="0" rIns="0" bIns="0" rtlCol="0" anchor="t">
            <a:noAutofit/>
          </a:bodyPr>
          <a:lstStyle/>
          <a:p>
            <a:r>
              <a:rPr lang="es-CO" sz="2700" dirty="0">
                <a:solidFill>
                  <a:srgbClr val="242424"/>
                </a:solidFill>
                <a:latin typeface="Bell MT" panose="02020503060305020303" pitchFamily="18" charset="0"/>
              </a:rPr>
              <a:t>Describir la demanda hace interpretable la comparación entre condiciones.</a:t>
            </a:r>
          </a:p>
        </p:txBody>
      </p:sp>
      <p:sp>
        <p:nvSpPr>
          <p:cNvPr id="14" name="CEINNA_text_164">
            <a:extLst>
              <a:ext uri="{FF2B5EF4-FFF2-40B4-BE49-F238E27FC236}">
                <a16:creationId xmlns:a16="http://schemas.microsoft.com/office/drawing/2014/main" id="{42D71870-59A0-39B1-9B90-48CDF7A7C758}"/>
              </a:ext>
            </a:extLst>
          </p:cNvPr>
          <p:cNvSpPr txBox="1"/>
          <p:nvPr/>
        </p:nvSpPr>
        <p:spPr>
          <a:xfrm>
            <a:off x="1689100" y="2984499"/>
            <a:ext cx="596900" cy="533400"/>
          </a:xfrm>
          <a:prstGeom prst="rect">
            <a:avLst/>
          </a:prstGeom>
          <a:noFill/>
        </p:spPr>
        <p:txBody>
          <a:bodyPr vert="horz" wrap="square" lIns="0" tIns="0" rIns="0" bIns="0" rtlCol="0" anchor="t">
            <a:noAutofit/>
          </a:bodyPr>
          <a:lstStyle/>
          <a:p>
            <a:r>
              <a:rPr lang="es-CO" sz="3100" b="1" dirty="0">
                <a:solidFill>
                  <a:srgbClr val="000F4D"/>
                </a:solidFill>
                <a:latin typeface="Bell MT" panose="02020503060305020303" pitchFamily="18" charset="0"/>
              </a:rPr>
              <a:t>2</a:t>
            </a:r>
          </a:p>
        </p:txBody>
      </p:sp>
      <p:sp>
        <p:nvSpPr>
          <p:cNvPr id="15" name="CEINNA_text_165">
            <a:extLst>
              <a:ext uri="{FF2B5EF4-FFF2-40B4-BE49-F238E27FC236}">
                <a16:creationId xmlns:a16="http://schemas.microsoft.com/office/drawing/2014/main" id="{DB6E1928-B43E-2548-7FBB-A50A2A875788}"/>
              </a:ext>
            </a:extLst>
          </p:cNvPr>
          <p:cNvSpPr txBox="1"/>
          <p:nvPr/>
        </p:nvSpPr>
        <p:spPr>
          <a:xfrm>
            <a:off x="2451100" y="2984499"/>
            <a:ext cx="8686800" cy="914400"/>
          </a:xfrm>
          <a:prstGeom prst="rect">
            <a:avLst/>
          </a:prstGeom>
          <a:noFill/>
        </p:spPr>
        <p:txBody>
          <a:bodyPr vert="horz" wrap="square" lIns="0" tIns="0" rIns="0" bIns="0" rtlCol="0" anchor="t">
            <a:noAutofit/>
          </a:bodyPr>
          <a:lstStyle/>
          <a:p>
            <a:r>
              <a:rPr lang="es-CO" sz="2700" dirty="0">
                <a:solidFill>
                  <a:srgbClr val="242424"/>
                </a:solidFill>
                <a:latin typeface="Bell MT" panose="02020503060305020303" pitchFamily="18" charset="0"/>
              </a:rPr>
              <a:t>La trazabilidad vincula escenario, evento y métrica en cada visita.</a:t>
            </a:r>
          </a:p>
        </p:txBody>
      </p:sp>
      <p:sp>
        <p:nvSpPr>
          <p:cNvPr id="16" name="CEINNA_text_166">
            <a:extLst>
              <a:ext uri="{FF2B5EF4-FFF2-40B4-BE49-F238E27FC236}">
                <a16:creationId xmlns:a16="http://schemas.microsoft.com/office/drawing/2014/main" id="{3EEC0F0A-6398-BDF7-C1B6-82EF148BE6C0}"/>
              </a:ext>
            </a:extLst>
          </p:cNvPr>
          <p:cNvSpPr txBox="1"/>
          <p:nvPr/>
        </p:nvSpPr>
        <p:spPr>
          <a:xfrm>
            <a:off x="1689100" y="4152899"/>
            <a:ext cx="596900" cy="533400"/>
          </a:xfrm>
          <a:prstGeom prst="rect">
            <a:avLst/>
          </a:prstGeom>
          <a:noFill/>
        </p:spPr>
        <p:txBody>
          <a:bodyPr vert="horz" wrap="square" lIns="0" tIns="0" rIns="0" bIns="0" rtlCol="0" anchor="t">
            <a:noAutofit/>
          </a:bodyPr>
          <a:lstStyle/>
          <a:p>
            <a:r>
              <a:rPr lang="es-CO" sz="3100" b="1" dirty="0">
                <a:solidFill>
                  <a:srgbClr val="000F4D"/>
                </a:solidFill>
                <a:latin typeface="Bell MT" panose="02020503060305020303" pitchFamily="18" charset="0"/>
              </a:rPr>
              <a:t>3</a:t>
            </a:r>
          </a:p>
        </p:txBody>
      </p:sp>
      <p:sp>
        <p:nvSpPr>
          <p:cNvPr id="17" name="CEINNA_text_167">
            <a:extLst>
              <a:ext uri="{FF2B5EF4-FFF2-40B4-BE49-F238E27FC236}">
                <a16:creationId xmlns:a16="http://schemas.microsoft.com/office/drawing/2014/main" id="{9D0B6468-6C65-8025-CFE2-988F52AC51C6}"/>
              </a:ext>
            </a:extLst>
          </p:cNvPr>
          <p:cNvSpPr txBox="1"/>
          <p:nvPr/>
        </p:nvSpPr>
        <p:spPr>
          <a:xfrm>
            <a:off x="2451100" y="4152899"/>
            <a:ext cx="8686800" cy="914400"/>
          </a:xfrm>
          <a:prstGeom prst="rect">
            <a:avLst/>
          </a:prstGeom>
          <a:noFill/>
        </p:spPr>
        <p:txBody>
          <a:bodyPr vert="horz" wrap="square" lIns="0" tIns="0" rIns="0" bIns="0" rtlCol="0" anchor="t">
            <a:noAutofit/>
          </a:bodyPr>
          <a:lstStyle/>
          <a:p>
            <a:r>
              <a:rPr lang="es-CO" sz="2700" dirty="0">
                <a:solidFill>
                  <a:srgbClr val="242424"/>
                </a:solidFill>
                <a:latin typeface="Bell MT" panose="02020503060305020303" pitchFamily="18" charset="0"/>
              </a:rPr>
              <a:t>ASTRA sitúa la respuesta multitarea en la trayectoria de cada persona.</a:t>
            </a:r>
          </a:p>
        </p:txBody>
      </p:sp>
      <p:sp>
        <p:nvSpPr>
          <p:cNvPr id="18" name="CEINNA_text_168">
            <a:extLst>
              <a:ext uri="{FF2B5EF4-FFF2-40B4-BE49-F238E27FC236}">
                <a16:creationId xmlns:a16="http://schemas.microsoft.com/office/drawing/2014/main" id="{140833F8-E0B0-8968-AD50-6E5892380314}"/>
              </a:ext>
            </a:extLst>
          </p:cNvPr>
          <p:cNvSpPr txBox="1"/>
          <p:nvPr/>
        </p:nvSpPr>
        <p:spPr>
          <a:xfrm>
            <a:off x="1689100" y="5486399"/>
            <a:ext cx="9512300" cy="444500"/>
          </a:xfrm>
          <a:prstGeom prst="rect">
            <a:avLst/>
          </a:prstGeom>
          <a:noFill/>
        </p:spPr>
        <p:txBody>
          <a:bodyPr vert="horz" wrap="square" lIns="0" tIns="0" rIns="0" bIns="0" rtlCol="0" anchor="t">
            <a:noAutofit/>
          </a:bodyPr>
          <a:lstStyle/>
          <a:p>
            <a:r>
              <a:rPr lang="es-CO" sz="2200" b="1" dirty="0">
                <a:solidFill>
                  <a:srgbClr val="000F4D"/>
                </a:solidFill>
                <a:latin typeface="Bell MT" panose="02020503060305020303" pitchFamily="18" charset="0"/>
              </a:rPr>
              <a:t>Siguiente etapa: ejecución protocolizada y análisis de las visitas.</a:t>
            </a:r>
          </a:p>
        </p:txBody>
      </p:sp>
      <p:sp>
        <p:nvSpPr>
          <p:cNvPr id="19" name="CEINNA_text_169">
            <a:extLst>
              <a:ext uri="{FF2B5EF4-FFF2-40B4-BE49-F238E27FC236}">
                <a16:creationId xmlns:a16="http://schemas.microsoft.com/office/drawing/2014/main" id="{4714EBF6-6C93-997B-C242-8C984B8D799C}"/>
              </a:ext>
            </a:extLst>
          </p:cNvPr>
          <p:cNvSpPr txBox="1"/>
          <p:nvPr/>
        </p:nvSpPr>
        <p:spPr>
          <a:xfrm>
            <a:off x="1625600" y="6019800"/>
            <a:ext cx="9334500" cy="266700"/>
          </a:xfrm>
          <a:prstGeom prst="rect">
            <a:avLst/>
          </a:prstGeom>
          <a:noFill/>
        </p:spPr>
        <p:txBody>
          <a:bodyPr vert="horz" wrap="square" lIns="0" tIns="0" rIns="0" bIns="0" rtlCol="0" anchor="t">
            <a:noAutofit/>
          </a:bodyPr>
          <a:lstStyle/>
          <a:p>
            <a:r>
              <a:rPr lang="es-CO" sz="1200" dirty="0">
                <a:solidFill>
                  <a:srgbClr val="4F5A6C"/>
                </a:solidFill>
                <a:latin typeface="Bell MT" panose="02020503060305020303" pitchFamily="18" charset="0"/>
              </a:rPr>
              <a:t>Síntesis del diseño ASTRA y de la verificación técnica de MATB.</a:t>
            </a:r>
          </a:p>
        </p:txBody>
      </p:sp>
      <p:sp>
        <p:nvSpPr>
          <p:cNvPr id="20" name="CEINNA_text_170">
            <a:extLst>
              <a:ext uri="{FF2B5EF4-FFF2-40B4-BE49-F238E27FC236}">
                <a16:creationId xmlns:a16="http://schemas.microsoft.com/office/drawing/2014/main" id="{F7DEF86F-5C2C-D943-AB21-834EFF8F14EC}"/>
              </a:ext>
            </a:extLst>
          </p:cNvPr>
          <p:cNvSpPr txBox="1"/>
          <p:nvPr/>
        </p:nvSpPr>
        <p:spPr>
          <a:xfrm>
            <a:off x="11036300" y="6032500"/>
            <a:ext cx="292100" cy="228600"/>
          </a:xfrm>
          <a:prstGeom prst="rect">
            <a:avLst/>
          </a:prstGeom>
          <a:noFill/>
        </p:spPr>
        <p:txBody>
          <a:bodyPr vert="horz" wrap="square" lIns="0" tIns="0" rIns="0" bIns="0" rtlCol="0" anchor="t">
            <a:noAutofit/>
          </a:bodyPr>
          <a:lstStyle/>
          <a:p>
            <a:r>
              <a:t>14</a:t>
            </a:r>
          </a:p>
        </p:txBody>
      </p:sp>
    </p:spTree>
    <p:custDataLst>
      <p:tags r:id="rId1"/>
    </p:custDataLst>
    <p:extLst>
      <p:ext uri="{BB962C8B-B14F-4D97-AF65-F5344CB8AC3E}">
        <p14:creationId xmlns:p14="http://schemas.microsoft.com/office/powerpoint/2010/main" val="1518883819"/>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5752724-8AA8-430E-FEB0-4B972A95EAAA}"/>
            </a:ext>
          </a:extLst>
        </p:cNvPr>
        <p:cNvGrpSpPr/>
        <p:nvPr/>
      </p:nvGrpSpPr>
      <p:grpSpPr>
        <a:xfrm>
          <a:off x="0" y="0"/>
          <a:ext cx="0" cy="0"/>
          <a:chOff x="0" y="0"/>
          <a:chExt cx="0" cy="0"/>
        </a:xfrm>
      </p:grpSpPr>
      <p:grpSp>
        <p:nvGrpSpPr>
          <p:cNvPr id="2" name="Grupo 1">
            <a:extLst>
              <a:ext uri="{FF2B5EF4-FFF2-40B4-BE49-F238E27FC236}">
                <a16:creationId xmlns:a16="http://schemas.microsoft.com/office/drawing/2014/main" id="{E8EA1176-5816-B9DC-12AF-ABF8C2197107}"/>
              </a:ext>
            </a:extLst>
          </p:cNvPr>
          <p:cNvGrpSpPr/>
          <p:nvPr/>
        </p:nvGrpSpPr>
        <p:grpSpPr>
          <a:xfrm>
            <a:off x="11555690" y="0"/>
            <a:ext cx="636310" cy="6876601"/>
            <a:chOff x="11555690" y="0"/>
            <a:chExt cx="636310" cy="6876601"/>
          </a:xfrm>
        </p:grpSpPr>
        <p:sp>
          <p:nvSpPr>
            <p:cNvPr id="3" name="Rectángulo 2">
              <a:extLst>
                <a:ext uri="{FF2B5EF4-FFF2-40B4-BE49-F238E27FC236}">
                  <a16:creationId xmlns:a16="http://schemas.microsoft.com/office/drawing/2014/main" id="{81F430AD-D31B-2596-B2E1-16149ED6A0CB}"/>
                </a:ext>
              </a:extLst>
            </p:cNvPr>
            <p:cNvSpPr/>
            <p:nvPr/>
          </p:nvSpPr>
          <p:spPr>
            <a:xfrm>
              <a:off x="11557416" y="3496321"/>
              <a:ext cx="634584" cy="1813806"/>
            </a:xfrm>
            <a:prstGeom prst="rect">
              <a:avLst/>
            </a:prstGeom>
            <a:solidFill>
              <a:srgbClr val="000F4D"/>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CO"/>
            </a:p>
          </p:txBody>
        </p:sp>
        <p:sp>
          <p:nvSpPr>
            <p:cNvPr id="4" name="Rectángulo 3">
              <a:extLst>
                <a:ext uri="{FF2B5EF4-FFF2-40B4-BE49-F238E27FC236}">
                  <a16:creationId xmlns:a16="http://schemas.microsoft.com/office/drawing/2014/main" id="{0B220A00-61F1-9AFF-18A5-B5EF0C69BF2E}"/>
                </a:ext>
              </a:extLst>
            </p:cNvPr>
            <p:cNvSpPr/>
            <p:nvPr/>
          </p:nvSpPr>
          <p:spPr>
            <a:xfrm>
              <a:off x="11557416" y="5227683"/>
              <a:ext cx="634584" cy="1648918"/>
            </a:xfrm>
            <a:prstGeom prst="rect">
              <a:avLst/>
            </a:prstGeom>
            <a:solidFill>
              <a:srgbClr val="26B53B"/>
            </a:solidFill>
            <a:ln>
              <a:solidFill>
                <a:srgbClr val="23B53B"/>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CO"/>
            </a:p>
          </p:txBody>
        </p:sp>
        <p:sp>
          <p:nvSpPr>
            <p:cNvPr id="5" name="Rectángulo 4">
              <a:extLst>
                <a:ext uri="{FF2B5EF4-FFF2-40B4-BE49-F238E27FC236}">
                  <a16:creationId xmlns:a16="http://schemas.microsoft.com/office/drawing/2014/main" id="{41AF5B6C-F154-DA10-4688-5518D649EA18}"/>
                </a:ext>
              </a:extLst>
            </p:cNvPr>
            <p:cNvSpPr/>
            <p:nvPr/>
          </p:nvSpPr>
          <p:spPr>
            <a:xfrm>
              <a:off x="11555690" y="0"/>
              <a:ext cx="634584" cy="1648918"/>
            </a:xfrm>
            <a:prstGeom prst="rect">
              <a:avLst/>
            </a:prstGeom>
            <a:solidFill>
              <a:srgbClr val="D9000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CO"/>
            </a:p>
          </p:txBody>
        </p:sp>
        <p:sp>
          <p:nvSpPr>
            <p:cNvPr id="6" name="Rectángulo 5">
              <a:extLst>
                <a:ext uri="{FF2B5EF4-FFF2-40B4-BE49-F238E27FC236}">
                  <a16:creationId xmlns:a16="http://schemas.microsoft.com/office/drawing/2014/main" id="{274A84F3-CFA1-7921-F433-9D1D90A39239}"/>
                </a:ext>
              </a:extLst>
            </p:cNvPr>
            <p:cNvSpPr/>
            <p:nvPr/>
          </p:nvSpPr>
          <p:spPr>
            <a:xfrm>
              <a:off x="11557416" y="1656417"/>
              <a:ext cx="634584" cy="1813806"/>
            </a:xfrm>
            <a:prstGeom prst="rect">
              <a:avLst/>
            </a:prstGeom>
          </p:spPr>
          <p:style>
            <a:lnRef idx="2">
              <a:schemeClr val="dk1">
                <a:shade val="15000"/>
              </a:schemeClr>
            </a:lnRef>
            <a:fillRef idx="1">
              <a:schemeClr val="dk1"/>
            </a:fillRef>
            <a:effectRef idx="0">
              <a:schemeClr val="dk1"/>
            </a:effectRef>
            <a:fontRef idx="minor">
              <a:schemeClr val="lt1"/>
            </a:fontRef>
          </p:style>
          <p:txBody>
            <a:bodyPr rtlCol="0" anchor="ctr"/>
            <a:lstStyle/>
            <a:p>
              <a:pPr algn="ctr"/>
              <a:endParaRPr lang="es-CO"/>
            </a:p>
          </p:txBody>
        </p:sp>
      </p:grpSp>
      <p:pic>
        <p:nvPicPr>
          <p:cNvPr id="12" name="Imagen 11" descr="Diagrama&#10;&#10;El contenido generado por inteligencia artificial puede ser incorrecto.">
            <a:extLst>
              <a:ext uri="{FF2B5EF4-FFF2-40B4-BE49-F238E27FC236}">
                <a16:creationId xmlns:a16="http://schemas.microsoft.com/office/drawing/2014/main" id="{D10C52BC-7F82-5D3B-DCD1-B67FB343FD55}"/>
              </a:ext>
            </a:extLst>
          </p:cNvPr>
          <p:cNvPicPr>
            <a:picLocks noChangeAspect="1"/>
          </p:cNvPicPr>
          <p:nvPr/>
        </p:nvPicPr>
        <p:blipFill>
          <a:blip r:embed="rId4"/>
          <a:srcRect l="6260" t="10344" r="5922" b="28494"/>
          <a:stretch/>
        </p:blipFill>
        <p:spPr>
          <a:xfrm>
            <a:off x="-1859" y="2180"/>
            <a:ext cx="1742137" cy="1508926"/>
          </a:xfrm>
          <a:prstGeom prst="rect">
            <a:avLst/>
          </a:prstGeom>
        </p:spPr>
      </p:pic>
      <p:sp>
        <p:nvSpPr>
          <p:cNvPr id="14" name="CuadroTexto 13">
            <a:extLst>
              <a:ext uri="{FF2B5EF4-FFF2-40B4-BE49-F238E27FC236}">
                <a16:creationId xmlns:a16="http://schemas.microsoft.com/office/drawing/2014/main" id="{CBCCDF5A-723C-417C-851E-7D60633F3EB2}"/>
              </a:ext>
            </a:extLst>
          </p:cNvPr>
          <p:cNvSpPr txBox="1"/>
          <p:nvPr/>
        </p:nvSpPr>
        <p:spPr>
          <a:xfrm>
            <a:off x="1618938" y="6368002"/>
            <a:ext cx="9218951" cy="369332"/>
          </a:xfrm>
          <a:prstGeom prst="rect">
            <a:avLst/>
          </a:prstGeom>
          <a:noFill/>
        </p:spPr>
        <p:txBody>
          <a:bodyPr wrap="square" rtlCol="0">
            <a:spAutoFit/>
          </a:bodyPr>
          <a:lstStyle/>
          <a:p>
            <a:pPr algn="ctr"/>
            <a:r>
              <a:rPr lang="es-CO" sz="1800" i="1" kern="100" dirty="0">
                <a:solidFill>
                  <a:srgbClr val="242424"/>
                </a:solidFill>
                <a:effectLst/>
                <a:latin typeface="Bell MT" panose="02020503060305020303" pitchFamily="18" charset="0"/>
                <a:ea typeface="Aptos" panose="020B0004020202020204" pitchFamily="34" charset="0"/>
                <a:cs typeface="Times New Roman" panose="02020603050405020304" pitchFamily="18" charset="0"/>
              </a:rPr>
              <a:t>“Del conocimiento a la capacidad estratégica”</a:t>
            </a:r>
            <a:endParaRPr lang="es-CO" sz="1800" i="1" kern="100" dirty="0">
              <a:effectLst/>
              <a:latin typeface="Bell MT" panose="02020503060305020303" pitchFamily="18" charset="0"/>
              <a:ea typeface="Aptos" panose="020B0004020202020204" pitchFamily="34" charset="0"/>
              <a:cs typeface="Times New Roman" panose="02020603050405020304" pitchFamily="18" charset="0"/>
            </a:endParaRPr>
          </a:p>
        </p:txBody>
      </p:sp>
      <p:sp>
        <p:nvSpPr>
          <p:cNvPr id="7" name="CEINNA_text_171">
            <a:extLst>
              <a:ext uri="{FF2B5EF4-FFF2-40B4-BE49-F238E27FC236}">
                <a16:creationId xmlns:a16="http://schemas.microsoft.com/office/drawing/2014/main" id="{054C5822-015B-C800-7502-4EC7C83E365A}"/>
              </a:ext>
            </a:extLst>
          </p:cNvPr>
          <p:cNvSpPr txBox="1"/>
          <p:nvPr/>
        </p:nvSpPr>
        <p:spPr>
          <a:xfrm>
            <a:off x="1841500" y="368299"/>
            <a:ext cx="8966200" cy="876300"/>
          </a:xfrm>
          <a:prstGeom prst="rect">
            <a:avLst/>
          </a:prstGeom>
          <a:noFill/>
        </p:spPr>
        <p:txBody>
          <a:bodyPr vert="horz" wrap="square" lIns="0" tIns="0" rIns="0" bIns="0" rtlCol="0" anchor="t">
            <a:noAutofit/>
          </a:bodyPr>
          <a:lstStyle/>
          <a:p>
            <a:pPr algn="ctr"/>
            <a:r>
              <a:rPr lang="es-CO" sz="3900" b="1" dirty="0">
                <a:solidFill>
                  <a:srgbClr val="000F4D"/>
                </a:solidFill>
                <a:latin typeface="Bell MT" panose="02020503060305020303" pitchFamily="18" charset="0"/>
              </a:rPr>
              <a:t>Bibliografía I</a:t>
            </a:r>
          </a:p>
        </p:txBody>
      </p:sp>
      <p:sp>
        <p:nvSpPr>
          <p:cNvPr id="9" name="CEINNA_text_172">
            <a:extLst>
              <a:ext uri="{FF2B5EF4-FFF2-40B4-BE49-F238E27FC236}">
                <a16:creationId xmlns:a16="http://schemas.microsoft.com/office/drawing/2014/main" id="{B9234A4A-5DAC-1E3E-F0CF-16D641CCFEC4}"/>
              </a:ext>
            </a:extLst>
          </p:cNvPr>
          <p:cNvSpPr txBox="1"/>
          <p:nvPr/>
        </p:nvSpPr>
        <p:spPr>
          <a:xfrm>
            <a:off x="1651000" y="1714499"/>
            <a:ext cx="9563100" cy="1282700"/>
          </a:xfrm>
          <a:prstGeom prst="rect">
            <a:avLst/>
          </a:prstGeom>
          <a:noFill/>
        </p:spPr>
        <p:txBody>
          <a:bodyPr vert="horz" wrap="square" lIns="0" tIns="0" rIns="0" bIns="0" rtlCol="0" anchor="t">
            <a:noAutofit/>
          </a:bodyPr>
          <a:lstStyle/>
          <a:p>
            <a:r>
              <a:rPr lang="es-CO" sz="1850">
                <a:solidFill>
                  <a:srgbClr val="242424"/>
                </a:solidFill>
                <a:latin typeface="Bell MT" panose="02020503060305020303" pitchFamily="18" charset="0"/>
              </a:rPr>
              <a:t>[1] Cegarra et al. (2020). OpenMATB: A Multi-Attribute Task Battery promoting task customization, software extensibility and experiment replicability. Behavior Research Methods, 52(5), 1980–1990. https://doi.org/10.3758/s13428-020-01364-w</a:t>
            </a:r>
            <a:endParaRPr lang="es-CO" sz="1850" dirty="0">
              <a:solidFill>
                <a:srgbClr val="242424"/>
              </a:solidFill>
              <a:latin typeface="Bell MT" panose="02020503060305020303" pitchFamily="18" charset="0"/>
            </a:endParaRPr>
          </a:p>
        </p:txBody>
      </p:sp>
      <p:sp>
        <p:nvSpPr>
          <p:cNvPr id="11" name="CEINNA_text_173">
            <a:extLst>
              <a:ext uri="{FF2B5EF4-FFF2-40B4-BE49-F238E27FC236}">
                <a16:creationId xmlns:a16="http://schemas.microsoft.com/office/drawing/2014/main" id="{A2869393-9420-BB7E-87DA-C436731F6955}"/>
              </a:ext>
            </a:extLst>
          </p:cNvPr>
          <p:cNvSpPr txBox="1"/>
          <p:nvPr/>
        </p:nvSpPr>
        <p:spPr>
          <a:xfrm>
            <a:off x="1651000" y="3111499"/>
            <a:ext cx="9563100" cy="1282700"/>
          </a:xfrm>
          <a:prstGeom prst="rect">
            <a:avLst/>
          </a:prstGeom>
          <a:noFill/>
        </p:spPr>
        <p:txBody>
          <a:bodyPr vert="horz" wrap="square" lIns="0" tIns="0" rIns="0" bIns="0" rtlCol="0" anchor="t">
            <a:noAutofit/>
          </a:bodyPr>
          <a:lstStyle/>
          <a:p>
            <a:r>
              <a:rPr lang="es-CO" sz="1850">
                <a:solidFill>
                  <a:srgbClr val="242424"/>
                </a:solidFill>
                <a:latin typeface="Bell MT" panose="02020503060305020303" pitchFamily="18" charset="0"/>
              </a:rPr>
              <a:t>[2] Pontiggia et al. (2024). MATB for assessing different mental workload levels. Frontiers in Physiology, 15, Article 1408242. https://doi.org/10.3389/fphys.2024.1408242</a:t>
            </a:r>
            <a:endParaRPr lang="es-CO" sz="1850" dirty="0">
              <a:solidFill>
                <a:srgbClr val="242424"/>
              </a:solidFill>
              <a:latin typeface="Bell MT" panose="02020503060305020303" pitchFamily="18" charset="0"/>
            </a:endParaRPr>
          </a:p>
        </p:txBody>
      </p:sp>
      <p:sp>
        <p:nvSpPr>
          <p:cNvPr id="13" name="CEINNA_text_174">
            <a:extLst>
              <a:ext uri="{FF2B5EF4-FFF2-40B4-BE49-F238E27FC236}">
                <a16:creationId xmlns:a16="http://schemas.microsoft.com/office/drawing/2014/main" id="{648363CE-40B4-386D-4AF7-2B9E046CE034}"/>
              </a:ext>
            </a:extLst>
          </p:cNvPr>
          <p:cNvSpPr txBox="1"/>
          <p:nvPr/>
        </p:nvSpPr>
        <p:spPr>
          <a:xfrm>
            <a:off x="1651000" y="4508499"/>
            <a:ext cx="9563100" cy="1282700"/>
          </a:xfrm>
          <a:prstGeom prst="rect">
            <a:avLst/>
          </a:prstGeom>
          <a:noFill/>
        </p:spPr>
        <p:txBody>
          <a:bodyPr vert="horz" wrap="square" lIns="0" tIns="0" rIns="0" bIns="0" rtlCol="0" anchor="t">
            <a:noAutofit/>
          </a:bodyPr>
          <a:lstStyle/>
          <a:p>
            <a:r>
              <a:rPr lang="es-CO" sz="1850">
                <a:solidFill>
                  <a:srgbClr val="242424"/>
                </a:solidFill>
                <a:latin typeface="Bell MT" panose="02020503060305020303" pitchFamily="18" charset="0"/>
              </a:rPr>
              <a:t>[3] Pontiggia et al. (2024). Combined effects of moderate hypoxia and sleep restriction on mental workload. Clocks &amp; Sleep, 6(3), 338–358. https://doi.org/10.3390/clockssleep6030024</a:t>
            </a:r>
            <a:endParaRPr lang="es-CO" sz="1850" dirty="0">
              <a:solidFill>
                <a:srgbClr val="242424"/>
              </a:solidFill>
              <a:latin typeface="Bell MT" panose="02020503060305020303" pitchFamily="18" charset="0"/>
            </a:endParaRPr>
          </a:p>
        </p:txBody>
      </p:sp>
      <p:sp>
        <p:nvSpPr>
          <p:cNvPr id="15" name="CEINNA_text_175">
            <a:extLst>
              <a:ext uri="{FF2B5EF4-FFF2-40B4-BE49-F238E27FC236}">
                <a16:creationId xmlns:a16="http://schemas.microsoft.com/office/drawing/2014/main" id="{33ABDE4A-C043-EE2C-56E8-1E61B0DC57B0}"/>
              </a:ext>
            </a:extLst>
          </p:cNvPr>
          <p:cNvSpPr txBox="1"/>
          <p:nvPr/>
        </p:nvSpPr>
        <p:spPr>
          <a:xfrm>
            <a:off x="1625600" y="6019800"/>
            <a:ext cx="9334500" cy="266700"/>
          </a:xfrm>
          <a:prstGeom prst="rect">
            <a:avLst/>
          </a:prstGeom>
          <a:noFill/>
        </p:spPr>
        <p:txBody>
          <a:bodyPr vert="horz" wrap="square" lIns="0" tIns="0" rIns="0" bIns="0" rtlCol="0" anchor="t">
            <a:noAutofit/>
          </a:bodyPr>
          <a:lstStyle/>
          <a:p>
            <a:r>
              <a:rPr lang="es-CO" sz="1200" dirty="0">
                <a:solidFill>
                  <a:srgbClr val="4F5A6C"/>
                </a:solidFill>
                <a:latin typeface="Bell MT" panose="02020503060305020303" pitchFamily="18" charset="0"/>
              </a:rPr>
              <a:t>Autorías abreviadas en pantalla. Referencias APA completas en notas y documento adjunto.</a:t>
            </a:r>
          </a:p>
        </p:txBody>
      </p:sp>
      <p:sp>
        <p:nvSpPr>
          <p:cNvPr id="16" name="CEINNA_text_176">
            <a:extLst>
              <a:ext uri="{FF2B5EF4-FFF2-40B4-BE49-F238E27FC236}">
                <a16:creationId xmlns:a16="http://schemas.microsoft.com/office/drawing/2014/main" id="{40970D0A-EDCE-5724-2AD1-E26039017B38}"/>
              </a:ext>
            </a:extLst>
          </p:cNvPr>
          <p:cNvSpPr txBox="1"/>
          <p:nvPr/>
        </p:nvSpPr>
        <p:spPr>
          <a:xfrm>
            <a:off x="11036300" y="6032500"/>
            <a:ext cx="292100" cy="228600"/>
          </a:xfrm>
          <a:prstGeom prst="rect">
            <a:avLst/>
          </a:prstGeom>
          <a:noFill/>
        </p:spPr>
        <p:txBody>
          <a:bodyPr vert="horz" wrap="square" lIns="0" tIns="0" rIns="0" bIns="0" rtlCol="0" anchor="t">
            <a:noAutofit/>
          </a:bodyPr>
          <a:lstStyle/>
          <a:p>
            <a:r>
              <a:t>15</a:t>
            </a:r>
          </a:p>
        </p:txBody>
      </p:sp>
    </p:spTree>
    <p:custDataLst>
      <p:tags r:id="rId1"/>
    </p:custDataLst>
    <p:extLst>
      <p:ext uri="{BB962C8B-B14F-4D97-AF65-F5344CB8AC3E}">
        <p14:creationId xmlns:p14="http://schemas.microsoft.com/office/powerpoint/2010/main" val="1673929496"/>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5752724-8AA8-430E-FEB0-4B972A95EAAA}"/>
            </a:ext>
          </a:extLst>
        </p:cNvPr>
        <p:cNvGrpSpPr/>
        <p:nvPr/>
      </p:nvGrpSpPr>
      <p:grpSpPr>
        <a:xfrm>
          <a:off x="0" y="0"/>
          <a:ext cx="0" cy="0"/>
          <a:chOff x="0" y="0"/>
          <a:chExt cx="0" cy="0"/>
        </a:xfrm>
      </p:grpSpPr>
      <p:grpSp>
        <p:nvGrpSpPr>
          <p:cNvPr id="2" name="Grupo 1">
            <a:extLst>
              <a:ext uri="{FF2B5EF4-FFF2-40B4-BE49-F238E27FC236}">
                <a16:creationId xmlns:a16="http://schemas.microsoft.com/office/drawing/2014/main" id="{E8EA1176-5816-B9DC-12AF-ABF8C2197107}"/>
              </a:ext>
            </a:extLst>
          </p:cNvPr>
          <p:cNvGrpSpPr/>
          <p:nvPr/>
        </p:nvGrpSpPr>
        <p:grpSpPr>
          <a:xfrm>
            <a:off x="11555690" y="0"/>
            <a:ext cx="636310" cy="6876601"/>
            <a:chOff x="11555690" y="0"/>
            <a:chExt cx="636310" cy="6876601"/>
          </a:xfrm>
        </p:grpSpPr>
        <p:sp>
          <p:nvSpPr>
            <p:cNvPr id="3" name="Rectángulo 2">
              <a:extLst>
                <a:ext uri="{FF2B5EF4-FFF2-40B4-BE49-F238E27FC236}">
                  <a16:creationId xmlns:a16="http://schemas.microsoft.com/office/drawing/2014/main" id="{81F430AD-D31B-2596-B2E1-16149ED6A0CB}"/>
                </a:ext>
              </a:extLst>
            </p:cNvPr>
            <p:cNvSpPr/>
            <p:nvPr/>
          </p:nvSpPr>
          <p:spPr>
            <a:xfrm>
              <a:off x="11557416" y="3496321"/>
              <a:ext cx="634584" cy="1813806"/>
            </a:xfrm>
            <a:prstGeom prst="rect">
              <a:avLst/>
            </a:prstGeom>
            <a:solidFill>
              <a:srgbClr val="000F4D"/>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CO"/>
            </a:p>
          </p:txBody>
        </p:sp>
        <p:sp>
          <p:nvSpPr>
            <p:cNvPr id="4" name="Rectángulo 3">
              <a:extLst>
                <a:ext uri="{FF2B5EF4-FFF2-40B4-BE49-F238E27FC236}">
                  <a16:creationId xmlns:a16="http://schemas.microsoft.com/office/drawing/2014/main" id="{0B220A00-61F1-9AFF-18A5-B5EF0C69BF2E}"/>
                </a:ext>
              </a:extLst>
            </p:cNvPr>
            <p:cNvSpPr/>
            <p:nvPr/>
          </p:nvSpPr>
          <p:spPr>
            <a:xfrm>
              <a:off x="11557416" y="5227683"/>
              <a:ext cx="634584" cy="1648918"/>
            </a:xfrm>
            <a:prstGeom prst="rect">
              <a:avLst/>
            </a:prstGeom>
            <a:solidFill>
              <a:srgbClr val="26B53B"/>
            </a:solidFill>
            <a:ln>
              <a:solidFill>
                <a:srgbClr val="23B53B"/>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CO"/>
            </a:p>
          </p:txBody>
        </p:sp>
        <p:sp>
          <p:nvSpPr>
            <p:cNvPr id="5" name="Rectángulo 4">
              <a:extLst>
                <a:ext uri="{FF2B5EF4-FFF2-40B4-BE49-F238E27FC236}">
                  <a16:creationId xmlns:a16="http://schemas.microsoft.com/office/drawing/2014/main" id="{41AF5B6C-F154-DA10-4688-5518D649EA18}"/>
                </a:ext>
              </a:extLst>
            </p:cNvPr>
            <p:cNvSpPr/>
            <p:nvPr/>
          </p:nvSpPr>
          <p:spPr>
            <a:xfrm>
              <a:off x="11555690" y="0"/>
              <a:ext cx="634584" cy="1648918"/>
            </a:xfrm>
            <a:prstGeom prst="rect">
              <a:avLst/>
            </a:prstGeom>
            <a:solidFill>
              <a:srgbClr val="D9000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CO"/>
            </a:p>
          </p:txBody>
        </p:sp>
        <p:sp>
          <p:nvSpPr>
            <p:cNvPr id="6" name="Rectángulo 5">
              <a:extLst>
                <a:ext uri="{FF2B5EF4-FFF2-40B4-BE49-F238E27FC236}">
                  <a16:creationId xmlns:a16="http://schemas.microsoft.com/office/drawing/2014/main" id="{274A84F3-CFA1-7921-F433-9D1D90A39239}"/>
                </a:ext>
              </a:extLst>
            </p:cNvPr>
            <p:cNvSpPr/>
            <p:nvPr/>
          </p:nvSpPr>
          <p:spPr>
            <a:xfrm>
              <a:off x="11557416" y="1656417"/>
              <a:ext cx="634584" cy="1813806"/>
            </a:xfrm>
            <a:prstGeom prst="rect">
              <a:avLst/>
            </a:prstGeom>
          </p:spPr>
          <p:style>
            <a:lnRef idx="2">
              <a:schemeClr val="dk1">
                <a:shade val="15000"/>
              </a:schemeClr>
            </a:lnRef>
            <a:fillRef idx="1">
              <a:schemeClr val="dk1"/>
            </a:fillRef>
            <a:effectRef idx="0">
              <a:schemeClr val="dk1"/>
            </a:effectRef>
            <a:fontRef idx="minor">
              <a:schemeClr val="lt1"/>
            </a:fontRef>
          </p:style>
          <p:txBody>
            <a:bodyPr rtlCol="0" anchor="ctr"/>
            <a:lstStyle/>
            <a:p>
              <a:pPr algn="ctr"/>
              <a:endParaRPr lang="es-CO"/>
            </a:p>
          </p:txBody>
        </p:sp>
      </p:grpSp>
      <p:pic>
        <p:nvPicPr>
          <p:cNvPr id="12" name="Imagen 11" descr="Diagrama&#10;&#10;El contenido generado por inteligencia artificial puede ser incorrecto.">
            <a:extLst>
              <a:ext uri="{FF2B5EF4-FFF2-40B4-BE49-F238E27FC236}">
                <a16:creationId xmlns:a16="http://schemas.microsoft.com/office/drawing/2014/main" id="{D10C52BC-7F82-5D3B-DCD1-B67FB343FD55}"/>
              </a:ext>
            </a:extLst>
          </p:cNvPr>
          <p:cNvPicPr>
            <a:picLocks noChangeAspect="1"/>
          </p:cNvPicPr>
          <p:nvPr/>
        </p:nvPicPr>
        <p:blipFill>
          <a:blip r:embed="rId4"/>
          <a:srcRect l="6260" t="10344" r="5922" b="28494"/>
          <a:stretch/>
        </p:blipFill>
        <p:spPr>
          <a:xfrm>
            <a:off x="-1859" y="2180"/>
            <a:ext cx="1742137" cy="1508926"/>
          </a:xfrm>
          <a:prstGeom prst="rect">
            <a:avLst/>
          </a:prstGeom>
        </p:spPr>
      </p:pic>
      <p:sp>
        <p:nvSpPr>
          <p:cNvPr id="14" name="CuadroTexto 13">
            <a:extLst>
              <a:ext uri="{FF2B5EF4-FFF2-40B4-BE49-F238E27FC236}">
                <a16:creationId xmlns:a16="http://schemas.microsoft.com/office/drawing/2014/main" id="{CBCCDF5A-723C-417C-851E-7D60633F3EB2}"/>
              </a:ext>
            </a:extLst>
          </p:cNvPr>
          <p:cNvSpPr txBox="1"/>
          <p:nvPr/>
        </p:nvSpPr>
        <p:spPr>
          <a:xfrm>
            <a:off x="1618938" y="6368002"/>
            <a:ext cx="9218951" cy="369332"/>
          </a:xfrm>
          <a:prstGeom prst="rect">
            <a:avLst/>
          </a:prstGeom>
          <a:noFill/>
        </p:spPr>
        <p:txBody>
          <a:bodyPr wrap="square" rtlCol="0">
            <a:spAutoFit/>
          </a:bodyPr>
          <a:lstStyle/>
          <a:p>
            <a:pPr algn="ctr"/>
            <a:r>
              <a:rPr lang="es-CO" sz="1800" i="1" kern="100" dirty="0">
                <a:solidFill>
                  <a:srgbClr val="242424"/>
                </a:solidFill>
                <a:effectLst/>
                <a:latin typeface="Bell MT" panose="02020503060305020303" pitchFamily="18" charset="0"/>
                <a:ea typeface="Aptos" panose="020B0004020202020204" pitchFamily="34" charset="0"/>
                <a:cs typeface="Times New Roman" panose="02020603050405020304" pitchFamily="18" charset="0"/>
              </a:rPr>
              <a:t>“Del conocimiento a la capacidad estratégica”</a:t>
            </a:r>
            <a:endParaRPr lang="es-CO" sz="1800" i="1" kern="100" dirty="0">
              <a:effectLst/>
              <a:latin typeface="Bell MT" panose="02020503060305020303" pitchFamily="18" charset="0"/>
              <a:ea typeface="Aptos" panose="020B0004020202020204" pitchFamily="34" charset="0"/>
              <a:cs typeface="Times New Roman" panose="02020603050405020304" pitchFamily="18" charset="0"/>
            </a:endParaRPr>
          </a:p>
        </p:txBody>
      </p:sp>
      <p:sp>
        <p:nvSpPr>
          <p:cNvPr id="7" name="CEINNA_text_177">
            <a:extLst>
              <a:ext uri="{FF2B5EF4-FFF2-40B4-BE49-F238E27FC236}">
                <a16:creationId xmlns:a16="http://schemas.microsoft.com/office/drawing/2014/main" id="{6DB737D8-8DD5-74AB-0907-C54CBB294A7F}"/>
              </a:ext>
            </a:extLst>
          </p:cNvPr>
          <p:cNvSpPr txBox="1"/>
          <p:nvPr/>
        </p:nvSpPr>
        <p:spPr>
          <a:xfrm>
            <a:off x="1841500" y="368299"/>
            <a:ext cx="8966200" cy="876300"/>
          </a:xfrm>
          <a:prstGeom prst="rect">
            <a:avLst/>
          </a:prstGeom>
          <a:noFill/>
        </p:spPr>
        <p:txBody>
          <a:bodyPr vert="horz" wrap="square" lIns="0" tIns="0" rIns="0" bIns="0" rtlCol="0" anchor="t">
            <a:noAutofit/>
          </a:bodyPr>
          <a:lstStyle/>
          <a:p>
            <a:pPr algn="ctr"/>
            <a:r>
              <a:rPr lang="es-CO" sz="3900" b="1" dirty="0">
                <a:solidFill>
                  <a:srgbClr val="000F4D"/>
                </a:solidFill>
                <a:latin typeface="Bell MT" panose="02020503060305020303" pitchFamily="18" charset="0"/>
              </a:rPr>
              <a:t>Bibliografía II</a:t>
            </a:r>
          </a:p>
        </p:txBody>
      </p:sp>
      <p:sp>
        <p:nvSpPr>
          <p:cNvPr id="9" name="CEINNA_text_178">
            <a:extLst>
              <a:ext uri="{FF2B5EF4-FFF2-40B4-BE49-F238E27FC236}">
                <a16:creationId xmlns:a16="http://schemas.microsoft.com/office/drawing/2014/main" id="{96FA2953-8B1E-04EF-4784-6A8F60F32956}"/>
              </a:ext>
            </a:extLst>
          </p:cNvPr>
          <p:cNvSpPr txBox="1"/>
          <p:nvPr/>
        </p:nvSpPr>
        <p:spPr>
          <a:xfrm>
            <a:off x="1651000" y="1714499"/>
            <a:ext cx="9563100" cy="1282700"/>
          </a:xfrm>
          <a:prstGeom prst="rect">
            <a:avLst/>
          </a:prstGeom>
          <a:noFill/>
        </p:spPr>
        <p:txBody>
          <a:bodyPr vert="horz" wrap="square" lIns="0" tIns="0" rIns="0" bIns="0" rtlCol="0" anchor="t">
            <a:noAutofit/>
          </a:bodyPr>
          <a:lstStyle/>
          <a:p>
            <a:r>
              <a:rPr lang="es-CO" sz="1850">
                <a:solidFill>
                  <a:srgbClr val="242424"/>
                </a:solidFill>
                <a:latin typeface="Bell MT" panose="02020503060305020303" pitchFamily="18" charset="0"/>
              </a:rPr>
              <a:t>[4] Tortello et al. (2020). Subjective time estimation in Antarctica: The impact of extreme environments and isolation on a time production task. Neuroscience Letters, 725, Article 134893. https://doi.org/10.1016/j.neulet.2020.134893</a:t>
            </a:r>
            <a:endParaRPr lang="es-CO" sz="1850" dirty="0">
              <a:solidFill>
                <a:srgbClr val="242424"/>
              </a:solidFill>
              <a:latin typeface="Bell MT" panose="02020503060305020303" pitchFamily="18" charset="0"/>
            </a:endParaRPr>
          </a:p>
        </p:txBody>
      </p:sp>
      <p:sp>
        <p:nvSpPr>
          <p:cNvPr id="11" name="CEINNA_text_179">
            <a:extLst>
              <a:ext uri="{FF2B5EF4-FFF2-40B4-BE49-F238E27FC236}">
                <a16:creationId xmlns:a16="http://schemas.microsoft.com/office/drawing/2014/main" id="{95CFD36A-E308-C4A7-35D4-217A62E96B0E}"/>
              </a:ext>
            </a:extLst>
          </p:cNvPr>
          <p:cNvSpPr txBox="1"/>
          <p:nvPr/>
        </p:nvSpPr>
        <p:spPr>
          <a:xfrm>
            <a:off x="1651000" y="3111499"/>
            <a:ext cx="9563100" cy="1282700"/>
          </a:xfrm>
          <a:prstGeom prst="rect">
            <a:avLst/>
          </a:prstGeom>
          <a:noFill/>
        </p:spPr>
        <p:txBody>
          <a:bodyPr vert="horz" wrap="square" lIns="0" tIns="0" rIns="0" bIns="0" rtlCol="0" anchor="t">
            <a:noAutofit/>
          </a:bodyPr>
          <a:lstStyle/>
          <a:p>
            <a:r>
              <a:rPr lang="es-CO" sz="1850">
                <a:solidFill>
                  <a:srgbClr val="242424"/>
                </a:solidFill>
                <a:latin typeface="Bell MT" panose="02020503060305020303" pitchFamily="18" charset="0"/>
              </a:rPr>
              <a:t>[5] Vogl et al. (2024). The United States Army Aeromedical Research Laboratory Multi-Attribute Task Battery. Frontiers in Neuroergonomics, 5, Article 1435588. https://doi.org/10.3389/fnrgo.2024.1435588</a:t>
            </a:r>
            <a:endParaRPr lang="es-CO" sz="1850" dirty="0">
              <a:solidFill>
                <a:srgbClr val="242424"/>
              </a:solidFill>
              <a:latin typeface="Bell MT" panose="02020503060305020303" pitchFamily="18" charset="0"/>
            </a:endParaRPr>
          </a:p>
        </p:txBody>
      </p:sp>
      <p:sp>
        <p:nvSpPr>
          <p:cNvPr id="13" name="CEINNA_text_180">
            <a:extLst>
              <a:ext uri="{FF2B5EF4-FFF2-40B4-BE49-F238E27FC236}">
                <a16:creationId xmlns:a16="http://schemas.microsoft.com/office/drawing/2014/main" id="{E759B601-4383-127B-6EFB-501691461A22}"/>
              </a:ext>
            </a:extLst>
          </p:cNvPr>
          <p:cNvSpPr txBox="1"/>
          <p:nvPr/>
        </p:nvSpPr>
        <p:spPr>
          <a:xfrm>
            <a:off x="1651000" y="4508499"/>
            <a:ext cx="9563100" cy="1282700"/>
          </a:xfrm>
          <a:prstGeom prst="rect">
            <a:avLst/>
          </a:prstGeom>
          <a:noFill/>
        </p:spPr>
        <p:txBody>
          <a:bodyPr vert="horz" wrap="square" lIns="0" tIns="0" rIns="0" bIns="0" rtlCol="0" anchor="t">
            <a:noAutofit/>
          </a:bodyPr>
          <a:lstStyle/>
          <a:p>
            <a:r>
              <a:rPr lang="es-CO" sz="1850">
                <a:solidFill>
                  <a:srgbClr val="242424"/>
                </a:solidFill>
                <a:latin typeface="Bell MT" panose="02020503060305020303" pitchFamily="18" charset="0"/>
              </a:rPr>
              <a:t>[6] Laverde-López et al. (2022). Validation of the Colombian version of the Karolinska sleepiness scale. Sleep Science, 15(Spec 1), 97–104. https://doi.org/10.5935/1984-0063.20220006</a:t>
            </a:r>
            <a:endParaRPr lang="es-CO" sz="1850" dirty="0">
              <a:solidFill>
                <a:srgbClr val="242424"/>
              </a:solidFill>
              <a:latin typeface="Bell MT" panose="02020503060305020303" pitchFamily="18" charset="0"/>
            </a:endParaRPr>
          </a:p>
        </p:txBody>
      </p:sp>
      <p:sp>
        <p:nvSpPr>
          <p:cNvPr id="15" name="CEINNA_text_181">
            <a:extLst>
              <a:ext uri="{FF2B5EF4-FFF2-40B4-BE49-F238E27FC236}">
                <a16:creationId xmlns:a16="http://schemas.microsoft.com/office/drawing/2014/main" id="{DBD7C032-D32B-981F-D87D-9128E912AF70}"/>
              </a:ext>
            </a:extLst>
          </p:cNvPr>
          <p:cNvSpPr txBox="1"/>
          <p:nvPr/>
        </p:nvSpPr>
        <p:spPr>
          <a:xfrm>
            <a:off x="1625600" y="6019800"/>
            <a:ext cx="9334500" cy="266700"/>
          </a:xfrm>
          <a:prstGeom prst="rect">
            <a:avLst/>
          </a:prstGeom>
          <a:noFill/>
        </p:spPr>
        <p:txBody>
          <a:bodyPr vert="horz" wrap="square" lIns="0" tIns="0" rIns="0" bIns="0" rtlCol="0" anchor="t">
            <a:noAutofit/>
          </a:bodyPr>
          <a:lstStyle/>
          <a:p>
            <a:r>
              <a:rPr lang="es-CO" sz="1200" dirty="0">
                <a:solidFill>
                  <a:srgbClr val="4F5A6C"/>
                </a:solidFill>
                <a:latin typeface="Bell MT" panose="02020503060305020303" pitchFamily="18" charset="0"/>
              </a:rPr>
              <a:t>Autorías abreviadas en pantalla. Referencias APA completas en notas y documento adjunto.</a:t>
            </a:r>
          </a:p>
        </p:txBody>
      </p:sp>
      <p:sp>
        <p:nvSpPr>
          <p:cNvPr id="16" name="CEINNA_text_182">
            <a:extLst>
              <a:ext uri="{FF2B5EF4-FFF2-40B4-BE49-F238E27FC236}">
                <a16:creationId xmlns:a16="http://schemas.microsoft.com/office/drawing/2014/main" id="{6DE509E3-DD6D-CAA5-DD04-B2BA33FFA6AB}"/>
              </a:ext>
            </a:extLst>
          </p:cNvPr>
          <p:cNvSpPr txBox="1"/>
          <p:nvPr/>
        </p:nvSpPr>
        <p:spPr>
          <a:xfrm>
            <a:off x="11036300" y="6032500"/>
            <a:ext cx="292100" cy="228600"/>
          </a:xfrm>
          <a:prstGeom prst="rect">
            <a:avLst/>
          </a:prstGeom>
          <a:noFill/>
        </p:spPr>
        <p:txBody>
          <a:bodyPr vert="horz" wrap="square" lIns="0" tIns="0" rIns="0" bIns="0" rtlCol="0" anchor="t">
            <a:noAutofit/>
          </a:bodyPr>
          <a:lstStyle/>
          <a:p>
            <a:r>
              <a:t>16</a:t>
            </a:r>
          </a:p>
        </p:txBody>
      </p:sp>
    </p:spTree>
    <p:custDataLst>
      <p:tags r:id="rId1"/>
    </p:custDataLst>
    <p:extLst>
      <p:ext uri="{BB962C8B-B14F-4D97-AF65-F5344CB8AC3E}">
        <p14:creationId xmlns:p14="http://schemas.microsoft.com/office/powerpoint/2010/main" val="3260692004"/>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EADACAB-7777-992A-0A7C-7D594272851A}"/>
            </a:ext>
          </a:extLst>
        </p:cNvPr>
        <p:cNvGrpSpPr/>
        <p:nvPr/>
      </p:nvGrpSpPr>
      <p:grpSpPr>
        <a:xfrm>
          <a:off x="0" y="0"/>
          <a:ext cx="0" cy="0"/>
          <a:chOff x="0" y="0"/>
          <a:chExt cx="0" cy="0"/>
        </a:xfrm>
      </p:grpSpPr>
      <p:sp>
        <p:nvSpPr>
          <p:cNvPr id="3" name="Rectángulo 2">
            <a:extLst>
              <a:ext uri="{FF2B5EF4-FFF2-40B4-BE49-F238E27FC236}">
                <a16:creationId xmlns:a16="http://schemas.microsoft.com/office/drawing/2014/main" id="{BA1418DE-5541-FFD4-3BE5-529607D742B6}"/>
              </a:ext>
            </a:extLst>
          </p:cNvPr>
          <p:cNvSpPr/>
          <p:nvPr/>
        </p:nvSpPr>
        <p:spPr>
          <a:xfrm>
            <a:off x="11529162" y="3496321"/>
            <a:ext cx="662838" cy="1813806"/>
          </a:xfrm>
          <a:prstGeom prst="rect">
            <a:avLst/>
          </a:prstGeom>
          <a:solidFill>
            <a:srgbClr val="000F4D"/>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CO"/>
          </a:p>
        </p:txBody>
      </p:sp>
      <p:sp>
        <p:nvSpPr>
          <p:cNvPr id="4" name="Rectángulo 3">
            <a:extLst>
              <a:ext uri="{FF2B5EF4-FFF2-40B4-BE49-F238E27FC236}">
                <a16:creationId xmlns:a16="http://schemas.microsoft.com/office/drawing/2014/main" id="{2C7A685B-3ED7-68D0-AA28-5C324237D34B}"/>
              </a:ext>
            </a:extLst>
          </p:cNvPr>
          <p:cNvSpPr/>
          <p:nvPr/>
        </p:nvSpPr>
        <p:spPr>
          <a:xfrm>
            <a:off x="11529162" y="5227683"/>
            <a:ext cx="662838" cy="1648918"/>
          </a:xfrm>
          <a:prstGeom prst="rect">
            <a:avLst/>
          </a:prstGeom>
          <a:solidFill>
            <a:srgbClr val="26B53B"/>
          </a:solidFill>
          <a:ln>
            <a:solidFill>
              <a:srgbClr val="23B53B"/>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CO"/>
          </a:p>
        </p:txBody>
      </p:sp>
      <p:sp>
        <p:nvSpPr>
          <p:cNvPr id="5" name="Rectángulo 4">
            <a:extLst>
              <a:ext uri="{FF2B5EF4-FFF2-40B4-BE49-F238E27FC236}">
                <a16:creationId xmlns:a16="http://schemas.microsoft.com/office/drawing/2014/main" id="{C27231FE-9AA7-2608-ECC4-9D0CB750A14C}"/>
              </a:ext>
            </a:extLst>
          </p:cNvPr>
          <p:cNvSpPr/>
          <p:nvPr/>
        </p:nvSpPr>
        <p:spPr>
          <a:xfrm>
            <a:off x="11527436" y="0"/>
            <a:ext cx="662838" cy="1648918"/>
          </a:xfrm>
          <a:prstGeom prst="rect">
            <a:avLst/>
          </a:prstGeom>
          <a:solidFill>
            <a:srgbClr val="D9000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CO"/>
          </a:p>
        </p:txBody>
      </p:sp>
      <p:sp>
        <p:nvSpPr>
          <p:cNvPr id="6" name="Rectángulo 5">
            <a:extLst>
              <a:ext uri="{FF2B5EF4-FFF2-40B4-BE49-F238E27FC236}">
                <a16:creationId xmlns:a16="http://schemas.microsoft.com/office/drawing/2014/main" id="{0373642A-7EB2-B049-25EB-29A25E7510C8}"/>
              </a:ext>
            </a:extLst>
          </p:cNvPr>
          <p:cNvSpPr/>
          <p:nvPr/>
        </p:nvSpPr>
        <p:spPr>
          <a:xfrm>
            <a:off x="11529162" y="1656417"/>
            <a:ext cx="662838" cy="1813806"/>
          </a:xfrm>
          <a:prstGeom prst="rect">
            <a:avLst/>
          </a:prstGeom>
        </p:spPr>
        <p:style>
          <a:lnRef idx="2">
            <a:schemeClr val="dk1">
              <a:shade val="15000"/>
            </a:schemeClr>
          </a:lnRef>
          <a:fillRef idx="1">
            <a:schemeClr val="dk1"/>
          </a:fillRef>
          <a:effectRef idx="0">
            <a:schemeClr val="dk1"/>
          </a:effectRef>
          <a:fontRef idx="minor">
            <a:schemeClr val="lt1"/>
          </a:fontRef>
        </p:style>
        <p:txBody>
          <a:bodyPr rtlCol="0" anchor="ctr"/>
          <a:lstStyle/>
          <a:p>
            <a:pPr algn="ctr"/>
            <a:endParaRPr lang="es-CO"/>
          </a:p>
        </p:txBody>
      </p:sp>
      <p:pic>
        <p:nvPicPr>
          <p:cNvPr id="7" name="Imagen 6" descr="Diagrama&#10;&#10;El contenido generado por inteligencia artificial puede ser incorrecto.">
            <a:extLst>
              <a:ext uri="{FF2B5EF4-FFF2-40B4-BE49-F238E27FC236}">
                <a16:creationId xmlns:a16="http://schemas.microsoft.com/office/drawing/2014/main" id="{269D18FA-4C6D-2E05-BC37-03430A9D703D}"/>
              </a:ext>
            </a:extLst>
          </p:cNvPr>
          <p:cNvPicPr>
            <a:picLocks noChangeAspect="1"/>
          </p:cNvPicPr>
          <p:nvPr/>
        </p:nvPicPr>
        <p:blipFill>
          <a:blip r:embed="rId4"/>
          <a:srcRect l="6260" t="10344" r="5922" b="28494"/>
          <a:stretch/>
        </p:blipFill>
        <p:spPr>
          <a:xfrm>
            <a:off x="2924221" y="479700"/>
            <a:ext cx="5999177" cy="5217326"/>
          </a:xfrm>
          <a:prstGeom prst="rect">
            <a:avLst/>
          </a:prstGeom>
        </p:spPr>
      </p:pic>
    </p:spTree>
    <p:custDataLst>
      <p:tags r:id="rId1"/>
    </p:custDataLst>
    <p:extLst>
      <p:ext uri="{BB962C8B-B14F-4D97-AF65-F5344CB8AC3E}">
        <p14:creationId xmlns:p14="http://schemas.microsoft.com/office/powerpoint/2010/main" val="831866156"/>
      </p:ext>
    </p:extLst>
  </p:cSld>
  <p:clrMapOvr>
    <a:masterClrMapping/>
  </p:clrMapOvr>
</p:sld>
</file>

<file path=ppt/slides/slide1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grpSp>
        <p:nvGrpSpPr>
          <p:cNvPr id="2" name="Grupo 1">
            <a:extLst>
              <a:ext uri="{FF2B5EF4-FFF2-40B4-BE49-F238E27FC236}">
                <a16:creationId xmlns:a16="http://schemas.microsoft.com/office/drawing/2014/main" id="{B5C8DCE7-7F59-F685-9165-4D848885236E}"/>
              </a:ext>
            </a:extLst>
          </p:cNvPr>
          <p:cNvGrpSpPr/>
          <p:nvPr/>
        </p:nvGrpSpPr>
        <p:grpSpPr>
          <a:xfrm>
            <a:off x="11555690" y="0"/>
            <a:ext cx="636310" cy="6876601"/>
            <a:chOff x="11555690" y="0"/>
            <a:chExt cx="636310" cy="6876601"/>
          </a:xfrm>
        </p:grpSpPr>
        <p:sp>
          <p:nvSpPr>
            <p:cNvPr id="3" name="Rectángulo 2">
              <a:extLst>
                <a:ext uri="{FF2B5EF4-FFF2-40B4-BE49-F238E27FC236}">
                  <a16:creationId xmlns:a16="http://schemas.microsoft.com/office/drawing/2014/main" id="{A8E3883C-A3FB-B076-D9C5-4593E728242E}"/>
                </a:ext>
              </a:extLst>
            </p:cNvPr>
            <p:cNvSpPr/>
            <p:nvPr/>
          </p:nvSpPr>
          <p:spPr>
            <a:xfrm>
              <a:off x="11557416" y="3496321"/>
              <a:ext cx="634584" cy="1813806"/>
            </a:xfrm>
            <a:prstGeom prst="rect">
              <a:avLst/>
            </a:prstGeom>
            <a:solidFill>
              <a:srgbClr val="000F4D"/>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CO"/>
            </a:p>
          </p:txBody>
        </p:sp>
        <p:sp>
          <p:nvSpPr>
            <p:cNvPr id="4" name="Rectángulo 3">
              <a:extLst>
                <a:ext uri="{FF2B5EF4-FFF2-40B4-BE49-F238E27FC236}">
                  <a16:creationId xmlns:a16="http://schemas.microsoft.com/office/drawing/2014/main" id="{7512944A-8633-A84A-8248-74134005AF6D}"/>
                </a:ext>
              </a:extLst>
            </p:cNvPr>
            <p:cNvSpPr/>
            <p:nvPr/>
          </p:nvSpPr>
          <p:spPr>
            <a:xfrm>
              <a:off x="11557416" y="5227683"/>
              <a:ext cx="634584" cy="1648918"/>
            </a:xfrm>
            <a:prstGeom prst="rect">
              <a:avLst/>
            </a:prstGeom>
            <a:solidFill>
              <a:srgbClr val="26B53B"/>
            </a:solidFill>
            <a:ln>
              <a:solidFill>
                <a:srgbClr val="23B53B"/>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CO"/>
            </a:p>
          </p:txBody>
        </p:sp>
        <p:sp>
          <p:nvSpPr>
            <p:cNvPr id="5" name="Rectángulo 4">
              <a:extLst>
                <a:ext uri="{FF2B5EF4-FFF2-40B4-BE49-F238E27FC236}">
                  <a16:creationId xmlns:a16="http://schemas.microsoft.com/office/drawing/2014/main" id="{17EF142A-3A8B-CD16-CBC7-83A3158E79B9}"/>
                </a:ext>
              </a:extLst>
            </p:cNvPr>
            <p:cNvSpPr/>
            <p:nvPr/>
          </p:nvSpPr>
          <p:spPr>
            <a:xfrm>
              <a:off x="11555690" y="0"/>
              <a:ext cx="634584" cy="1648918"/>
            </a:xfrm>
            <a:prstGeom prst="rect">
              <a:avLst/>
            </a:prstGeom>
            <a:solidFill>
              <a:srgbClr val="D9000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CO"/>
            </a:p>
          </p:txBody>
        </p:sp>
        <p:sp>
          <p:nvSpPr>
            <p:cNvPr id="6" name="Rectángulo 5">
              <a:extLst>
                <a:ext uri="{FF2B5EF4-FFF2-40B4-BE49-F238E27FC236}">
                  <a16:creationId xmlns:a16="http://schemas.microsoft.com/office/drawing/2014/main" id="{79078B8D-A80A-1F4B-6797-EB5D560913BE}"/>
                </a:ext>
              </a:extLst>
            </p:cNvPr>
            <p:cNvSpPr/>
            <p:nvPr/>
          </p:nvSpPr>
          <p:spPr>
            <a:xfrm>
              <a:off x="11557416" y="1656417"/>
              <a:ext cx="634584" cy="1813806"/>
            </a:xfrm>
            <a:prstGeom prst="rect">
              <a:avLst/>
            </a:prstGeom>
          </p:spPr>
          <p:style>
            <a:lnRef idx="2">
              <a:schemeClr val="dk1">
                <a:shade val="15000"/>
              </a:schemeClr>
            </a:lnRef>
            <a:fillRef idx="1">
              <a:schemeClr val="dk1"/>
            </a:fillRef>
            <a:effectRef idx="0">
              <a:schemeClr val="dk1"/>
            </a:effectRef>
            <a:fontRef idx="minor">
              <a:schemeClr val="lt1"/>
            </a:fontRef>
          </p:style>
          <p:txBody>
            <a:bodyPr rtlCol="0" anchor="ctr"/>
            <a:lstStyle/>
            <a:p>
              <a:pPr algn="ctr"/>
              <a:endParaRPr lang="es-CO"/>
            </a:p>
          </p:txBody>
        </p:sp>
      </p:grpSp>
      <p:pic>
        <p:nvPicPr>
          <p:cNvPr id="7" name="Imagen 11" descr="image.png"/>
          <p:cNvPicPr>
            <a:picLocks noChangeAspect="1"/>
          </p:cNvPicPr>
          <p:nvPr/>
        </p:nvPicPr>
        <p:blipFill>
          <a:blip r:embed="rId2"/>
          <a:stretch>
            <a:fillRect/>
          </a:stretch>
        </p:blipFill>
        <p:spPr>
          <a:xfrm>
            <a:off x="-1859" y="2180"/>
            <a:ext cx="1742137" cy="1508926"/>
          </a:xfrm>
          <a:prstGeom prst="rect">
            <a:avLst/>
          </a:prstGeom>
        </p:spPr>
      </p:pic>
      <p:sp>
        <p:nvSpPr>
          <p:cNvPr id="13" name="CuadroTexto 12">
            <a:extLst>
              <a:ext uri="{FF2B5EF4-FFF2-40B4-BE49-F238E27FC236}">
                <a16:creationId xmlns:a16="http://schemas.microsoft.com/office/drawing/2014/main" id="{6B36561D-2D6B-4EDE-A51D-6DA6EACFF66A}"/>
              </a:ext>
            </a:extLst>
          </p:cNvPr>
          <p:cNvSpPr txBox="1"/>
          <p:nvPr/>
        </p:nvSpPr>
        <p:spPr>
          <a:xfrm>
            <a:off x="1618938" y="6368002"/>
            <a:ext cx="9218951" cy="369332"/>
          </a:xfrm>
          <a:prstGeom prst="rect">
            <a:avLst/>
          </a:prstGeom>
          <a:noFill/>
        </p:spPr>
        <p:txBody>
          <a:bodyPr wrap="square" rtlCol="0">
            <a:spAutoFit/>
          </a:bodyPr>
          <a:lstStyle/>
          <a:p>
            <a:pPr algn="ctr"/>
            <a:r>
              <a:rPr lang="es-CO" sz="1800" i="1" kern="100" dirty="0">
                <a:solidFill>
                  <a:srgbClr val="242424"/>
                </a:solidFill>
                <a:effectLst/>
                <a:latin typeface="Bell MT" panose="02020503060305020303" pitchFamily="18" charset="0"/>
                <a:ea typeface="Aptos" panose="020B0004020202020204" pitchFamily="34" charset="0"/>
                <a:cs typeface="Times New Roman" panose="02020603050405020304" pitchFamily="18" charset="0"/>
              </a:rPr>
              <a:t>“Del conocimiento a la capacidad estratégica”</a:t>
            </a:r>
            <a:endParaRPr lang="es-CO" sz="1800" i="1" kern="100" dirty="0">
              <a:effectLst/>
              <a:latin typeface="Bell MT" panose="02020503060305020303" pitchFamily="18" charset="0"/>
              <a:ea typeface="Aptos" panose="020B0004020202020204" pitchFamily="34" charset="0"/>
              <a:cs typeface="Times New Roman" panose="02020603050405020304" pitchFamily="18" charset="0"/>
            </a:endParaRPr>
          </a:p>
        </p:txBody>
      </p:sp>
      <p:sp>
        <p:nvSpPr>
          <p:cNvPr id="14" name="CEINNA_visual_text"/>
          <p:cNvSpPr txBox="1"/>
          <p:nvPr/>
        </p:nvSpPr>
        <p:spPr>
          <a:xfrm>
            <a:off x="1841500" y="368300"/>
            <a:ext cx="8966200" cy="876300"/>
          </a:xfrm>
          <a:prstGeom prst="rect">
            <a:avLst/>
          </a:prstGeom>
          <a:noFill/>
        </p:spPr>
        <p:txBody>
          <a:bodyPr wrap="square" lIns="0" rIns="0" tIns="0" bIns="0" anchor="t">
            <a:spAutoFit/>
          </a:bodyPr>
          <a:lstStyle/>
          <a:p>
            <a:pPr algn="ctr">
              <a:spcAft>
                <a:spcPts val="0"/>
              </a:spcAft>
            </a:pPr>
            <a:r>
              <a:rPr sz="3600" b="1">
                <a:solidFill>
                  <a:srgbClr val="000F4D"/>
                </a:solidFill>
                <a:latin typeface="Bell MT"/>
              </a:rPr>
              <a:t>Fisiología: adquisición separada</a:t>
            </a:r>
          </a:p>
        </p:txBody>
      </p:sp>
      <p:pic>
        <p:nvPicPr>
          <p:cNvPr id="15" name="CEINNA_conceptual_image" descr="Ilustración conceptual generada con IA; procedencia en CEINNA/visuales/PROMPTS_IMAGEGEN.md."/>
          <p:cNvPicPr>
            <a:picLocks noChangeAspect="1"/>
          </p:cNvPicPr>
          <p:nvPr/>
        </p:nvPicPr>
        <p:blipFill>
          <a:blip r:embed="rId3"/>
          <a:stretch>
            <a:fillRect/>
          </a:stretch>
        </p:blipFill>
        <p:spPr>
          <a:xfrm>
            <a:off x="1660525" y="1841500"/>
            <a:ext cx="5391150" cy="3594100"/>
          </a:xfrm>
          <a:prstGeom prst="rect">
            <a:avLst/>
          </a:prstGeom>
        </p:spPr>
      </p:pic>
      <p:sp>
        <p:nvSpPr>
          <p:cNvPr id="16" name="CEINNA_visual_text"/>
          <p:cNvSpPr txBox="1"/>
          <p:nvPr/>
        </p:nvSpPr>
        <p:spPr>
          <a:xfrm>
            <a:off x="1676400" y="5499100"/>
            <a:ext cx="5334000" cy="254000"/>
          </a:xfrm>
          <a:prstGeom prst="rect">
            <a:avLst/>
          </a:prstGeom>
          <a:noFill/>
        </p:spPr>
        <p:txBody>
          <a:bodyPr wrap="square" lIns="0" rIns="0" tIns="0" bIns="0" anchor="t">
            <a:spAutoFit/>
          </a:bodyPr>
          <a:lstStyle/>
          <a:p>
            <a:pPr algn="l">
              <a:spcAft>
                <a:spcPts val="0"/>
              </a:spcAft>
            </a:pPr>
            <a:r>
              <a:rPr sz="1150" b="0">
                <a:solidFill>
                  <a:srgbClr val="4F5A6C"/>
                </a:solidFill>
                <a:latin typeface="Bell MT"/>
              </a:rPr>
              <a:t>Ilustración conceptual generada con IA; equipos no conectados.</a:t>
            </a:r>
          </a:p>
        </p:txBody>
      </p:sp>
      <p:sp>
        <p:nvSpPr>
          <p:cNvPr id="17" name="CEINNA_visual_text"/>
          <p:cNvSpPr txBox="1"/>
          <p:nvPr/>
        </p:nvSpPr>
        <p:spPr>
          <a:xfrm>
            <a:off x="7442200" y="1917700"/>
            <a:ext cx="3721100" cy="444500"/>
          </a:xfrm>
          <a:prstGeom prst="rect">
            <a:avLst/>
          </a:prstGeom>
          <a:noFill/>
        </p:spPr>
        <p:txBody>
          <a:bodyPr wrap="square" lIns="0" rIns="0" tIns="0" bIns="0" anchor="t">
            <a:spAutoFit/>
          </a:bodyPr>
          <a:lstStyle/>
          <a:p>
            <a:pPr algn="l">
              <a:spcAft>
                <a:spcPts val="0"/>
              </a:spcAft>
            </a:pPr>
            <a:r>
              <a:rPr sz="2700" b="1">
                <a:solidFill>
                  <a:srgbClr val="000F4D"/>
                </a:solidFill>
                <a:latin typeface="Bell MT"/>
              </a:rPr>
              <a:t>Polar H10</a:t>
            </a:r>
          </a:p>
        </p:txBody>
      </p:sp>
      <p:sp>
        <p:nvSpPr>
          <p:cNvPr id="18" name="CEINNA_visual_text"/>
          <p:cNvSpPr txBox="1"/>
          <p:nvPr/>
        </p:nvSpPr>
        <p:spPr>
          <a:xfrm>
            <a:off x="7442200" y="2451100"/>
            <a:ext cx="3708400" cy="711200"/>
          </a:xfrm>
          <a:prstGeom prst="rect">
            <a:avLst/>
          </a:prstGeom>
          <a:noFill/>
        </p:spPr>
        <p:txBody>
          <a:bodyPr wrap="square" lIns="0" rIns="0" tIns="0" bIns="0" anchor="t">
            <a:spAutoFit/>
          </a:bodyPr>
          <a:lstStyle/>
          <a:p>
            <a:pPr algn="l">
              <a:spcAft>
                <a:spcPts val="0"/>
              </a:spcAft>
            </a:pPr>
            <a:r>
              <a:rPr sz="2000" b="0">
                <a:solidFill>
                  <a:srgbClr val="242424"/>
                </a:solidFill>
                <a:latin typeface="Bell MT"/>
              </a:rPr>
              <a:t>Intervalos R–R si se verifica la ruta de captura</a:t>
            </a:r>
          </a:p>
        </p:txBody>
      </p:sp>
      <p:sp>
        <p:nvSpPr>
          <p:cNvPr id="19" name="CEINNA_visual_text"/>
          <p:cNvSpPr txBox="1"/>
          <p:nvPr/>
        </p:nvSpPr>
        <p:spPr>
          <a:xfrm>
            <a:off x="7442200" y="3416300"/>
            <a:ext cx="3721100" cy="444500"/>
          </a:xfrm>
          <a:prstGeom prst="rect">
            <a:avLst/>
          </a:prstGeom>
          <a:noFill/>
        </p:spPr>
        <p:txBody>
          <a:bodyPr wrap="square" lIns="0" rIns="0" tIns="0" bIns="0" anchor="t">
            <a:spAutoFit/>
          </a:bodyPr>
          <a:lstStyle/>
          <a:p>
            <a:pPr algn="l">
              <a:spcAft>
                <a:spcPts val="0"/>
              </a:spcAft>
            </a:pPr>
            <a:r>
              <a:rPr sz="2700" b="1">
                <a:solidFill>
                  <a:srgbClr val="000F4D"/>
                </a:solidFill>
                <a:latin typeface="Bell MT"/>
              </a:rPr>
              <a:t>ActiGraph</a:t>
            </a:r>
          </a:p>
        </p:txBody>
      </p:sp>
      <p:sp>
        <p:nvSpPr>
          <p:cNvPr id="20" name="CEINNA_visual_text"/>
          <p:cNvSpPr txBox="1"/>
          <p:nvPr/>
        </p:nvSpPr>
        <p:spPr>
          <a:xfrm>
            <a:off x="7442200" y="3949700"/>
            <a:ext cx="3708400" cy="635000"/>
          </a:xfrm>
          <a:prstGeom prst="rect">
            <a:avLst/>
          </a:prstGeom>
          <a:noFill/>
        </p:spPr>
        <p:txBody>
          <a:bodyPr wrap="square" lIns="0" rIns="0" tIns="0" bIns="0" anchor="t">
            <a:spAutoFit/>
          </a:bodyPr>
          <a:lstStyle/>
          <a:p>
            <a:pPr algn="l">
              <a:spcAft>
                <a:spcPts val="0"/>
              </a:spcAft>
            </a:pPr>
            <a:r>
              <a:rPr sz="2000" b="0">
                <a:solidFill>
                  <a:srgbClr val="242424"/>
                </a:solidFill>
                <a:latin typeface="Bell MT"/>
              </a:rPr>
              <a:t>Movimiento y actividad</a:t>
            </a:r>
          </a:p>
        </p:txBody>
      </p:sp>
      <p:sp>
        <p:nvSpPr>
          <p:cNvPr id="21" name="CEINNA_visual_text"/>
          <p:cNvSpPr txBox="1"/>
          <p:nvPr/>
        </p:nvSpPr>
        <p:spPr>
          <a:xfrm>
            <a:off x="7442200" y="4851400"/>
            <a:ext cx="3721100" cy="736600"/>
          </a:xfrm>
          <a:prstGeom prst="rect">
            <a:avLst/>
          </a:prstGeom>
          <a:noFill/>
        </p:spPr>
        <p:txBody>
          <a:bodyPr wrap="square" lIns="0" rIns="0" tIns="0" bIns="0" anchor="t">
            <a:spAutoFit/>
          </a:bodyPr>
          <a:lstStyle/>
          <a:p>
            <a:pPr algn="l">
              <a:spcAft>
                <a:spcPts val="0"/>
              </a:spcAft>
            </a:pPr>
            <a:r>
              <a:rPr sz="2000" b="1">
                <a:solidFill>
                  <a:srgbClr val="000F4D"/>
                </a:solidFill>
                <a:latin typeface="Bell MT"/>
              </a:rPr>
              <a:t>HRV: descriptor derivado, sujeto a calidad de señal.</a:t>
            </a:r>
          </a:p>
        </p:txBody>
      </p:sp>
      <p:sp>
        <p:nvSpPr>
          <p:cNvPr id="22" name="CEINNA_visual_text"/>
          <p:cNvSpPr txBox="1"/>
          <p:nvPr/>
        </p:nvSpPr>
        <p:spPr>
          <a:xfrm>
            <a:off x="1625600" y="6019800"/>
            <a:ext cx="9334500" cy="266700"/>
          </a:xfrm>
          <a:prstGeom prst="rect">
            <a:avLst/>
          </a:prstGeom>
          <a:noFill/>
        </p:spPr>
        <p:txBody>
          <a:bodyPr wrap="square" lIns="0" rIns="0" tIns="0" bIns="0" anchor="t">
            <a:spAutoFit/>
          </a:bodyPr>
          <a:lstStyle/>
          <a:p>
            <a:pPr algn="l">
              <a:spcAft>
                <a:spcPts val="0"/>
              </a:spcAft>
            </a:pPr>
            <a:r>
              <a:rPr sz="1200" b="0">
                <a:solidFill>
                  <a:srgbClr val="4F5A6C"/>
                </a:solidFill>
                <a:latin typeface="Bell MT"/>
              </a:rPr>
              <a:t>Manual ASTRA §§4.2.3, 4.7 y fisiología; adquisición distinta de las tareas MATB.</a:t>
            </a:r>
          </a:p>
        </p:txBody>
      </p:sp>
      <p:sp>
        <p:nvSpPr>
          <p:cNvPr id="23" name="CEINNA_visual_text"/>
          <p:cNvSpPr txBox="1"/>
          <p:nvPr/>
        </p:nvSpPr>
        <p:spPr>
          <a:xfrm>
            <a:off x="11036300" y="6032500"/>
            <a:ext cx="292100" cy="228600"/>
          </a:xfrm>
          <a:prstGeom prst="rect">
            <a:avLst/>
          </a:prstGeom>
          <a:noFill/>
        </p:spPr>
        <p:txBody>
          <a:bodyPr wrap="square" lIns="0" rIns="0" tIns="0" bIns="0" anchor="t">
            <a:spAutoFit/>
          </a:bodyPr>
          <a:lstStyle/>
          <a:p>
            <a:pPr algn="l">
              <a:spcAft>
                <a:spcPts val="0"/>
              </a:spcAft>
            </a:pPr>
            <a:r>
              <a:rPr sz="1200" b="0">
                <a:solidFill>
                  <a:srgbClr val="4F5A6C"/>
                </a:solidFill>
                <a:latin typeface="Bell MT"/>
              </a:rPr>
              <a:t>9</a:t>
            </a:r>
          </a:p>
        </p:txBody>
      </p:sp>
    </p:spTree>
  </p:cSld>
  <p:clrMapOvr>
    <a:masterClrMapping/>
  </p:clrMapOvr>
</p:sld>
</file>

<file path=ppt/tags/tag1.xml><?xml version="1.0" encoding="utf-8"?>
<p:tagLst xmlns:a="http://schemas.openxmlformats.org/drawingml/2006/main" xmlns:r="http://schemas.openxmlformats.org/officeDocument/2006/relationships" xmlns:p="http://schemas.openxmlformats.org/presentationml/2006/main">
  <p:tag name="CEINNA_DURATION_SECONDS" val="0"/>
  <p:tag name="CEINNA_TEMPLATE_SLIDE" val="1"/>
</p:tagLst>
</file>

<file path=ppt/tags/tag2.xml><?xml version="1.0" encoding="utf-8"?>
<p:tagLst xmlns:a="http://schemas.openxmlformats.org/drawingml/2006/main" xmlns:r="http://schemas.openxmlformats.org/officeDocument/2006/relationships" xmlns:p="http://schemas.openxmlformats.org/presentationml/2006/main">
  <p:tag name="CEINNA_DURATION_SECONDS" val="20"/>
  <p:tag name="CEINNA_TEMPLATE_SLIDE" val="2"/>
</p:tagLst>
</file>

<file path=ppt/tags/tag3.xml><?xml version="1.0" encoding="utf-8"?>
<p:tagLst xmlns:a="http://schemas.openxmlformats.org/drawingml/2006/main" xmlns:r="http://schemas.openxmlformats.org/officeDocument/2006/relationships" xmlns:p="http://schemas.openxmlformats.org/presentationml/2006/main">
  <p:tag name="CEINNA_DURATION_SECONDS" val="55"/>
  <p:tag name="CEINNA_TEMPLATE_SLIDE" val="3"/>
</p:tagLst>
</file>

<file path=ppt/tags/tag4.xml><?xml version="1.0" encoding="utf-8"?>
<p:tagLst xmlns:a="http://schemas.openxmlformats.org/drawingml/2006/main" xmlns:r="http://schemas.openxmlformats.org/officeDocument/2006/relationships" xmlns:p="http://schemas.openxmlformats.org/presentationml/2006/main">
  <p:tag name="CEINNA_DURATION_SECONDS" val="50"/>
  <p:tag name="CEINNA_TEMPLATE_SLIDE" val="4"/>
</p:tagLst>
</file>

<file path=ppt/tags/tag5.xml><?xml version="1.0" encoding="utf-8"?>
<p:tagLst xmlns:a="http://schemas.openxmlformats.org/drawingml/2006/main" xmlns:r="http://schemas.openxmlformats.org/officeDocument/2006/relationships" xmlns:p="http://schemas.openxmlformats.org/presentationml/2006/main">
  <p:tag name="CEINNA_DURATION_SECONDS" val="50"/>
  <p:tag name="CEINNA_TEMPLATE_SLIDE" val="4"/>
</p:tagLst>
</file>

<file path=ppt/tags/tag6.xml><?xml version="1.0" encoding="utf-8"?>
<p:tagLst xmlns:a="http://schemas.openxmlformats.org/drawingml/2006/main" xmlns:r="http://schemas.openxmlformats.org/officeDocument/2006/relationships" xmlns:p="http://schemas.openxmlformats.org/presentationml/2006/main">
  <p:tag name="CEINNA_DURATION_SECONDS" val="65"/>
  <p:tag name="CEINNA_TEMPLATE_SLIDE" val="4"/>
</p:tagLst>
</file>

<file path=ppt/tags/tag7.xml><?xml version="1.0" encoding="utf-8"?>
<p:tagLst xmlns:a="http://schemas.openxmlformats.org/drawingml/2006/main" xmlns:r="http://schemas.openxmlformats.org/officeDocument/2006/relationships" xmlns:p="http://schemas.openxmlformats.org/presentationml/2006/main">
  <p:tag name="CEINNA_DURATION_SECONDS" val="60"/>
  <p:tag name="CEINNA_TEMPLATE_SLIDE" val="4"/>
</p:tagLst>
</file>

<file path=ppt/tags/tag8.xml><?xml version="1.0" encoding="utf-8"?>
<p:tagLst xmlns:a="http://schemas.openxmlformats.org/drawingml/2006/main" xmlns:r="http://schemas.openxmlformats.org/officeDocument/2006/relationships" xmlns:p="http://schemas.openxmlformats.org/presentationml/2006/main">
  <p:tag name="CEINNA_DURATION_SECONDS" val="55"/>
  <p:tag name="CEINNA_TEMPLATE_SLIDE" val="4"/>
</p:tagLst>
</file>

<file path=ppt/tags/tag9.xml><?xml version="1.0" encoding="utf-8"?>
<p:tagLst xmlns:a="http://schemas.openxmlformats.org/drawingml/2006/main" xmlns:r="http://schemas.openxmlformats.org/officeDocument/2006/relationships" xmlns:p="http://schemas.openxmlformats.org/presentationml/2006/main">
  <p:tag name="CEINNA_DURATION_SECONDS" val="65"/>
  <p:tag name="CEINNA_TEMPLATE_SLIDE" val="4"/>
</p:tagLst>
</file>

<file path=ppt/tags/tag10.xml><?xml version="1.0" encoding="utf-8"?>
<p:tagLst xmlns:a="http://schemas.openxmlformats.org/drawingml/2006/main" xmlns:r="http://schemas.openxmlformats.org/officeDocument/2006/relationships" xmlns:p="http://schemas.openxmlformats.org/presentationml/2006/main">
  <p:tag name="CEINNA_DURATION_SECONDS" val="65"/>
  <p:tag name="CEINNA_TEMPLATE_SLIDE" val="5"/>
</p:tagLst>
</file>

<file path=ppt/tags/tag11.xml><?xml version="1.0" encoding="utf-8"?>
<p:tagLst xmlns:a="http://schemas.openxmlformats.org/drawingml/2006/main" xmlns:r="http://schemas.openxmlformats.org/officeDocument/2006/relationships" xmlns:p="http://schemas.openxmlformats.org/presentationml/2006/main">
  <p:tag name="CEINNA_DURATION_SECONDS" val="65"/>
  <p:tag name="CEINNA_TEMPLATE_SLIDE" val="4"/>
</p:tagLst>
</file>

<file path=ppt/tags/tag12.xml><?xml version="1.0" encoding="utf-8"?>
<p:tagLst xmlns:a="http://schemas.openxmlformats.org/drawingml/2006/main" xmlns:r="http://schemas.openxmlformats.org/officeDocument/2006/relationships" xmlns:p="http://schemas.openxmlformats.org/presentationml/2006/main">
  <p:tag name="CEINNA_DURATION_SECONDS" val="55"/>
  <p:tag name="CEINNA_TEMPLATE_SLIDE" val="4"/>
</p:tagLst>
</file>

<file path=ppt/tags/tag13.xml><?xml version="1.0" encoding="utf-8"?>
<p:tagLst xmlns:a="http://schemas.openxmlformats.org/drawingml/2006/main" xmlns:r="http://schemas.openxmlformats.org/officeDocument/2006/relationships" xmlns:p="http://schemas.openxmlformats.org/presentationml/2006/main">
  <p:tag name="CEINNA_DURATION_SECONDS" val="65"/>
  <p:tag name="CEINNA_TEMPLATE_SLIDE" val="6"/>
</p:tagLst>
</file>

<file path=ppt/tags/tag14.xml><?xml version="1.0" encoding="utf-8"?>
<p:tagLst xmlns:a="http://schemas.openxmlformats.org/drawingml/2006/main" xmlns:r="http://schemas.openxmlformats.org/officeDocument/2006/relationships" xmlns:p="http://schemas.openxmlformats.org/presentationml/2006/main">
  <p:tag name="CEINNA_DURATION_SECONDS" val="10"/>
  <p:tag name="CEINNA_TEMPLATE_SLIDE" val="7"/>
</p:tagLst>
</file>

<file path=ppt/tags/tag15.xml><?xml version="1.0" encoding="utf-8"?>
<p:tagLst xmlns:a="http://schemas.openxmlformats.org/drawingml/2006/main" xmlns:r="http://schemas.openxmlformats.org/officeDocument/2006/relationships" xmlns:p="http://schemas.openxmlformats.org/presentationml/2006/main">
  <p:tag name="CEINNA_DURATION_SECONDS" val="10"/>
  <p:tag name="CEINNA_TEMPLATE_SLIDE" val="7"/>
</p:tagLst>
</file>

<file path=ppt/tags/tag16.xml><?xml version="1.0" encoding="utf-8"?>
<p:tagLst xmlns:a="http://schemas.openxmlformats.org/drawingml/2006/main" xmlns:r="http://schemas.openxmlformats.org/officeDocument/2006/relationships" xmlns:p="http://schemas.openxmlformats.org/presentationml/2006/main">
  <p:tag name="CEINNA_DURATION_SECONDS" val="0"/>
  <p:tag name="CEINNA_TEMPLATE_SLIDE" val="8"/>
</p:tagLst>
</file>

<file path=ppt/theme/theme1.xml><?xml version="1.0" encoding="utf-8"?>
<a:theme xmlns:a="http://schemas.openxmlformats.org/drawingml/2006/main" name="Tema de Offic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p:properties xmlns:p="http://schemas.microsoft.com/office/2006/metadata/properties" xmlns:xsi="http://www.w3.org/2001/XMLSchema-instance" xmlns:pc="http://schemas.microsoft.com/office/infopath/2007/PartnerControls">
  <documentManagement>
    <TaxCatchAll xmlns="f04a20c9-9af0-4dae-aeba-e15070a73960" xsi:nil="true"/>
    <lcf76f155ced4ddcb4097134ff3c332f xmlns="6a6d1859-6a9f-4da9-824f-e439e613a89f">
      <Terms xmlns="http://schemas.microsoft.com/office/infopath/2007/PartnerControls"/>
    </lcf76f155ced4ddcb4097134ff3c332f>
  </documentManagement>
</p:properties>
</file>

<file path=customXml/item2.xml><?xml version="1.0" encoding="utf-8"?>
<ct:contentTypeSchema xmlns:ct="http://schemas.microsoft.com/office/2006/metadata/contentType" xmlns:ma="http://schemas.microsoft.com/office/2006/metadata/properties/metaAttributes" ct:_="" ma:_="" ma:contentTypeName="Documento" ma:contentTypeID="0x010100D0BB7AEC58CAC444A4B63F811FEE926A" ma:contentTypeVersion="14" ma:contentTypeDescription="Crear nuevo documento." ma:contentTypeScope="" ma:versionID="8680629e63e992b24468668303c781b6">
  <xsd:schema xmlns:xsd="http://www.w3.org/2001/XMLSchema" xmlns:xs="http://www.w3.org/2001/XMLSchema" xmlns:p="http://schemas.microsoft.com/office/2006/metadata/properties" xmlns:ns2="6a6d1859-6a9f-4da9-824f-e439e613a89f" xmlns:ns3="f04a20c9-9af0-4dae-aeba-e15070a73960" targetNamespace="http://schemas.microsoft.com/office/2006/metadata/properties" ma:root="true" ma:fieldsID="909707a9e4cffbda75ecfe28d8aeea2e" ns2:_="" ns3:_="">
    <xsd:import namespace="6a6d1859-6a9f-4da9-824f-e439e613a89f"/>
    <xsd:import namespace="f04a20c9-9af0-4dae-aeba-e15070a73960"/>
    <xsd:element name="properties">
      <xsd:complexType>
        <xsd:sequence>
          <xsd:element name="documentManagement">
            <xsd:complexType>
              <xsd:all>
                <xsd:element ref="ns2:MediaServiceMetadata" minOccurs="0"/>
                <xsd:element ref="ns2:MediaServiceFastMetadata" minOccurs="0"/>
                <xsd:element ref="ns2:MediaServiceObjectDetectorVersions" minOccurs="0"/>
                <xsd:element ref="ns2:lcf76f155ced4ddcb4097134ff3c332f" minOccurs="0"/>
                <xsd:element ref="ns3:TaxCatchAll" minOccurs="0"/>
                <xsd:element ref="ns2:MediaServiceOCR" minOccurs="0"/>
                <xsd:element ref="ns2:MediaServiceGenerationTime" minOccurs="0"/>
                <xsd:element ref="ns2:MediaServiceEventHashCode" minOccurs="0"/>
                <xsd:element ref="ns2:MediaServiceDateTaken" minOccurs="0"/>
                <xsd:element ref="ns2:MediaLengthInSeconds" minOccurs="0"/>
                <xsd:element ref="ns3:SharedWithUsers" minOccurs="0"/>
                <xsd:element ref="ns3:SharedWithDetails" minOccurs="0"/>
                <xsd:element ref="ns2:MediaServiceSearchProperties"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6a6d1859-6a9f-4da9-824f-e439e613a89f"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ObjectDetectorVersions" ma:index="10" nillable="true" ma:displayName="MediaServiceObjectDetectorVersions" ma:hidden="true" ma:indexed="true" ma:internalName="MediaServiceObjectDetectorVersions" ma:readOnly="true">
      <xsd:simpleType>
        <xsd:restriction base="dms:Text"/>
      </xsd:simpleType>
    </xsd:element>
    <xsd:element name="lcf76f155ced4ddcb4097134ff3c332f" ma:index="12" nillable="true" ma:taxonomy="true" ma:internalName="lcf76f155ced4ddcb4097134ff3c332f" ma:taxonomyFieldName="MediaServiceImageTags" ma:displayName="Etiquetas de imagen" ma:readOnly="false" ma:fieldId="{5cf76f15-5ced-4ddc-b409-7134ff3c332f}" ma:taxonomyMulti="true" ma:sspId="5debfcba-7ab8-4e81-bb94-72804333e642" ma:termSetId="09814cd3-568e-fe90-9814-8d621ff8fb84" ma:anchorId="fba54fb3-c3e1-fe81-a776-ca4b69148c4d" ma:open="true" ma:isKeyword="false">
      <xsd:complexType>
        <xsd:sequence>
          <xsd:element ref="pc:Terms" minOccurs="0" maxOccurs="1"/>
        </xsd:sequence>
      </xsd:complexType>
    </xsd:element>
    <xsd:element name="MediaServiceOCR" ma:index="14" nillable="true" ma:displayName="Extracted Text" ma:internalName="MediaServiceOCR" ma:readOnly="true">
      <xsd:simpleType>
        <xsd:restriction base="dms:Note">
          <xsd:maxLength value="255"/>
        </xsd:restriction>
      </xsd:simpleType>
    </xsd:element>
    <xsd:element name="MediaServiceGenerationTime" ma:index="15" nillable="true" ma:displayName="MediaServiceGenerationTime" ma:hidden="true" ma:internalName="MediaServiceGenerationTime" ma:readOnly="true">
      <xsd:simpleType>
        <xsd:restriction base="dms:Text"/>
      </xsd:simpleType>
    </xsd:element>
    <xsd:element name="MediaServiceEventHashCode" ma:index="16" nillable="true" ma:displayName="MediaServiceEventHashCode" ma:hidden="true" ma:internalName="MediaServiceEventHashCode" ma:readOnly="true">
      <xsd:simpleType>
        <xsd:restriction base="dms:Text"/>
      </xsd:simpleType>
    </xsd:element>
    <xsd:element name="MediaServiceDateTaken" ma:index="17" nillable="true" ma:displayName="MediaServiceDateTaken" ma:hidden="true" ma:indexed="true" ma:internalName="MediaServiceDateTaken" ma:readOnly="true">
      <xsd:simpleType>
        <xsd:restriction base="dms:Text"/>
      </xsd:simpleType>
    </xsd:element>
    <xsd:element name="MediaLengthInSeconds" ma:index="18" nillable="true" ma:displayName="MediaLengthInSeconds" ma:hidden="true" ma:internalName="MediaLengthInSeconds" ma:readOnly="true">
      <xsd:simpleType>
        <xsd:restriction base="dms:Unknown"/>
      </xsd:simpleType>
    </xsd:element>
    <xsd:element name="MediaServiceSearchProperties" ma:index="21" nillable="true" ma:displayName="MediaServiceSearchProperties" ma:hidden="true" ma:internalName="MediaServiceSearchProperties" ma:readOnly="true">
      <xsd:simpleType>
        <xsd:restriction base="dms:Note"/>
      </xsd:simpleType>
    </xsd:element>
  </xsd:schema>
  <xsd:schema xmlns:xsd="http://www.w3.org/2001/XMLSchema" xmlns:xs="http://www.w3.org/2001/XMLSchema" xmlns:dms="http://schemas.microsoft.com/office/2006/documentManagement/types" xmlns:pc="http://schemas.microsoft.com/office/infopath/2007/PartnerControls" targetNamespace="f04a20c9-9af0-4dae-aeba-e15070a73960" elementFormDefault="qualified">
    <xsd:import namespace="http://schemas.microsoft.com/office/2006/documentManagement/types"/>
    <xsd:import namespace="http://schemas.microsoft.com/office/infopath/2007/PartnerControls"/>
    <xsd:element name="TaxCatchAll" ma:index="13" nillable="true" ma:displayName="Taxonomy Catch All Column" ma:hidden="true" ma:list="{2efe0e46-6f69-4631-9b8a-7499e98fccfb}" ma:internalName="TaxCatchAll" ma:showField="CatchAllData" ma:web="f04a20c9-9af0-4dae-aeba-e15070a73960">
      <xsd:complexType>
        <xsd:complexContent>
          <xsd:extension base="dms:MultiChoiceLookup">
            <xsd:sequence>
              <xsd:element name="Value" type="dms:Lookup" maxOccurs="unbounded" minOccurs="0" nillable="true"/>
            </xsd:sequence>
          </xsd:extension>
        </xsd:complexContent>
      </xsd:complexType>
    </xsd:element>
    <xsd:element name="SharedWithUsers" ma:index="19" nillable="true" ma:displayName="Compartido con"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20" nillable="true" ma:displayName="Detalles de uso compartido" ma:internalName="SharedWithDetails" ma:readOnly="true">
      <xsd:simpleType>
        <xsd:restriction base="dms:Note">
          <xsd:maxLength value="255"/>
        </xsd:restriction>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Tipo de contenido"/>
        <xsd:element ref="dc:title" minOccurs="0" maxOccurs="1" ma:index="4" ma:displayName="Título"/>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3.xml><?xml version="1.0" encoding="utf-8"?>
<?mso-contentType ?>
<FormTemplates xmlns="http://schemas.microsoft.com/sharepoint/v3/contenttype/forms">
  <Display>DocumentLibraryForm</Display>
  <Edit>DocumentLibraryForm</Edit>
  <New>DocumentLibraryForm</New>
</FormTemplates>
</file>

<file path=customXml/itemProps1.xml><?xml version="1.0" encoding="utf-8"?>
<ds:datastoreItem xmlns:ds="http://schemas.openxmlformats.org/officeDocument/2006/customXml" ds:itemID="{8DEE0B4A-4B8F-450D-941A-3F7D05332286}">
  <ds:schemaRefs>
    <ds:schemaRef ds:uri="6a6d1859-6a9f-4da9-824f-e439e613a89f"/>
    <ds:schemaRef ds:uri="f04a20c9-9af0-4dae-aeba-e15070a73960"/>
    <ds:schemaRef ds:uri="http://purl.org/dc/dcmitype/"/>
    <ds:schemaRef ds:uri="http://purl.org/dc/elements/1.1/"/>
    <ds:schemaRef ds:uri="http://purl.org/dc/terms/"/>
    <ds:schemaRef ds:uri="http://schemas.microsoft.com/office/2006/documentManagement/types"/>
    <ds:schemaRef ds:uri="http://schemas.microsoft.com/office/2006/metadata/properties"/>
    <ds:schemaRef ds:uri="http://schemas.microsoft.com/office/infopath/2007/PartnerControls"/>
    <ds:schemaRef ds:uri="http://schemas.openxmlformats.org/package/2006/metadata/core-properties"/>
    <ds:schemaRef ds:uri="http://www.w3.org/XML/1998/namespace"/>
  </ds:schemaRefs>
</ds:datastoreItem>
</file>

<file path=customXml/itemProps2.xml><?xml version="1.0" encoding="utf-8"?>
<ds:datastoreItem xmlns:ds="http://schemas.openxmlformats.org/officeDocument/2006/customXml" ds:itemID="{3ED65B62-C00E-42C2-9341-1C77C5EFCF65}">
  <ds:schemaRefs>
    <ds:schemaRef ds:uri="6a6d1859-6a9f-4da9-824f-e439e613a89f"/>
    <ds:schemaRef ds:uri="f04a20c9-9af0-4dae-aeba-e15070a73960"/>
    <ds:schemaRef ds:uri="http://purl.org/dc/elements/1.1/"/>
    <ds:schemaRef ds:uri="http://purl.org/dc/terms/"/>
    <ds:schemaRef ds:uri="http://schemas.microsoft.com/internal/obd"/>
    <ds:schemaRef ds:uri="http://schemas.microsoft.com/office/2006/documentManagement/types"/>
    <ds:schemaRef ds:uri="http://schemas.microsoft.com/office/2006/metadata/contentType"/>
    <ds:schemaRef ds:uri="http://schemas.microsoft.com/office/2006/metadata/properties"/>
    <ds:schemaRef ds:uri="http://schemas.microsoft.com/office/2006/metadata/properties/metaAttributes"/>
    <ds:schemaRef ds:uri="http://schemas.microsoft.com/office/infopath/2007/PartnerControls"/>
    <ds:schemaRef ds:uri="http://schemas.openxmlformats.org/package/2006/metadata/core-properties"/>
    <ds:schemaRef ds:uri="http://www.w3.org/2001/XMLSchema"/>
  </ds:schemaRefs>
</ds:datastoreItem>
</file>

<file path=customXml/itemProps3.xml><?xml version="1.0" encoding="utf-8"?>
<ds:datastoreItem xmlns:ds="http://schemas.openxmlformats.org/officeDocument/2006/customXml" ds:itemID="{9D648084-310C-4C87-A46F-36D90DACF341}">
  <ds:schemaRefs>
    <ds:schemaRef ds:uri="http://schemas.microsoft.com/sharepoint/v3/contenttype/forms"/>
  </ds:schemaRefs>
</ds:datastoreItem>
</file>

<file path=docProps/app.xml><?xml version="1.0" encoding="utf-8"?>
<Properties xmlns="http://schemas.openxmlformats.org/officeDocument/2006/extended-properties" xmlns:vt="http://schemas.openxmlformats.org/officeDocument/2006/docPropsVTypes">
  <Template/>
  <TotalTime>33</TotalTime>
  <Words>5087</Words>
  <Application>Microsoft Office PowerPoint</Application>
  <PresentationFormat>Widescreen</PresentationFormat>
  <Paragraphs>309</Paragraphs>
  <Slides>16</Slides>
  <Notes>16</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16</vt:i4>
      </vt:variant>
    </vt:vector>
  </HeadingPairs>
  <TitlesOfParts>
    <vt:vector size="21" baseType="lpstr">
      <vt:lpstr>Aptos</vt:lpstr>
      <vt:lpstr>Aptos Display</vt:lpstr>
      <vt:lpstr>Arial</vt:lpstr>
      <vt:lpstr>Bell MT</vt:lpstr>
      <vt:lpstr>Tema de Office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Carga mental y desempeño multitarea en ASTRA: diseño longitudinal mediante MATB</dc:title>
  <dc:subject>III CEINNA 2026 · Subdirección Científica Aeroespacial – DIMAE</dc:subject>
  <dc:creator>SMSM DIEGO L MALPICA</dc:creator>
  <cp:lastModifiedBy>SMSM16. DIEGO LEONEL MALPICA HINCAPIE</cp:lastModifiedBy>
  <cp:revision>9</cp:revision>
  <dcterms:created xsi:type="dcterms:W3CDTF">2025-03-11T18:05:24Z</dcterms:created>
  <dcterms:modified xsi:type="dcterms:W3CDTF">2026-09-21T15:52:07Z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0x010100D0BB7AEC58CAC444A4B63F811FEE926A</vt:lpwstr>
  </property>
  <property fmtid="{D5CDD505-2E9C-101B-9397-08002B2CF9AE}" pid="3" name="MediaServiceImageTags">
    <vt:lpwstr/>
  </property>
</Properties>
</file>