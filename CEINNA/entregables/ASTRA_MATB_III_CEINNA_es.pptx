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266" r:id="rId5"/>
    <p:sldId id="267"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B53B"/>
    <a:srgbClr val="26B53B"/>
    <a:srgbClr val="D90000"/>
    <a:srgbClr val="000F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CEB1B4-966F-1C2B-B001-B28BD59DBB14}" v="6" dt="2025-03-25T16:36:15.2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EE2630-671F-4670-8AA9-BC2336CA3976}" type="datetimeFigureOut">
              <a:rPr lang="es-CO" smtClean="0"/>
              <a:t>21/09/2026</a:t>
            </a:fld>
            <a:endParaRPr lang="es-C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03C8CA-053B-46D6-A9AD-FB9A423D695C}" type="slidenum">
              <a:rPr lang="es-CO" smtClean="0"/>
              <a:t>‹#›</a:t>
            </a:fld>
            <a:endParaRPr lang="es-CO"/>
          </a:p>
        </p:txBody>
      </p:sp>
    </p:spTree>
    <p:extLst>
      <p:ext uri="{BB962C8B-B14F-4D97-AF65-F5344CB8AC3E}">
        <p14:creationId xmlns:p14="http://schemas.microsoft.com/office/powerpoint/2010/main" val="1173880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1. III CEINNA. Tiempo previsto: 0 segundos.</a:t>
            </a:r>
          </a:p>
          <a:p>
            <a:endParaRPr lang="es-CO"/>
          </a:p>
          <a:p>
            <a:r>
              <a:rPr lang="es-CO"/>
              <a:t>Pantalla institucional de espera. No consume exposición programada. La transición se incorpora al ensayo. Fuente: Formulario 3 original.</a:t>
            </a:r>
          </a:p>
        </p:txBody>
      </p:sp>
      <p:sp>
        <p:nvSpPr>
          <p:cNvPr id="4" name="Slide Number Placeholder 3"/>
          <p:cNvSpPr>
            <a:spLocks noGrp="1"/>
          </p:cNvSpPr>
          <p:nvPr>
            <p:ph type="sldNum" sz="quarter" idx="5"/>
          </p:nvPr>
        </p:nvSpPr>
        <p:spPr/>
        <p:txBody>
          <a:bodyPr/>
          <a:lstStyle/>
          <a:p>
            <a:fld id="{9B03C8CA-053B-46D6-A9AD-FB9A423D695C}" type="slidenum">
              <a:rPr lang="es-CO" smtClean="0"/>
              <a:t>1</a:t>
            </a:fld>
            <a:endParaRPr lang="es-CO"/>
          </a:p>
        </p:txBody>
      </p:sp>
    </p:spTree>
    <p:extLst>
      <p:ext uri="{BB962C8B-B14F-4D97-AF65-F5344CB8AC3E}">
        <p14:creationId xmlns:p14="http://schemas.microsoft.com/office/powerpoint/2010/main" val="1523910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2. Carga mental y desempeño multitarea en ASTRA. Tiempo previsto: 20 segundos.</a:t>
            </a:r>
          </a:p>
          <a:p>
            <a:endParaRPr lang="es-CO"/>
          </a:p>
          <a:p>
            <a:r>
              <a:rPr lang="es-CO"/>
              <a:t>GUION ORAL (único texto que se pronuncia):</a:t>
            </a:r>
          </a:p>
          <a:p>
            <a:r>
              <a:rPr lang="es-CO"/>
              <a:t>Soy Diego L. Malpica, especialista en Medicina Aeroespacial, de la Subdirección Científica Aeroespacial de la DIMAE. Presentaré el diseño longitudinal para estudiar carga mental y desempeño multitarea en ASTRA mediante MATB, la batería de tareas de atributos múltiples.</a:t>
            </a:r>
          </a:p>
          <a:p>
            <a:endParaRPr lang="es-CO"/>
          </a:p>
          <a:p>
            <a:r>
              <a:rPr lang="es-CO"/>
              <a:t>NOTAS DE APOYO (no leer):</a:t>
            </a:r>
          </a:p>
          <a:p>
            <a:r>
              <a:rPr lang="es-CO"/>
              <a:t>Autoría de portada confirmada por el investigador: SMSM DIEGO L MALPICA; Especialista en Medicina Aeroespacial; Subdirección Científica Aeroespacial – DIMAE. MATB: Multi-Attribute Task Battery. DIMAE: Dirección de Medicina Aeroespacial. Fuente: confirmación del investigador; [1] Cegarra et al. (2020). Transición: recorrido de la exposición.</a:t>
            </a:r>
          </a:p>
        </p:txBody>
      </p:sp>
      <p:sp>
        <p:nvSpPr>
          <p:cNvPr id="4" name="Slide Number Placeholder 3"/>
          <p:cNvSpPr>
            <a:spLocks noGrp="1"/>
          </p:cNvSpPr>
          <p:nvPr>
            <p:ph type="sldNum" sz="quarter" idx="5"/>
          </p:nvPr>
        </p:nvSpPr>
        <p:spPr/>
        <p:txBody>
          <a:bodyPr/>
          <a:lstStyle/>
          <a:p>
            <a:fld id="{9B03C8CA-053B-46D6-A9AD-FB9A423D695C}" type="slidenum">
              <a:rPr lang="es-CO" smtClean="0"/>
              <a:t>2</a:t>
            </a:fld>
            <a:endParaRPr lang="es-CO"/>
          </a:p>
        </p:txBody>
      </p:sp>
    </p:spTree>
    <p:extLst>
      <p:ext uri="{BB962C8B-B14F-4D97-AF65-F5344CB8AC3E}">
        <p14:creationId xmlns:p14="http://schemas.microsoft.com/office/powerpoint/2010/main" val="1568017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3. Contenido. Tiempo previsto: 10 segundos.</a:t>
            </a:r>
          </a:p>
          <a:p>
            <a:endParaRPr lang="es-CO"/>
          </a:p>
          <a:p>
            <a:r>
              <a:rPr lang="es-CO"/>
              <a:t>GUION ORAL (único texto que se pronuncia):</a:t>
            </a:r>
          </a:p>
          <a:p>
            <a:r>
              <a:rPr lang="es-CO"/>
              <a:t>El recorrido conecta una pregunta científica con el diseño de medición, la evidencia de implementación y el alcance del análisis.</a:t>
            </a:r>
          </a:p>
          <a:p>
            <a:endParaRPr lang="es-CO"/>
          </a:p>
          <a:p>
            <a:r>
              <a:rPr lang="es-CO"/>
              <a:t>NOTAS DE APOYO (no leer):</a:t>
            </a:r>
          </a:p>
          <a:p>
            <a:r>
              <a:rPr lang="es-CO"/>
              <a:t>Se conservan cuatro componentes de la agenda. Fuente: plan CEINNA y mapa de diapositivas. Transición: formular la pregunta.</a:t>
            </a:r>
          </a:p>
        </p:txBody>
      </p:sp>
      <p:sp>
        <p:nvSpPr>
          <p:cNvPr id="4" name="Slide Number Placeholder 3"/>
          <p:cNvSpPr>
            <a:spLocks noGrp="1"/>
          </p:cNvSpPr>
          <p:nvPr>
            <p:ph type="sldNum" sz="quarter" idx="5"/>
          </p:nvPr>
        </p:nvSpPr>
        <p:spPr/>
        <p:txBody>
          <a:bodyPr/>
          <a:lstStyle/>
          <a:p>
            <a:fld id="{9B03C8CA-053B-46D6-A9AD-FB9A423D695C}" type="slidenum">
              <a:rPr lang="es-CO" smtClean="0"/>
              <a:t>3</a:t>
            </a:fld>
            <a:endParaRPr lang="es-CO"/>
          </a:p>
        </p:txBody>
      </p:sp>
    </p:spTree>
    <p:extLst>
      <p:ext uri="{BB962C8B-B14F-4D97-AF65-F5344CB8AC3E}">
        <p14:creationId xmlns:p14="http://schemas.microsoft.com/office/powerpoint/2010/main" val="25436699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4. Pregunta de investigación. Tiempo previsto: 50 segundos.</a:t>
            </a:r>
          </a:p>
          <a:p>
            <a:endParaRPr lang="es-CO"/>
          </a:p>
          <a:p>
            <a:r>
              <a:rPr lang="es-CO"/>
              <a:t>GUION ORAL (único texto que se pronuncia):</a:t>
            </a:r>
          </a:p>
          <a:p>
            <a:r>
              <a:rPr lang="es-CO"/>
              <a:t>La pregunta es cómo varían el desempeño multitarea y la carga mental percibida entre condiciones de demanda y a lo largo de ASTRA. Distinguimos tres componentes: los parámetros de la tarea, las respuestas del participante y su valoración subjetiva. Las condiciones LOW, MEDIUM y HIGH especifican la demanda experimental. El desempeño se observa en tareas concurrentes y la carga percibida se recoge mediante autoevaluación. La literatura sobre OpenMATB y la revisión de Pontiggia muestran por qué es necesario describir los parámetros de cada implementación. El estudio examinará la relación entre estos componentes y sus cambios dentro de cada persona.</a:t>
            </a:r>
          </a:p>
          <a:p>
            <a:endParaRPr lang="es-CO"/>
          </a:p>
          <a:p>
            <a:r>
              <a:rPr lang="es-CO"/>
              <a:t>NOTAS DE APOYO (no leer):</a:t>
            </a:r>
          </a:p>
          <a:p>
            <a:r>
              <a:rPr lang="es-CO"/>
              <a:t>Fuentes: [1] Cegarra et al. (2020), Presentation of MATB y Task customization; [2] Pontiggia, Gomez-Mérino et al. (2024), revisión de 19 estudios heterogéneos; [3] Pontiggia, Fabries et al. (2024), experimento. Aclaración: LOW/MEDIUM/HIGH son condiciones parametrizadas, sin equivalencia universal entre versiones. El experimento [3] estudió 17 varones sanos bajo condiciones de sueño/hipoxia; aporta fundamento metodológico, no resultados ASTRA. Transición: contexto experimental previsto.</a:t>
            </a:r>
          </a:p>
        </p:txBody>
      </p:sp>
      <p:sp>
        <p:nvSpPr>
          <p:cNvPr id="4" name="Slide Number Placeholder 3"/>
          <p:cNvSpPr>
            <a:spLocks noGrp="1"/>
          </p:cNvSpPr>
          <p:nvPr>
            <p:ph type="sldNum" sz="quarter" idx="5"/>
          </p:nvPr>
        </p:nvSpPr>
        <p:spPr/>
        <p:txBody>
          <a:bodyPr/>
          <a:lstStyle/>
          <a:p>
            <a:fld id="{9B03C8CA-053B-46D6-A9AD-FB9A423D695C}" type="slidenum">
              <a:rPr lang="es-CO" smtClean="0"/>
              <a:t>4</a:t>
            </a:fld>
            <a:endParaRPr lang="es-CO"/>
          </a:p>
        </p:txBody>
      </p:sp>
    </p:spTree>
    <p:extLst>
      <p:ext uri="{BB962C8B-B14F-4D97-AF65-F5344CB8AC3E}">
        <p14:creationId xmlns:p14="http://schemas.microsoft.com/office/powerpoint/2010/main" val="34498154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5. ASTRA: contexto del estudio. Tiempo previsto: 50 segundos.</a:t>
            </a:r>
          </a:p>
          <a:p>
            <a:endParaRPr lang="es-CO"/>
          </a:p>
          <a:p>
            <a:r>
              <a:rPr lang="es-CO"/>
              <a:t>GUION ORAL (único texto que se pronuncia):</a:t>
            </a:r>
          </a:p>
          <a:p>
            <a:r>
              <a:rPr lang="es-CO"/>
              <a:t>ASTRA significa Aerospace Simulation Training Research Analogs. El protocolo contempla dos misiones secuenciales en el hábitat de la Fundación Cydonia, en Tocancipá. Cada misión prevé hasta seis participantes y quince jornadas inclusivas, con catorce noches dentro del hábitat. La evaluación se integra en una rutina de aislamiento y confinamiento, con horarios de sueño, alimentación, experimentos y actividades operativas. Este contexto permite seguir a cada persona en diferentes momentos del ciclo de misión. La ilustración representa conceptualmente una estación de evaluación y está identificada como generada con inteligencia artificial. La muestra final y las actividades realizadas se documentarán mediante los registros de ejecución.</a:t>
            </a:r>
          </a:p>
          <a:p>
            <a:endParaRPr lang="es-CO"/>
          </a:p>
          <a:p>
            <a:r>
              <a:rPr lang="es-CO"/>
              <a:t>NOTAS DE APOYO (no leer):</a:t>
            </a:r>
          </a:p>
          <a:p>
            <a:r>
              <a:rPr lang="es-CO"/>
              <a:t>ASTRA: Aerospace Simulation Training Research Analogs. Fuente: Manual v2.5, §§1.1–1.2 y 3.2; cronograma §§1–2. Seis participantes por misión es meta condicionada a elegibilidad, máximo 12 en conjunto. Quince días significa fechas inclusivas; la duración analítica procede de horas reales de cierre/apertura. Hábitat terrestre de aproximadamente 120 m². La imagen no representa una fotografía documental ni una verificación del equipamiento desplegado. Transición: secuencia de visitas.</a:t>
            </a:r>
          </a:p>
        </p:txBody>
      </p:sp>
      <p:sp>
        <p:nvSpPr>
          <p:cNvPr id="4" name="Slide Number Placeholder 3"/>
          <p:cNvSpPr>
            <a:spLocks noGrp="1"/>
          </p:cNvSpPr>
          <p:nvPr>
            <p:ph type="sldNum" sz="quarter" idx="5"/>
          </p:nvPr>
        </p:nvSpPr>
        <p:spPr/>
        <p:txBody>
          <a:bodyPr/>
          <a:lstStyle/>
          <a:p>
            <a:fld id="{9B03C8CA-053B-46D6-A9AD-FB9A423D695C}" type="slidenum">
              <a:rPr lang="es-CO" smtClean="0"/>
              <a:t>5</a:t>
            </a:fld>
            <a:endParaRPr lang="es-CO"/>
          </a:p>
        </p:txBody>
      </p:sp>
    </p:spTree>
    <p:extLst>
      <p:ext uri="{BB962C8B-B14F-4D97-AF65-F5344CB8AC3E}">
        <p14:creationId xmlns:p14="http://schemas.microsoft.com/office/powerpoint/2010/main" val="34342490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6. Ocho visitas por participante. Tiempo previsto: 75 segundos.</a:t>
            </a:r>
          </a:p>
          <a:p>
            <a:endParaRPr lang="es-CO"/>
          </a:p>
          <a:p>
            <a:r>
              <a:rPr lang="es-CO"/>
              <a:t>GUION ORAL (único texto que se pronuncia):</a:t>
            </a:r>
          </a:p>
          <a:p>
            <a:r>
              <a:rPr lang="es-CO"/>
              <a:t>Cada participante tiene ocho visitas. V cero corresponde a la evaluación premisión; después se programan seis visitas en los días dos, cuatro, siete, diez, trece y quince; V siete corresponde al día siguiente al egreso. Esta secuencia permite comparar condiciones dentro de una visita y seguir cambios entre visitas. Las evaluaciones basales se programan el veintinueve de septiembre para ASTRA uno y el veintiocho para ASTRA dos. Están, respectivamente, a seis y veintitrés días del ingreso. Conservaremos esas distancias y las fechas reales en el análisis. Además, la rotación distribuye a cada participante entre horarios y estaciones durante las visitas intramisión. El calendario del congreso coincide con los días nueve y diez de ASTRA uno; la ponencia se concentra en el protocolo y el desarrollo documentado.</a:t>
            </a:r>
          </a:p>
          <a:p>
            <a:endParaRPr lang="es-CO"/>
          </a:p>
          <a:p>
            <a:r>
              <a:rPr lang="es-CO"/>
              <a:t>NOTAS DE APOYO (no leer):</a:t>
            </a:r>
          </a:p>
          <a:p>
            <a:r>
              <a:rPr lang="es-CO"/>
              <a:t>DM: día de misión; V: visita. Fuente: Manual §4.7.6.2–3; cronograma §§2, 4.1, 5.2 y 7; evidencia/cronologia_astra.csv. ASTRA1 ingreso 5oct, egreso 19oct y V7 20oct; ASTRA2 ingreso 21oct, egreso 4nov y V7 5nov. Intervalos intramisión: 2/3/3/3/2 días. CEINNA 13oct=DM9 y 14oct=DM10/V4 de A1; A2 en premisión. Disponibilidad futura de V4 depende de hora de ponencia, finalización y revisión. La rotación hora/estación es distinta del orden de niveles. Los códigos originales y el orden basal deben conservarse al vincular aspirante con misión. Transición: tareas que se repiten en cada visita.</a:t>
            </a:r>
          </a:p>
        </p:txBody>
      </p:sp>
      <p:sp>
        <p:nvSpPr>
          <p:cNvPr id="4" name="Slide Number Placeholder 3"/>
          <p:cNvSpPr>
            <a:spLocks noGrp="1"/>
          </p:cNvSpPr>
          <p:nvPr>
            <p:ph type="sldNum" sz="quarter" idx="5"/>
          </p:nvPr>
        </p:nvSpPr>
        <p:spPr/>
        <p:txBody>
          <a:bodyPr/>
          <a:lstStyle/>
          <a:p>
            <a:fld id="{9B03C8CA-053B-46D6-A9AD-FB9A423D695C}" type="slidenum">
              <a:rPr lang="es-CO" smtClean="0"/>
              <a:t>6</a:t>
            </a:fld>
            <a:endParaRPr lang="es-CO"/>
          </a:p>
        </p:txBody>
      </p:sp>
    </p:spTree>
    <p:extLst>
      <p:ext uri="{BB962C8B-B14F-4D97-AF65-F5344CB8AC3E}">
        <p14:creationId xmlns:p14="http://schemas.microsoft.com/office/powerpoint/2010/main" val="902545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7. Cuatro tareas simultáneas. Tiempo previsto: 60 segundos.</a:t>
            </a:r>
          </a:p>
          <a:p>
            <a:endParaRPr lang="es-CO"/>
          </a:p>
          <a:p>
            <a:r>
              <a:rPr lang="es-CO"/>
              <a:t>GUION ORAL (único texto que se pronuncia):</a:t>
            </a:r>
          </a:p>
          <a:p>
            <a:r>
              <a:rPr lang="es-CO"/>
              <a:t>MATB presenta cuatro tareas simultáneas. SYSMON, supervisión de sistemas, exige detectar cambios en luces e indicadores. TRACK, seguimiento compensatorio, requiere mantener un cursor dentro de una zona objetivo. COMM, comunicaciones, exige reconocer el indicativo pertinente y responder mediante la radio correspondiente. RESMAN, gestión de recursos, requiere controlar bombas y niveles de depósitos. Cada tarea aporta medidas específicas: detecciones, omisiones y latencias; desviación del seguimiento; respuestas a comunicaciones; y desviación de los depósitos respecto al objetivo. La concurrencia exige distribuir la atención entre demandas diferentes. OpenMATB proporciona el entorno de tareas; la integración de este repositorio genera escenarios, organiza su procedencia y procesa los registros.</a:t>
            </a:r>
          </a:p>
          <a:p>
            <a:endParaRPr lang="es-CO"/>
          </a:p>
          <a:p>
            <a:r>
              <a:rPr lang="es-CO"/>
              <a:t>NOTAS DE APOYO (no leer):</a:t>
            </a:r>
          </a:p>
          <a:p>
            <a:r>
              <a:rPr lang="es-CO"/>
              <a:t>Fuente: [1] Cegarra et al. (2020); auditoria_matb.md y openmatb/plugins/{sysmon,track,communications,resman}.py. SYSMON: system monitoring; TRACK: tracking; COMM: communications; RESMAN: resource management. Mantener en la imagen el rótulo de procedencia que incorpore el ensamblaje. Métricas vigentes: latencia en ms; TRACK en distancia normalizada; depósitos en unidades del escenario. Las proporciones calculadas por muestras no se describen como tiempo medido sin ponderación temporal. Transición: organización de los tres bloques y sus medidas subjetivas.</a:t>
            </a:r>
          </a:p>
        </p:txBody>
      </p:sp>
      <p:sp>
        <p:nvSpPr>
          <p:cNvPr id="4" name="Slide Number Placeholder 3"/>
          <p:cNvSpPr>
            <a:spLocks noGrp="1"/>
          </p:cNvSpPr>
          <p:nvPr>
            <p:ph type="sldNum" sz="quarter" idx="5"/>
          </p:nvPr>
        </p:nvSpPr>
        <p:spPr/>
        <p:txBody>
          <a:bodyPr/>
          <a:lstStyle/>
          <a:p>
            <a:fld id="{9B03C8CA-053B-46D6-A9AD-FB9A423D695C}" type="slidenum">
              <a:rPr lang="es-CO" smtClean="0"/>
              <a:t>7</a:t>
            </a:fld>
            <a:endParaRPr lang="es-CO"/>
          </a:p>
        </p:txBody>
      </p:sp>
    </p:spTree>
    <p:extLst>
      <p:ext uri="{BB962C8B-B14F-4D97-AF65-F5344CB8AC3E}">
        <p14:creationId xmlns:p14="http://schemas.microsoft.com/office/powerpoint/2010/main" val="32760825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8. Estructura de una visita. Tiempo previsto: 60 segundos.</a:t>
            </a:r>
          </a:p>
          <a:p>
            <a:endParaRPr lang="es-CO"/>
          </a:p>
          <a:p>
            <a:r>
              <a:rPr lang="es-CO"/>
              <a:t>GUION ORAL (único texto que se pronuncia):</a:t>
            </a:r>
          </a:p>
          <a:p>
            <a:r>
              <a:rPr lang="es-CO"/>
              <a:t>Cada visita reserva noventa minutos. Incluye preparación, reposo, tres escenarios de quince minutos, pausas, cuestionarios y cierre. El orden de las tres condiciones se contrabalancea entre participantes. Antes de cada bloque se registra somnolencia con la escala de Karolinska, KSS. Durante la tarea, ISA recoge una autoevaluación instantánea. Después se administra NASA-TLX, el índice de carga de tarea de la NASA. Su versión cruda, RTLX, resume seis dimensiones mediante una media reescalada de cero a cien. Estas medidas conservan sus constructos específicos. Los cuestionarios pueden pausar el software, por lo que registramos tanto los novecientos segundos del escenario como la duración real de la sesión.</a:t>
            </a:r>
          </a:p>
          <a:p>
            <a:endParaRPr lang="es-CO"/>
          </a:p>
          <a:p>
            <a:r>
              <a:rPr lang="es-CO"/>
              <a:t>NOTAS DE APOYO (no leer):</a:t>
            </a:r>
          </a:p>
          <a:p>
            <a:r>
              <a:rPr lang="es-CO"/>
              <a:t>NASA-TLX: NASA Task Load Index; RTLX: Raw Task Load Index, media no ponderada de seis ítems completos. ISA: Instantaneous Self-Assessment. KSS: Karolinska Sleepiness Scale. Fuentes: Manual §§4.7.2 y 4.7.6.2; contrato metrics_spec.json; auditoria_matb.md; [3] Pontiggia, Fabries et al. (2024). [6] Laverde-López et al. (2022) es referencia complementaria de KSS colombiana; su publicación no acredita equivalencia literal con la implementación local. RTLX incompleto=valor ausente con motivo; TLX ponderado exige comparaciones pareadas. La figura LOW/MEDIUM/HIGH identifica condiciones, no una secuencia fija para todos. Transición: conservación de la evidencia.</a:t>
            </a:r>
          </a:p>
        </p:txBody>
      </p:sp>
      <p:sp>
        <p:nvSpPr>
          <p:cNvPr id="4" name="Slide Number Placeholder 3"/>
          <p:cNvSpPr>
            <a:spLocks noGrp="1"/>
          </p:cNvSpPr>
          <p:nvPr>
            <p:ph type="sldNum" sz="quarter" idx="5"/>
          </p:nvPr>
        </p:nvSpPr>
        <p:spPr/>
        <p:txBody>
          <a:bodyPr/>
          <a:lstStyle/>
          <a:p>
            <a:fld id="{9B03C8CA-053B-46D6-A9AD-FB9A423D695C}" type="slidenum">
              <a:rPr lang="es-CO" smtClean="0"/>
              <a:t>8</a:t>
            </a:fld>
            <a:endParaRPr lang="es-CO"/>
          </a:p>
        </p:txBody>
      </p:sp>
    </p:spTree>
    <p:extLst>
      <p:ext uri="{BB962C8B-B14F-4D97-AF65-F5344CB8AC3E}">
        <p14:creationId xmlns:p14="http://schemas.microsoft.com/office/powerpoint/2010/main" val="24296218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9. Del escenario al análisis. Tiempo previsto: 70 segundos.</a:t>
            </a:r>
          </a:p>
          <a:p>
            <a:endParaRPr lang="es-CO"/>
          </a:p>
          <a:p>
            <a:r>
              <a:rPr lang="es-CO"/>
              <a:t>GUION ORAL (único texto que se pronuncia):</a:t>
            </a:r>
          </a:p>
          <a:p>
            <a:r>
              <a:rPr lang="es-CO"/>
              <a:t>La trazabilidad comienza antes de adquirir respuestas. El escenario conserva parámetros, semilla y orden; el registro vincula participante, visita y eventos; las métricas tienen definición, unidades y versión. Finalmente, la revisión de calidad y elegibilidad determina qué observaciones se incorporan a cada análisis. Esta cadena permite reconstruir de dónde proviene un resultado y con qué condición experimental se obtuvo. Conservamos también la distinción entre archivos CSV heredados y capturas de eventos reconciliadas. Un dato ausente mantiene su motivo, y un cuestionario incompleto conserva las respuestas disponibles. Los trabajos de Cegarra y de Vogl respaldan la importancia de documentar la implementación. En este proyecto, los contratos y manifiestos concretan esa documentación en archivos verificables.</a:t>
            </a:r>
          </a:p>
          <a:p>
            <a:endParaRPr lang="es-CO"/>
          </a:p>
          <a:p>
            <a:r>
              <a:rPr lang="es-CO"/>
              <a:t>NOTAS DE APOYO (no leer):</a:t>
            </a:r>
          </a:p>
          <a:p>
            <a:r>
              <a:rPr lang="es-CO"/>
              <a:t>Fuentes: [1] Cegarra et al. (2020), Experiment replicability; [5] Vogl et al. (2024), descripción de USAARL MATB y comparación de versiones; auditoria_matb.md, scenario_manifest.py, contracts/events.py, evidence/reconcile.py y study_analysis_eligibility.py. Vogl describe otro software: no atribuir automatización USAARL a OpenMATB. SHA-256 es una huella criptográfica para comprobar integridad; no demuestra validez de respuesta humana ni temporización física. Identidad, propósito y elegibilidad son campos distintos de completitud de consola. Transición: resultados efectivamente producidos en la revisión local.</a:t>
            </a:r>
          </a:p>
        </p:txBody>
      </p:sp>
      <p:sp>
        <p:nvSpPr>
          <p:cNvPr id="4" name="Slide Number Placeholder 3"/>
          <p:cNvSpPr>
            <a:spLocks noGrp="1"/>
          </p:cNvSpPr>
          <p:nvPr>
            <p:ph type="sldNum" sz="quarter" idx="5"/>
          </p:nvPr>
        </p:nvSpPr>
        <p:spPr/>
        <p:txBody>
          <a:bodyPr/>
          <a:lstStyle/>
          <a:p>
            <a:fld id="{9B03C8CA-053B-46D6-A9AD-FB9A423D695C}" type="slidenum">
              <a:rPr lang="es-CO" smtClean="0"/>
              <a:t>9</a:t>
            </a:fld>
            <a:endParaRPr lang="es-CO"/>
          </a:p>
        </p:txBody>
      </p:sp>
    </p:spTree>
    <p:extLst>
      <p:ext uri="{BB962C8B-B14F-4D97-AF65-F5344CB8AC3E}">
        <p14:creationId xmlns:p14="http://schemas.microsoft.com/office/powerpoint/2010/main" val="30235845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10. Resultados de desarrollo. Tiempo previsto: 75 segundos.</a:t>
            </a:r>
          </a:p>
          <a:p>
            <a:endParaRPr lang="es-CO"/>
          </a:p>
          <a:p>
            <a:r>
              <a:rPr lang="es-CO"/>
              <a:t>GUION ORAL (único texto que se pronuncia):</a:t>
            </a:r>
          </a:p>
          <a:p>
            <a:r>
              <a:rPr lang="es-CO"/>
              <a:t>Los resultados de desarrollo proceden de una demostración local con datos sintéticos. Se generaron tres escenarios, uno por condición, de novecientos segundos cada uno. Al repetir parámetros y semillas, los tres archivos resultaron idénticos. Sus huellas digitales coincidieron con las registradas en los manifiestos. Además, tres archivos CSV sintéticos se convirtieron en salidas de métricas versionadas. Estos resultados documentan reproducción e integridad, y comprueban por separado la generación de escenarios y la conversión de registros. La ejecución está fechada el veintiuno de septiembre y vinculada a una revisión del repositorio. Los artefactos conservan las entradas y los resultados de comprobación, de modo que otra revisión pueda repetir este procedimiento. La respuesta de los participantes constituye el objeto de la adquisición experimental prevista.</a:t>
            </a:r>
          </a:p>
          <a:p>
            <a:endParaRPr lang="es-CO"/>
          </a:p>
          <a:p>
            <a:r>
              <a:rPr lang="es-CO"/>
              <a:t>NOTAS DE APOYO (no leer):</a:t>
            </a:r>
          </a:p>
          <a:p>
            <a:r>
              <a:rPr lang="es-CO"/>
              <a:t>Fuente primaria ejecutada: evidencia/verificacion_tecnica/resultado_verificacion.json; verificar_demo.py; escenarios, ejecucion_generador.txt y ejecucion_verificacion.txt. Commit fd5e1318dc6f036b538dd36ed3c5fe42ad8be7d0. Verificación: 3/3 hashes, 3/3 escenarios reproducidos idénticos y 3/3 CSV convertidos. No se presenta esta demostración como dato humano. La CLI auditada usó audio y cuestionarios ingleses; recursos españoles del repositorio se documentan separadamente. Se realizaron aserciones focales; no atribuir batería global de pruebas ni ajuste DEPDF al experimento. Transición: estructura de análisis de las futuras observaciones. Los CSV son fixtures sintéticos independientes; no son respuestas adquiridas durante la ejecución de los escenarios generados.</a:t>
            </a:r>
          </a:p>
        </p:txBody>
      </p:sp>
      <p:sp>
        <p:nvSpPr>
          <p:cNvPr id="4" name="Slide Number Placeholder 3"/>
          <p:cNvSpPr>
            <a:spLocks noGrp="1"/>
          </p:cNvSpPr>
          <p:nvPr>
            <p:ph type="sldNum" sz="quarter" idx="5"/>
          </p:nvPr>
        </p:nvSpPr>
        <p:spPr/>
        <p:txBody>
          <a:bodyPr/>
          <a:lstStyle/>
          <a:p>
            <a:fld id="{9B03C8CA-053B-46D6-A9AD-FB9A423D695C}" type="slidenum">
              <a:rPr lang="es-CO" smtClean="0"/>
              <a:t>10</a:t>
            </a:fld>
            <a:endParaRPr lang="es-CO"/>
          </a:p>
        </p:txBody>
      </p:sp>
    </p:spTree>
    <p:extLst>
      <p:ext uri="{BB962C8B-B14F-4D97-AF65-F5344CB8AC3E}">
        <p14:creationId xmlns:p14="http://schemas.microsoft.com/office/powerpoint/2010/main" val="8724726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11. Análisis de medidas repetidas. Tiempo previsto: 65 segundos.</a:t>
            </a:r>
          </a:p>
          <a:p>
            <a:endParaRPr lang="es-CO"/>
          </a:p>
          <a:p>
            <a:r>
              <a:rPr lang="es-CO"/>
              <a:t>GUION ORAL (único texto que se pronuncia):</a:t>
            </a:r>
          </a:p>
          <a:p>
            <a:r>
              <a:rPr lang="es-CO"/>
              <a:t>La unidad de seguimiento es la persona. Los bloques están anidados en visitas y las visitas en participantes. El análisis comenzará con trayectorias individuales, contrastes entre condiciones y cambios entre visitas. Se conservarán orden, hora, estación, sueño previo y distancia desde la evaluación basal. El experimento de Pontiggia muestra la utilidad de considerar conjuntamente contexto de sueño y demanda multitarea; el seguimiento antártico de Tortello aporta un antecedente de evaluación temporal en aislamiento. Sus poblaciones y duraciones son diferentes de ASTRA. Para este estudio, los modelos se ajustarán a la información disponible y se acompañarán de magnitud e incertidumbre. La cantidad de bloques mejora la descripción longitudinal, mientras que el número de participantes define el alcance de la comparación entre personas.</a:t>
            </a:r>
          </a:p>
          <a:p>
            <a:endParaRPr lang="es-CO"/>
          </a:p>
          <a:p>
            <a:r>
              <a:rPr lang="es-CO"/>
              <a:t>NOTAS DE APOYO (no leer):</a:t>
            </a:r>
          </a:p>
          <a:p>
            <a:r>
              <a:rPr lang="es-CO"/>
              <a:t>Fuentes: [3] Pontiggia, Fabries et al. (2024), medidas repetidas en hipoxia/sueño; [4] Tortello et al. (2020), 13 varones durante un año y tarea de producción temporal; Manual §4.7.4. Tortello no estudió MATB ni valida causalidad en ASTRA. Hasta 12 personas; máximo programado 96 sesiones y 288 bloques. Preespecificar resultado principal, secundarios, reglas de exclusión y multiplicidad. Modelo parsimonioso condicionado a estimabilidad; los bloques no son observaciones independientes. Transición: relación entre medición e interpretación.</a:t>
            </a:r>
          </a:p>
        </p:txBody>
      </p:sp>
      <p:sp>
        <p:nvSpPr>
          <p:cNvPr id="4" name="Slide Number Placeholder 3"/>
          <p:cNvSpPr>
            <a:spLocks noGrp="1"/>
          </p:cNvSpPr>
          <p:nvPr>
            <p:ph type="sldNum" sz="quarter" idx="5"/>
          </p:nvPr>
        </p:nvSpPr>
        <p:spPr/>
        <p:txBody>
          <a:bodyPr/>
          <a:lstStyle/>
          <a:p>
            <a:fld id="{9B03C8CA-053B-46D6-A9AD-FB9A423D695C}" type="slidenum">
              <a:rPr lang="es-CO" smtClean="0"/>
              <a:t>11</a:t>
            </a:fld>
            <a:endParaRPr lang="es-CO"/>
          </a:p>
        </p:txBody>
      </p:sp>
    </p:spTree>
    <p:extLst>
      <p:ext uri="{BB962C8B-B14F-4D97-AF65-F5344CB8AC3E}">
        <p14:creationId xmlns:p14="http://schemas.microsoft.com/office/powerpoint/2010/main" val="103651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12. Alcance e interpretación. Tiempo previsto: 60 segundos.</a:t>
            </a:r>
          </a:p>
          <a:p>
            <a:endParaRPr lang="es-CO"/>
          </a:p>
          <a:p>
            <a:r>
              <a:rPr lang="es-CO"/>
              <a:t>GUION ORAL (único texto que se pronuncia):</a:t>
            </a:r>
          </a:p>
          <a:p>
            <a:r>
              <a:rPr lang="es-CO"/>
              <a:t>La interpretación mantiene separados desempeño, carga percibida y fisiología. Los intervalos cardíacos permiten estudiar variabilidad de la frecuencia cardíaca, VFC, también denominada HRV en inglés. Se compararán segmentos de duración y condiciones equivalentes, considerando calidad de señal y contexto. El diario y la actigrafía aportarán información de sueño cuando exista registro de la noche correspondiente. También se documentarán familiarización, horario y distancia entre visitas, y se considerará el aprendizaje. Con este diseño podremos describir trayectorias y asociaciones dentro de las personas, con su incertidumbre. La atribución causal al aislamiento requiere información adicional sobre factores concurrentes. El corte científico presentado hoy corresponde al protocolo y al desarrollo documentado, con un calendario explícito para las observaciones humanas.</a:t>
            </a:r>
          </a:p>
          <a:p>
            <a:endParaRPr lang="es-CO"/>
          </a:p>
          <a:p>
            <a:r>
              <a:rPr lang="es-CO"/>
              <a:t>NOTAS DE APOYO (no leer):</a:t>
            </a:r>
          </a:p>
          <a:p>
            <a:r>
              <a:rPr lang="es-CO"/>
              <a:t>HRV: heart rate variability; VFC: variabilidad de la frecuencia cardíaca. Fuentes: Manual §§4.1, 4.7.3–4; contexto_astra.md; [2–4]. Los análisis fisiológicos pertenecen a su canal/protocolo externo; no se atribuyen al MATB local por existir referencias a strikerdlm/HRV. La referencia pre-tarea difiere del reposo principal basal. Basal único no estima variabilidad habitual individual. Polar H10 aporta RR; ActiGraph aporta actigrafía/movimiento; no adjudicar etapas de sueño ni aptitud. Transición: tres conclusiones derivadas del método y de la comprobación técnica.</a:t>
            </a:r>
          </a:p>
        </p:txBody>
      </p:sp>
      <p:sp>
        <p:nvSpPr>
          <p:cNvPr id="4" name="Slide Number Placeholder 3"/>
          <p:cNvSpPr>
            <a:spLocks noGrp="1"/>
          </p:cNvSpPr>
          <p:nvPr>
            <p:ph type="sldNum" sz="quarter" idx="5"/>
          </p:nvPr>
        </p:nvSpPr>
        <p:spPr/>
        <p:txBody>
          <a:bodyPr/>
          <a:lstStyle/>
          <a:p>
            <a:fld id="{9B03C8CA-053B-46D6-A9AD-FB9A423D695C}" type="slidenum">
              <a:rPr lang="es-CO" smtClean="0"/>
              <a:t>12</a:t>
            </a:fld>
            <a:endParaRPr lang="es-CO"/>
          </a:p>
        </p:txBody>
      </p:sp>
    </p:spTree>
    <p:extLst>
      <p:ext uri="{BB962C8B-B14F-4D97-AF65-F5344CB8AC3E}">
        <p14:creationId xmlns:p14="http://schemas.microsoft.com/office/powerpoint/2010/main" val="31522710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13. Conclusiones y recomendaciones. Tiempo previsto: 75 segundos.</a:t>
            </a:r>
          </a:p>
          <a:p>
            <a:endParaRPr lang="es-CO"/>
          </a:p>
          <a:p>
            <a:r>
              <a:rPr lang="es-CO"/>
              <a:t>GUION ORAL (único texto que se pronuncia):</a:t>
            </a:r>
          </a:p>
          <a:p>
            <a:r>
              <a:rPr lang="es-CO"/>
              <a:t>La primera conclusión es que ASTRA organiza una observación longitudinal del desempeño multitarea mediante ocho visitas por persona y un calendario documentado. La segunda es que la integración MATB permite vincular condiciones de demanda, registros y métricas con procedencia explícita; la demostración presentada reproduce escenarios y comprueba su integridad y conversión. La tercera es que el análisis adquiere sentido al conservar la trayectoria individual, el contexto y la calidad de cada registro. La siguiente etapa consiste en ejecutar las visitas conforme al protocolo y analizar las observaciones con reglas previamente definidas. Recomendamos conservar las versiones de escenarios, registrar fechas e incidencias y presentar los resultados por tarea junto con la carga percibida. Así, la contribución científica se centra en un procedimiento reproducible para examinar cambios humanos durante una misión análoga.</a:t>
            </a:r>
          </a:p>
          <a:p>
            <a:endParaRPr lang="es-CO"/>
          </a:p>
          <a:p>
            <a:r>
              <a:rPr lang="es-CO"/>
              <a:t>NOTAS DE APOYO (no leer):</a:t>
            </a:r>
          </a:p>
          <a:p>
            <a:r>
              <a:rPr lang="es-CO"/>
              <a:t>Fuentes: síntesis de Manual §4.7, cronograma §§2/4/7 y verificación técnica A2; [1–5] como fundamento de implementación, medición y contexto. Son conclusiones metodológicas y de desarrollo, sin anticipar dirección del cambio humano, rendimiento predictivo ni beneficios operacionales. Resultado principal y modelo deben preespecificarse con el protocolo analítico. Transición: fuentes que sostienen la propuesta.</a:t>
            </a:r>
          </a:p>
        </p:txBody>
      </p:sp>
      <p:sp>
        <p:nvSpPr>
          <p:cNvPr id="4" name="Slide Number Placeholder 3"/>
          <p:cNvSpPr>
            <a:spLocks noGrp="1"/>
          </p:cNvSpPr>
          <p:nvPr>
            <p:ph type="sldNum" sz="quarter" idx="5"/>
          </p:nvPr>
        </p:nvSpPr>
        <p:spPr/>
        <p:txBody>
          <a:bodyPr/>
          <a:lstStyle/>
          <a:p>
            <a:fld id="{9B03C8CA-053B-46D6-A9AD-FB9A423D695C}" type="slidenum">
              <a:rPr lang="es-CO" smtClean="0"/>
              <a:t>13</a:t>
            </a:fld>
            <a:endParaRPr lang="es-CO"/>
          </a:p>
        </p:txBody>
      </p:sp>
    </p:spTree>
    <p:extLst>
      <p:ext uri="{BB962C8B-B14F-4D97-AF65-F5344CB8AC3E}">
        <p14:creationId xmlns:p14="http://schemas.microsoft.com/office/powerpoint/2010/main" val="29178931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14. Bibliografía I. Tiempo previsto: 10 segundos.</a:t>
            </a:r>
          </a:p>
          <a:p>
            <a:endParaRPr lang="es-CO"/>
          </a:p>
          <a:p>
            <a:r>
              <a:rPr lang="es-CO"/>
              <a:t>GUION ORAL (único texto que se pronuncia):</a:t>
            </a:r>
          </a:p>
          <a:p>
            <a:r>
              <a:rPr lang="es-CO"/>
              <a:t>Estas primeras referencias fundamentan las tareas MATB, la descripción de la demanda experimental y la complementariedad de las mediciones.</a:t>
            </a:r>
          </a:p>
          <a:p>
            <a:endParaRPr lang="es-CO"/>
          </a:p>
          <a:p>
            <a:r>
              <a:rPr lang="es-CO"/>
              <a:t>NOTAS DE APOYO (no leer):</a:t>
            </a:r>
          </a:p>
          <a:p>
            <a:r>
              <a:rPr lang="es-CO"/>
              <a:t>Fuentes [1–3] completas en evidencia/referencias_apa.md. Las dos publicaciones Pontiggia son revisión y experimento, respectivamente, con coautorías diferentes. No leer autores completos ni DOI durante los diez segundos. Transición: antecedentes complementarios.</a:t>
            </a:r>
          </a:p>
          <a:p>
            <a:endParaRPr lang="es-CO"/>
          </a:p>
          <a:p>
            <a:r>
              <a:rPr lang="es-CO"/>
              <a:t>Cegarra, J., Valéry, B., Avril, E., Calmettes, C., &amp; Navarro, J. (2020). OpenMATB: A Multi-Attribute Task Battery promoting task customization, software extensibility and experiment replicability. Behavior Research Methods, 52(5), 1980–1990. https://doi.org/10.3758/s13428-020-01364-w</a:t>
            </a:r>
          </a:p>
          <a:p>
            <a:endParaRPr lang="es-CO"/>
          </a:p>
          <a:p>
            <a:r>
              <a:rPr lang="es-CO"/>
              <a:t>Pontiggia, A., Gomez-Mérino, D., Quiquempoix, M., Beauchamps, V., Boffet, A., Fabries, P., Chennaoui, M., &amp; Sauvet, F. (2024). MATB for assessing different mental workload levels. Frontiers in Physiology, 15, Article 1408242. https://doi.org/10.3389/fphys.2024.1408242</a:t>
            </a:r>
          </a:p>
          <a:p>
            <a:endParaRPr lang="es-CO"/>
          </a:p>
          <a:p>
            <a:r>
              <a:rPr lang="es-CO"/>
              <a:t>Pontiggia, A., Fabries, P., Beauchamps, V., Quiquempoix, M., Nespoulous, O., Jacques, C., Guillard, M., Van Beers, P., Ayounts, H., Koulmann, N., Gomez-Mérino, D., Chennaoui, M., &amp; Sauvet, F. (2024). Combined effects of moderate hypoxia and sleep restriction on mental workload. Clocks &amp; Sleep, 6(3), 338–358. https://doi.org/10.3390/clockssleep6030024</a:t>
            </a:r>
          </a:p>
        </p:txBody>
      </p:sp>
      <p:sp>
        <p:nvSpPr>
          <p:cNvPr id="4" name="Slide Number Placeholder 3"/>
          <p:cNvSpPr>
            <a:spLocks noGrp="1"/>
          </p:cNvSpPr>
          <p:nvPr>
            <p:ph type="sldNum" sz="quarter" idx="5"/>
          </p:nvPr>
        </p:nvSpPr>
        <p:spPr/>
        <p:txBody>
          <a:bodyPr/>
          <a:lstStyle/>
          <a:p>
            <a:fld id="{9B03C8CA-053B-46D6-A9AD-FB9A423D695C}" type="slidenum">
              <a:rPr lang="es-CO" smtClean="0"/>
              <a:t>14</a:t>
            </a:fld>
            <a:endParaRPr lang="es-CO"/>
          </a:p>
        </p:txBody>
      </p:sp>
    </p:spTree>
    <p:extLst>
      <p:ext uri="{BB962C8B-B14F-4D97-AF65-F5344CB8AC3E}">
        <p14:creationId xmlns:p14="http://schemas.microsoft.com/office/powerpoint/2010/main" val="42593167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15. Bibliografía II. Tiempo previsto: 10 segundos.</a:t>
            </a:r>
          </a:p>
          <a:p>
            <a:endParaRPr lang="es-CO"/>
          </a:p>
          <a:p>
            <a:r>
              <a:rPr lang="es-CO"/>
              <a:t>GUION ORAL (único texto que se pronuncia):</a:t>
            </a:r>
          </a:p>
          <a:p>
            <a:r>
              <a:rPr lang="es-CO"/>
              <a:t>Estas referencias completan el fundamento metodológico. Muchas gracias; quedo atento a sus preguntas y comentarios.</a:t>
            </a:r>
          </a:p>
          <a:p>
            <a:endParaRPr lang="es-CO"/>
          </a:p>
          <a:p>
            <a:r>
              <a:rPr lang="es-CO"/>
              <a:t>NOTAS DE APOYO (no leer):</a:t>
            </a:r>
          </a:p>
          <a:p>
            <a:r>
              <a:rPr lang="es-CO"/>
              <a:t>Fuentes [4–5] completas en evidencia/referencias_apa.md; [6] KSS complementaria en notas/banco. Reservar íntegros tres minutos para preguntas y comentarios. Transición a cierre institucional.</a:t>
            </a:r>
          </a:p>
          <a:p>
            <a:endParaRPr lang="es-CO"/>
          </a:p>
          <a:p>
            <a:r>
              <a:rPr lang="es-CO"/>
              <a:t>Tortello, C., Agostino, P. V., Folgueira, A., Barbarito, M., Cuiuli, J. M., Coll, M., Golombék, D. A., Plano, S. A., &amp; Vigo, D. E. (2020). Subjective time estimation in Antarctica: The impact of extreme environments and isolation on a time production task. Neuroscience Letters, 725, Article 134893. https://doi.org/10.1016/j.neulet.2020.134893</a:t>
            </a:r>
          </a:p>
          <a:p>
            <a:endParaRPr lang="es-CO"/>
          </a:p>
          <a:p>
            <a:r>
              <a:rPr lang="es-CO"/>
              <a:t>Vogl, J., McCurry, C. D., Bommer, S., &amp; Atchley, J. A. (2024). The United States Army Aeromedical Research Laboratory Multi-Attribute Task Battery. Frontiers in Neuroergonomics, 5, Article 1435588. https://doi.org/10.3389/fnrgo.2024.1435588</a:t>
            </a:r>
          </a:p>
          <a:p>
            <a:endParaRPr lang="es-CO"/>
          </a:p>
          <a:p>
            <a:r>
              <a:rPr lang="es-CO"/>
              <a:t>Laverde-López, M. C., Escobar-Córdoba, F., &amp; Eslava-Schmalbach, J. (2022). Validation of the Colombian version of the Karolinska sleepiness scale. Sleep Science, 15(Spec 1), 97–104. https://doi.org/10.5935/1984-0063.20220006</a:t>
            </a:r>
          </a:p>
        </p:txBody>
      </p:sp>
      <p:sp>
        <p:nvSpPr>
          <p:cNvPr id="4" name="Slide Number Placeholder 3"/>
          <p:cNvSpPr>
            <a:spLocks noGrp="1"/>
          </p:cNvSpPr>
          <p:nvPr>
            <p:ph type="sldNum" sz="quarter" idx="5"/>
          </p:nvPr>
        </p:nvSpPr>
        <p:spPr/>
        <p:txBody>
          <a:bodyPr/>
          <a:lstStyle/>
          <a:p>
            <a:fld id="{9B03C8CA-053B-46D6-A9AD-FB9A423D695C}" type="slidenum">
              <a:rPr lang="es-CO" smtClean="0"/>
              <a:t>15</a:t>
            </a:fld>
            <a:endParaRPr lang="es-CO"/>
          </a:p>
        </p:txBody>
      </p:sp>
    </p:spTree>
    <p:extLst>
      <p:ext uri="{BB962C8B-B14F-4D97-AF65-F5344CB8AC3E}">
        <p14:creationId xmlns:p14="http://schemas.microsoft.com/office/powerpoint/2010/main" val="1441690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16. Cierre institucional. Tiempo previsto: 0 segundos.</a:t>
            </a:r>
          </a:p>
          <a:p>
            <a:endParaRPr lang="es-CO"/>
          </a:p>
          <a:p>
            <a:r>
              <a:rPr lang="es-CO"/>
              <a:t>Pantalla institucional de cierre y preguntas. Tres minutos separados de la exposición. Usar preguntas_comite.md para preparación; responder a las preguntas recibidas, sin imponer un listado al comité.</a:t>
            </a:r>
          </a:p>
        </p:txBody>
      </p:sp>
      <p:sp>
        <p:nvSpPr>
          <p:cNvPr id="4" name="Slide Number Placeholder 3"/>
          <p:cNvSpPr>
            <a:spLocks noGrp="1"/>
          </p:cNvSpPr>
          <p:nvPr>
            <p:ph type="sldNum" sz="quarter" idx="5"/>
          </p:nvPr>
        </p:nvSpPr>
        <p:spPr/>
        <p:txBody>
          <a:bodyPr/>
          <a:lstStyle/>
          <a:p>
            <a:fld id="{9B03C8CA-053B-46D6-A9AD-FB9A423D695C}" type="slidenum">
              <a:rPr lang="es-CO" smtClean="0"/>
              <a:t>16</a:t>
            </a:fld>
            <a:endParaRPr lang="es-CO"/>
          </a:p>
        </p:txBody>
      </p:sp>
    </p:spTree>
    <p:extLst>
      <p:ext uri="{BB962C8B-B14F-4D97-AF65-F5344CB8AC3E}">
        <p14:creationId xmlns:p14="http://schemas.microsoft.com/office/powerpoint/2010/main" val="1947176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0B50AC-7428-EDFA-D98F-CE4E0579918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DE779F98-45EF-1920-0AAE-D25FF7D87D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19187ADB-62A4-9A1C-4417-0CAF93B0335C}"/>
              </a:ext>
            </a:extLst>
          </p:cNvPr>
          <p:cNvSpPr>
            <a:spLocks noGrp="1"/>
          </p:cNvSpPr>
          <p:nvPr>
            <p:ph type="dt" sz="half" idx="10"/>
          </p:nvPr>
        </p:nvSpPr>
        <p:spPr/>
        <p:txBody>
          <a:bodyPr/>
          <a:lstStyle/>
          <a:p>
            <a:fld id="{F8867779-4CC4-4ADA-8BE2-FCD6D3531C2A}" type="datetimeFigureOut">
              <a:rPr lang="es-CO" smtClean="0"/>
              <a:t>21/09/2026</a:t>
            </a:fld>
            <a:endParaRPr lang="es-CO"/>
          </a:p>
        </p:txBody>
      </p:sp>
      <p:sp>
        <p:nvSpPr>
          <p:cNvPr id="5" name="Marcador de pie de página 4">
            <a:extLst>
              <a:ext uri="{FF2B5EF4-FFF2-40B4-BE49-F238E27FC236}">
                <a16:creationId xmlns:a16="http://schemas.microsoft.com/office/drawing/2014/main" id="{5F203004-C622-893C-7C23-EFDF6B27A55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5D7B9B1-E505-BA67-76C1-C27674129CF3}"/>
              </a:ext>
            </a:extLst>
          </p:cNvPr>
          <p:cNvSpPr>
            <a:spLocks noGrp="1"/>
          </p:cNvSpPr>
          <p:nvPr>
            <p:ph type="sldNum" sz="quarter" idx="12"/>
          </p:nvPr>
        </p:nvSpPr>
        <p:spPr/>
        <p:txBody>
          <a:bodyPr/>
          <a:lstStyle/>
          <a:p>
            <a:fld id="{B31F450F-98ED-48A4-8BC8-771CA4AFA025}" type="slidenum">
              <a:rPr lang="es-CO" smtClean="0"/>
              <a:t>‹#›</a:t>
            </a:fld>
            <a:endParaRPr lang="es-CO"/>
          </a:p>
        </p:txBody>
      </p:sp>
    </p:spTree>
    <p:extLst>
      <p:ext uri="{BB962C8B-B14F-4D97-AF65-F5344CB8AC3E}">
        <p14:creationId xmlns:p14="http://schemas.microsoft.com/office/powerpoint/2010/main" val="136707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BE6147-C2BE-C833-AA78-966B83D9657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440574FC-855B-02B5-3AF9-ED169CBCC73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5E024797-8F2F-6182-DABB-A6527628FB5B}"/>
              </a:ext>
            </a:extLst>
          </p:cNvPr>
          <p:cNvSpPr>
            <a:spLocks noGrp="1"/>
          </p:cNvSpPr>
          <p:nvPr>
            <p:ph type="dt" sz="half" idx="10"/>
          </p:nvPr>
        </p:nvSpPr>
        <p:spPr/>
        <p:txBody>
          <a:bodyPr/>
          <a:lstStyle/>
          <a:p>
            <a:fld id="{F8867779-4CC4-4ADA-8BE2-FCD6D3531C2A}" type="datetimeFigureOut">
              <a:rPr lang="es-CO" smtClean="0"/>
              <a:t>21/09/2026</a:t>
            </a:fld>
            <a:endParaRPr lang="es-CO"/>
          </a:p>
        </p:txBody>
      </p:sp>
      <p:sp>
        <p:nvSpPr>
          <p:cNvPr id="5" name="Marcador de pie de página 4">
            <a:extLst>
              <a:ext uri="{FF2B5EF4-FFF2-40B4-BE49-F238E27FC236}">
                <a16:creationId xmlns:a16="http://schemas.microsoft.com/office/drawing/2014/main" id="{688B60E6-5773-D7EC-F975-D940EAC43D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87CB42D-082E-9697-04B3-8806B7F96C74}"/>
              </a:ext>
            </a:extLst>
          </p:cNvPr>
          <p:cNvSpPr>
            <a:spLocks noGrp="1"/>
          </p:cNvSpPr>
          <p:nvPr>
            <p:ph type="sldNum" sz="quarter" idx="12"/>
          </p:nvPr>
        </p:nvSpPr>
        <p:spPr/>
        <p:txBody>
          <a:bodyPr/>
          <a:lstStyle/>
          <a:p>
            <a:fld id="{B31F450F-98ED-48A4-8BC8-771CA4AFA025}" type="slidenum">
              <a:rPr lang="es-CO" smtClean="0"/>
              <a:t>‹#›</a:t>
            </a:fld>
            <a:endParaRPr lang="es-CO"/>
          </a:p>
        </p:txBody>
      </p:sp>
    </p:spTree>
    <p:extLst>
      <p:ext uri="{BB962C8B-B14F-4D97-AF65-F5344CB8AC3E}">
        <p14:creationId xmlns:p14="http://schemas.microsoft.com/office/powerpoint/2010/main" val="2951914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A22A24-018C-F457-5E0F-5C74E8B0407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FA56FD7-BE87-E08B-D518-0CA24FD380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50D151D8-B84E-AEBC-4DAC-49371C9B5D30}"/>
              </a:ext>
            </a:extLst>
          </p:cNvPr>
          <p:cNvSpPr>
            <a:spLocks noGrp="1"/>
          </p:cNvSpPr>
          <p:nvPr>
            <p:ph type="dt" sz="half" idx="10"/>
          </p:nvPr>
        </p:nvSpPr>
        <p:spPr/>
        <p:txBody>
          <a:bodyPr/>
          <a:lstStyle/>
          <a:p>
            <a:fld id="{F8867779-4CC4-4ADA-8BE2-FCD6D3531C2A}" type="datetimeFigureOut">
              <a:rPr lang="es-CO" smtClean="0"/>
              <a:t>21/09/2026</a:t>
            </a:fld>
            <a:endParaRPr lang="es-CO"/>
          </a:p>
        </p:txBody>
      </p:sp>
      <p:sp>
        <p:nvSpPr>
          <p:cNvPr id="5" name="Marcador de pie de página 4">
            <a:extLst>
              <a:ext uri="{FF2B5EF4-FFF2-40B4-BE49-F238E27FC236}">
                <a16:creationId xmlns:a16="http://schemas.microsoft.com/office/drawing/2014/main" id="{76643748-844D-CC11-4078-E87A1134200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CB9A02F-1E94-A6A9-02CD-EC3738B4B6C4}"/>
              </a:ext>
            </a:extLst>
          </p:cNvPr>
          <p:cNvSpPr>
            <a:spLocks noGrp="1"/>
          </p:cNvSpPr>
          <p:nvPr>
            <p:ph type="sldNum" sz="quarter" idx="12"/>
          </p:nvPr>
        </p:nvSpPr>
        <p:spPr/>
        <p:txBody>
          <a:bodyPr/>
          <a:lstStyle/>
          <a:p>
            <a:fld id="{B31F450F-98ED-48A4-8BC8-771CA4AFA025}" type="slidenum">
              <a:rPr lang="es-CO" smtClean="0"/>
              <a:t>‹#›</a:t>
            </a:fld>
            <a:endParaRPr lang="es-CO"/>
          </a:p>
        </p:txBody>
      </p:sp>
    </p:spTree>
    <p:extLst>
      <p:ext uri="{BB962C8B-B14F-4D97-AF65-F5344CB8AC3E}">
        <p14:creationId xmlns:p14="http://schemas.microsoft.com/office/powerpoint/2010/main" val="3747938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99AC6D-C9D7-937D-C0C8-76F6012669CD}"/>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EA0273B2-CF35-A90D-4B2C-A0CC24BD174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830419DA-D323-FFAC-8130-68DF5EC04A7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E086C857-F915-0009-BBBA-C13E4E144D9D}"/>
              </a:ext>
            </a:extLst>
          </p:cNvPr>
          <p:cNvSpPr>
            <a:spLocks noGrp="1"/>
          </p:cNvSpPr>
          <p:nvPr>
            <p:ph type="dt" sz="half" idx="10"/>
          </p:nvPr>
        </p:nvSpPr>
        <p:spPr/>
        <p:txBody>
          <a:bodyPr/>
          <a:lstStyle/>
          <a:p>
            <a:fld id="{F8867779-4CC4-4ADA-8BE2-FCD6D3531C2A}" type="datetimeFigureOut">
              <a:rPr lang="es-CO" smtClean="0"/>
              <a:t>21/09/2026</a:t>
            </a:fld>
            <a:endParaRPr lang="es-CO"/>
          </a:p>
        </p:txBody>
      </p:sp>
      <p:sp>
        <p:nvSpPr>
          <p:cNvPr id="6" name="Marcador de pie de página 5">
            <a:extLst>
              <a:ext uri="{FF2B5EF4-FFF2-40B4-BE49-F238E27FC236}">
                <a16:creationId xmlns:a16="http://schemas.microsoft.com/office/drawing/2014/main" id="{0B04B7C7-EC5C-6162-D99C-09F0B576A2DE}"/>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D624E6A-9CF6-7FE4-73D3-3DD347D183BD}"/>
              </a:ext>
            </a:extLst>
          </p:cNvPr>
          <p:cNvSpPr>
            <a:spLocks noGrp="1"/>
          </p:cNvSpPr>
          <p:nvPr>
            <p:ph type="sldNum" sz="quarter" idx="12"/>
          </p:nvPr>
        </p:nvSpPr>
        <p:spPr/>
        <p:txBody>
          <a:bodyPr/>
          <a:lstStyle/>
          <a:p>
            <a:fld id="{B31F450F-98ED-48A4-8BC8-771CA4AFA025}" type="slidenum">
              <a:rPr lang="es-CO" smtClean="0"/>
              <a:t>‹#›</a:t>
            </a:fld>
            <a:endParaRPr lang="es-CO"/>
          </a:p>
        </p:txBody>
      </p:sp>
    </p:spTree>
    <p:extLst>
      <p:ext uri="{BB962C8B-B14F-4D97-AF65-F5344CB8AC3E}">
        <p14:creationId xmlns:p14="http://schemas.microsoft.com/office/powerpoint/2010/main" val="296806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6962AC-EC4A-9243-6E17-DCC9109C8E2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E22F166-4F71-1D91-7F9D-12C0956BC3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E86DC084-803D-A56D-0B88-8E1C9885E7D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6F7EB893-882D-E021-C0A3-C3C35F6C47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8B99FED-A914-A297-4585-7B022F43301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E1A4BCF8-4E79-3CA6-A3E9-B640A2810C41}"/>
              </a:ext>
            </a:extLst>
          </p:cNvPr>
          <p:cNvSpPr>
            <a:spLocks noGrp="1"/>
          </p:cNvSpPr>
          <p:nvPr>
            <p:ph type="dt" sz="half" idx="10"/>
          </p:nvPr>
        </p:nvSpPr>
        <p:spPr/>
        <p:txBody>
          <a:bodyPr/>
          <a:lstStyle/>
          <a:p>
            <a:fld id="{F8867779-4CC4-4ADA-8BE2-FCD6D3531C2A}" type="datetimeFigureOut">
              <a:rPr lang="es-CO" smtClean="0"/>
              <a:t>21/09/2026</a:t>
            </a:fld>
            <a:endParaRPr lang="es-CO"/>
          </a:p>
        </p:txBody>
      </p:sp>
      <p:sp>
        <p:nvSpPr>
          <p:cNvPr id="8" name="Marcador de pie de página 7">
            <a:extLst>
              <a:ext uri="{FF2B5EF4-FFF2-40B4-BE49-F238E27FC236}">
                <a16:creationId xmlns:a16="http://schemas.microsoft.com/office/drawing/2014/main" id="{4CEECBCD-70EB-4A7F-B80D-4997957621E6}"/>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F3450A31-3F45-6B1D-06EC-5BF5A3D77F3E}"/>
              </a:ext>
            </a:extLst>
          </p:cNvPr>
          <p:cNvSpPr>
            <a:spLocks noGrp="1"/>
          </p:cNvSpPr>
          <p:nvPr>
            <p:ph type="sldNum" sz="quarter" idx="12"/>
          </p:nvPr>
        </p:nvSpPr>
        <p:spPr/>
        <p:txBody>
          <a:bodyPr/>
          <a:lstStyle/>
          <a:p>
            <a:fld id="{B31F450F-98ED-48A4-8BC8-771CA4AFA025}" type="slidenum">
              <a:rPr lang="es-CO" smtClean="0"/>
              <a:t>‹#›</a:t>
            </a:fld>
            <a:endParaRPr lang="es-CO"/>
          </a:p>
        </p:txBody>
      </p:sp>
    </p:spTree>
    <p:extLst>
      <p:ext uri="{BB962C8B-B14F-4D97-AF65-F5344CB8AC3E}">
        <p14:creationId xmlns:p14="http://schemas.microsoft.com/office/powerpoint/2010/main" val="900180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3950DD-6FF5-9A5D-1D74-9CE3CEA77C1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9D036115-7AD6-5995-5831-4286EE2C6AC6}"/>
              </a:ext>
            </a:extLst>
          </p:cNvPr>
          <p:cNvSpPr>
            <a:spLocks noGrp="1"/>
          </p:cNvSpPr>
          <p:nvPr>
            <p:ph type="dt" sz="half" idx="10"/>
          </p:nvPr>
        </p:nvSpPr>
        <p:spPr/>
        <p:txBody>
          <a:bodyPr/>
          <a:lstStyle/>
          <a:p>
            <a:fld id="{F8867779-4CC4-4ADA-8BE2-FCD6D3531C2A}" type="datetimeFigureOut">
              <a:rPr lang="es-CO" smtClean="0"/>
              <a:t>21/09/2026</a:t>
            </a:fld>
            <a:endParaRPr lang="es-CO"/>
          </a:p>
        </p:txBody>
      </p:sp>
      <p:sp>
        <p:nvSpPr>
          <p:cNvPr id="4" name="Marcador de pie de página 3">
            <a:extLst>
              <a:ext uri="{FF2B5EF4-FFF2-40B4-BE49-F238E27FC236}">
                <a16:creationId xmlns:a16="http://schemas.microsoft.com/office/drawing/2014/main" id="{8733CB82-476D-F2A0-07F4-6D406F4D2076}"/>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A7A124EC-E15B-626F-CE37-12126467C160}"/>
              </a:ext>
            </a:extLst>
          </p:cNvPr>
          <p:cNvSpPr>
            <a:spLocks noGrp="1"/>
          </p:cNvSpPr>
          <p:nvPr>
            <p:ph type="sldNum" sz="quarter" idx="12"/>
          </p:nvPr>
        </p:nvSpPr>
        <p:spPr/>
        <p:txBody>
          <a:bodyPr/>
          <a:lstStyle/>
          <a:p>
            <a:fld id="{B31F450F-98ED-48A4-8BC8-771CA4AFA025}" type="slidenum">
              <a:rPr lang="es-CO" smtClean="0"/>
              <a:t>‹#›</a:t>
            </a:fld>
            <a:endParaRPr lang="es-CO"/>
          </a:p>
        </p:txBody>
      </p:sp>
    </p:spTree>
    <p:extLst>
      <p:ext uri="{BB962C8B-B14F-4D97-AF65-F5344CB8AC3E}">
        <p14:creationId xmlns:p14="http://schemas.microsoft.com/office/powerpoint/2010/main" val="1412781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28A9AD7-BB6A-AD24-281A-AFF63DED48B1}"/>
              </a:ext>
            </a:extLst>
          </p:cNvPr>
          <p:cNvSpPr>
            <a:spLocks noGrp="1"/>
          </p:cNvSpPr>
          <p:nvPr>
            <p:ph type="dt" sz="half" idx="10"/>
          </p:nvPr>
        </p:nvSpPr>
        <p:spPr/>
        <p:txBody>
          <a:bodyPr/>
          <a:lstStyle/>
          <a:p>
            <a:fld id="{F8867779-4CC4-4ADA-8BE2-FCD6D3531C2A}" type="datetimeFigureOut">
              <a:rPr lang="es-CO" smtClean="0"/>
              <a:t>21/09/2026</a:t>
            </a:fld>
            <a:endParaRPr lang="es-CO"/>
          </a:p>
        </p:txBody>
      </p:sp>
      <p:sp>
        <p:nvSpPr>
          <p:cNvPr id="3" name="Marcador de pie de página 2">
            <a:extLst>
              <a:ext uri="{FF2B5EF4-FFF2-40B4-BE49-F238E27FC236}">
                <a16:creationId xmlns:a16="http://schemas.microsoft.com/office/drawing/2014/main" id="{EFB244B4-1AA1-7C14-2D63-DECF1D7DDD02}"/>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73FCEDD4-7D7D-8C48-BEE8-EF42839EC7D2}"/>
              </a:ext>
            </a:extLst>
          </p:cNvPr>
          <p:cNvSpPr>
            <a:spLocks noGrp="1"/>
          </p:cNvSpPr>
          <p:nvPr>
            <p:ph type="sldNum" sz="quarter" idx="12"/>
          </p:nvPr>
        </p:nvSpPr>
        <p:spPr/>
        <p:txBody>
          <a:bodyPr/>
          <a:lstStyle/>
          <a:p>
            <a:fld id="{B31F450F-98ED-48A4-8BC8-771CA4AFA025}" type="slidenum">
              <a:rPr lang="es-CO" smtClean="0"/>
              <a:t>‹#›</a:t>
            </a:fld>
            <a:endParaRPr lang="es-CO"/>
          </a:p>
        </p:txBody>
      </p:sp>
    </p:spTree>
    <p:extLst>
      <p:ext uri="{BB962C8B-B14F-4D97-AF65-F5344CB8AC3E}">
        <p14:creationId xmlns:p14="http://schemas.microsoft.com/office/powerpoint/2010/main" val="2620561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5353E4-39C0-4184-0C6D-CC7CEE03EB4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C74FE882-BB81-5FC0-D71C-8B1E91B780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632DC75C-91FC-8E3E-5430-DD31D681A3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72F9337-DD02-3A22-31A1-54E6E479D40C}"/>
              </a:ext>
            </a:extLst>
          </p:cNvPr>
          <p:cNvSpPr>
            <a:spLocks noGrp="1"/>
          </p:cNvSpPr>
          <p:nvPr>
            <p:ph type="dt" sz="half" idx="10"/>
          </p:nvPr>
        </p:nvSpPr>
        <p:spPr/>
        <p:txBody>
          <a:bodyPr/>
          <a:lstStyle/>
          <a:p>
            <a:fld id="{F8867779-4CC4-4ADA-8BE2-FCD6D3531C2A}" type="datetimeFigureOut">
              <a:rPr lang="es-CO" smtClean="0"/>
              <a:t>21/09/2026</a:t>
            </a:fld>
            <a:endParaRPr lang="es-CO"/>
          </a:p>
        </p:txBody>
      </p:sp>
      <p:sp>
        <p:nvSpPr>
          <p:cNvPr id="6" name="Marcador de pie de página 5">
            <a:extLst>
              <a:ext uri="{FF2B5EF4-FFF2-40B4-BE49-F238E27FC236}">
                <a16:creationId xmlns:a16="http://schemas.microsoft.com/office/drawing/2014/main" id="{E06CA4CF-29CE-CB1F-07C8-F83AD64EA2D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21B161F2-81F9-D5EA-FC65-935470DD89EA}"/>
              </a:ext>
            </a:extLst>
          </p:cNvPr>
          <p:cNvSpPr>
            <a:spLocks noGrp="1"/>
          </p:cNvSpPr>
          <p:nvPr>
            <p:ph type="sldNum" sz="quarter" idx="12"/>
          </p:nvPr>
        </p:nvSpPr>
        <p:spPr/>
        <p:txBody>
          <a:bodyPr/>
          <a:lstStyle/>
          <a:p>
            <a:fld id="{B31F450F-98ED-48A4-8BC8-771CA4AFA025}" type="slidenum">
              <a:rPr lang="es-CO" smtClean="0"/>
              <a:t>‹#›</a:t>
            </a:fld>
            <a:endParaRPr lang="es-CO"/>
          </a:p>
        </p:txBody>
      </p:sp>
    </p:spTree>
    <p:extLst>
      <p:ext uri="{BB962C8B-B14F-4D97-AF65-F5344CB8AC3E}">
        <p14:creationId xmlns:p14="http://schemas.microsoft.com/office/powerpoint/2010/main" val="1742129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D4E24D-13E0-6186-4D77-9A0B37A8ED5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021090D5-A23E-4D1A-EA5B-E2D700476C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30A2E3FB-3DAC-FB98-E8AF-A6085347F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FE30B6B-0FB8-055D-6FCA-6F7CAC673ED5}"/>
              </a:ext>
            </a:extLst>
          </p:cNvPr>
          <p:cNvSpPr>
            <a:spLocks noGrp="1"/>
          </p:cNvSpPr>
          <p:nvPr>
            <p:ph type="dt" sz="half" idx="10"/>
          </p:nvPr>
        </p:nvSpPr>
        <p:spPr/>
        <p:txBody>
          <a:bodyPr/>
          <a:lstStyle/>
          <a:p>
            <a:fld id="{F8867779-4CC4-4ADA-8BE2-FCD6D3531C2A}" type="datetimeFigureOut">
              <a:rPr lang="es-CO" smtClean="0"/>
              <a:t>21/09/2026</a:t>
            </a:fld>
            <a:endParaRPr lang="es-CO"/>
          </a:p>
        </p:txBody>
      </p:sp>
      <p:sp>
        <p:nvSpPr>
          <p:cNvPr id="6" name="Marcador de pie de página 5">
            <a:extLst>
              <a:ext uri="{FF2B5EF4-FFF2-40B4-BE49-F238E27FC236}">
                <a16:creationId xmlns:a16="http://schemas.microsoft.com/office/drawing/2014/main" id="{8A7E68F3-49CE-E3E9-B87B-9615CD02F0C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D5EFA8E0-E5B9-F4DC-8BCB-81087C6A9C5C}"/>
              </a:ext>
            </a:extLst>
          </p:cNvPr>
          <p:cNvSpPr>
            <a:spLocks noGrp="1"/>
          </p:cNvSpPr>
          <p:nvPr>
            <p:ph type="sldNum" sz="quarter" idx="12"/>
          </p:nvPr>
        </p:nvSpPr>
        <p:spPr/>
        <p:txBody>
          <a:bodyPr/>
          <a:lstStyle/>
          <a:p>
            <a:fld id="{B31F450F-98ED-48A4-8BC8-771CA4AFA025}" type="slidenum">
              <a:rPr lang="es-CO" smtClean="0"/>
              <a:t>‹#›</a:t>
            </a:fld>
            <a:endParaRPr lang="es-CO"/>
          </a:p>
        </p:txBody>
      </p:sp>
    </p:spTree>
    <p:extLst>
      <p:ext uri="{BB962C8B-B14F-4D97-AF65-F5344CB8AC3E}">
        <p14:creationId xmlns:p14="http://schemas.microsoft.com/office/powerpoint/2010/main" val="4167892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43C98B-E8CA-F901-2C84-972F65C3CC9D}"/>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555E2FDB-F8B9-5F29-5E64-876C6C31DDE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01AB0A1-A66E-23D7-524E-B06E7EDF1728}"/>
              </a:ext>
            </a:extLst>
          </p:cNvPr>
          <p:cNvSpPr>
            <a:spLocks noGrp="1"/>
          </p:cNvSpPr>
          <p:nvPr>
            <p:ph type="dt" sz="half" idx="10"/>
          </p:nvPr>
        </p:nvSpPr>
        <p:spPr/>
        <p:txBody>
          <a:bodyPr/>
          <a:lstStyle/>
          <a:p>
            <a:fld id="{F8867779-4CC4-4ADA-8BE2-FCD6D3531C2A}" type="datetimeFigureOut">
              <a:rPr lang="es-CO" smtClean="0"/>
              <a:t>21/09/2026</a:t>
            </a:fld>
            <a:endParaRPr lang="es-CO"/>
          </a:p>
        </p:txBody>
      </p:sp>
      <p:sp>
        <p:nvSpPr>
          <p:cNvPr id="5" name="Marcador de pie de página 4">
            <a:extLst>
              <a:ext uri="{FF2B5EF4-FFF2-40B4-BE49-F238E27FC236}">
                <a16:creationId xmlns:a16="http://schemas.microsoft.com/office/drawing/2014/main" id="{61ADC9F5-E49E-D2C8-644D-534011CBCE4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833FC53-D566-7A82-4E5B-4B4902AF1506}"/>
              </a:ext>
            </a:extLst>
          </p:cNvPr>
          <p:cNvSpPr>
            <a:spLocks noGrp="1"/>
          </p:cNvSpPr>
          <p:nvPr>
            <p:ph type="sldNum" sz="quarter" idx="12"/>
          </p:nvPr>
        </p:nvSpPr>
        <p:spPr/>
        <p:txBody>
          <a:bodyPr/>
          <a:lstStyle/>
          <a:p>
            <a:fld id="{B31F450F-98ED-48A4-8BC8-771CA4AFA025}" type="slidenum">
              <a:rPr lang="es-CO" smtClean="0"/>
              <a:t>‹#›</a:t>
            </a:fld>
            <a:endParaRPr lang="es-CO"/>
          </a:p>
        </p:txBody>
      </p:sp>
    </p:spTree>
    <p:extLst>
      <p:ext uri="{BB962C8B-B14F-4D97-AF65-F5344CB8AC3E}">
        <p14:creationId xmlns:p14="http://schemas.microsoft.com/office/powerpoint/2010/main" val="354400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2740393-9187-A276-8BBB-993A8A9B24E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F0A86A96-1E00-2CFD-A266-AF66F5AFF93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E3A9D4D-8D7D-C7D8-8EA0-AF4E182CFB1E}"/>
              </a:ext>
            </a:extLst>
          </p:cNvPr>
          <p:cNvSpPr>
            <a:spLocks noGrp="1"/>
          </p:cNvSpPr>
          <p:nvPr>
            <p:ph type="dt" sz="half" idx="10"/>
          </p:nvPr>
        </p:nvSpPr>
        <p:spPr/>
        <p:txBody>
          <a:bodyPr/>
          <a:lstStyle/>
          <a:p>
            <a:fld id="{F8867779-4CC4-4ADA-8BE2-FCD6D3531C2A}" type="datetimeFigureOut">
              <a:rPr lang="es-CO" smtClean="0"/>
              <a:t>21/09/2026</a:t>
            </a:fld>
            <a:endParaRPr lang="es-CO"/>
          </a:p>
        </p:txBody>
      </p:sp>
      <p:sp>
        <p:nvSpPr>
          <p:cNvPr id="5" name="Marcador de pie de página 4">
            <a:extLst>
              <a:ext uri="{FF2B5EF4-FFF2-40B4-BE49-F238E27FC236}">
                <a16:creationId xmlns:a16="http://schemas.microsoft.com/office/drawing/2014/main" id="{498CF2AA-5ACB-AA17-AFAC-B8A140CFC2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5E915F6-B016-105A-D7F3-C366EECFC18C}"/>
              </a:ext>
            </a:extLst>
          </p:cNvPr>
          <p:cNvSpPr>
            <a:spLocks noGrp="1"/>
          </p:cNvSpPr>
          <p:nvPr>
            <p:ph type="sldNum" sz="quarter" idx="12"/>
          </p:nvPr>
        </p:nvSpPr>
        <p:spPr/>
        <p:txBody>
          <a:bodyPr/>
          <a:lstStyle/>
          <a:p>
            <a:fld id="{B31F450F-98ED-48A4-8BC8-771CA4AFA025}" type="slidenum">
              <a:rPr lang="es-CO" smtClean="0"/>
              <a:t>‹#›</a:t>
            </a:fld>
            <a:endParaRPr lang="es-CO"/>
          </a:p>
        </p:txBody>
      </p:sp>
    </p:spTree>
    <p:extLst>
      <p:ext uri="{BB962C8B-B14F-4D97-AF65-F5344CB8AC3E}">
        <p14:creationId xmlns:p14="http://schemas.microsoft.com/office/powerpoint/2010/main" val="3433198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EE52982-6930-4E57-AA16-7986217A0F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B9181238-D544-F729-1F81-804828FDC3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5BBB980-9F4F-848A-8B29-4050BADBD3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8867779-4CC4-4ADA-8BE2-FCD6D3531C2A}" type="datetimeFigureOut">
              <a:rPr lang="es-CO" smtClean="0"/>
              <a:t>21/09/2026</a:t>
            </a:fld>
            <a:endParaRPr lang="es-CO"/>
          </a:p>
        </p:txBody>
      </p:sp>
      <p:sp>
        <p:nvSpPr>
          <p:cNvPr id="5" name="Marcador de pie de página 4">
            <a:extLst>
              <a:ext uri="{FF2B5EF4-FFF2-40B4-BE49-F238E27FC236}">
                <a16:creationId xmlns:a16="http://schemas.microsoft.com/office/drawing/2014/main" id="{6DB4BBAE-0D3D-0D4B-D768-458B4842DC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21C972A0-89A8-5552-544A-D1ACF46822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1F450F-98ED-48A4-8BC8-771CA4AFA025}" type="slidenum">
              <a:rPr lang="es-CO" smtClean="0"/>
              <a:t>‹#›</a:t>
            </a:fld>
            <a:endParaRPr lang="es-CO"/>
          </a:p>
        </p:txBody>
      </p:sp>
    </p:spTree>
    <p:extLst>
      <p:ext uri="{BB962C8B-B14F-4D97-AF65-F5344CB8AC3E}">
        <p14:creationId xmlns:p14="http://schemas.microsoft.com/office/powerpoint/2010/main" val="2736993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notesSlide" Target="../notesSlides/notesSlide1.xml"/><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5.xml"/><Relationship Id="rId5" Type="http://schemas.openxmlformats.org/officeDocument/2006/relationships/image" Target="../media/image11.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6.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7.xml"/><Relationship Id="rId5" Type="http://schemas.openxmlformats.org/officeDocument/2006/relationships/image" Target="../media/image1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8.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9.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10.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1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ags" Target="../tags/tag1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13.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ags" Target="../tags/tag14.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ags" Target="../tags/tag15.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ags" Target="../tags/tag16.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5AB7B6B3-AD13-8119-A6C6-90DCF2ADE002}"/>
              </a:ext>
            </a:extLst>
          </p:cNvPr>
          <p:cNvSpPr txBox="1"/>
          <p:nvPr/>
        </p:nvSpPr>
        <p:spPr>
          <a:xfrm>
            <a:off x="1237869" y="423094"/>
            <a:ext cx="10241638" cy="3200876"/>
          </a:xfrm>
          <a:prstGeom prst="rect">
            <a:avLst/>
          </a:prstGeom>
          <a:noFill/>
        </p:spPr>
        <p:txBody>
          <a:bodyPr wrap="square" lIns="91440" tIns="45720" rIns="91440" bIns="45720" rtlCol="0" anchor="t">
            <a:spAutoFit/>
          </a:bodyPr>
          <a:lstStyle/>
          <a:p>
            <a:pPr algn="ctr"/>
            <a:r>
              <a:rPr lang="es-CO" sz="13800" b="1" dirty="0">
                <a:solidFill>
                  <a:srgbClr val="002060"/>
                </a:solidFill>
                <a:latin typeface="Bell MT" panose="02020503060305020303" pitchFamily="18" charset="0"/>
                <a:ea typeface="Aptos" panose="020B0004020202020204" pitchFamily="34" charset="0"/>
              </a:rPr>
              <a:t>III CEINNA</a:t>
            </a:r>
            <a:endParaRPr lang="es-CO" sz="13800" b="1" dirty="0">
              <a:solidFill>
                <a:srgbClr val="002060"/>
              </a:solidFill>
              <a:effectLst/>
              <a:latin typeface="Bell MT" panose="02020503060305020303" pitchFamily="18" charset="0"/>
              <a:ea typeface="Aptos" panose="020B0004020202020204" pitchFamily="34" charset="0"/>
            </a:endParaRPr>
          </a:p>
          <a:p>
            <a:pPr algn="ctr"/>
            <a:r>
              <a:rPr lang="es-CO" sz="3200" b="1" dirty="0">
                <a:effectLst/>
                <a:latin typeface="Bell MT"/>
                <a:ea typeface="Aptos" panose="020B0004020202020204" pitchFamily="34" charset="0"/>
              </a:rPr>
              <a:t>III Congreso Internacional de Estudios en Innovación y Nuevas </a:t>
            </a:r>
            <a:r>
              <a:rPr lang="es-CO" sz="3200" b="1" dirty="0">
                <a:latin typeface="Bell MT"/>
                <a:ea typeface="Aptos" panose="020B0004020202020204" pitchFamily="34" charset="0"/>
              </a:rPr>
              <a:t>Tecnologías para</a:t>
            </a:r>
            <a:r>
              <a:rPr lang="es-CO" sz="3200" b="1" dirty="0">
                <a:effectLst/>
                <a:latin typeface="Bell MT"/>
                <a:ea typeface="Aptos" panose="020B0004020202020204" pitchFamily="34" charset="0"/>
              </a:rPr>
              <a:t> la Seguridad y la Defensa</a:t>
            </a:r>
            <a:endParaRPr lang="es-CO" sz="3200" dirty="0">
              <a:latin typeface="Bell MT"/>
            </a:endParaRPr>
          </a:p>
        </p:txBody>
      </p:sp>
      <p:grpSp>
        <p:nvGrpSpPr>
          <p:cNvPr id="28" name="Grupo 27">
            <a:extLst>
              <a:ext uri="{FF2B5EF4-FFF2-40B4-BE49-F238E27FC236}">
                <a16:creationId xmlns:a16="http://schemas.microsoft.com/office/drawing/2014/main" id="{B8F8E782-CBFA-DEE5-3356-5D7314DBC717}"/>
              </a:ext>
            </a:extLst>
          </p:cNvPr>
          <p:cNvGrpSpPr/>
          <p:nvPr/>
        </p:nvGrpSpPr>
        <p:grpSpPr>
          <a:xfrm>
            <a:off x="11555690" y="0"/>
            <a:ext cx="636310" cy="6876601"/>
            <a:chOff x="11555690" y="0"/>
            <a:chExt cx="636310" cy="6876601"/>
          </a:xfrm>
        </p:grpSpPr>
        <p:sp>
          <p:nvSpPr>
            <p:cNvPr id="9" name="Rectángulo 8">
              <a:extLst>
                <a:ext uri="{FF2B5EF4-FFF2-40B4-BE49-F238E27FC236}">
                  <a16:creationId xmlns:a16="http://schemas.microsoft.com/office/drawing/2014/main" id="{9575CE6E-9389-C8B9-79C1-3F494C183CF9}"/>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2" name="Rectángulo 21">
              <a:extLst>
                <a:ext uri="{FF2B5EF4-FFF2-40B4-BE49-F238E27FC236}">
                  <a16:creationId xmlns:a16="http://schemas.microsoft.com/office/drawing/2014/main" id="{9F0E435E-DE83-B3FC-A55B-4724EA0F3399}"/>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4" name="Rectángulo 23">
              <a:extLst>
                <a:ext uri="{FF2B5EF4-FFF2-40B4-BE49-F238E27FC236}">
                  <a16:creationId xmlns:a16="http://schemas.microsoft.com/office/drawing/2014/main" id="{E066963C-B48A-1CFA-C844-560A59C6535C}"/>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7" name="Rectángulo 26">
              <a:extLst>
                <a:ext uri="{FF2B5EF4-FFF2-40B4-BE49-F238E27FC236}">
                  <a16:creationId xmlns:a16="http://schemas.microsoft.com/office/drawing/2014/main" id="{18BC95E9-1F2D-409E-7CDD-149202EA2BBB}"/>
                </a:ext>
              </a:extLst>
            </p:cNvPr>
            <p:cNvSpPr/>
            <p:nvPr/>
          </p:nvSpPr>
          <p:spPr>
            <a:xfrm>
              <a:off x="11557416" y="1665710"/>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sp>
        <p:nvSpPr>
          <p:cNvPr id="29" name="CuadroTexto 28">
            <a:extLst>
              <a:ext uri="{FF2B5EF4-FFF2-40B4-BE49-F238E27FC236}">
                <a16:creationId xmlns:a16="http://schemas.microsoft.com/office/drawing/2014/main" id="{58EBAFAA-CDB1-24F5-ACAE-2228BCBF3F2D}"/>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pic>
        <p:nvPicPr>
          <p:cNvPr id="3" name="Imagen 2" descr="Diagrama&#10;&#10;El contenido generado por inteligencia artificial puede ser incorrecto.">
            <a:extLst>
              <a:ext uri="{FF2B5EF4-FFF2-40B4-BE49-F238E27FC236}">
                <a16:creationId xmlns:a16="http://schemas.microsoft.com/office/drawing/2014/main" id="{9F21B5D3-D88B-C180-EF7F-2653E746C90A}"/>
              </a:ext>
            </a:extLst>
          </p:cNvPr>
          <p:cNvPicPr>
            <a:picLocks noChangeAspect="1"/>
          </p:cNvPicPr>
          <p:nvPr/>
        </p:nvPicPr>
        <p:blipFill>
          <a:blip r:embed="rId4"/>
          <a:srcRect l="6260" t="10344" r="5922" b="28494"/>
          <a:stretch/>
        </p:blipFill>
        <p:spPr>
          <a:xfrm>
            <a:off x="0" y="0"/>
            <a:ext cx="1742137" cy="1508926"/>
          </a:xfrm>
          <a:prstGeom prst="rect">
            <a:avLst/>
          </a:prstGeom>
        </p:spPr>
      </p:pic>
      <p:grpSp>
        <p:nvGrpSpPr>
          <p:cNvPr id="17" name="Grupo 16">
            <a:extLst>
              <a:ext uri="{FF2B5EF4-FFF2-40B4-BE49-F238E27FC236}">
                <a16:creationId xmlns:a16="http://schemas.microsoft.com/office/drawing/2014/main" id="{53B94909-D294-4478-8353-9153DCE9819D}"/>
              </a:ext>
            </a:extLst>
          </p:cNvPr>
          <p:cNvGrpSpPr/>
          <p:nvPr/>
        </p:nvGrpSpPr>
        <p:grpSpPr>
          <a:xfrm>
            <a:off x="889613" y="3639910"/>
            <a:ext cx="10183752" cy="2412232"/>
            <a:chOff x="1501476" y="3662819"/>
            <a:chExt cx="10183752" cy="2412232"/>
          </a:xfrm>
        </p:grpSpPr>
        <p:grpSp>
          <p:nvGrpSpPr>
            <p:cNvPr id="15" name="Grupo 14">
              <a:extLst>
                <a:ext uri="{FF2B5EF4-FFF2-40B4-BE49-F238E27FC236}">
                  <a16:creationId xmlns:a16="http://schemas.microsoft.com/office/drawing/2014/main" id="{42BB1509-6EC7-422E-85A5-3BF56EF1CB51}"/>
                </a:ext>
              </a:extLst>
            </p:cNvPr>
            <p:cNvGrpSpPr/>
            <p:nvPr/>
          </p:nvGrpSpPr>
          <p:grpSpPr>
            <a:xfrm>
              <a:off x="1501476" y="3662819"/>
              <a:ext cx="10183752" cy="2412232"/>
              <a:chOff x="1501476" y="3662819"/>
              <a:chExt cx="10183752" cy="2412232"/>
            </a:xfrm>
          </p:grpSpPr>
          <p:grpSp>
            <p:nvGrpSpPr>
              <p:cNvPr id="13" name="Grupo 12">
                <a:extLst>
                  <a:ext uri="{FF2B5EF4-FFF2-40B4-BE49-F238E27FC236}">
                    <a16:creationId xmlns:a16="http://schemas.microsoft.com/office/drawing/2014/main" id="{E5FDF56B-939D-4AF6-866C-115F95371ABE}"/>
                  </a:ext>
                </a:extLst>
              </p:cNvPr>
              <p:cNvGrpSpPr/>
              <p:nvPr/>
            </p:nvGrpSpPr>
            <p:grpSpPr>
              <a:xfrm>
                <a:off x="1501476" y="3662819"/>
                <a:ext cx="8150859" cy="2412232"/>
                <a:chOff x="3463441" y="3647054"/>
                <a:chExt cx="8150859" cy="2412232"/>
              </a:xfrm>
            </p:grpSpPr>
            <p:grpSp>
              <p:nvGrpSpPr>
                <p:cNvPr id="5" name="Grupo 4">
                  <a:extLst>
                    <a:ext uri="{FF2B5EF4-FFF2-40B4-BE49-F238E27FC236}">
                      <a16:creationId xmlns:a16="http://schemas.microsoft.com/office/drawing/2014/main" id="{908A2A3E-AE96-4CDA-99B6-4DFC60197E43}"/>
                    </a:ext>
                  </a:extLst>
                </p:cNvPr>
                <p:cNvGrpSpPr/>
                <p:nvPr/>
              </p:nvGrpSpPr>
              <p:grpSpPr>
                <a:xfrm>
                  <a:off x="3463441" y="3647054"/>
                  <a:ext cx="6252979" cy="2412232"/>
                  <a:chOff x="3410430" y="3725173"/>
                  <a:chExt cx="6252979" cy="2412232"/>
                </a:xfrm>
              </p:grpSpPr>
              <p:grpSp>
                <p:nvGrpSpPr>
                  <p:cNvPr id="11" name="Grupo 10">
                    <a:extLst>
                      <a:ext uri="{FF2B5EF4-FFF2-40B4-BE49-F238E27FC236}">
                        <a16:creationId xmlns:a16="http://schemas.microsoft.com/office/drawing/2014/main" id="{A90D5FF9-54AF-4349-BD2C-2403325815F4}"/>
                      </a:ext>
                    </a:extLst>
                  </p:cNvPr>
                  <p:cNvGrpSpPr/>
                  <p:nvPr/>
                </p:nvGrpSpPr>
                <p:grpSpPr>
                  <a:xfrm>
                    <a:off x="4639605" y="3725173"/>
                    <a:ext cx="5023804" cy="2343711"/>
                    <a:chOff x="4639605" y="3725173"/>
                    <a:chExt cx="5023804" cy="2343711"/>
                  </a:xfrm>
                </p:grpSpPr>
                <p:pic>
                  <p:nvPicPr>
                    <p:cNvPr id="1026" name="Picture 2" descr="Símbolos Fuerza Aérea | Fuerza Aeroespacial Colombiana">
                      <a:extLst>
                        <a:ext uri="{FF2B5EF4-FFF2-40B4-BE49-F238E27FC236}">
                          <a16:creationId xmlns:a16="http://schemas.microsoft.com/office/drawing/2014/main" id="{AC35630A-FF16-81A3-A7A8-647C5E3D5C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56709" y="3969023"/>
                      <a:ext cx="1374373" cy="606405"/>
                    </a:xfrm>
                    <a:prstGeom prst="rect">
                      <a:avLst/>
                    </a:prstGeom>
                    <a:noFill/>
                    <a:extLst>
                      <a:ext uri="{909E8E84-426E-40DD-AFC4-6F175D3DCCD1}">
                        <a14:hiddenFill xmlns:a14="http://schemas.microsoft.com/office/drawing/2010/main">
                          <a:solidFill>
                            <a:srgbClr val="FFFFFF"/>
                          </a:solidFill>
                        </a14:hiddenFill>
                      </a:ext>
                    </a:extLst>
                  </p:spPr>
                </p:pic>
                <p:pic>
                  <p:nvPicPr>
                    <p:cNvPr id="31" name="Imagen 30" descr="Imagen que contiene accesorio&#10;&#10;El contenido generado por IA puede ser incorrecto.">
                      <a:extLst>
                        <a:ext uri="{FF2B5EF4-FFF2-40B4-BE49-F238E27FC236}">
                          <a16:creationId xmlns:a16="http://schemas.microsoft.com/office/drawing/2014/main" id="{B881502D-E940-C519-C84D-025440E3F03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39605" y="4922790"/>
                      <a:ext cx="1850800" cy="1146094"/>
                    </a:xfrm>
                    <a:prstGeom prst="rect">
                      <a:avLst/>
                    </a:prstGeom>
                  </p:spPr>
                </p:pic>
                <p:pic>
                  <p:nvPicPr>
                    <p:cNvPr id="19" name="Picture 16" descr="Comunicado de prensa | Policía Nacional de Colombia">
                      <a:extLst>
                        <a:ext uri="{FF2B5EF4-FFF2-40B4-BE49-F238E27FC236}">
                          <a16:creationId xmlns:a16="http://schemas.microsoft.com/office/drawing/2014/main" id="{1CE43E72-1C41-4D6A-AB91-71862C15AEF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3083" t="7299" r="25936" b="6512"/>
                    <a:stretch/>
                  </p:blipFill>
                  <p:spPr bwMode="auto">
                    <a:xfrm>
                      <a:off x="7685004" y="4905841"/>
                      <a:ext cx="1081870" cy="109050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2" descr="Pontificia Universidad Javeriana - Wikipedia">
                      <a:extLst>
                        <a:ext uri="{FF2B5EF4-FFF2-40B4-BE49-F238E27FC236}">
                          <a16:creationId xmlns:a16="http://schemas.microsoft.com/office/drawing/2014/main" id="{6D9D9918-AEEA-4378-8B6D-CC26F55E608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81539" y="3725173"/>
                      <a:ext cx="1081870" cy="1008255"/>
                    </a:xfrm>
                    <a:prstGeom prst="rect">
                      <a:avLst/>
                    </a:prstGeom>
                    <a:noFill/>
                    <a:extLst>
                      <a:ext uri="{909E8E84-426E-40DD-AFC4-6F175D3DCCD1}">
                        <a14:hiddenFill xmlns:a14="http://schemas.microsoft.com/office/drawing/2010/main">
                          <a:solidFill>
                            <a:srgbClr val="FFFFFF"/>
                          </a:solidFill>
                        </a14:hiddenFill>
                      </a:ext>
                    </a:extLst>
                  </p:spPr>
                </p:pic>
              </p:grpSp>
              <p:pic>
                <p:nvPicPr>
                  <p:cNvPr id="23" name="Imagen 22">
                    <a:extLst>
                      <a:ext uri="{FF2B5EF4-FFF2-40B4-BE49-F238E27FC236}">
                        <a16:creationId xmlns:a16="http://schemas.microsoft.com/office/drawing/2014/main" id="{0CBE19ED-908B-4A28-8825-62A064E62F14}"/>
                      </a:ext>
                    </a:extLst>
                  </p:cNvPr>
                  <p:cNvPicPr>
                    <a:picLocks noChangeAspect="1"/>
                  </p:cNvPicPr>
                  <p:nvPr/>
                </p:nvPicPr>
                <p:blipFill>
                  <a:blip r:embed="rId9"/>
                  <a:stretch>
                    <a:fillRect/>
                  </a:stretch>
                </p:blipFill>
                <p:spPr>
                  <a:xfrm>
                    <a:off x="3410430" y="4839253"/>
                    <a:ext cx="1280844" cy="1298152"/>
                  </a:xfrm>
                  <a:prstGeom prst="rect">
                    <a:avLst/>
                  </a:prstGeom>
                </p:spPr>
              </p:pic>
            </p:grpSp>
            <p:pic>
              <p:nvPicPr>
                <p:cNvPr id="7" name="Imagen 6">
                  <a:extLst>
                    <a:ext uri="{FF2B5EF4-FFF2-40B4-BE49-F238E27FC236}">
                      <a16:creationId xmlns:a16="http://schemas.microsoft.com/office/drawing/2014/main" id="{CE88D2FB-79D1-44BF-ACEF-C103907CE774}"/>
                    </a:ext>
                  </a:extLst>
                </p:cNvPr>
                <p:cNvPicPr>
                  <a:picLocks noChangeAspect="1"/>
                </p:cNvPicPr>
                <p:nvPr/>
              </p:nvPicPr>
              <p:blipFill>
                <a:blip r:embed="rId10"/>
                <a:stretch>
                  <a:fillRect/>
                </a:stretch>
              </p:blipFill>
              <p:spPr>
                <a:xfrm>
                  <a:off x="8953517" y="4994880"/>
                  <a:ext cx="1575133" cy="908172"/>
                </a:xfrm>
                <a:prstGeom prst="rect">
                  <a:avLst/>
                </a:prstGeom>
              </p:spPr>
            </p:pic>
            <p:pic>
              <p:nvPicPr>
                <p:cNvPr id="12" name="Imagen 11">
                  <a:extLst>
                    <a:ext uri="{FF2B5EF4-FFF2-40B4-BE49-F238E27FC236}">
                      <a16:creationId xmlns:a16="http://schemas.microsoft.com/office/drawing/2014/main" id="{A15B663F-DF73-4BD2-8FAB-EAC6C69D6CEE}"/>
                    </a:ext>
                  </a:extLst>
                </p:cNvPr>
                <p:cNvPicPr>
                  <a:picLocks noChangeAspect="1"/>
                </p:cNvPicPr>
                <p:nvPr/>
              </p:nvPicPr>
              <p:blipFill>
                <a:blip r:embed="rId11"/>
                <a:stretch>
                  <a:fillRect/>
                </a:stretch>
              </p:blipFill>
              <p:spPr>
                <a:xfrm>
                  <a:off x="10532429" y="5075307"/>
                  <a:ext cx="1081871" cy="720045"/>
                </a:xfrm>
                <a:prstGeom prst="rect">
                  <a:avLst/>
                </a:prstGeom>
              </p:spPr>
            </p:pic>
          </p:grpSp>
          <p:pic>
            <p:nvPicPr>
              <p:cNvPr id="14" name="Picture 2" descr="Universidad Militar Nueva Granada - Unimilitar">
                <a:extLst>
                  <a:ext uri="{FF2B5EF4-FFF2-40B4-BE49-F238E27FC236}">
                    <a16:creationId xmlns:a16="http://schemas.microsoft.com/office/drawing/2014/main" id="{D96B8188-418B-4F84-98B7-EFC022EABB3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652335" y="5053531"/>
                <a:ext cx="2032893" cy="809981"/>
              </a:xfrm>
              <a:prstGeom prst="rect">
                <a:avLst/>
              </a:prstGeom>
              <a:noFill/>
              <a:extLst>
                <a:ext uri="{909E8E84-426E-40DD-AFC4-6F175D3DCCD1}">
                  <a14:hiddenFill xmlns:a14="http://schemas.microsoft.com/office/drawing/2010/main">
                    <a:solidFill>
                      <a:srgbClr val="FFFFFF"/>
                    </a:solidFill>
                  </a14:hiddenFill>
                </a:ext>
              </a:extLst>
            </p:spPr>
          </p:pic>
        </p:grpSp>
        <p:pic>
          <p:nvPicPr>
            <p:cNvPr id="16" name="Imagen 15">
              <a:extLst>
                <a:ext uri="{FF2B5EF4-FFF2-40B4-BE49-F238E27FC236}">
                  <a16:creationId xmlns:a16="http://schemas.microsoft.com/office/drawing/2014/main" id="{82A8A761-EF06-4DCB-853A-E33DD66E33A5}"/>
                </a:ext>
              </a:extLst>
            </p:cNvPr>
            <p:cNvPicPr>
              <a:picLocks noChangeAspect="1"/>
            </p:cNvPicPr>
            <p:nvPr/>
          </p:nvPicPr>
          <p:blipFill>
            <a:blip r:embed="rId13"/>
            <a:stretch>
              <a:fillRect/>
            </a:stretch>
          </p:blipFill>
          <p:spPr>
            <a:xfrm>
              <a:off x="4361575" y="4736687"/>
              <a:ext cx="1280843" cy="1280843"/>
            </a:xfrm>
            <a:prstGeom prst="rect">
              <a:avLst/>
            </a:prstGeom>
          </p:spPr>
        </p:pic>
      </p:grpSp>
    </p:spTree>
    <p:custDataLst>
      <p:tags r:id="rId1"/>
    </p:custDataLst>
    <p:extLst>
      <p:ext uri="{BB962C8B-B14F-4D97-AF65-F5344CB8AC3E}">
        <p14:creationId xmlns:p14="http://schemas.microsoft.com/office/powerpoint/2010/main" val="299965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BD7AF115-4062-2F00-424C-FED7B7CD9BBA}"/>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39E79AA6-D493-18B1-5F33-201C4FB7F7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AEF73883-2598-128E-CE51-6789CA4D752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080C6193-BF4D-939E-7DAB-DBB455983D58}"/>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88416039-81C3-D797-B1A5-92141569955A}"/>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1DFA009E-0576-391A-91D3-E18D072EBF0F}"/>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4" name="CuadroTexto 13">
            <a:extLst>
              <a:ext uri="{FF2B5EF4-FFF2-40B4-BE49-F238E27FC236}">
                <a16:creationId xmlns:a16="http://schemas.microsoft.com/office/drawing/2014/main" id="{69D957E0-8502-4CA8-A3AC-67C0B1BB1AF8}"/>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1">
            <a:extLst>
              <a:ext uri="{FF2B5EF4-FFF2-40B4-BE49-F238E27FC236}">
                <a16:creationId xmlns:a16="http://schemas.microsoft.com/office/drawing/2014/main" id="{468A53A3-358C-0563-62A4-0AF8A58D8E5C}"/>
              </a:ext>
            </a:extLst>
          </p:cNvPr>
          <p:cNvSpPr txBox="1"/>
          <p:nvPr/>
        </p:nvSpPr>
        <p:spPr>
          <a:xfrm>
            <a:off x="1993900" y="1866899"/>
            <a:ext cx="8699500" cy="1409700"/>
          </a:xfrm>
          <a:prstGeom prst="rect">
            <a:avLst/>
          </a:prstGeom>
          <a:noFill/>
        </p:spPr>
        <p:txBody>
          <a:bodyPr vert="horz" wrap="square" lIns="0" tIns="0" rIns="0" bIns="0" rtlCol="0" anchor="t">
            <a:noAutofit/>
          </a:bodyPr>
          <a:lstStyle/>
          <a:p>
            <a:pPr algn="ctr"/>
            <a:r>
              <a:rPr lang="es-CO" sz="4300" b="1" dirty="0">
                <a:solidFill>
                  <a:srgbClr val="000F4D"/>
                </a:solidFill>
                <a:latin typeface="Bell MT" panose="02020503060305020303" pitchFamily="18" charset="0"/>
              </a:rPr>
              <a:t>Carga mental y desempeño
multitarea en ASTRA</a:t>
            </a:r>
          </a:p>
        </p:txBody>
      </p:sp>
      <p:sp>
        <p:nvSpPr>
          <p:cNvPr id="8" name="CEINNA_text_2">
            <a:extLst>
              <a:ext uri="{FF2B5EF4-FFF2-40B4-BE49-F238E27FC236}">
                <a16:creationId xmlns:a16="http://schemas.microsoft.com/office/drawing/2014/main" id="{F963F8B0-0391-928C-E8F6-778276ECB03F}"/>
              </a:ext>
            </a:extLst>
          </p:cNvPr>
          <p:cNvSpPr txBox="1"/>
          <p:nvPr/>
        </p:nvSpPr>
        <p:spPr>
          <a:xfrm>
            <a:off x="2057400" y="3378199"/>
            <a:ext cx="8572500" cy="533400"/>
          </a:xfrm>
          <a:prstGeom prst="rect">
            <a:avLst/>
          </a:prstGeom>
          <a:noFill/>
        </p:spPr>
        <p:txBody>
          <a:bodyPr vert="horz" wrap="square" lIns="0" tIns="0" rIns="0" bIns="0" rtlCol="0" anchor="t">
            <a:noAutofit/>
          </a:bodyPr>
          <a:lstStyle/>
          <a:p>
            <a:pPr algn="ctr"/>
            <a:r>
              <a:rPr lang="es-CO" sz="2800" dirty="0">
                <a:solidFill>
                  <a:srgbClr val="000F4D"/>
                </a:solidFill>
                <a:latin typeface="Bell MT" panose="02020503060305020303" pitchFamily="18" charset="0"/>
              </a:rPr>
              <a:t>Diseño longitudinal mediante MATB</a:t>
            </a:r>
          </a:p>
        </p:txBody>
      </p:sp>
      <p:sp>
        <p:nvSpPr>
          <p:cNvPr id="9" name="CEINNA_text_3">
            <a:extLst>
              <a:ext uri="{FF2B5EF4-FFF2-40B4-BE49-F238E27FC236}">
                <a16:creationId xmlns:a16="http://schemas.microsoft.com/office/drawing/2014/main" id="{3396A7CA-D861-DD4B-0EAA-0D385B10C0CE}"/>
              </a:ext>
            </a:extLst>
          </p:cNvPr>
          <p:cNvSpPr txBox="1"/>
          <p:nvPr/>
        </p:nvSpPr>
        <p:spPr>
          <a:xfrm>
            <a:off x="2095500" y="4292599"/>
            <a:ext cx="8509000" cy="406400"/>
          </a:xfrm>
          <a:prstGeom prst="rect">
            <a:avLst/>
          </a:prstGeom>
          <a:noFill/>
        </p:spPr>
        <p:txBody>
          <a:bodyPr vert="horz" wrap="square" lIns="0" tIns="0" rIns="0" bIns="0" rtlCol="0" anchor="t">
            <a:noAutofit/>
          </a:bodyPr>
          <a:lstStyle/>
          <a:p>
            <a:pPr algn="ctr"/>
            <a:r>
              <a:rPr lang="es-CO" sz="2500" b="1" dirty="0">
                <a:solidFill>
                  <a:srgbClr val="242424"/>
                </a:solidFill>
                <a:latin typeface="Bell MT" panose="02020503060305020303" pitchFamily="18" charset="0"/>
              </a:rPr>
              <a:t>SMSM DIEGO L MALPICA</a:t>
            </a:r>
          </a:p>
        </p:txBody>
      </p:sp>
      <p:sp>
        <p:nvSpPr>
          <p:cNvPr id="13" name="CEINNA_text_4">
            <a:extLst>
              <a:ext uri="{FF2B5EF4-FFF2-40B4-BE49-F238E27FC236}">
                <a16:creationId xmlns:a16="http://schemas.microsoft.com/office/drawing/2014/main" id="{74CC292F-2561-C8BE-08CC-5B3CA4BD6173}"/>
              </a:ext>
            </a:extLst>
          </p:cNvPr>
          <p:cNvSpPr txBox="1"/>
          <p:nvPr/>
        </p:nvSpPr>
        <p:spPr>
          <a:xfrm>
            <a:off x="2095500" y="4749799"/>
            <a:ext cx="8509000" cy="381000"/>
          </a:xfrm>
          <a:prstGeom prst="rect">
            <a:avLst/>
          </a:prstGeom>
          <a:noFill/>
        </p:spPr>
        <p:txBody>
          <a:bodyPr vert="horz" wrap="square" lIns="0" tIns="0" rIns="0" bIns="0" rtlCol="0" anchor="t">
            <a:noAutofit/>
          </a:bodyPr>
          <a:lstStyle/>
          <a:p>
            <a:pPr algn="ctr"/>
            <a:r>
              <a:rPr lang="es-CO" sz="2400" dirty="0">
                <a:solidFill>
                  <a:srgbClr val="242424"/>
                </a:solidFill>
                <a:latin typeface="Bell MT" panose="02020503060305020303" pitchFamily="18" charset="0"/>
              </a:rPr>
              <a:t>Especialista en Medicina Aeroespacial</a:t>
            </a:r>
          </a:p>
        </p:txBody>
      </p:sp>
      <p:sp>
        <p:nvSpPr>
          <p:cNvPr id="15" name="CEINNA_text_5">
            <a:extLst>
              <a:ext uri="{FF2B5EF4-FFF2-40B4-BE49-F238E27FC236}">
                <a16:creationId xmlns:a16="http://schemas.microsoft.com/office/drawing/2014/main" id="{1AE33E0A-E265-6D49-0CD3-F7FB28540381}"/>
              </a:ext>
            </a:extLst>
          </p:cNvPr>
          <p:cNvSpPr txBox="1"/>
          <p:nvPr/>
        </p:nvSpPr>
        <p:spPr>
          <a:xfrm>
            <a:off x="2095500" y="5156199"/>
            <a:ext cx="8509000" cy="482600"/>
          </a:xfrm>
          <a:prstGeom prst="rect">
            <a:avLst/>
          </a:prstGeom>
          <a:noFill/>
        </p:spPr>
        <p:txBody>
          <a:bodyPr vert="horz" wrap="square" lIns="0" tIns="0" rIns="0" bIns="0" rtlCol="0" anchor="t">
            <a:noAutofit/>
          </a:bodyPr>
          <a:lstStyle/>
          <a:p>
            <a:pPr algn="ctr"/>
            <a:r>
              <a:rPr lang="es-CO" sz="2400" dirty="0">
                <a:solidFill>
                  <a:srgbClr val="242424"/>
                </a:solidFill>
                <a:latin typeface="Bell MT" panose="02020503060305020303" pitchFamily="18" charset="0"/>
              </a:rPr>
              <a:t>Subdirección Científica Aeroespacial – DIMAE</a:t>
            </a:r>
          </a:p>
        </p:txBody>
      </p:sp>
      <p:sp>
        <p:nvSpPr>
          <p:cNvPr id="16" name="CEINNA_text_6">
            <a:extLst>
              <a:ext uri="{FF2B5EF4-FFF2-40B4-BE49-F238E27FC236}">
                <a16:creationId xmlns:a16="http://schemas.microsoft.com/office/drawing/2014/main" id="{D9BCDBB5-7072-620F-0FA2-A4CA8831A1F3}"/>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III CEINNA · 13–14 de octubre de 2026</a:t>
            </a:r>
          </a:p>
        </p:txBody>
      </p:sp>
      <p:sp>
        <p:nvSpPr>
          <p:cNvPr id="17" name="CEINNA_text_7">
            <a:extLst>
              <a:ext uri="{FF2B5EF4-FFF2-40B4-BE49-F238E27FC236}">
                <a16:creationId xmlns:a16="http://schemas.microsoft.com/office/drawing/2014/main" id="{83A637C6-2E2D-DC50-AE93-686E83AE7088}"/>
              </a:ext>
            </a:extLst>
          </p:cNvPr>
          <p:cNvSpPr txBox="1"/>
          <p:nvPr/>
        </p:nvSpPr>
        <p:spPr>
          <a:xfrm>
            <a:off x="11036300" y="6032500"/>
            <a:ext cx="292100" cy="228600"/>
          </a:xfrm>
          <a:prstGeom prst="rect">
            <a:avLst/>
          </a:prstGeom>
          <a:noFill/>
        </p:spPr>
        <p:txBody>
          <a:bodyPr vert="horz" wrap="square" lIns="0" tIns="0" rIns="0" bIns="0" rtlCol="0" anchor="t">
            <a:noAutofit/>
          </a:bodyPr>
          <a:lstStyle/>
          <a:p>
            <a:pPr algn="r"/>
            <a:r>
              <a:rPr lang="es-CO" sz="1200" dirty="0">
                <a:solidFill>
                  <a:srgbClr val="4F5A6C"/>
                </a:solidFill>
                <a:latin typeface="Bell MT" panose="02020503060305020303" pitchFamily="18" charset="0"/>
              </a:rPr>
              <a:t>2</a:t>
            </a:r>
          </a:p>
        </p:txBody>
      </p:sp>
    </p:spTree>
    <p:custDataLst>
      <p:tags r:id="rId1"/>
    </p:custDataLst>
    <p:extLst>
      <p:ext uri="{BB962C8B-B14F-4D97-AF65-F5344CB8AC3E}">
        <p14:creationId xmlns:p14="http://schemas.microsoft.com/office/powerpoint/2010/main" val="73616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327DD-631B-0435-2678-45B2F732E782}"/>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CE63DF04-20DE-E150-1839-A04DC0CBA770}"/>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8732965D-9696-5A24-7AFB-4AAD1E9E09C3}"/>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6C5D1BAA-C4E0-F0FF-139E-900F8E296C5C}"/>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3DF0051E-C1A4-866B-C882-4C2A897BFE12}"/>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B7590AF2-E5DC-D6EB-9B90-1285C969EE0B}"/>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5E25A5A2-6279-42E0-3CE5-6516C552ABD9}"/>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E568883A-10C9-4741-B305-C5C6ACE98753}"/>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8">
            <a:extLst>
              <a:ext uri="{FF2B5EF4-FFF2-40B4-BE49-F238E27FC236}">
                <a16:creationId xmlns:a16="http://schemas.microsoft.com/office/drawing/2014/main" id="{DC03AE61-D0ED-D1EC-8311-33B554ABD8E2}"/>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900" b="1" dirty="0">
                <a:solidFill>
                  <a:srgbClr val="000F4D"/>
                </a:solidFill>
                <a:latin typeface="Bell MT" panose="02020503060305020303" pitchFamily="18" charset="0"/>
              </a:rPr>
              <a:t>Contenido</a:t>
            </a:r>
          </a:p>
        </p:txBody>
      </p:sp>
      <p:sp>
        <p:nvSpPr>
          <p:cNvPr id="9" name="CEINNA_text_9">
            <a:extLst>
              <a:ext uri="{FF2B5EF4-FFF2-40B4-BE49-F238E27FC236}">
                <a16:creationId xmlns:a16="http://schemas.microsoft.com/office/drawing/2014/main" id="{BB9F97AD-0177-70B8-5CD2-8FB5A10958C7}"/>
              </a:ext>
            </a:extLst>
          </p:cNvPr>
          <p:cNvSpPr txBox="1"/>
          <p:nvPr/>
        </p:nvSpPr>
        <p:spPr>
          <a:xfrm>
            <a:off x="2082800" y="1943099"/>
            <a:ext cx="698500" cy="546100"/>
          </a:xfrm>
          <a:prstGeom prst="rect">
            <a:avLst/>
          </a:prstGeom>
          <a:noFill/>
        </p:spPr>
        <p:txBody>
          <a:bodyPr vert="horz" wrap="square" lIns="0" tIns="0" rIns="0" bIns="0" rtlCol="0" anchor="t">
            <a:noAutofit/>
          </a:bodyPr>
          <a:lstStyle/>
          <a:p>
            <a:r>
              <a:rPr lang="es-CO" sz="3000" b="1" dirty="0">
                <a:solidFill>
                  <a:srgbClr val="000F4D"/>
                </a:solidFill>
                <a:latin typeface="Bell MT" panose="02020503060305020303" pitchFamily="18" charset="0"/>
              </a:rPr>
              <a:t>01</a:t>
            </a:r>
          </a:p>
        </p:txBody>
      </p:sp>
      <p:sp>
        <p:nvSpPr>
          <p:cNvPr id="11" name="CEINNA_text_10">
            <a:extLst>
              <a:ext uri="{FF2B5EF4-FFF2-40B4-BE49-F238E27FC236}">
                <a16:creationId xmlns:a16="http://schemas.microsoft.com/office/drawing/2014/main" id="{C280BB77-C97D-69FE-E66A-AF25CD713609}"/>
              </a:ext>
            </a:extLst>
          </p:cNvPr>
          <p:cNvSpPr txBox="1"/>
          <p:nvPr/>
        </p:nvSpPr>
        <p:spPr>
          <a:xfrm>
            <a:off x="3009900" y="1943099"/>
            <a:ext cx="7759700" cy="609600"/>
          </a:xfrm>
          <a:prstGeom prst="rect">
            <a:avLst/>
          </a:prstGeom>
          <a:noFill/>
        </p:spPr>
        <p:txBody>
          <a:bodyPr vert="horz" wrap="square" lIns="0" tIns="0" rIns="0" bIns="0" rtlCol="0" anchor="t">
            <a:noAutofit/>
          </a:bodyPr>
          <a:lstStyle/>
          <a:p>
            <a:r>
              <a:rPr lang="es-CO" sz="2900" dirty="0">
                <a:solidFill>
                  <a:srgbClr val="242424"/>
                </a:solidFill>
                <a:latin typeface="Bell MT" panose="02020503060305020303" pitchFamily="18" charset="0"/>
              </a:rPr>
              <a:t>Pregunta y contexto ASTRA</a:t>
            </a:r>
          </a:p>
        </p:txBody>
      </p:sp>
      <p:sp>
        <p:nvSpPr>
          <p:cNvPr id="14" name="CEINNA_text_11">
            <a:extLst>
              <a:ext uri="{FF2B5EF4-FFF2-40B4-BE49-F238E27FC236}">
                <a16:creationId xmlns:a16="http://schemas.microsoft.com/office/drawing/2014/main" id="{DCFBDBDE-7A41-C2A3-5245-0993D4B782A7}"/>
              </a:ext>
            </a:extLst>
          </p:cNvPr>
          <p:cNvSpPr txBox="1"/>
          <p:nvPr/>
        </p:nvSpPr>
        <p:spPr>
          <a:xfrm>
            <a:off x="2082800" y="2857499"/>
            <a:ext cx="698500" cy="546100"/>
          </a:xfrm>
          <a:prstGeom prst="rect">
            <a:avLst/>
          </a:prstGeom>
          <a:noFill/>
        </p:spPr>
        <p:txBody>
          <a:bodyPr vert="horz" wrap="square" lIns="0" tIns="0" rIns="0" bIns="0" rtlCol="0" anchor="t">
            <a:noAutofit/>
          </a:bodyPr>
          <a:lstStyle/>
          <a:p>
            <a:r>
              <a:rPr lang="es-CO" sz="3000" b="1" dirty="0">
                <a:solidFill>
                  <a:srgbClr val="000F4D"/>
                </a:solidFill>
                <a:latin typeface="Bell MT" panose="02020503060305020303" pitchFamily="18" charset="0"/>
              </a:rPr>
              <a:t>02</a:t>
            </a:r>
          </a:p>
        </p:txBody>
      </p:sp>
      <p:sp>
        <p:nvSpPr>
          <p:cNvPr id="15" name="CEINNA_text_12">
            <a:extLst>
              <a:ext uri="{FF2B5EF4-FFF2-40B4-BE49-F238E27FC236}">
                <a16:creationId xmlns:a16="http://schemas.microsoft.com/office/drawing/2014/main" id="{15F13ED3-3D7D-C133-2235-5E5E1B392F65}"/>
              </a:ext>
            </a:extLst>
          </p:cNvPr>
          <p:cNvSpPr txBox="1"/>
          <p:nvPr/>
        </p:nvSpPr>
        <p:spPr>
          <a:xfrm>
            <a:off x="3009900" y="2857499"/>
            <a:ext cx="7759700" cy="609600"/>
          </a:xfrm>
          <a:prstGeom prst="rect">
            <a:avLst/>
          </a:prstGeom>
          <a:noFill/>
        </p:spPr>
        <p:txBody>
          <a:bodyPr vert="horz" wrap="square" lIns="0" tIns="0" rIns="0" bIns="0" rtlCol="0" anchor="t">
            <a:noAutofit/>
          </a:bodyPr>
          <a:lstStyle/>
          <a:p>
            <a:r>
              <a:rPr lang="es-CO" sz="2900" dirty="0">
                <a:solidFill>
                  <a:srgbClr val="242424"/>
                </a:solidFill>
                <a:latin typeface="Bell MT" panose="02020503060305020303" pitchFamily="18" charset="0"/>
              </a:rPr>
              <a:t>Diseño longitudinal y mediciones</a:t>
            </a:r>
          </a:p>
        </p:txBody>
      </p:sp>
      <p:sp>
        <p:nvSpPr>
          <p:cNvPr id="16" name="CEINNA_text_13">
            <a:extLst>
              <a:ext uri="{FF2B5EF4-FFF2-40B4-BE49-F238E27FC236}">
                <a16:creationId xmlns:a16="http://schemas.microsoft.com/office/drawing/2014/main" id="{F28EA75A-7F83-60E9-9C20-E7CC75AFA3FC}"/>
              </a:ext>
            </a:extLst>
          </p:cNvPr>
          <p:cNvSpPr txBox="1"/>
          <p:nvPr/>
        </p:nvSpPr>
        <p:spPr>
          <a:xfrm>
            <a:off x="2082800" y="3771899"/>
            <a:ext cx="698500" cy="546100"/>
          </a:xfrm>
          <a:prstGeom prst="rect">
            <a:avLst/>
          </a:prstGeom>
          <a:noFill/>
        </p:spPr>
        <p:txBody>
          <a:bodyPr vert="horz" wrap="square" lIns="0" tIns="0" rIns="0" bIns="0" rtlCol="0" anchor="t">
            <a:noAutofit/>
          </a:bodyPr>
          <a:lstStyle/>
          <a:p>
            <a:r>
              <a:rPr lang="es-CO" sz="3000" b="1" dirty="0">
                <a:solidFill>
                  <a:srgbClr val="000F4D"/>
                </a:solidFill>
                <a:latin typeface="Bell MT" panose="02020503060305020303" pitchFamily="18" charset="0"/>
              </a:rPr>
              <a:t>03</a:t>
            </a:r>
          </a:p>
        </p:txBody>
      </p:sp>
      <p:sp>
        <p:nvSpPr>
          <p:cNvPr id="17" name="CEINNA_text_14">
            <a:extLst>
              <a:ext uri="{FF2B5EF4-FFF2-40B4-BE49-F238E27FC236}">
                <a16:creationId xmlns:a16="http://schemas.microsoft.com/office/drawing/2014/main" id="{A4BCB662-3821-84AD-48F6-D08D386B0DE3}"/>
              </a:ext>
            </a:extLst>
          </p:cNvPr>
          <p:cNvSpPr txBox="1"/>
          <p:nvPr/>
        </p:nvSpPr>
        <p:spPr>
          <a:xfrm>
            <a:off x="3009900" y="3771899"/>
            <a:ext cx="7759700" cy="609600"/>
          </a:xfrm>
          <a:prstGeom prst="rect">
            <a:avLst/>
          </a:prstGeom>
          <a:noFill/>
        </p:spPr>
        <p:txBody>
          <a:bodyPr vert="horz" wrap="square" lIns="0" tIns="0" rIns="0" bIns="0" rtlCol="0" anchor="t">
            <a:noAutofit/>
          </a:bodyPr>
          <a:lstStyle/>
          <a:p>
            <a:r>
              <a:rPr lang="es-CO" sz="2900" dirty="0">
                <a:solidFill>
                  <a:srgbClr val="242424"/>
                </a:solidFill>
                <a:latin typeface="Bell MT" panose="02020503060305020303" pitchFamily="18" charset="0"/>
              </a:rPr>
              <a:t>Implementación y trazabilidad</a:t>
            </a:r>
          </a:p>
        </p:txBody>
      </p:sp>
      <p:sp>
        <p:nvSpPr>
          <p:cNvPr id="18" name="CEINNA_text_15">
            <a:extLst>
              <a:ext uri="{FF2B5EF4-FFF2-40B4-BE49-F238E27FC236}">
                <a16:creationId xmlns:a16="http://schemas.microsoft.com/office/drawing/2014/main" id="{99077F81-8645-6530-F936-6749DC1A3012}"/>
              </a:ext>
            </a:extLst>
          </p:cNvPr>
          <p:cNvSpPr txBox="1"/>
          <p:nvPr/>
        </p:nvSpPr>
        <p:spPr>
          <a:xfrm>
            <a:off x="2082800" y="4686299"/>
            <a:ext cx="698500" cy="546100"/>
          </a:xfrm>
          <a:prstGeom prst="rect">
            <a:avLst/>
          </a:prstGeom>
          <a:noFill/>
        </p:spPr>
        <p:txBody>
          <a:bodyPr vert="horz" wrap="square" lIns="0" tIns="0" rIns="0" bIns="0" rtlCol="0" anchor="t">
            <a:noAutofit/>
          </a:bodyPr>
          <a:lstStyle/>
          <a:p>
            <a:r>
              <a:rPr lang="es-CO" sz="3000" b="1" dirty="0">
                <a:solidFill>
                  <a:srgbClr val="000F4D"/>
                </a:solidFill>
                <a:latin typeface="Bell MT" panose="02020503060305020303" pitchFamily="18" charset="0"/>
              </a:rPr>
              <a:t>04</a:t>
            </a:r>
          </a:p>
        </p:txBody>
      </p:sp>
      <p:sp>
        <p:nvSpPr>
          <p:cNvPr id="19" name="CEINNA_text_16">
            <a:extLst>
              <a:ext uri="{FF2B5EF4-FFF2-40B4-BE49-F238E27FC236}">
                <a16:creationId xmlns:a16="http://schemas.microsoft.com/office/drawing/2014/main" id="{A3F6075D-02DA-AE28-AA9C-A9E5D12B7B86}"/>
              </a:ext>
            </a:extLst>
          </p:cNvPr>
          <p:cNvSpPr txBox="1"/>
          <p:nvPr/>
        </p:nvSpPr>
        <p:spPr>
          <a:xfrm>
            <a:off x="3009900" y="4686299"/>
            <a:ext cx="7759700" cy="609600"/>
          </a:xfrm>
          <a:prstGeom prst="rect">
            <a:avLst/>
          </a:prstGeom>
          <a:noFill/>
        </p:spPr>
        <p:txBody>
          <a:bodyPr vert="horz" wrap="square" lIns="0" tIns="0" rIns="0" bIns="0" rtlCol="0" anchor="t">
            <a:noAutofit/>
          </a:bodyPr>
          <a:lstStyle/>
          <a:p>
            <a:r>
              <a:rPr lang="es-CO" sz="2900" dirty="0">
                <a:solidFill>
                  <a:srgbClr val="242424"/>
                </a:solidFill>
                <a:latin typeface="Bell MT" panose="02020503060305020303" pitchFamily="18" charset="0"/>
              </a:rPr>
              <a:t>Análisis e interpretación</a:t>
            </a:r>
          </a:p>
        </p:txBody>
      </p:sp>
      <p:sp>
        <p:nvSpPr>
          <p:cNvPr id="20" name="CEINNA_text_17">
            <a:extLst>
              <a:ext uri="{FF2B5EF4-FFF2-40B4-BE49-F238E27FC236}">
                <a16:creationId xmlns:a16="http://schemas.microsoft.com/office/drawing/2014/main" id="{D5194639-2EEC-369F-4664-97EF54D47F3A}"/>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Pregunta → diseño → evidencia → interpretación</a:t>
            </a:r>
          </a:p>
        </p:txBody>
      </p:sp>
      <p:sp>
        <p:nvSpPr>
          <p:cNvPr id="21" name="CEINNA_text_18">
            <a:extLst>
              <a:ext uri="{FF2B5EF4-FFF2-40B4-BE49-F238E27FC236}">
                <a16:creationId xmlns:a16="http://schemas.microsoft.com/office/drawing/2014/main" id="{A47C5FF0-307A-418A-3A15-8A9D7CF83030}"/>
              </a:ext>
            </a:extLst>
          </p:cNvPr>
          <p:cNvSpPr txBox="1"/>
          <p:nvPr/>
        </p:nvSpPr>
        <p:spPr>
          <a:xfrm>
            <a:off x="11036300" y="6032500"/>
            <a:ext cx="292100" cy="228600"/>
          </a:xfrm>
          <a:prstGeom prst="rect">
            <a:avLst/>
          </a:prstGeom>
          <a:noFill/>
        </p:spPr>
        <p:txBody>
          <a:bodyPr vert="horz" wrap="square" lIns="0" tIns="0" rIns="0" bIns="0" rtlCol="0" anchor="t">
            <a:noAutofit/>
          </a:bodyPr>
          <a:lstStyle/>
          <a:p>
            <a:pPr algn="r"/>
            <a:r>
              <a:rPr lang="es-CO" sz="1200" dirty="0">
                <a:solidFill>
                  <a:srgbClr val="4F5A6C"/>
                </a:solidFill>
                <a:latin typeface="Bell MT" panose="02020503060305020303" pitchFamily="18" charset="0"/>
              </a:rPr>
              <a:t>3</a:t>
            </a:r>
          </a:p>
        </p:txBody>
      </p:sp>
    </p:spTree>
    <p:custDataLst>
      <p:tags r:id="rId1"/>
    </p:custDataLst>
    <p:extLst>
      <p:ext uri="{BB962C8B-B14F-4D97-AF65-F5344CB8AC3E}">
        <p14:creationId xmlns:p14="http://schemas.microsoft.com/office/powerpoint/2010/main" val="2969168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C0B2F-ABCF-A16D-9B99-96619EC7347F}"/>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B5C8DCE7-7F59-F685-9165-4D848885236E}"/>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A8E3883C-A3FB-B076-D9C5-4593E72824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512944A-8633-A84A-8248-74134005AF6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17EF142A-3A8B-CD16-CBC7-83A3158E79B9}"/>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79078B8D-A80A-1F4B-6797-EB5D560913BE}"/>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2AEAE2C5-BA4A-C173-EB20-5D20DFF34BC0}"/>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6B36561D-2D6B-4EDE-A51D-6DA6EACFF66A}"/>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19">
            <a:extLst>
              <a:ext uri="{FF2B5EF4-FFF2-40B4-BE49-F238E27FC236}">
                <a16:creationId xmlns:a16="http://schemas.microsoft.com/office/drawing/2014/main" id="{1D003F59-7B99-2760-E553-2049694AF170}"/>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900" b="1" dirty="0">
                <a:solidFill>
                  <a:srgbClr val="000F4D"/>
                </a:solidFill>
                <a:latin typeface="Bell MT" panose="02020503060305020303" pitchFamily="18" charset="0"/>
              </a:rPr>
              <a:t>Pregunta de investigación</a:t>
            </a:r>
          </a:p>
        </p:txBody>
      </p:sp>
      <p:sp>
        <p:nvSpPr>
          <p:cNvPr id="9" name="CEINNA_text_20">
            <a:extLst>
              <a:ext uri="{FF2B5EF4-FFF2-40B4-BE49-F238E27FC236}">
                <a16:creationId xmlns:a16="http://schemas.microsoft.com/office/drawing/2014/main" id="{B471F85C-92C5-2395-5A01-BF2BCE40E63B}"/>
              </a:ext>
            </a:extLst>
          </p:cNvPr>
          <p:cNvSpPr txBox="1"/>
          <p:nvPr/>
        </p:nvSpPr>
        <p:spPr>
          <a:xfrm>
            <a:off x="1689100" y="1739899"/>
            <a:ext cx="9334500" cy="1397000"/>
          </a:xfrm>
          <a:prstGeom prst="rect">
            <a:avLst/>
          </a:prstGeom>
          <a:noFill/>
        </p:spPr>
        <p:txBody>
          <a:bodyPr vert="horz" wrap="square" lIns="0" tIns="0" rIns="0" bIns="0" rtlCol="0" anchor="t">
            <a:noAutofit/>
          </a:bodyPr>
          <a:lstStyle/>
          <a:p>
            <a:r>
              <a:rPr lang="es-CO" sz="2900" dirty="0">
                <a:solidFill>
                  <a:srgbClr val="242424"/>
                </a:solidFill>
                <a:latin typeface="Bell MT" panose="02020503060305020303" pitchFamily="18" charset="0"/>
              </a:rPr>
              <a:t>¿Cómo varían el desempeño multitarea y la carga mental percibida entre condiciones de demanda y a lo largo de ASTRA?</a:t>
            </a:r>
          </a:p>
        </p:txBody>
      </p:sp>
      <p:sp>
        <p:nvSpPr>
          <p:cNvPr id="11" name="CEINNA_box_21">
            <a:extLst>
              <a:ext uri="{FF2B5EF4-FFF2-40B4-BE49-F238E27FC236}">
                <a16:creationId xmlns:a16="http://schemas.microsoft.com/office/drawing/2014/main" id="{7CFFCE55-42B3-35E0-1A08-C487FF54465C}"/>
              </a:ext>
            </a:extLst>
          </p:cNvPr>
          <p:cNvSpPr/>
          <p:nvPr/>
        </p:nvSpPr>
        <p:spPr>
          <a:xfrm>
            <a:off x="1676400" y="3619500"/>
            <a:ext cx="2959100" cy="17145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CEINNA_text_22">
            <a:extLst>
              <a:ext uri="{FF2B5EF4-FFF2-40B4-BE49-F238E27FC236}">
                <a16:creationId xmlns:a16="http://schemas.microsoft.com/office/drawing/2014/main" id="{20ECD8A0-E59A-336A-E9B9-BFC0346866C6}"/>
              </a:ext>
            </a:extLst>
          </p:cNvPr>
          <p:cNvSpPr txBox="1"/>
          <p:nvPr/>
        </p:nvSpPr>
        <p:spPr>
          <a:xfrm>
            <a:off x="1866900" y="3809999"/>
            <a:ext cx="2603500" cy="469900"/>
          </a:xfrm>
          <a:prstGeom prst="rect">
            <a:avLst/>
          </a:prstGeom>
          <a:noFill/>
        </p:spPr>
        <p:txBody>
          <a:bodyPr vert="horz" wrap="square" lIns="0" tIns="0" rIns="0" bIns="0" rtlCol="0" anchor="t">
            <a:noAutofit/>
          </a:bodyPr>
          <a:lstStyle/>
          <a:p>
            <a:r>
              <a:rPr lang="es-CO" sz="2500" b="1" dirty="0">
                <a:solidFill>
                  <a:srgbClr val="000F4D"/>
                </a:solidFill>
                <a:latin typeface="Bell MT" panose="02020503060305020303" pitchFamily="18" charset="0"/>
              </a:rPr>
              <a:t>Demanda de tarea</a:t>
            </a:r>
          </a:p>
        </p:txBody>
      </p:sp>
      <p:sp>
        <p:nvSpPr>
          <p:cNvPr id="15" name="CEINNA_text_23">
            <a:extLst>
              <a:ext uri="{FF2B5EF4-FFF2-40B4-BE49-F238E27FC236}">
                <a16:creationId xmlns:a16="http://schemas.microsoft.com/office/drawing/2014/main" id="{D48B311F-C5A2-EFCA-2BDA-00C3F7AFC9C4}"/>
              </a:ext>
            </a:extLst>
          </p:cNvPr>
          <p:cNvSpPr txBox="1"/>
          <p:nvPr/>
        </p:nvSpPr>
        <p:spPr>
          <a:xfrm>
            <a:off x="1866900" y="4394199"/>
            <a:ext cx="2603500" cy="838200"/>
          </a:xfrm>
          <a:prstGeom prst="rect">
            <a:avLst/>
          </a:prstGeom>
          <a:noFill/>
        </p:spPr>
        <p:txBody>
          <a:bodyPr vert="horz" wrap="square" lIns="0" tIns="0" rIns="0" bIns="0" rtlCol="0" anchor="t">
            <a:noAutofit/>
          </a:bodyPr>
          <a:lstStyle/>
          <a:p>
            <a:r>
              <a:rPr lang="es-CO" sz="2200" dirty="0">
                <a:solidFill>
                  <a:srgbClr val="242424"/>
                </a:solidFill>
                <a:latin typeface="Bell MT" panose="02020503060305020303" pitchFamily="18" charset="0"/>
              </a:rPr>
              <a:t>Condiciones LOW / MEDIUM / HIGH</a:t>
            </a:r>
          </a:p>
        </p:txBody>
      </p:sp>
      <p:sp>
        <p:nvSpPr>
          <p:cNvPr id="16" name="CEINNA_box_24">
            <a:extLst>
              <a:ext uri="{FF2B5EF4-FFF2-40B4-BE49-F238E27FC236}">
                <a16:creationId xmlns:a16="http://schemas.microsoft.com/office/drawing/2014/main" id="{599627A6-45AC-DB92-8A97-32FCFAD8BF47}"/>
              </a:ext>
            </a:extLst>
          </p:cNvPr>
          <p:cNvSpPr/>
          <p:nvPr/>
        </p:nvSpPr>
        <p:spPr>
          <a:xfrm>
            <a:off x="4914900" y="3619500"/>
            <a:ext cx="2959100" cy="17145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7" name="CEINNA_text_25">
            <a:extLst>
              <a:ext uri="{FF2B5EF4-FFF2-40B4-BE49-F238E27FC236}">
                <a16:creationId xmlns:a16="http://schemas.microsoft.com/office/drawing/2014/main" id="{DED98088-C3C1-0B7A-688D-87B8B971E7C9}"/>
              </a:ext>
            </a:extLst>
          </p:cNvPr>
          <p:cNvSpPr txBox="1"/>
          <p:nvPr/>
        </p:nvSpPr>
        <p:spPr>
          <a:xfrm>
            <a:off x="5105400" y="3809999"/>
            <a:ext cx="2603500" cy="469900"/>
          </a:xfrm>
          <a:prstGeom prst="rect">
            <a:avLst/>
          </a:prstGeom>
          <a:noFill/>
        </p:spPr>
        <p:txBody>
          <a:bodyPr vert="horz" wrap="square" lIns="0" tIns="0" rIns="0" bIns="0" rtlCol="0" anchor="t">
            <a:noAutofit/>
          </a:bodyPr>
          <a:lstStyle/>
          <a:p>
            <a:r>
              <a:rPr lang="es-CO" sz="2500" b="1" dirty="0">
                <a:solidFill>
                  <a:srgbClr val="000F4D"/>
                </a:solidFill>
                <a:latin typeface="Bell MT" panose="02020503060305020303" pitchFamily="18" charset="0"/>
              </a:rPr>
              <a:t>Desempeño</a:t>
            </a:r>
          </a:p>
        </p:txBody>
      </p:sp>
      <p:sp>
        <p:nvSpPr>
          <p:cNvPr id="18" name="CEINNA_text_26">
            <a:extLst>
              <a:ext uri="{FF2B5EF4-FFF2-40B4-BE49-F238E27FC236}">
                <a16:creationId xmlns:a16="http://schemas.microsoft.com/office/drawing/2014/main" id="{2DB3AC08-BA63-49C5-1DC5-054905A6DB7F}"/>
              </a:ext>
            </a:extLst>
          </p:cNvPr>
          <p:cNvSpPr txBox="1"/>
          <p:nvPr/>
        </p:nvSpPr>
        <p:spPr>
          <a:xfrm>
            <a:off x="5105400" y="4394199"/>
            <a:ext cx="2603500" cy="838200"/>
          </a:xfrm>
          <a:prstGeom prst="rect">
            <a:avLst/>
          </a:prstGeom>
          <a:noFill/>
        </p:spPr>
        <p:txBody>
          <a:bodyPr vert="horz" wrap="square" lIns="0" tIns="0" rIns="0" bIns="0" rtlCol="0" anchor="t">
            <a:noAutofit/>
          </a:bodyPr>
          <a:lstStyle/>
          <a:p>
            <a:r>
              <a:rPr lang="es-CO" sz="2200" dirty="0">
                <a:solidFill>
                  <a:srgbClr val="242424"/>
                </a:solidFill>
                <a:latin typeface="Bell MT" panose="02020503060305020303" pitchFamily="18" charset="0"/>
              </a:rPr>
              <a:t>Respuestas en cuatro tareas</a:t>
            </a:r>
          </a:p>
        </p:txBody>
      </p:sp>
      <p:sp>
        <p:nvSpPr>
          <p:cNvPr id="19" name="CEINNA_box_27">
            <a:extLst>
              <a:ext uri="{FF2B5EF4-FFF2-40B4-BE49-F238E27FC236}">
                <a16:creationId xmlns:a16="http://schemas.microsoft.com/office/drawing/2014/main" id="{FC5B63F9-97BC-F195-B500-D0BD476D674E}"/>
              </a:ext>
            </a:extLst>
          </p:cNvPr>
          <p:cNvSpPr/>
          <p:nvPr/>
        </p:nvSpPr>
        <p:spPr>
          <a:xfrm>
            <a:off x="8153400" y="3619500"/>
            <a:ext cx="2959100" cy="17145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CEINNA_text_28">
            <a:extLst>
              <a:ext uri="{FF2B5EF4-FFF2-40B4-BE49-F238E27FC236}">
                <a16:creationId xmlns:a16="http://schemas.microsoft.com/office/drawing/2014/main" id="{E2F8B5D3-B922-80FB-E560-0AD346B78B31}"/>
              </a:ext>
            </a:extLst>
          </p:cNvPr>
          <p:cNvSpPr txBox="1"/>
          <p:nvPr/>
        </p:nvSpPr>
        <p:spPr>
          <a:xfrm>
            <a:off x="8343900" y="3809999"/>
            <a:ext cx="2603500" cy="469900"/>
          </a:xfrm>
          <a:prstGeom prst="rect">
            <a:avLst/>
          </a:prstGeom>
          <a:noFill/>
        </p:spPr>
        <p:txBody>
          <a:bodyPr vert="horz" wrap="square" lIns="0" tIns="0" rIns="0" bIns="0" rtlCol="0" anchor="t">
            <a:noAutofit/>
          </a:bodyPr>
          <a:lstStyle/>
          <a:p>
            <a:r>
              <a:rPr lang="es-CO" sz="2500" b="1" dirty="0">
                <a:solidFill>
                  <a:srgbClr val="000F4D"/>
                </a:solidFill>
                <a:latin typeface="Bell MT" panose="02020503060305020303" pitchFamily="18" charset="0"/>
              </a:rPr>
              <a:t>Carga percibida</a:t>
            </a:r>
          </a:p>
        </p:txBody>
      </p:sp>
      <p:sp>
        <p:nvSpPr>
          <p:cNvPr id="21" name="CEINNA_text_29">
            <a:extLst>
              <a:ext uri="{FF2B5EF4-FFF2-40B4-BE49-F238E27FC236}">
                <a16:creationId xmlns:a16="http://schemas.microsoft.com/office/drawing/2014/main" id="{D868CA54-D1F5-A506-EB94-FBAE144F6A5D}"/>
              </a:ext>
            </a:extLst>
          </p:cNvPr>
          <p:cNvSpPr txBox="1"/>
          <p:nvPr/>
        </p:nvSpPr>
        <p:spPr>
          <a:xfrm>
            <a:off x="8343900" y="4394199"/>
            <a:ext cx="2603500" cy="838200"/>
          </a:xfrm>
          <a:prstGeom prst="rect">
            <a:avLst/>
          </a:prstGeom>
          <a:noFill/>
        </p:spPr>
        <p:txBody>
          <a:bodyPr vert="horz" wrap="square" lIns="0" tIns="0" rIns="0" bIns="0" rtlCol="0" anchor="t">
            <a:noAutofit/>
          </a:bodyPr>
          <a:lstStyle/>
          <a:p>
            <a:r>
              <a:rPr lang="es-CO" sz="2200" dirty="0">
                <a:solidFill>
                  <a:srgbClr val="242424"/>
                </a:solidFill>
                <a:latin typeface="Bell MT" panose="02020503060305020303" pitchFamily="18" charset="0"/>
              </a:rPr>
              <a:t>Autoevaluación después del bloque</a:t>
            </a:r>
          </a:p>
        </p:txBody>
      </p:sp>
      <p:sp>
        <p:nvSpPr>
          <p:cNvPr id="22" name="CEINNA_text_30">
            <a:extLst>
              <a:ext uri="{FF2B5EF4-FFF2-40B4-BE49-F238E27FC236}">
                <a16:creationId xmlns:a16="http://schemas.microsoft.com/office/drawing/2014/main" id="{47C408C3-F06D-1BE3-0707-839BDAD7125C}"/>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[1–3] Cegarra et al., 2020; </a:t>
            </a:r>
            <a:r>
              <a:rPr lang="es-CO" sz="1200" dirty="0" err="1">
                <a:solidFill>
                  <a:srgbClr val="4F5A6C"/>
                </a:solidFill>
                <a:latin typeface="Bell MT" panose="02020503060305020303" pitchFamily="18" charset="0"/>
              </a:rPr>
              <a:t>Pontiggia</a:t>
            </a:r>
            <a:r>
              <a:rPr lang="es-CO" sz="1200" dirty="0">
                <a:solidFill>
                  <a:srgbClr val="4F5A6C"/>
                </a:solidFill>
                <a:latin typeface="Bell MT" panose="02020503060305020303" pitchFamily="18" charset="0"/>
              </a:rPr>
              <a:t> et al., 2024 (revisión y experimento).</a:t>
            </a:r>
          </a:p>
        </p:txBody>
      </p:sp>
      <p:sp>
        <p:nvSpPr>
          <p:cNvPr id="23" name="CEINNA_text_31">
            <a:extLst>
              <a:ext uri="{FF2B5EF4-FFF2-40B4-BE49-F238E27FC236}">
                <a16:creationId xmlns:a16="http://schemas.microsoft.com/office/drawing/2014/main" id="{9E4E4093-4389-8A95-568B-918A9D50FB89}"/>
              </a:ext>
            </a:extLst>
          </p:cNvPr>
          <p:cNvSpPr txBox="1"/>
          <p:nvPr/>
        </p:nvSpPr>
        <p:spPr>
          <a:xfrm>
            <a:off x="11036300" y="6032500"/>
            <a:ext cx="292100" cy="228600"/>
          </a:xfrm>
          <a:prstGeom prst="rect">
            <a:avLst/>
          </a:prstGeom>
          <a:noFill/>
        </p:spPr>
        <p:txBody>
          <a:bodyPr vert="horz" wrap="square" lIns="0" tIns="0" rIns="0" bIns="0" rtlCol="0" anchor="t">
            <a:noAutofit/>
          </a:bodyPr>
          <a:lstStyle/>
          <a:p>
            <a:pPr algn="r"/>
            <a:r>
              <a:rPr lang="es-CO" sz="1200" dirty="0">
                <a:solidFill>
                  <a:srgbClr val="4F5A6C"/>
                </a:solidFill>
                <a:latin typeface="Bell MT" panose="02020503060305020303" pitchFamily="18" charset="0"/>
              </a:rPr>
              <a:t>4</a:t>
            </a:r>
          </a:p>
        </p:txBody>
      </p:sp>
    </p:spTree>
    <p:custDataLst>
      <p:tags r:id="rId1"/>
    </p:custDataLst>
    <p:extLst>
      <p:ext uri="{BB962C8B-B14F-4D97-AF65-F5344CB8AC3E}">
        <p14:creationId xmlns:p14="http://schemas.microsoft.com/office/powerpoint/2010/main" val="4292761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C0B2F-ABCF-A16D-9B99-96619EC7347F}"/>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B5C8DCE7-7F59-F685-9165-4D848885236E}"/>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A8E3883C-A3FB-B076-D9C5-4593E72824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512944A-8633-A84A-8248-74134005AF6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17EF142A-3A8B-CD16-CBC7-83A3158E79B9}"/>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79078B8D-A80A-1F4B-6797-EB5D560913BE}"/>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2AEAE2C5-BA4A-C173-EB20-5D20DFF34BC0}"/>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6B36561D-2D6B-4EDE-A51D-6DA6EACFF66A}"/>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32">
            <a:extLst>
              <a:ext uri="{FF2B5EF4-FFF2-40B4-BE49-F238E27FC236}">
                <a16:creationId xmlns:a16="http://schemas.microsoft.com/office/drawing/2014/main" id="{7FD980C9-A0D3-7152-B76E-E4AC83FC9945}"/>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900" b="1" dirty="0">
                <a:solidFill>
                  <a:srgbClr val="000F4D"/>
                </a:solidFill>
                <a:latin typeface="Bell MT" panose="02020503060305020303" pitchFamily="18" charset="0"/>
              </a:rPr>
              <a:t>ASTRA: contexto del estudio</a:t>
            </a:r>
          </a:p>
        </p:txBody>
      </p:sp>
      <p:sp>
        <p:nvSpPr>
          <p:cNvPr id="9" name="CEINNA_text_33">
            <a:extLst>
              <a:ext uri="{FF2B5EF4-FFF2-40B4-BE49-F238E27FC236}">
                <a16:creationId xmlns:a16="http://schemas.microsoft.com/office/drawing/2014/main" id="{19030A9D-D221-F6E6-63FA-DFBA7F745230}"/>
              </a:ext>
            </a:extLst>
          </p:cNvPr>
          <p:cNvSpPr txBox="1"/>
          <p:nvPr/>
        </p:nvSpPr>
        <p:spPr>
          <a:xfrm>
            <a:off x="1651000" y="1841499"/>
            <a:ext cx="4254500" cy="711200"/>
          </a:xfrm>
          <a:prstGeom prst="rect">
            <a:avLst/>
          </a:prstGeom>
          <a:noFill/>
        </p:spPr>
        <p:txBody>
          <a:bodyPr vert="horz" wrap="square" lIns="0" tIns="0" rIns="0" bIns="0" rtlCol="0" anchor="t">
            <a:noAutofit/>
          </a:bodyPr>
          <a:lstStyle/>
          <a:p>
            <a:r>
              <a:rPr lang="es-CO" sz="2300" b="1">
                <a:solidFill>
                  <a:srgbClr val="000F4D"/>
                </a:solidFill>
                <a:latin typeface="Bell MT" panose="02020503060305020303" pitchFamily="18" charset="0"/>
              </a:rPr>
              <a:t>Aerospace Simulation Training Research Analogs</a:t>
            </a:r>
            <a:endParaRPr lang="es-CO" sz="2300" b="1" dirty="0">
              <a:solidFill>
                <a:srgbClr val="000F4D"/>
              </a:solidFill>
              <a:latin typeface="Bell MT" panose="02020503060305020303" pitchFamily="18" charset="0"/>
            </a:endParaRPr>
          </a:p>
        </p:txBody>
      </p:sp>
      <p:sp>
        <p:nvSpPr>
          <p:cNvPr id="11" name="CEINNA_text_34">
            <a:extLst>
              <a:ext uri="{FF2B5EF4-FFF2-40B4-BE49-F238E27FC236}">
                <a16:creationId xmlns:a16="http://schemas.microsoft.com/office/drawing/2014/main" id="{7E522C28-5522-3B21-86B3-B320A6271AF1}"/>
              </a:ext>
            </a:extLst>
          </p:cNvPr>
          <p:cNvSpPr txBox="1"/>
          <p:nvPr/>
        </p:nvSpPr>
        <p:spPr>
          <a:xfrm>
            <a:off x="1651000" y="2819399"/>
            <a:ext cx="4191000" cy="622300"/>
          </a:xfrm>
          <a:prstGeom prst="rect">
            <a:avLst/>
          </a:prstGeom>
          <a:noFill/>
        </p:spPr>
        <p:txBody>
          <a:bodyPr vert="horz" wrap="square" lIns="0" tIns="0" rIns="0" bIns="0" rtlCol="0" anchor="t">
            <a:noAutofit/>
          </a:bodyPr>
          <a:lstStyle/>
          <a:p>
            <a:r>
              <a:rPr lang="es-CO" sz="3100" b="1" dirty="0">
                <a:solidFill>
                  <a:srgbClr val="000F4D"/>
                </a:solidFill>
                <a:latin typeface="Bell MT" panose="02020503060305020303" pitchFamily="18" charset="0"/>
              </a:rPr>
              <a:t>2 misiones · 15 días</a:t>
            </a:r>
          </a:p>
        </p:txBody>
      </p:sp>
      <p:sp>
        <p:nvSpPr>
          <p:cNvPr id="14" name="CEINNA_text_35">
            <a:extLst>
              <a:ext uri="{FF2B5EF4-FFF2-40B4-BE49-F238E27FC236}">
                <a16:creationId xmlns:a16="http://schemas.microsoft.com/office/drawing/2014/main" id="{B86FD067-4992-3CC1-B7A0-101FE7A5DB11}"/>
              </a:ext>
            </a:extLst>
          </p:cNvPr>
          <p:cNvSpPr txBox="1"/>
          <p:nvPr/>
        </p:nvSpPr>
        <p:spPr>
          <a:xfrm>
            <a:off x="1651000" y="3594099"/>
            <a:ext cx="4254500" cy="812800"/>
          </a:xfrm>
          <a:prstGeom prst="rect">
            <a:avLst/>
          </a:prstGeom>
          <a:noFill/>
        </p:spPr>
        <p:txBody>
          <a:bodyPr vert="horz" wrap="square" lIns="0" tIns="0" rIns="0" bIns="0" rtlCol="0" anchor="t">
            <a:noAutofit/>
          </a:bodyPr>
          <a:lstStyle/>
          <a:p>
            <a:r>
              <a:rPr lang="es-CO" sz="2500" dirty="0">
                <a:solidFill>
                  <a:srgbClr val="242424"/>
                </a:solidFill>
                <a:latin typeface="Bell MT" panose="02020503060305020303" pitchFamily="18" charset="0"/>
              </a:rPr>
              <a:t>Hasta 6 participantes previstos por misión</a:t>
            </a:r>
          </a:p>
        </p:txBody>
      </p:sp>
      <p:sp>
        <p:nvSpPr>
          <p:cNvPr id="15" name="CEINNA_text_36">
            <a:extLst>
              <a:ext uri="{FF2B5EF4-FFF2-40B4-BE49-F238E27FC236}">
                <a16:creationId xmlns:a16="http://schemas.microsoft.com/office/drawing/2014/main" id="{C2234EB8-81B7-18F9-100B-07514AB0B9B6}"/>
              </a:ext>
            </a:extLst>
          </p:cNvPr>
          <p:cNvSpPr txBox="1"/>
          <p:nvPr/>
        </p:nvSpPr>
        <p:spPr>
          <a:xfrm>
            <a:off x="1651000" y="4521199"/>
            <a:ext cx="4292600" cy="914400"/>
          </a:xfrm>
          <a:prstGeom prst="rect">
            <a:avLst/>
          </a:prstGeom>
          <a:noFill/>
        </p:spPr>
        <p:txBody>
          <a:bodyPr vert="horz" wrap="square" lIns="0" tIns="0" rIns="0" bIns="0" rtlCol="0" anchor="t">
            <a:noAutofit/>
          </a:bodyPr>
          <a:lstStyle/>
          <a:p>
            <a:r>
              <a:rPr lang="es-CO" sz="2400" dirty="0">
                <a:solidFill>
                  <a:srgbClr val="242424"/>
                </a:solidFill>
                <a:latin typeface="Bell MT" panose="02020503060305020303" pitchFamily="18" charset="0"/>
              </a:rPr>
              <a:t>Aislamiento y confinamiento
Evaluación intrapersonal</a:t>
            </a:r>
          </a:p>
        </p:txBody>
      </p:sp>
      <p:pic>
        <p:nvPicPr>
          <p:cNvPr id="17" name="Picture 16" descr="Recurso con procedencia en visuales/registro_activos.csv">
            <a:extLst>
              <a:ext uri="{FF2B5EF4-FFF2-40B4-BE49-F238E27FC236}">
                <a16:creationId xmlns:a16="http://schemas.microsoft.com/office/drawing/2014/main" id="{C2B9C966-AAFB-D250-D56C-D2082381DB5C}"/>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172200" y="1830388"/>
            <a:ext cx="5041900" cy="3781425"/>
          </a:xfrm>
          <a:prstGeom prst="rect">
            <a:avLst/>
          </a:prstGeom>
        </p:spPr>
      </p:pic>
      <p:sp>
        <p:nvSpPr>
          <p:cNvPr id="18" name="CEINNA_text_37">
            <a:extLst>
              <a:ext uri="{FF2B5EF4-FFF2-40B4-BE49-F238E27FC236}">
                <a16:creationId xmlns:a16="http://schemas.microsoft.com/office/drawing/2014/main" id="{4F5AD753-7163-790D-885B-FA65CF87DCDD}"/>
              </a:ext>
            </a:extLst>
          </p:cNvPr>
          <p:cNvSpPr txBox="1"/>
          <p:nvPr/>
        </p:nvSpPr>
        <p:spPr>
          <a:xfrm>
            <a:off x="6184900" y="5702300"/>
            <a:ext cx="5003800" cy="215900"/>
          </a:xfrm>
          <a:prstGeom prst="rect">
            <a:avLst/>
          </a:prstGeom>
          <a:noFill/>
        </p:spPr>
        <p:txBody>
          <a:bodyPr vert="horz" wrap="square" lIns="0" tIns="0" rIns="0" bIns="0" rtlCol="0" anchor="t">
            <a:noAutofit/>
          </a:bodyPr>
          <a:lstStyle/>
          <a:p>
            <a:r>
              <a:rPr lang="es-CO" sz="1150" dirty="0">
                <a:solidFill>
                  <a:srgbClr val="4F5A6C"/>
                </a:solidFill>
                <a:latin typeface="Bell MT" panose="02020503060305020303" pitchFamily="18" charset="0"/>
              </a:rPr>
              <a:t>Ilustración conceptual generada con IA; no fotografía de ASTRA.</a:t>
            </a:r>
          </a:p>
        </p:txBody>
      </p:sp>
      <p:sp>
        <p:nvSpPr>
          <p:cNvPr id="19" name="CEINNA_text_38">
            <a:extLst>
              <a:ext uri="{FF2B5EF4-FFF2-40B4-BE49-F238E27FC236}">
                <a16:creationId xmlns:a16="http://schemas.microsoft.com/office/drawing/2014/main" id="{E9006A03-3E38-62A5-FBFE-316D773E92E1}"/>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Manual ASTRA v2.5 y cronograma, 11-09-2026. Diseño previsto.</a:t>
            </a:r>
          </a:p>
        </p:txBody>
      </p:sp>
      <p:sp>
        <p:nvSpPr>
          <p:cNvPr id="20" name="CEINNA_text_39">
            <a:extLst>
              <a:ext uri="{FF2B5EF4-FFF2-40B4-BE49-F238E27FC236}">
                <a16:creationId xmlns:a16="http://schemas.microsoft.com/office/drawing/2014/main" id="{B702E7DC-3837-4614-6789-47E0E8B47BA3}"/>
              </a:ext>
            </a:extLst>
          </p:cNvPr>
          <p:cNvSpPr txBox="1"/>
          <p:nvPr/>
        </p:nvSpPr>
        <p:spPr>
          <a:xfrm>
            <a:off x="11036300" y="6032500"/>
            <a:ext cx="292100" cy="228600"/>
          </a:xfrm>
          <a:prstGeom prst="rect">
            <a:avLst/>
          </a:prstGeom>
          <a:noFill/>
        </p:spPr>
        <p:txBody>
          <a:bodyPr vert="horz" wrap="square" lIns="0" tIns="0" rIns="0" bIns="0" rtlCol="0" anchor="t">
            <a:noAutofit/>
          </a:bodyPr>
          <a:lstStyle/>
          <a:p>
            <a:pPr algn="r"/>
            <a:r>
              <a:rPr lang="es-CO" sz="1200" dirty="0">
                <a:solidFill>
                  <a:srgbClr val="4F5A6C"/>
                </a:solidFill>
                <a:latin typeface="Bell MT" panose="02020503060305020303" pitchFamily="18" charset="0"/>
              </a:rPr>
              <a:t>5</a:t>
            </a:r>
          </a:p>
        </p:txBody>
      </p:sp>
    </p:spTree>
    <p:custDataLst>
      <p:tags r:id="rId1"/>
    </p:custDataLst>
    <p:extLst>
      <p:ext uri="{BB962C8B-B14F-4D97-AF65-F5344CB8AC3E}">
        <p14:creationId xmlns:p14="http://schemas.microsoft.com/office/powerpoint/2010/main" val="755499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C0B2F-ABCF-A16D-9B99-96619EC7347F}"/>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B5C8DCE7-7F59-F685-9165-4D848885236E}"/>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A8E3883C-A3FB-B076-D9C5-4593E72824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512944A-8633-A84A-8248-74134005AF6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17EF142A-3A8B-CD16-CBC7-83A3158E79B9}"/>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79078B8D-A80A-1F4B-6797-EB5D560913BE}"/>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2AEAE2C5-BA4A-C173-EB20-5D20DFF34BC0}"/>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6B36561D-2D6B-4EDE-A51D-6DA6EACFF66A}"/>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40">
            <a:extLst>
              <a:ext uri="{FF2B5EF4-FFF2-40B4-BE49-F238E27FC236}">
                <a16:creationId xmlns:a16="http://schemas.microsoft.com/office/drawing/2014/main" id="{A0945C57-3686-D836-26C3-69F36376DD16}"/>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900" b="1" dirty="0">
                <a:solidFill>
                  <a:srgbClr val="000F4D"/>
                </a:solidFill>
                <a:latin typeface="Bell MT" panose="02020503060305020303" pitchFamily="18" charset="0"/>
              </a:rPr>
              <a:t>Ocho visitas por participante</a:t>
            </a:r>
          </a:p>
        </p:txBody>
      </p:sp>
      <p:sp>
        <p:nvSpPr>
          <p:cNvPr id="9" name="CEINNA_text_41">
            <a:extLst>
              <a:ext uri="{FF2B5EF4-FFF2-40B4-BE49-F238E27FC236}">
                <a16:creationId xmlns:a16="http://schemas.microsoft.com/office/drawing/2014/main" id="{5ECD9F1E-1CC3-A69E-F009-EC4E7E566A30}"/>
              </a:ext>
            </a:extLst>
          </p:cNvPr>
          <p:cNvSpPr txBox="1"/>
          <p:nvPr/>
        </p:nvSpPr>
        <p:spPr>
          <a:xfrm>
            <a:off x="1663700" y="1777999"/>
            <a:ext cx="9461500" cy="609600"/>
          </a:xfrm>
          <a:prstGeom prst="rect">
            <a:avLst/>
          </a:prstGeom>
          <a:noFill/>
        </p:spPr>
        <p:txBody>
          <a:bodyPr vert="horz" wrap="square" lIns="0" tIns="0" rIns="0" bIns="0" rtlCol="0" anchor="t">
            <a:noAutofit/>
          </a:bodyPr>
          <a:lstStyle/>
          <a:p>
            <a:r>
              <a:rPr lang="es-CO" sz="2600" dirty="0">
                <a:solidFill>
                  <a:srgbClr val="242424"/>
                </a:solidFill>
                <a:latin typeface="Bell MT" panose="02020503060305020303" pitchFamily="18" charset="0"/>
              </a:rPr>
              <a:t>Dos series longitudinales: ASTRA 1 y ASTRA 2</a:t>
            </a:r>
          </a:p>
        </p:txBody>
      </p:sp>
      <p:cxnSp>
        <p:nvCxnSpPr>
          <p:cNvPr id="11" name="Straight Connector 10">
            <a:extLst>
              <a:ext uri="{FF2B5EF4-FFF2-40B4-BE49-F238E27FC236}">
                <a16:creationId xmlns:a16="http://schemas.microsoft.com/office/drawing/2014/main" id="{4D0DD33F-EC53-11A0-0186-331BB760A221}"/>
              </a:ext>
            </a:extLst>
          </p:cNvPr>
          <p:cNvCxnSpPr/>
          <p:nvPr/>
        </p:nvCxnSpPr>
        <p:spPr>
          <a:xfrm>
            <a:off x="2044700" y="3289300"/>
            <a:ext cx="8724900" cy="0"/>
          </a:xfrm>
          <a:prstGeom prst="line">
            <a:avLst/>
          </a:prstGeom>
          <a:ln w="19050">
            <a:solidFill>
              <a:srgbClr val="000F4D"/>
            </a:solidFill>
          </a:ln>
        </p:spPr>
        <p:style>
          <a:lnRef idx="2">
            <a:schemeClr val="accent1"/>
          </a:lnRef>
          <a:fillRef idx="0">
            <a:schemeClr val="accent1"/>
          </a:fillRef>
          <a:effectRef idx="1">
            <a:schemeClr val="accent1"/>
          </a:effectRef>
          <a:fontRef idx="minor">
            <a:schemeClr val="tx1"/>
          </a:fontRef>
        </p:style>
      </p:cxnSp>
      <p:sp>
        <p:nvSpPr>
          <p:cNvPr id="14" name="CEINNA_text_42">
            <a:extLst>
              <a:ext uri="{FF2B5EF4-FFF2-40B4-BE49-F238E27FC236}">
                <a16:creationId xmlns:a16="http://schemas.microsoft.com/office/drawing/2014/main" id="{895CD7B7-40F3-43B2-760F-A5E355FA8602}"/>
              </a:ext>
            </a:extLst>
          </p:cNvPr>
          <p:cNvSpPr txBox="1"/>
          <p:nvPr/>
        </p:nvSpPr>
        <p:spPr>
          <a:xfrm>
            <a:off x="1676400" y="2603499"/>
            <a:ext cx="927100" cy="444500"/>
          </a:xfrm>
          <a:prstGeom prst="rect">
            <a:avLst/>
          </a:prstGeom>
          <a:noFill/>
        </p:spPr>
        <p:txBody>
          <a:bodyPr vert="horz" wrap="square" lIns="0" tIns="0" rIns="0" bIns="0" rtlCol="0" anchor="t">
            <a:noAutofit/>
          </a:bodyPr>
          <a:lstStyle/>
          <a:p>
            <a:pPr algn="ctr"/>
            <a:r>
              <a:rPr lang="es-CO" sz="2400" b="1" dirty="0">
                <a:solidFill>
                  <a:srgbClr val="000F4D"/>
                </a:solidFill>
                <a:latin typeface="Bell MT" panose="02020503060305020303" pitchFamily="18" charset="0"/>
              </a:rPr>
              <a:t>V0</a:t>
            </a:r>
          </a:p>
        </p:txBody>
      </p:sp>
      <p:sp>
        <p:nvSpPr>
          <p:cNvPr id="15" name="Oval 14">
            <a:extLst>
              <a:ext uri="{FF2B5EF4-FFF2-40B4-BE49-F238E27FC236}">
                <a16:creationId xmlns:a16="http://schemas.microsoft.com/office/drawing/2014/main" id="{3D63C099-FF27-9AB0-9BD0-F5611F1B0989}"/>
              </a:ext>
            </a:extLst>
          </p:cNvPr>
          <p:cNvSpPr/>
          <p:nvPr/>
        </p:nvSpPr>
        <p:spPr>
          <a:xfrm>
            <a:off x="2070100" y="3213100"/>
            <a:ext cx="152400" cy="152400"/>
          </a:xfrm>
          <a:prstGeom prst="ellipse">
            <a:avLst/>
          </a:prstGeom>
          <a:solidFill>
            <a:srgbClr val="000F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6" name="CEINNA_text_43">
            <a:extLst>
              <a:ext uri="{FF2B5EF4-FFF2-40B4-BE49-F238E27FC236}">
                <a16:creationId xmlns:a16="http://schemas.microsoft.com/office/drawing/2014/main" id="{44284B31-528A-8870-913D-916CEED32C1F}"/>
              </a:ext>
            </a:extLst>
          </p:cNvPr>
          <p:cNvSpPr txBox="1"/>
          <p:nvPr/>
        </p:nvSpPr>
        <p:spPr>
          <a:xfrm>
            <a:off x="1574800" y="3568699"/>
            <a:ext cx="1143000" cy="457200"/>
          </a:xfrm>
          <a:prstGeom prst="rect">
            <a:avLst/>
          </a:prstGeom>
          <a:noFill/>
        </p:spPr>
        <p:txBody>
          <a:bodyPr vert="horz" wrap="square" lIns="0" tIns="0" rIns="0" bIns="0" rtlCol="0" anchor="t">
            <a:noAutofit/>
          </a:bodyPr>
          <a:lstStyle/>
          <a:p>
            <a:pPr algn="ctr"/>
            <a:r>
              <a:rPr lang="es-CO" sz="2300" dirty="0">
                <a:solidFill>
                  <a:srgbClr val="242424"/>
                </a:solidFill>
                <a:latin typeface="Bell MT" panose="02020503060305020303" pitchFamily="18" charset="0"/>
              </a:rPr>
              <a:t>Basal</a:t>
            </a:r>
          </a:p>
        </p:txBody>
      </p:sp>
      <p:sp>
        <p:nvSpPr>
          <p:cNvPr id="17" name="CEINNA_text_44">
            <a:extLst>
              <a:ext uri="{FF2B5EF4-FFF2-40B4-BE49-F238E27FC236}">
                <a16:creationId xmlns:a16="http://schemas.microsoft.com/office/drawing/2014/main" id="{F3F9BB79-AEA4-1A29-4036-60B3087E9A26}"/>
              </a:ext>
            </a:extLst>
          </p:cNvPr>
          <p:cNvSpPr txBox="1"/>
          <p:nvPr/>
        </p:nvSpPr>
        <p:spPr>
          <a:xfrm>
            <a:off x="2921000" y="2603499"/>
            <a:ext cx="927100" cy="444500"/>
          </a:xfrm>
          <a:prstGeom prst="rect">
            <a:avLst/>
          </a:prstGeom>
          <a:noFill/>
        </p:spPr>
        <p:txBody>
          <a:bodyPr vert="horz" wrap="square" lIns="0" tIns="0" rIns="0" bIns="0" rtlCol="0" anchor="t">
            <a:noAutofit/>
          </a:bodyPr>
          <a:lstStyle/>
          <a:p>
            <a:pPr algn="ctr"/>
            <a:r>
              <a:rPr lang="es-CO" sz="2400" b="1" dirty="0">
                <a:solidFill>
                  <a:srgbClr val="000F4D"/>
                </a:solidFill>
                <a:latin typeface="Bell MT" panose="02020503060305020303" pitchFamily="18" charset="0"/>
              </a:rPr>
              <a:t>V1</a:t>
            </a:r>
          </a:p>
        </p:txBody>
      </p:sp>
      <p:sp>
        <p:nvSpPr>
          <p:cNvPr id="18" name="Oval 17">
            <a:extLst>
              <a:ext uri="{FF2B5EF4-FFF2-40B4-BE49-F238E27FC236}">
                <a16:creationId xmlns:a16="http://schemas.microsoft.com/office/drawing/2014/main" id="{6CB46587-0C89-C531-93DA-910581FBFF17}"/>
              </a:ext>
            </a:extLst>
          </p:cNvPr>
          <p:cNvSpPr/>
          <p:nvPr/>
        </p:nvSpPr>
        <p:spPr>
          <a:xfrm>
            <a:off x="3314700" y="3213100"/>
            <a:ext cx="152400" cy="152400"/>
          </a:xfrm>
          <a:prstGeom prst="ellipse">
            <a:avLst/>
          </a:prstGeom>
          <a:solidFill>
            <a:srgbClr val="000F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9" name="CEINNA_text_45">
            <a:extLst>
              <a:ext uri="{FF2B5EF4-FFF2-40B4-BE49-F238E27FC236}">
                <a16:creationId xmlns:a16="http://schemas.microsoft.com/office/drawing/2014/main" id="{B3FA69C9-48AE-5497-612F-BFAA3AD963B0}"/>
              </a:ext>
            </a:extLst>
          </p:cNvPr>
          <p:cNvSpPr txBox="1"/>
          <p:nvPr/>
        </p:nvSpPr>
        <p:spPr>
          <a:xfrm>
            <a:off x="2819400" y="3568699"/>
            <a:ext cx="1143000" cy="457200"/>
          </a:xfrm>
          <a:prstGeom prst="rect">
            <a:avLst/>
          </a:prstGeom>
          <a:noFill/>
        </p:spPr>
        <p:txBody>
          <a:bodyPr vert="horz" wrap="square" lIns="0" tIns="0" rIns="0" bIns="0" rtlCol="0" anchor="t">
            <a:noAutofit/>
          </a:bodyPr>
          <a:lstStyle/>
          <a:p>
            <a:pPr algn="ctr"/>
            <a:r>
              <a:rPr lang="es-CO" sz="2300" dirty="0">
                <a:solidFill>
                  <a:srgbClr val="242424"/>
                </a:solidFill>
                <a:latin typeface="Bell MT" panose="02020503060305020303" pitchFamily="18" charset="0"/>
              </a:rPr>
              <a:t>DM2</a:t>
            </a:r>
          </a:p>
        </p:txBody>
      </p:sp>
      <p:sp>
        <p:nvSpPr>
          <p:cNvPr id="20" name="CEINNA_text_46">
            <a:extLst>
              <a:ext uri="{FF2B5EF4-FFF2-40B4-BE49-F238E27FC236}">
                <a16:creationId xmlns:a16="http://schemas.microsoft.com/office/drawing/2014/main" id="{F3ACD6E9-77BD-4F88-884F-56452A29052B}"/>
              </a:ext>
            </a:extLst>
          </p:cNvPr>
          <p:cNvSpPr txBox="1"/>
          <p:nvPr/>
        </p:nvSpPr>
        <p:spPr>
          <a:xfrm>
            <a:off x="4165600" y="2603499"/>
            <a:ext cx="927100" cy="444500"/>
          </a:xfrm>
          <a:prstGeom prst="rect">
            <a:avLst/>
          </a:prstGeom>
          <a:noFill/>
        </p:spPr>
        <p:txBody>
          <a:bodyPr vert="horz" wrap="square" lIns="0" tIns="0" rIns="0" bIns="0" rtlCol="0" anchor="t">
            <a:noAutofit/>
          </a:bodyPr>
          <a:lstStyle/>
          <a:p>
            <a:pPr algn="ctr"/>
            <a:r>
              <a:rPr lang="es-CO" sz="2400" b="1" dirty="0">
                <a:solidFill>
                  <a:srgbClr val="000F4D"/>
                </a:solidFill>
                <a:latin typeface="Bell MT" panose="02020503060305020303" pitchFamily="18" charset="0"/>
              </a:rPr>
              <a:t>V2</a:t>
            </a:r>
          </a:p>
        </p:txBody>
      </p:sp>
      <p:sp>
        <p:nvSpPr>
          <p:cNvPr id="21" name="Oval 20">
            <a:extLst>
              <a:ext uri="{FF2B5EF4-FFF2-40B4-BE49-F238E27FC236}">
                <a16:creationId xmlns:a16="http://schemas.microsoft.com/office/drawing/2014/main" id="{AB960400-A216-DF39-0D2A-A7B034E3D315}"/>
              </a:ext>
            </a:extLst>
          </p:cNvPr>
          <p:cNvSpPr/>
          <p:nvPr/>
        </p:nvSpPr>
        <p:spPr>
          <a:xfrm>
            <a:off x="4559300" y="3213100"/>
            <a:ext cx="152400" cy="152400"/>
          </a:xfrm>
          <a:prstGeom prst="ellipse">
            <a:avLst/>
          </a:prstGeom>
          <a:solidFill>
            <a:srgbClr val="000F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2" name="CEINNA_text_47">
            <a:extLst>
              <a:ext uri="{FF2B5EF4-FFF2-40B4-BE49-F238E27FC236}">
                <a16:creationId xmlns:a16="http://schemas.microsoft.com/office/drawing/2014/main" id="{5A93591B-F452-D079-322F-A4E18AF6A8AC}"/>
              </a:ext>
            </a:extLst>
          </p:cNvPr>
          <p:cNvSpPr txBox="1"/>
          <p:nvPr/>
        </p:nvSpPr>
        <p:spPr>
          <a:xfrm>
            <a:off x="4064000" y="3568699"/>
            <a:ext cx="1143000" cy="457200"/>
          </a:xfrm>
          <a:prstGeom prst="rect">
            <a:avLst/>
          </a:prstGeom>
          <a:noFill/>
        </p:spPr>
        <p:txBody>
          <a:bodyPr vert="horz" wrap="square" lIns="0" tIns="0" rIns="0" bIns="0" rtlCol="0" anchor="t">
            <a:noAutofit/>
          </a:bodyPr>
          <a:lstStyle/>
          <a:p>
            <a:pPr algn="ctr"/>
            <a:r>
              <a:rPr lang="es-CO" sz="2300" dirty="0">
                <a:solidFill>
                  <a:srgbClr val="242424"/>
                </a:solidFill>
                <a:latin typeface="Bell MT" panose="02020503060305020303" pitchFamily="18" charset="0"/>
              </a:rPr>
              <a:t>DM4</a:t>
            </a:r>
          </a:p>
        </p:txBody>
      </p:sp>
      <p:sp>
        <p:nvSpPr>
          <p:cNvPr id="23" name="CEINNA_text_48">
            <a:extLst>
              <a:ext uri="{FF2B5EF4-FFF2-40B4-BE49-F238E27FC236}">
                <a16:creationId xmlns:a16="http://schemas.microsoft.com/office/drawing/2014/main" id="{ECC854F0-5DD8-D10C-2359-DA0FC106B26A}"/>
              </a:ext>
            </a:extLst>
          </p:cNvPr>
          <p:cNvSpPr txBox="1"/>
          <p:nvPr/>
        </p:nvSpPr>
        <p:spPr>
          <a:xfrm>
            <a:off x="5410200" y="2603499"/>
            <a:ext cx="927100" cy="444500"/>
          </a:xfrm>
          <a:prstGeom prst="rect">
            <a:avLst/>
          </a:prstGeom>
          <a:noFill/>
        </p:spPr>
        <p:txBody>
          <a:bodyPr vert="horz" wrap="square" lIns="0" tIns="0" rIns="0" bIns="0" rtlCol="0" anchor="t">
            <a:noAutofit/>
          </a:bodyPr>
          <a:lstStyle/>
          <a:p>
            <a:pPr algn="ctr"/>
            <a:r>
              <a:rPr lang="es-CO" sz="2400" b="1" dirty="0">
                <a:solidFill>
                  <a:srgbClr val="000F4D"/>
                </a:solidFill>
                <a:latin typeface="Bell MT" panose="02020503060305020303" pitchFamily="18" charset="0"/>
              </a:rPr>
              <a:t>V3</a:t>
            </a:r>
          </a:p>
        </p:txBody>
      </p:sp>
      <p:sp>
        <p:nvSpPr>
          <p:cNvPr id="24" name="Oval 23">
            <a:extLst>
              <a:ext uri="{FF2B5EF4-FFF2-40B4-BE49-F238E27FC236}">
                <a16:creationId xmlns:a16="http://schemas.microsoft.com/office/drawing/2014/main" id="{C0997A32-611A-20F8-8C62-946CF8B2F144}"/>
              </a:ext>
            </a:extLst>
          </p:cNvPr>
          <p:cNvSpPr/>
          <p:nvPr/>
        </p:nvSpPr>
        <p:spPr>
          <a:xfrm>
            <a:off x="5803900" y="3213100"/>
            <a:ext cx="152400" cy="152400"/>
          </a:xfrm>
          <a:prstGeom prst="ellipse">
            <a:avLst/>
          </a:prstGeom>
          <a:solidFill>
            <a:srgbClr val="000F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CEINNA_text_49">
            <a:extLst>
              <a:ext uri="{FF2B5EF4-FFF2-40B4-BE49-F238E27FC236}">
                <a16:creationId xmlns:a16="http://schemas.microsoft.com/office/drawing/2014/main" id="{96FF3ED5-9907-1570-7572-A5C9F77E85B5}"/>
              </a:ext>
            </a:extLst>
          </p:cNvPr>
          <p:cNvSpPr txBox="1"/>
          <p:nvPr/>
        </p:nvSpPr>
        <p:spPr>
          <a:xfrm>
            <a:off x="5308600" y="3568699"/>
            <a:ext cx="1143000" cy="457200"/>
          </a:xfrm>
          <a:prstGeom prst="rect">
            <a:avLst/>
          </a:prstGeom>
          <a:noFill/>
        </p:spPr>
        <p:txBody>
          <a:bodyPr vert="horz" wrap="square" lIns="0" tIns="0" rIns="0" bIns="0" rtlCol="0" anchor="t">
            <a:noAutofit/>
          </a:bodyPr>
          <a:lstStyle/>
          <a:p>
            <a:pPr algn="ctr"/>
            <a:r>
              <a:rPr lang="es-CO" sz="2300" dirty="0">
                <a:solidFill>
                  <a:srgbClr val="242424"/>
                </a:solidFill>
                <a:latin typeface="Bell MT" panose="02020503060305020303" pitchFamily="18" charset="0"/>
              </a:rPr>
              <a:t>DM7</a:t>
            </a:r>
          </a:p>
        </p:txBody>
      </p:sp>
      <p:sp>
        <p:nvSpPr>
          <p:cNvPr id="26" name="CEINNA_text_50">
            <a:extLst>
              <a:ext uri="{FF2B5EF4-FFF2-40B4-BE49-F238E27FC236}">
                <a16:creationId xmlns:a16="http://schemas.microsoft.com/office/drawing/2014/main" id="{F1A97B5E-6C77-B813-ECBE-61222E9D0DFE}"/>
              </a:ext>
            </a:extLst>
          </p:cNvPr>
          <p:cNvSpPr txBox="1"/>
          <p:nvPr/>
        </p:nvSpPr>
        <p:spPr>
          <a:xfrm>
            <a:off x="6654800" y="2603499"/>
            <a:ext cx="927100" cy="444500"/>
          </a:xfrm>
          <a:prstGeom prst="rect">
            <a:avLst/>
          </a:prstGeom>
          <a:noFill/>
        </p:spPr>
        <p:txBody>
          <a:bodyPr vert="horz" wrap="square" lIns="0" tIns="0" rIns="0" bIns="0" rtlCol="0" anchor="t">
            <a:noAutofit/>
          </a:bodyPr>
          <a:lstStyle/>
          <a:p>
            <a:pPr algn="ctr"/>
            <a:r>
              <a:rPr lang="es-CO" sz="2400" b="1" dirty="0">
                <a:solidFill>
                  <a:srgbClr val="000F4D"/>
                </a:solidFill>
                <a:latin typeface="Bell MT" panose="02020503060305020303" pitchFamily="18" charset="0"/>
              </a:rPr>
              <a:t>V4</a:t>
            </a:r>
          </a:p>
        </p:txBody>
      </p:sp>
      <p:sp>
        <p:nvSpPr>
          <p:cNvPr id="27" name="Oval 26">
            <a:extLst>
              <a:ext uri="{FF2B5EF4-FFF2-40B4-BE49-F238E27FC236}">
                <a16:creationId xmlns:a16="http://schemas.microsoft.com/office/drawing/2014/main" id="{D0C3D214-BD35-746F-3B57-EB836814702F}"/>
              </a:ext>
            </a:extLst>
          </p:cNvPr>
          <p:cNvSpPr/>
          <p:nvPr/>
        </p:nvSpPr>
        <p:spPr>
          <a:xfrm>
            <a:off x="7048500" y="3213100"/>
            <a:ext cx="152400" cy="152400"/>
          </a:xfrm>
          <a:prstGeom prst="ellipse">
            <a:avLst/>
          </a:prstGeom>
          <a:solidFill>
            <a:srgbClr val="000F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8" name="CEINNA_text_51">
            <a:extLst>
              <a:ext uri="{FF2B5EF4-FFF2-40B4-BE49-F238E27FC236}">
                <a16:creationId xmlns:a16="http://schemas.microsoft.com/office/drawing/2014/main" id="{B9735688-6AE2-B1C5-9C1B-9D407C1EA9C4}"/>
              </a:ext>
            </a:extLst>
          </p:cNvPr>
          <p:cNvSpPr txBox="1"/>
          <p:nvPr/>
        </p:nvSpPr>
        <p:spPr>
          <a:xfrm>
            <a:off x="6553200" y="3568699"/>
            <a:ext cx="1143000" cy="457200"/>
          </a:xfrm>
          <a:prstGeom prst="rect">
            <a:avLst/>
          </a:prstGeom>
          <a:noFill/>
        </p:spPr>
        <p:txBody>
          <a:bodyPr vert="horz" wrap="square" lIns="0" tIns="0" rIns="0" bIns="0" rtlCol="0" anchor="t">
            <a:noAutofit/>
          </a:bodyPr>
          <a:lstStyle/>
          <a:p>
            <a:pPr algn="ctr"/>
            <a:r>
              <a:rPr lang="es-CO" sz="2300" dirty="0">
                <a:solidFill>
                  <a:srgbClr val="242424"/>
                </a:solidFill>
                <a:latin typeface="Bell MT" panose="02020503060305020303" pitchFamily="18" charset="0"/>
              </a:rPr>
              <a:t>DM10</a:t>
            </a:r>
          </a:p>
        </p:txBody>
      </p:sp>
      <p:sp>
        <p:nvSpPr>
          <p:cNvPr id="29" name="CEINNA_text_52">
            <a:extLst>
              <a:ext uri="{FF2B5EF4-FFF2-40B4-BE49-F238E27FC236}">
                <a16:creationId xmlns:a16="http://schemas.microsoft.com/office/drawing/2014/main" id="{EA5B7B0B-325B-87B1-0A31-856FF273C989}"/>
              </a:ext>
            </a:extLst>
          </p:cNvPr>
          <p:cNvSpPr txBox="1"/>
          <p:nvPr/>
        </p:nvSpPr>
        <p:spPr>
          <a:xfrm>
            <a:off x="7899400" y="2603499"/>
            <a:ext cx="927100" cy="444500"/>
          </a:xfrm>
          <a:prstGeom prst="rect">
            <a:avLst/>
          </a:prstGeom>
          <a:noFill/>
        </p:spPr>
        <p:txBody>
          <a:bodyPr vert="horz" wrap="square" lIns="0" tIns="0" rIns="0" bIns="0" rtlCol="0" anchor="t">
            <a:noAutofit/>
          </a:bodyPr>
          <a:lstStyle/>
          <a:p>
            <a:pPr algn="ctr"/>
            <a:r>
              <a:rPr lang="es-CO" sz="2400" b="1" dirty="0">
                <a:solidFill>
                  <a:srgbClr val="000F4D"/>
                </a:solidFill>
                <a:latin typeface="Bell MT" panose="02020503060305020303" pitchFamily="18" charset="0"/>
              </a:rPr>
              <a:t>V5</a:t>
            </a:r>
          </a:p>
        </p:txBody>
      </p:sp>
      <p:sp>
        <p:nvSpPr>
          <p:cNvPr id="30" name="Oval 29">
            <a:extLst>
              <a:ext uri="{FF2B5EF4-FFF2-40B4-BE49-F238E27FC236}">
                <a16:creationId xmlns:a16="http://schemas.microsoft.com/office/drawing/2014/main" id="{EEB086F9-5E48-B0AD-4628-5990A9D923CC}"/>
              </a:ext>
            </a:extLst>
          </p:cNvPr>
          <p:cNvSpPr/>
          <p:nvPr/>
        </p:nvSpPr>
        <p:spPr>
          <a:xfrm>
            <a:off x="8293100" y="3213100"/>
            <a:ext cx="152400" cy="152400"/>
          </a:xfrm>
          <a:prstGeom prst="ellipse">
            <a:avLst/>
          </a:prstGeom>
          <a:solidFill>
            <a:srgbClr val="000F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1" name="CEINNA_text_53">
            <a:extLst>
              <a:ext uri="{FF2B5EF4-FFF2-40B4-BE49-F238E27FC236}">
                <a16:creationId xmlns:a16="http://schemas.microsoft.com/office/drawing/2014/main" id="{CB814915-6881-5C70-44C1-115878A41F85}"/>
              </a:ext>
            </a:extLst>
          </p:cNvPr>
          <p:cNvSpPr txBox="1"/>
          <p:nvPr/>
        </p:nvSpPr>
        <p:spPr>
          <a:xfrm>
            <a:off x="7797800" y="3568699"/>
            <a:ext cx="1143000" cy="457200"/>
          </a:xfrm>
          <a:prstGeom prst="rect">
            <a:avLst/>
          </a:prstGeom>
          <a:noFill/>
        </p:spPr>
        <p:txBody>
          <a:bodyPr vert="horz" wrap="square" lIns="0" tIns="0" rIns="0" bIns="0" rtlCol="0" anchor="t">
            <a:noAutofit/>
          </a:bodyPr>
          <a:lstStyle/>
          <a:p>
            <a:pPr algn="ctr"/>
            <a:r>
              <a:rPr lang="es-CO" sz="2300" dirty="0">
                <a:solidFill>
                  <a:srgbClr val="242424"/>
                </a:solidFill>
                <a:latin typeface="Bell MT" panose="02020503060305020303" pitchFamily="18" charset="0"/>
              </a:rPr>
              <a:t>DM13</a:t>
            </a:r>
          </a:p>
        </p:txBody>
      </p:sp>
      <p:sp>
        <p:nvSpPr>
          <p:cNvPr id="32" name="CEINNA_text_54">
            <a:extLst>
              <a:ext uri="{FF2B5EF4-FFF2-40B4-BE49-F238E27FC236}">
                <a16:creationId xmlns:a16="http://schemas.microsoft.com/office/drawing/2014/main" id="{C328A86B-FB36-C533-5B55-3ABEDE6CEFA4}"/>
              </a:ext>
            </a:extLst>
          </p:cNvPr>
          <p:cNvSpPr txBox="1"/>
          <p:nvPr/>
        </p:nvSpPr>
        <p:spPr>
          <a:xfrm>
            <a:off x="9144000" y="2603499"/>
            <a:ext cx="927100" cy="444500"/>
          </a:xfrm>
          <a:prstGeom prst="rect">
            <a:avLst/>
          </a:prstGeom>
          <a:noFill/>
        </p:spPr>
        <p:txBody>
          <a:bodyPr vert="horz" wrap="square" lIns="0" tIns="0" rIns="0" bIns="0" rtlCol="0" anchor="t">
            <a:noAutofit/>
          </a:bodyPr>
          <a:lstStyle/>
          <a:p>
            <a:pPr algn="ctr"/>
            <a:r>
              <a:rPr lang="es-CO" sz="2400" b="1" dirty="0">
                <a:solidFill>
                  <a:srgbClr val="000F4D"/>
                </a:solidFill>
                <a:latin typeface="Bell MT" panose="02020503060305020303" pitchFamily="18" charset="0"/>
              </a:rPr>
              <a:t>V6</a:t>
            </a:r>
          </a:p>
        </p:txBody>
      </p:sp>
      <p:sp>
        <p:nvSpPr>
          <p:cNvPr id="33" name="Oval 32">
            <a:extLst>
              <a:ext uri="{FF2B5EF4-FFF2-40B4-BE49-F238E27FC236}">
                <a16:creationId xmlns:a16="http://schemas.microsoft.com/office/drawing/2014/main" id="{CB112827-9DC5-40A7-6BBD-77570683BDCF}"/>
              </a:ext>
            </a:extLst>
          </p:cNvPr>
          <p:cNvSpPr/>
          <p:nvPr/>
        </p:nvSpPr>
        <p:spPr>
          <a:xfrm>
            <a:off x="9537700" y="3213100"/>
            <a:ext cx="152400" cy="152400"/>
          </a:xfrm>
          <a:prstGeom prst="ellipse">
            <a:avLst/>
          </a:prstGeom>
          <a:solidFill>
            <a:srgbClr val="000F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4" name="CEINNA_text_55">
            <a:extLst>
              <a:ext uri="{FF2B5EF4-FFF2-40B4-BE49-F238E27FC236}">
                <a16:creationId xmlns:a16="http://schemas.microsoft.com/office/drawing/2014/main" id="{0B392BA7-641F-F159-1BEF-5802D4B11A81}"/>
              </a:ext>
            </a:extLst>
          </p:cNvPr>
          <p:cNvSpPr txBox="1"/>
          <p:nvPr/>
        </p:nvSpPr>
        <p:spPr>
          <a:xfrm>
            <a:off x="9042400" y="3568699"/>
            <a:ext cx="1143000" cy="457200"/>
          </a:xfrm>
          <a:prstGeom prst="rect">
            <a:avLst/>
          </a:prstGeom>
          <a:noFill/>
        </p:spPr>
        <p:txBody>
          <a:bodyPr vert="horz" wrap="square" lIns="0" tIns="0" rIns="0" bIns="0" rtlCol="0" anchor="t">
            <a:noAutofit/>
          </a:bodyPr>
          <a:lstStyle/>
          <a:p>
            <a:pPr algn="ctr"/>
            <a:r>
              <a:rPr lang="es-CO" sz="2300" dirty="0">
                <a:solidFill>
                  <a:srgbClr val="242424"/>
                </a:solidFill>
                <a:latin typeface="Bell MT" panose="02020503060305020303" pitchFamily="18" charset="0"/>
              </a:rPr>
              <a:t>DM15</a:t>
            </a:r>
          </a:p>
        </p:txBody>
      </p:sp>
      <p:sp>
        <p:nvSpPr>
          <p:cNvPr id="35" name="CEINNA_text_56">
            <a:extLst>
              <a:ext uri="{FF2B5EF4-FFF2-40B4-BE49-F238E27FC236}">
                <a16:creationId xmlns:a16="http://schemas.microsoft.com/office/drawing/2014/main" id="{3B75EA03-9224-5703-E818-D1BD712FA4AD}"/>
              </a:ext>
            </a:extLst>
          </p:cNvPr>
          <p:cNvSpPr txBox="1"/>
          <p:nvPr/>
        </p:nvSpPr>
        <p:spPr>
          <a:xfrm>
            <a:off x="10388600" y="2603499"/>
            <a:ext cx="927100" cy="444500"/>
          </a:xfrm>
          <a:prstGeom prst="rect">
            <a:avLst/>
          </a:prstGeom>
          <a:noFill/>
        </p:spPr>
        <p:txBody>
          <a:bodyPr vert="horz" wrap="square" lIns="0" tIns="0" rIns="0" bIns="0" rtlCol="0" anchor="t">
            <a:noAutofit/>
          </a:bodyPr>
          <a:lstStyle/>
          <a:p>
            <a:pPr algn="ctr"/>
            <a:r>
              <a:rPr lang="es-CO" sz="2400" b="1" dirty="0">
                <a:solidFill>
                  <a:srgbClr val="000F4D"/>
                </a:solidFill>
                <a:latin typeface="Bell MT" panose="02020503060305020303" pitchFamily="18" charset="0"/>
              </a:rPr>
              <a:t>V7</a:t>
            </a:r>
          </a:p>
        </p:txBody>
      </p:sp>
      <p:sp>
        <p:nvSpPr>
          <p:cNvPr id="36" name="Oval 35">
            <a:extLst>
              <a:ext uri="{FF2B5EF4-FFF2-40B4-BE49-F238E27FC236}">
                <a16:creationId xmlns:a16="http://schemas.microsoft.com/office/drawing/2014/main" id="{B11BCBA2-5E50-9DA8-B7F4-CADA2536A028}"/>
              </a:ext>
            </a:extLst>
          </p:cNvPr>
          <p:cNvSpPr/>
          <p:nvPr/>
        </p:nvSpPr>
        <p:spPr>
          <a:xfrm>
            <a:off x="10782300" y="3213100"/>
            <a:ext cx="152400" cy="152400"/>
          </a:xfrm>
          <a:prstGeom prst="ellipse">
            <a:avLst/>
          </a:prstGeom>
          <a:solidFill>
            <a:srgbClr val="000F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7" name="CEINNA_text_57">
            <a:extLst>
              <a:ext uri="{FF2B5EF4-FFF2-40B4-BE49-F238E27FC236}">
                <a16:creationId xmlns:a16="http://schemas.microsoft.com/office/drawing/2014/main" id="{881EC39C-1116-1E22-6D5F-505643C22145}"/>
              </a:ext>
            </a:extLst>
          </p:cNvPr>
          <p:cNvSpPr txBox="1"/>
          <p:nvPr/>
        </p:nvSpPr>
        <p:spPr>
          <a:xfrm>
            <a:off x="10287000" y="3568699"/>
            <a:ext cx="1143000" cy="457200"/>
          </a:xfrm>
          <a:prstGeom prst="rect">
            <a:avLst/>
          </a:prstGeom>
          <a:noFill/>
        </p:spPr>
        <p:txBody>
          <a:bodyPr vert="horz" wrap="square" lIns="0" tIns="0" rIns="0" bIns="0" rtlCol="0" anchor="t">
            <a:noAutofit/>
          </a:bodyPr>
          <a:lstStyle/>
          <a:p>
            <a:pPr algn="ctr"/>
            <a:r>
              <a:rPr lang="es-CO" sz="2300" dirty="0">
                <a:solidFill>
                  <a:srgbClr val="242424"/>
                </a:solidFill>
                <a:latin typeface="Bell MT" panose="02020503060305020303" pitchFamily="18" charset="0"/>
              </a:rPr>
              <a:t>D+1</a:t>
            </a:r>
          </a:p>
        </p:txBody>
      </p:sp>
      <p:sp>
        <p:nvSpPr>
          <p:cNvPr id="38" name="CEINNA_text_58">
            <a:extLst>
              <a:ext uri="{FF2B5EF4-FFF2-40B4-BE49-F238E27FC236}">
                <a16:creationId xmlns:a16="http://schemas.microsoft.com/office/drawing/2014/main" id="{96182AF9-DA81-8CD6-8940-C8BBB20FB54B}"/>
              </a:ext>
            </a:extLst>
          </p:cNvPr>
          <p:cNvSpPr txBox="1"/>
          <p:nvPr/>
        </p:nvSpPr>
        <p:spPr>
          <a:xfrm>
            <a:off x="1676400" y="4076699"/>
            <a:ext cx="9410700" cy="304800"/>
          </a:xfrm>
          <a:prstGeom prst="rect">
            <a:avLst/>
          </a:prstGeom>
          <a:noFill/>
        </p:spPr>
        <p:txBody>
          <a:bodyPr vert="horz" wrap="square" lIns="0" tIns="0" rIns="0" bIns="0" rtlCol="0" anchor="t">
            <a:noAutofit/>
          </a:bodyPr>
          <a:lstStyle/>
          <a:p>
            <a:r>
              <a:rPr lang="es-CO" sz="1500" dirty="0">
                <a:solidFill>
                  <a:srgbClr val="4F5A6C"/>
                </a:solidFill>
                <a:latin typeface="Bell MT" panose="02020503060305020303" pitchFamily="18" charset="0"/>
              </a:rPr>
              <a:t>Secuencia de visitas; separación gráfica no proporcional al tiempo.</a:t>
            </a:r>
          </a:p>
        </p:txBody>
      </p:sp>
      <p:sp>
        <p:nvSpPr>
          <p:cNvPr id="39" name="CEINNA_text_59">
            <a:extLst>
              <a:ext uri="{FF2B5EF4-FFF2-40B4-BE49-F238E27FC236}">
                <a16:creationId xmlns:a16="http://schemas.microsoft.com/office/drawing/2014/main" id="{D98AC151-5D5B-157C-4C5A-2DB549226E26}"/>
              </a:ext>
            </a:extLst>
          </p:cNvPr>
          <p:cNvSpPr txBox="1"/>
          <p:nvPr/>
        </p:nvSpPr>
        <p:spPr>
          <a:xfrm>
            <a:off x="1676400" y="4406899"/>
            <a:ext cx="9410700" cy="431800"/>
          </a:xfrm>
          <a:prstGeom prst="rect">
            <a:avLst/>
          </a:prstGeom>
          <a:noFill/>
        </p:spPr>
        <p:txBody>
          <a:bodyPr vert="horz" wrap="square" lIns="0" tIns="0" rIns="0" bIns="0" rtlCol="0" anchor="t">
            <a:noAutofit/>
          </a:bodyPr>
          <a:lstStyle/>
          <a:p>
            <a:r>
              <a:rPr lang="es-CO" sz="2300" dirty="0">
                <a:solidFill>
                  <a:srgbClr val="242424"/>
                </a:solidFill>
                <a:latin typeface="Bell MT" panose="02020503060305020303" pitchFamily="18" charset="0"/>
              </a:rPr>
              <a:t>V0: 29 sep. (ASTRA 1) · 28 sep. (ASTRA 2)</a:t>
            </a:r>
          </a:p>
        </p:txBody>
      </p:sp>
      <p:sp>
        <p:nvSpPr>
          <p:cNvPr id="40" name="CEINNA_text_60">
            <a:extLst>
              <a:ext uri="{FF2B5EF4-FFF2-40B4-BE49-F238E27FC236}">
                <a16:creationId xmlns:a16="http://schemas.microsoft.com/office/drawing/2014/main" id="{438BA4CB-0E1B-C561-1364-3D91C84DB5A0}"/>
              </a:ext>
            </a:extLst>
          </p:cNvPr>
          <p:cNvSpPr txBox="1"/>
          <p:nvPr/>
        </p:nvSpPr>
        <p:spPr>
          <a:xfrm>
            <a:off x="1676400" y="4940299"/>
            <a:ext cx="9410700" cy="431800"/>
          </a:xfrm>
          <a:prstGeom prst="rect">
            <a:avLst/>
          </a:prstGeom>
          <a:noFill/>
        </p:spPr>
        <p:txBody>
          <a:bodyPr vert="horz" wrap="square" lIns="0" tIns="0" rIns="0" bIns="0" rtlCol="0" anchor="t">
            <a:noAutofit/>
          </a:bodyPr>
          <a:lstStyle/>
          <a:p>
            <a:r>
              <a:rPr lang="es-CO" sz="2300" dirty="0">
                <a:solidFill>
                  <a:srgbClr val="242424"/>
                </a:solidFill>
                <a:latin typeface="Bell MT" panose="02020503060305020303" pitchFamily="18" charset="0"/>
              </a:rPr>
              <a:t>V7: 20 oct. (ASTRA 1) · 5 nov. (ASTRA 2)</a:t>
            </a:r>
          </a:p>
        </p:txBody>
      </p:sp>
      <p:sp>
        <p:nvSpPr>
          <p:cNvPr id="41" name="CEINNA_text_61">
            <a:extLst>
              <a:ext uri="{FF2B5EF4-FFF2-40B4-BE49-F238E27FC236}">
                <a16:creationId xmlns:a16="http://schemas.microsoft.com/office/drawing/2014/main" id="{C7F24B2B-01B1-3F9E-D61F-78F1A4700C83}"/>
              </a:ext>
            </a:extLst>
          </p:cNvPr>
          <p:cNvSpPr txBox="1"/>
          <p:nvPr/>
        </p:nvSpPr>
        <p:spPr>
          <a:xfrm>
            <a:off x="1676400" y="5473699"/>
            <a:ext cx="9410700" cy="368300"/>
          </a:xfrm>
          <a:prstGeom prst="rect">
            <a:avLst/>
          </a:prstGeom>
          <a:noFill/>
        </p:spPr>
        <p:txBody>
          <a:bodyPr vert="horz" wrap="square" lIns="0" tIns="0" rIns="0" bIns="0" rtlCol="0" anchor="t">
            <a:noAutofit/>
          </a:bodyPr>
          <a:lstStyle/>
          <a:p>
            <a:r>
              <a:rPr lang="es-CO" sz="1900" dirty="0">
                <a:solidFill>
                  <a:srgbClr val="4F5A6C"/>
                </a:solidFill>
                <a:latin typeface="Bell MT" panose="02020503060305020303" pitchFamily="18" charset="0"/>
              </a:rPr>
              <a:t>Basal respecto al ingreso: D−6 y D−23, respectivamente.</a:t>
            </a:r>
          </a:p>
        </p:txBody>
      </p:sp>
      <p:sp>
        <p:nvSpPr>
          <p:cNvPr id="42" name="CEINNA_text_62">
            <a:extLst>
              <a:ext uri="{FF2B5EF4-FFF2-40B4-BE49-F238E27FC236}">
                <a16:creationId xmlns:a16="http://schemas.microsoft.com/office/drawing/2014/main" id="{2585D9DF-494D-9D74-6D5F-7D41B529FE99}"/>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Manual §4.7.6 y cronograma §§2, 4.1 y 7. DM = día de misión. Fechas previstas.</a:t>
            </a:r>
          </a:p>
        </p:txBody>
      </p:sp>
      <p:sp>
        <p:nvSpPr>
          <p:cNvPr id="43" name="CEINNA_text_63">
            <a:extLst>
              <a:ext uri="{FF2B5EF4-FFF2-40B4-BE49-F238E27FC236}">
                <a16:creationId xmlns:a16="http://schemas.microsoft.com/office/drawing/2014/main" id="{25FA015D-B6C5-E700-E570-0730CB5F9AD2}"/>
              </a:ext>
            </a:extLst>
          </p:cNvPr>
          <p:cNvSpPr txBox="1"/>
          <p:nvPr/>
        </p:nvSpPr>
        <p:spPr>
          <a:xfrm>
            <a:off x="11036300" y="6032500"/>
            <a:ext cx="292100" cy="228600"/>
          </a:xfrm>
          <a:prstGeom prst="rect">
            <a:avLst/>
          </a:prstGeom>
          <a:noFill/>
        </p:spPr>
        <p:txBody>
          <a:bodyPr vert="horz" wrap="square" lIns="0" tIns="0" rIns="0" bIns="0" rtlCol="0" anchor="t">
            <a:noAutofit/>
          </a:bodyPr>
          <a:lstStyle/>
          <a:p>
            <a:pPr algn="r"/>
            <a:r>
              <a:rPr lang="es-CO" sz="1200" dirty="0">
                <a:solidFill>
                  <a:srgbClr val="4F5A6C"/>
                </a:solidFill>
                <a:latin typeface="Bell MT" panose="02020503060305020303" pitchFamily="18" charset="0"/>
              </a:rPr>
              <a:t>6</a:t>
            </a:r>
          </a:p>
        </p:txBody>
      </p:sp>
    </p:spTree>
    <p:custDataLst>
      <p:tags r:id="rId1"/>
    </p:custDataLst>
    <p:extLst>
      <p:ext uri="{BB962C8B-B14F-4D97-AF65-F5344CB8AC3E}">
        <p14:creationId xmlns:p14="http://schemas.microsoft.com/office/powerpoint/2010/main" val="3026937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C0B2F-ABCF-A16D-9B99-96619EC7347F}"/>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B5C8DCE7-7F59-F685-9165-4D848885236E}"/>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A8E3883C-A3FB-B076-D9C5-4593E72824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512944A-8633-A84A-8248-74134005AF6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17EF142A-3A8B-CD16-CBC7-83A3158E79B9}"/>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79078B8D-A80A-1F4B-6797-EB5D560913BE}"/>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2AEAE2C5-BA4A-C173-EB20-5D20DFF34BC0}"/>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6B36561D-2D6B-4EDE-A51D-6DA6EACFF66A}"/>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64">
            <a:extLst>
              <a:ext uri="{FF2B5EF4-FFF2-40B4-BE49-F238E27FC236}">
                <a16:creationId xmlns:a16="http://schemas.microsoft.com/office/drawing/2014/main" id="{B88C2765-CB36-E3B6-BE94-25D28593A44A}"/>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900" b="1" dirty="0">
                <a:solidFill>
                  <a:srgbClr val="000F4D"/>
                </a:solidFill>
                <a:latin typeface="Bell MT" panose="02020503060305020303" pitchFamily="18" charset="0"/>
              </a:rPr>
              <a:t>Cuatro tareas simultáneas</a:t>
            </a:r>
          </a:p>
        </p:txBody>
      </p:sp>
      <p:pic>
        <p:nvPicPr>
          <p:cNvPr id="11" name="Picture 10" descr="Recurso con procedencia en visuales/registro_activos.csv">
            <a:extLst>
              <a:ext uri="{FF2B5EF4-FFF2-40B4-BE49-F238E27FC236}">
                <a16:creationId xmlns:a16="http://schemas.microsoft.com/office/drawing/2014/main" id="{2CCD1899-8954-EFA9-D179-3A19C8A107D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1651000" y="2031408"/>
            <a:ext cx="5930900" cy="3265084"/>
          </a:xfrm>
          <a:prstGeom prst="rect">
            <a:avLst/>
          </a:prstGeom>
        </p:spPr>
      </p:pic>
      <p:sp>
        <p:nvSpPr>
          <p:cNvPr id="14" name="CEINNA_text_65">
            <a:extLst>
              <a:ext uri="{FF2B5EF4-FFF2-40B4-BE49-F238E27FC236}">
                <a16:creationId xmlns:a16="http://schemas.microsoft.com/office/drawing/2014/main" id="{58F19E8F-FF75-B99D-CCCA-5736705C923C}"/>
              </a:ext>
            </a:extLst>
          </p:cNvPr>
          <p:cNvSpPr txBox="1"/>
          <p:nvPr/>
        </p:nvSpPr>
        <p:spPr>
          <a:xfrm>
            <a:off x="7874000" y="1892299"/>
            <a:ext cx="3365500" cy="381000"/>
          </a:xfrm>
          <a:prstGeom prst="rect">
            <a:avLst/>
          </a:prstGeom>
          <a:noFill/>
        </p:spPr>
        <p:txBody>
          <a:bodyPr vert="horz" wrap="square" lIns="0" tIns="0" rIns="0" bIns="0" rtlCol="0" anchor="t">
            <a:noAutofit/>
          </a:bodyPr>
          <a:lstStyle/>
          <a:p>
            <a:r>
              <a:rPr lang="es-CO" sz="2500" b="1" dirty="0">
                <a:solidFill>
                  <a:srgbClr val="000F4D"/>
                </a:solidFill>
                <a:latin typeface="Bell MT" panose="02020503060305020303" pitchFamily="18" charset="0"/>
              </a:rPr>
              <a:t>SYSMON</a:t>
            </a:r>
          </a:p>
        </p:txBody>
      </p:sp>
      <p:sp>
        <p:nvSpPr>
          <p:cNvPr id="15" name="CEINNA_text_66">
            <a:extLst>
              <a:ext uri="{FF2B5EF4-FFF2-40B4-BE49-F238E27FC236}">
                <a16:creationId xmlns:a16="http://schemas.microsoft.com/office/drawing/2014/main" id="{5118D3D6-D623-47E4-758D-D8CC52CBC3D9}"/>
              </a:ext>
            </a:extLst>
          </p:cNvPr>
          <p:cNvSpPr txBox="1"/>
          <p:nvPr/>
        </p:nvSpPr>
        <p:spPr>
          <a:xfrm>
            <a:off x="7874000" y="2285999"/>
            <a:ext cx="3365500" cy="508000"/>
          </a:xfrm>
          <a:prstGeom prst="rect">
            <a:avLst/>
          </a:prstGeom>
          <a:noFill/>
        </p:spPr>
        <p:txBody>
          <a:bodyPr vert="horz" wrap="square" lIns="0" tIns="0" rIns="0" bIns="0" rtlCol="0" anchor="t">
            <a:noAutofit/>
          </a:bodyPr>
          <a:lstStyle/>
          <a:p>
            <a:r>
              <a:rPr lang="es-CO" sz="2000" dirty="0">
                <a:solidFill>
                  <a:srgbClr val="242424"/>
                </a:solidFill>
                <a:latin typeface="Bell MT" panose="02020503060305020303" pitchFamily="18" charset="0"/>
              </a:rPr>
              <a:t>Supervisión de sistemas</a:t>
            </a:r>
          </a:p>
        </p:txBody>
      </p:sp>
      <p:sp>
        <p:nvSpPr>
          <p:cNvPr id="16" name="CEINNA_text_67">
            <a:extLst>
              <a:ext uri="{FF2B5EF4-FFF2-40B4-BE49-F238E27FC236}">
                <a16:creationId xmlns:a16="http://schemas.microsoft.com/office/drawing/2014/main" id="{5FEA0186-9225-4F1A-0B59-4A5045E5634B}"/>
              </a:ext>
            </a:extLst>
          </p:cNvPr>
          <p:cNvSpPr txBox="1"/>
          <p:nvPr/>
        </p:nvSpPr>
        <p:spPr>
          <a:xfrm>
            <a:off x="7874000" y="2832099"/>
            <a:ext cx="3365500" cy="381000"/>
          </a:xfrm>
          <a:prstGeom prst="rect">
            <a:avLst/>
          </a:prstGeom>
          <a:noFill/>
        </p:spPr>
        <p:txBody>
          <a:bodyPr vert="horz" wrap="square" lIns="0" tIns="0" rIns="0" bIns="0" rtlCol="0" anchor="t">
            <a:noAutofit/>
          </a:bodyPr>
          <a:lstStyle/>
          <a:p>
            <a:r>
              <a:rPr lang="es-CO" sz="2500" b="1" dirty="0">
                <a:solidFill>
                  <a:srgbClr val="000F4D"/>
                </a:solidFill>
                <a:latin typeface="Bell MT" panose="02020503060305020303" pitchFamily="18" charset="0"/>
              </a:rPr>
              <a:t>TRACK</a:t>
            </a:r>
          </a:p>
        </p:txBody>
      </p:sp>
      <p:sp>
        <p:nvSpPr>
          <p:cNvPr id="17" name="CEINNA_text_68">
            <a:extLst>
              <a:ext uri="{FF2B5EF4-FFF2-40B4-BE49-F238E27FC236}">
                <a16:creationId xmlns:a16="http://schemas.microsoft.com/office/drawing/2014/main" id="{FCC7262F-0104-017B-DC47-8F4E604C6BB1}"/>
              </a:ext>
            </a:extLst>
          </p:cNvPr>
          <p:cNvSpPr txBox="1"/>
          <p:nvPr/>
        </p:nvSpPr>
        <p:spPr>
          <a:xfrm>
            <a:off x="7874000" y="3225799"/>
            <a:ext cx="3365500" cy="508000"/>
          </a:xfrm>
          <a:prstGeom prst="rect">
            <a:avLst/>
          </a:prstGeom>
          <a:noFill/>
        </p:spPr>
        <p:txBody>
          <a:bodyPr vert="horz" wrap="square" lIns="0" tIns="0" rIns="0" bIns="0" rtlCol="0" anchor="t">
            <a:noAutofit/>
          </a:bodyPr>
          <a:lstStyle/>
          <a:p>
            <a:r>
              <a:rPr lang="es-CO" sz="2000" dirty="0">
                <a:solidFill>
                  <a:srgbClr val="242424"/>
                </a:solidFill>
                <a:latin typeface="Bell MT" panose="02020503060305020303" pitchFamily="18" charset="0"/>
              </a:rPr>
              <a:t>Seguimiento compensatorio</a:t>
            </a:r>
          </a:p>
        </p:txBody>
      </p:sp>
      <p:sp>
        <p:nvSpPr>
          <p:cNvPr id="18" name="CEINNA_text_69">
            <a:extLst>
              <a:ext uri="{FF2B5EF4-FFF2-40B4-BE49-F238E27FC236}">
                <a16:creationId xmlns:a16="http://schemas.microsoft.com/office/drawing/2014/main" id="{BEE5E419-4515-795C-72B9-09C57751F441}"/>
              </a:ext>
            </a:extLst>
          </p:cNvPr>
          <p:cNvSpPr txBox="1"/>
          <p:nvPr/>
        </p:nvSpPr>
        <p:spPr>
          <a:xfrm>
            <a:off x="7874000" y="3771899"/>
            <a:ext cx="3365500" cy="381000"/>
          </a:xfrm>
          <a:prstGeom prst="rect">
            <a:avLst/>
          </a:prstGeom>
          <a:noFill/>
        </p:spPr>
        <p:txBody>
          <a:bodyPr vert="horz" wrap="square" lIns="0" tIns="0" rIns="0" bIns="0" rtlCol="0" anchor="t">
            <a:noAutofit/>
          </a:bodyPr>
          <a:lstStyle/>
          <a:p>
            <a:r>
              <a:rPr lang="es-CO" sz="2500" b="1" dirty="0">
                <a:solidFill>
                  <a:srgbClr val="000F4D"/>
                </a:solidFill>
                <a:latin typeface="Bell MT" panose="02020503060305020303" pitchFamily="18" charset="0"/>
              </a:rPr>
              <a:t>COMM</a:t>
            </a:r>
          </a:p>
        </p:txBody>
      </p:sp>
      <p:sp>
        <p:nvSpPr>
          <p:cNvPr id="19" name="CEINNA_text_70">
            <a:extLst>
              <a:ext uri="{FF2B5EF4-FFF2-40B4-BE49-F238E27FC236}">
                <a16:creationId xmlns:a16="http://schemas.microsoft.com/office/drawing/2014/main" id="{833C6F65-C7CD-1D2E-CF31-D1E0034432A7}"/>
              </a:ext>
            </a:extLst>
          </p:cNvPr>
          <p:cNvSpPr txBox="1"/>
          <p:nvPr/>
        </p:nvSpPr>
        <p:spPr>
          <a:xfrm>
            <a:off x="7874000" y="4165599"/>
            <a:ext cx="3365500" cy="508000"/>
          </a:xfrm>
          <a:prstGeom prst="rect">
            <a:avLst/>
          </a:prstGeom>
          <a:noFill/>
        </p:spPr>
        <p:txBody>
          <a:bodyPr vert="horz" wrap="square" lIns="0" tIns="0" rIns="0" bIns="0" rtlCol="0" anchor="t">
            <a:noAutofit/>
          </a:bodyPr>
          <a:lstStyle/>
          <a:p>
            <a:r>
              <a:rPr lang="es-CO" sz="2000" dirty="0">
                <a:solidFill>
                  <a:srgbClr val="242424"/>
                </a:solidFill>
                <a:latin typeface="Bell MT" panose="02020503060305020303" pitchFamily="18" charset="0"/>
              </a:rPr>
              <a:t>Comunicaciones</a:t>
            </a:r>
          </a:p>
        </p:txBody>
      </p:sp>
      <p:sp>
        <p:nvSpPr>
          <p:cNvPr id="20" name="CEINNA_text_71">
            <a:extLst>
              <a:ext uri="{FF2B5EF4-FFF2-40B4-BE49-F238E27FC236}">
                <a16:creationId xmlns:a16="http://schemas.microsoft.com/office/drawing/2014/main" id="{3862A865-F0B3-A507-94E3-3BC81864A63E}"/>
              </a:ext>
            </a:extLst>
          </p:cNvPr>
          <p:cNvSpPr txBox="1"/>
          <p:nvPr/>
        </p:nvSpPr>
        <p:spPr>
          <a:xfrm>
            <a:off x="7874000" y="4711699"/>
            <a:ext cx="3365500" cy="381000"/>
          </a:xfrm>
          <a:prstGeom prst="rect">
            <a:avLst/>
          </a:prstGeom>
          <a:noFill/>
        </p:spPr>
        <p:txBody>
          <a:bodyPr vert="horz" wrap="square" lIns="0" tIns="0" rIns="0" bIns="0" rtlCol="0" anchor="t">
            <a:noAutofit/>
          </a:bodyPr>
          <a:lstStyle/>
          <a:p>
            <a:r>
              <a:rPr lang="es-CO" sz="2500" b="1" dirty="0">
                <a:solidFill>
                  <a:srgbClr val="000F4D"/>
                </a:solidFill>
                <a:latin typeface="Bell MT" panose="02020503060305020303" pitchFamily="18" charset="0"/>
              </a:rPr>
              <a:t>RESMAN</a:t>
            </a:r>
          </a:p>
        </p:txBody>
      </p:sp>
      <p:sp>
        <p:nvSpPr>
          <p:cNvPr id="21" name="CEINNA_text_72">
            <a:extLst>
              <a:ext uri="{FF2B5EF4-FFF2-40B4-BE49-F238E27FC236}">
                <a16:creationId xmlns:a16="http://schemas.microsoft.com/office/drawing/2014/main" id="{FD96B544-1DA8-030B-DB0E-EA8F67FE910D}"/>
              </a:ext>
            </a:extLst>
          </p:cNvPr>
          <p:cNvSpPr txBox="1"/>
          <p:nvPr/>
        </p:nvSpPr>
        <p:spPr>
          <a:xfrm>
            <a:off x="7874000" y="5105399"/>
            <a:ext cx="3365500" cy="508000"/>
          </a:xfrm>
          <a:prstGeom prst="rect">
            <a:avLst/>
          </a:prstGeom>
          <a:noFill/>
        </p:spPr>
        <p:txBody>
          <a:bodyPr vert="horz" wrap="square" lIns="0" tIns="0" rIns="0" bIns="0" rtlCol="0" anchor="t">
            <a:noAutofit/>
          </a:bodyPr>
          <a:lstStyle/>
          <a:p>
            <a:r>
              <a:rPr lang="es-CO" sz="2000" dirty="0">
                <a:solidFill>
                  <a:srgbClr val="242424"/>
                </a:solidFill>
                <a:latin typeface="Bell MT" panose="02020503060305020303" pitchFamily="18" charset="0"/>
              </a:rPr>
              <a:t>Gestión de recursos</a:t>
            </a:r>
          </a:p>
        </p:txBody>
      </p:sp>
      <p:sp>
        <p:nvSpPr>
          <p:cNvPr id="22" name="CEINNA_text_73">
            <a:extLst>
              <a:ext uri="{FF2B5EF4-FFF2-40B4-BE49-F238E27FC236}">
                <a16:creationId xmlns:a16="http://schemas.microsoft.com/office/drawing/2014/main" id="{EC8BB62E-7967-B258-EC47-8B12B6CE6770}"/>
              </a:ext>
            </a:extLst>
          </p:cNvPr>
          <p:cNvSpPr txBox="1"/>
          <p:nvPr/>
        </p:nvSpPr>
        <p:spPr>
          <a:xfrm>
            <a:off x="1663700" y="5587999"/>
            <a:ext cx="6045200" cy="3683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Captura documental de </a:t>
            </a:r>
            <a:r>
              <a:rPr lang="es-CO" sz="1200" dirty="0" err="1">
                <a:solidFill>
                  <a:srgbClr val="4F5A6C"/>
                </a:solidFill>
                <a:latin typeface="Bell MT" panose="02020503060305020303" pitchFamily="18" charset="0"/>
              </a:rPr>
              <a:t>OpenMATB</a:t>
            </a:r>
            <a:r>
              <a:rPr lang="es-CO" sz="1200" dirty="0">
                <a:solidFill>
                  <a:srgbClr val="4F5A6C"/>
                </a:solidFill>
                <a:latin typeface="Bell MT" panose="02020503060305020303" pitchFamily="18" charset="0"/>
              </a:rPr>
              <a:t> (interfaz original en francés).</a:t>
            </a:r>
          </a:p>
        </p:txBody>
      </p:sp>
      <p:sp>
        <p:nvSpPr>
          <p:cNvPr id="23" name="CEINNA_text_74">
            <a:extLst>
              <a:ext uri="{FF2B5EF4-FFF2-40B4-BE49-F238E27FC236}">
                <a16:creationId xmlns:a16="http://schemas.microsoft.com/office/drawing/2014/main" id="{7893A3DA-633E-1629-F7F0-24951C94FCE9}"/>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[1] Cegarra et al., 2020; </a:t>
            </a:r>
            <a:r>
              <a:rPr lang="es-CO" sz="1200" dirty="0" err="1">
                <a:solidFill>
                  <a:srgbClr val="4F5A6C"/>
                </a:solidFill>
                <a:latin typeface="Bell MT" panose="02020503060305020303" pitchFamily="18" charset="0"/>
              </a:rPr>
              <a:t>plugins</a:t>
            </a:r>
            <a:r>
              <a:rPr lang="es-CO" sz="1200" dirty="0">
                <a:solidFill>
                  <a:srgbClr val="4F5A6C"/>
                </a:solidFill>
                <a:latin typeface="Bell MT" panose="02020503060305020303" pitchFamily="18" charset="0"/>
              </a:rPr>
              <a:t> del repositorio MATB, revisión fd5e1318.</a:t>
            </a:r>
          </a:p>
        </p:txBody>
      </p:sp>
      <p:sp>
        <p:nvSpPr>
          <p:cNvPr id="24" name="CEINNA_text_75">
            <a:extLst>
              <a:ext uri="{FF2B5EF4-FFF2-40B4-BE49-F238E27FC236}">
                <a16:creationId xmlns:a16="http://schemas.microsoft.com/office/drawing/2014/main" id="{78FFF80A-E97E-6F1F-3839-E9F4C1AA2DB5}"/>
              </a:ext>
            </a:extLst>
          </p:cNvPr>
          <p:cNvSpPr txBox="1"/>
          <p:nvPr/>
        </p:nvSpPr>
        <p:spPr>
          <a:xfrm>
            <a:off x="11036300" y="6032500"/>
            <a:ext cx="292100" cy="228600"/>
          </a:xfrm>
          <a:prstGeom prst="rect">
            <a:avLst/>
          </a:prstGeom>
          <a:noFill/>
        </p:spPr>
        <p:txBody>
          <a:bodyPr vert="horz" wrap="square" lIns="0" tIns="0" rIns="0" bIns="0" rtlCol="0" anchor="t">
            <a:noAutofit/>
          </a:bodyPr>
          <a:lstStyle/>
          <a:p>
            <a:pPr algn="r"/>
            <a:r>
              <a:rPr lang="es-CO" sz="1200" dirty="0">
                <a:solidFill>
                  <a:srgbClr val="4F5A6C"/>
                </a:solidFill>
                <a:latin typeface="Bell MT" panose="02020503060305020303" pitchFamily="18" charset="0"/>
              </a:rPr>
              <a:t>7</a:t>
            </a:r>
          </a:p>
        </p:txBody>
      </p:sp>
    </p:spTree>
    <p:custDataLst>
      <p:tags r:id="rId1"/>
    </p:custDataLst>
    <p:extLst>
      <p:ext uri="{BB962C8B-B14F-4D97-AF65-F5344CB8AC3E}">
        <p14:creationId xmlns:p14="http://schemas.microsoft.com/office/powerpoint/2010/main" val="2686635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C0B2F-ABCF-A16D-9B99-96619EC7347F}"/>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B5C8DCE7-7F59-F685-9165-4D848885236E}"/>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A8E3883C-A3FB-B076-D9C5-4593E72824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512944A-8633-A84A-8248-74134005AF6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17EF142A-3A8B-CD16-CBC7-83A3158E79B9}"/>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79078B8D-A80A-1F4B-6797-EB5D560913BE}"/>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2AEAE2C5-BA4A-C173-EB20-5D20DFF34BC0}"/>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6B36561D-2D6B-4EDE-A51D-6DA6EACFF66A}"/>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76">
            <a:extLst>
              <a:ext uri="{FF2B5EF4-FFF2-40B4-BE49-F238E27FC236}">
                <a16:creationId xmlns:a16="http://schemas.microsoft.com/office/drawing/2014/main" id="{38477034-856E-FD02-2020-674E527EED5A}"/>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900" b="1" dirty="0">
                <a:solidFill>
                  <a:srgbClr val="000F4D"/>
                </a:solidFill>
                <a:latin typeface="Bell MT" panose="02020503060305020303" pitchFamily="18" charset="0"/>
              </a:rPr>
              <a:t>Estructura de una visita</a:t>
            </a:r>
          </a:p>
        </p:txBody>
      </p:sp>
      <p:sp>
        <p:nvSpPr>
          <p:cNvPr id="9" name="CEINNA_text_77">
            <a:extLst>
              <a:ext uri="{FF2B5EF4-FFF2-40B4-BE49-F238E27FC236}">
                <a16:creationId xmlns:a16="http://schemas.microsoft.com/office/drawing/2014/main" id="{76348286-61F4-B0EE-5C84-6C8BFA48E1F5}"/>
              </a:ext>
            </a:extLst>
          </p:cNvPr>
          <p:cNvSpPr txBox="1"/>
          <p:nvPr/>
        </p:nvSpPr>
        <p:spPr>
          <a:xfrm>
            <a:off x="1663700" y="1752599"/>
            <a:ext cx="9525000" cy="546100"/>
          </a:xfrm>
          <a:prstGeom prst="rect">
            <a:avLst/>
          </a:prstGeom>
          <a:noFill/>
        </p:spPr>
        <p:txBody>
          <a:bodyPr vert="horz" wrap="square" lIns="0" tIns="0" rIns="0" bIns="0" rtlCol="0" anchor="t">
            <a:noAutofit/>
          </a:bodyPr>
          <a:lstStyle/>
          <a:p>
            <a:r>
              <a:rPr lang="es-CO" sz="2800" b="1" dirty="0">
                <a:solidFill>
                  <a:srgbClr val="000F4D"/>
                </a:solidFill>
                <a:latin typeface="Bell MT" panose="02020503060305020303" pitchFamily="18" charset="0"/>
              </a:rPr>
              <a:t>90 min de reserva · 3 × 900 s de escenario</a:t>
            </a:r>
          </a:p>
        </p:txBody>
      </p:sp>
      <p:sp>
        <p:nvSpPr>
          <p:cNvPr id="11" name="CEINNA_box_78">
            <a:extLst>
              <a:ext uri="{FF2B5EF4-FFF2-40B4-BE49-F238E27FC236}">
                <a16:creationId xmlns:a16="http://schemas.microsoft.com/office/drawing/2014/main" id="{72D1A4EF-E88F-E0BF-4C73-458BF1047368}"/>
              </a:ext>
            </a:extLst>
          </p:cNvPr>
          <p:cNvSpPr/>
          <p:nvPr/>
        </p:nvSpPr>
        <p:spPr>
          <a:xfrm>
            <a:off x="1676400" y="2565400"/>
            <a:ext cx="2959100" cy="13208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CEINNA_text_79">
            <a:extLst>
              <a:ext uri="{FF2B5EF4-FFF2-40B4-BE49-F238E27FC236}">
                <a16:creationId xmlns:a16="http://schemas.microsoft.com/office/drawing/2014/main" id="{2094274D-0D52-865E-9797-28571BD8328A}"/>
              </a:ext>
            </a:extLst>
          </p:cNvPr>
          <p:cNvSpPr txBox="1"/>
          <p:nvPr/>
        </p:nvSpPr>
        <p:spPr>
          <a:xfrm>
            <a:off x="1828800" y="2743199"/>
            <a:ext cx="2654300" cy="508000"/>
          </a:xfrm>
          <a:prstGeom prst="rect">
            <a:avLst/>
          </a:prstGeom>
          <a:noFill/>
        </p:spPr>
        <p:txBody>
          <a:bodyPr vert="horz" wrap="square" lIns="0" tIns="0" rIns="0" bIns="0" rtlCol="0" anchor="t">
            <a:noAutofit/>
          </a:bodyPr>
          <a:lstStyle/>
          <a:p>
            <a:pPr algn="ctr"/>
            <a:r>
              <a:rPr lang="es-CO" sz="2800" b="1" dirty="0">
                <a:solidFill>
                  <a:srgbClr val="000F4D"/>
                </a:solidFill>
                <a:latin typeface="Bell MT" panose="02020503060305020303" pitchFamily="18" charset="0"/>
              </a:rPr>
              <a:t>LOW</a:t>
            </a:r>
          </a:p>
        </p:txBody>
      </p:sp>
      <p:sp>
        <p:nvSpPr>
          <p:cNvPr id="15" name="CEINNA_text_80">
            <a:extLst>
              <a:ext uri="{FF2B5EF4-FFF2-40B4-BE49-F238E27FC236}">
                <a16:creationId xmlns:a16="http://schemas.microsoft.com/office/drawing/2014/main" id="{0AB68539-1E80-2AE1-06AF-300A1D14F374}"/>
              </a:ext>
            </a:extLst>
          </p:cNvPr>
          <p:cNvSpPr txBox="1"/>
          <p:nvPr/>
        </p:nvSpPr>
        <p:spPr>
          <a:xfrm>
            <a:off x="1828800" y="3301999"/>
            <a:ext cx="2654300" cy="393700"/>
          </a:xfrm>
          <a:prstGeom prst="rect">
            <a:avLst/>
          </a:prstGeom>
          <a:noFill/>
        </p:spPr>
        <p:txBody>
          <a:bodyPr vert="horz" wrap="square" lIns="0" tIns="0" rIns="0" bIns="0" rtlCol="0" anchor="t">
            <a:noAutofit/>
          </a:bodyPr>
          <a:lstStyle/>
          <a:p>
            <a:pPr algn="ctr"/>
            <a:r>
              <a:rPr lang="es-CO" sz="2200" dirty="0">
                <a:solidFill>
                  <a:srgbClr val="242424"/>
                </a:solidFill>
                <a:latin typeface="Bell MT" panose="02020503060305020303" pitchFamily="18" charset="0"/>
              </a:rPr>
              <a:t>15 min de escenario</a:t>
            </a:r>
          </a:p>
        </p:txBody>
      </p:sp>
      <p:sp>
        <p:nvSpPr>
          <p:cNvPr id="16" name="CEINNA_box_81">
            <a:extLst>
              <a:ext uri="{FF2B5EF4-FFF2-40B4-BE49-F238E27FC236}">
                <a16:creationId xmlns:a16="http://schemas.microsoft.com/office/drawing/2014/main" id="{5EBD5FF4-B84D-0FE5-A9AB-05C6F0A9B466}"/>
              </a:ext>
            </a:extLst>
          </p:cNvPr>
          <p:cNvSpPr/>
          <p:nvPr/>
        </p:nvSpPr>
        <p:spPr>
          <a:xfrm>
            <a:off x="4914900" y="2565400"/>
            <a:ext cx="2959100" cy="13208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7" name="CEINNA_text_82">
            <a:extLst>
              <a:ext uri="{FF2B5EF4-FFF2-40B4-BE49-F238E27FC236}">
                <a16:creationId xmlns:a16="http://schemas.microsoft.com/office/drawing/2014/main" id="{6283BB5A-DDA0-571D-5C37-29E23B3BA08A}"/>
              </a:ext>
            </a:extLst>
          </p:cNvPr>
          <p:cNvSpPr txBox="1"/>
          <p:nvPr/>
        </p:nvSpPr>
        <p:spPr>
          <a:xfrm>
            <a:off x="5067300" y="2743199"/>
            <a:ext cx="2654300" cy="508000"/>
          </a:xfrm>
          <a:prstGeom prst="rect">
            <a:avLst/>
          </a:prstGeom>
          <a:noFill/>
        </p:spPr>
        <p:txBody>
          <a:bodyPr vert="horz" wrap="square" lIns="0" tIns="0" rIns="0" bIns="0" rtlCol="0" anchor="t">
            <a:noAutofit/>
          </a:bodyPr>
          <a:lstStyle/>
          <a:p>
            <a:pPr algn="ctr"/>
            <a:r>
              <a:rPr lang="es-CO" sz="2800" b="1" dirty="0">
                <a:solidFill>
                  <a:srgbClr val="000F4D"/>
                </a:solidFill>
                <a:latin typeface="Bell MT" panose="02020503060305020303" pitchFamily="18" charset="0"/>
              </a:rPr>
              <a:t>MEDIUM</a:t>
            </a:r>
          </a:p>
        </p:txBody>
      </p:sp>
      <p:sp>
        <p:nvSpPr>
          <p:cNvPr id="18" name="CEINNA_text_83">
            <a:extLst>
              <a:ext uri="{FF2B5EF4-FFF2-40B4-BE49-F238E27FC236}">
                <a16:creationId xmlns:a16="http://schemas.microsoft.com/office/drawing/2014/main" id="{9B2805FA-B7FB-C8BF-B569-6D354862A976}"/>
              </a:ext>
            </a:extLst>
          </p:cNvPr>
          <p:cNvSpPr txBox="1"/>
          <p:nvPr/>
        </p:nvSpPr>
        <p:spPr>
          <a:xfrm>
            <a:off x="5067300" y="3301999"/>
            <a:ext cx="2654300" cy="393700"/>
          </a:xfrm>
          <a:prstGeom prst="rect">
            <a:avLst/>
          </a:prstGeom>
          <a:noFill/>
        </p:spPr>
        <p:txBody>
          <a:bodyPr vert="horz" wrap="square" lIns="0" tIns="0" rIns="0" bIns="0" rtlCol="0" anchor="t">
            <a:noAutofit/>
          </a:bodyPr>
          <a:lstStyle/>
          <a:p>
            <a:pPr algn="ctr"/>
            <a:r>
              <a:rPr lang="es-CO" sz="2200" dirty="0">
                <a:solidFill>
                  <a:srgbClr val="242424"/>
                </a:solidFill>
                <a:latin typeface="Bell MT" panose="02020503060305020303" pitchFamily="18" charset="0"/>
              </a:rPr>
              <a:t>15 min de escenario</a:t>
            </a:r>
          </a:p>
        </p:txBody>
      </p:sp>
      <p:sp>
        <p:nvSpPr>
          <p:cNvPr id="19" name="CEINNA_box_84">
            <a:extLst>
              <a:ext uri="{FF2B5EF4-FFF2-40B4-BE49-F238E27FC236}">
                <a16:creationId xmlns:a16="http://schemas.microsoft.com/office/drawing/2014/main" id="{080EB18B-8E54-49BA-529F-9592C6F9D487}"/>
              </a:ext>
            </a:extLst>
          </p:cNvPr>
          <p:cNvSpPr/>
          <p:nvPr/>
        </p:nvSpPr>
        <p:spPr>
          <a:xfrm>
            <a:off x="8153400" y="2565400"/>
            <a:ext cx="2959100" cy="13208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CEINNA_text_85">
            <a:extLst>
              <a:ext uri="{FF2B5EF4-FFF2-40B4-BE49-F238E27FC236}">
                <a16:creationId xmlns:a16="http://schemas.microsoft.com/office/drawing/2014/main" id="{FB381866-B34A-691B-6CFA-42EA026B5724}"/>
              </a:ext>
            </a:extLst>
          </p:cNvPr>
          <p:cNvSpPr txBox="1"/>
          <p:nvPr/>
        </p:nvSpPr>
        <p:spPr>
          <a:xfrm>
            <a:off x="8305800" y="2743199"/>
            <a:ext cx="2654300" cy="508000"/>
          </a:xfrm>
          <a:prstGeom prst="rect">
            <a:avLst/>
          </a:prstGeom>
          <a:noFill/>
        </p:spPr>
        <p:txBody>
          <a:bodyPr vert="horz" wrap="square" lIns="0" tIns="0" rIns="0" bIns="0" rtlCol="0" anchor="t">
            <a:noAutofit/>
          </a:bodyPr>
          <a:lstStyle/>
          <a:p>
            <a:pPr algn="ctr"/>
            <a:r>
              <a:rPr lang="es-CO" sz="2800" b="1" dirty="0">
                <a:solidFill>
                  <a:srgbClr val="000F4D"/>
                </a:solidFill>
                <a:latin typeface="Bell MT" panose="02020503060305020303" pitchFamily="18" charset="0"/>
              </a:rPr>
              <a:t>HIGH</a:t>
            </a:r>
          </a:p>
        </p:txBody>
      </p:sp>
      <p:sp>
        <p:nvSpPr>
          <p:cNvPr id="21" name="CEINNA_text_86">
            <a:extLst>
              <a:ext uri="{FF2B5EF4-FFF2-40B4-BE49-F238E27FC236}">
                <a16:creationId xmlns:a16="http://schemas.microsoft.com/office/drawing/2014/main" id="{C84E4A61-F2BC-8563-B047-D2035A14CE91}"/>
              </a:ext>
            </a:extLst>
          </p:cNvPr>
          <p:cNvSpPr txBox="1"/>
          <p:nvPr/>
        </p:nvSpPr>
        <p:spPr>
          <a:xfrm>
            <a:off x="8305800" y="3301999"/>
            <a:ext cx="2654300" cy="393700"/>
          </a:xfrm>
          <a:prstGeom prst="rect">
            <a:avLst/>
          </a:prstGeom>
          <a:noFill/>
        </p:spPr>
        <p:txBody>
          <a:bodyPr vert="horz" wrap="square" lIns="0" tIns="0" rIns="0" bIns="0" rtlCol="0" anchor="t">
            <a:noAutofit/>
          </a:bodyPr>
          <a:lstStyle/>
          <a:p>
            <a:pPr algn="ctr"/>
            <a:r>
              <a:rPr lang="es-CO" sz="2200" dirty="0">
                <a:solidFill>
                  <a:srgbClr val="242424"/>
                </a:solidFill>
                <a:latin typeface="Bell MT" panose="02020503060305020303" pitchFamily="18" charset="0"/>
              </a:rPr>
              <a:t>15 min de escenario</a:t>
            </a:r>
          </a:p>
        </p:txBody>
      </p:sp>
      <p:sp>
        <p:nvSpPr>
          <p:cNvPr id="22" name="CEINNA_text_87">
            <a:extLst>
              <a:ext uri="{FF2B5EF4-FFF2-40B4-BE49-F238E27FC236}">
                <a16:creationId xmlns:a16="http://schemas.microsoft.com/office/drawing/2014/main" id="{1D062E50-F84F-14F8-1549-F9515E8CE309}"/>
              </a:ext>
            </a:extLst>
          </p:cNvPr>
          <p:cNvSpPr txBox="1"/>
          <p:nvPr/>
        </p:nvSpPr>
        <p:spPr>
          <a:xfrm>
            <a:off x="1663700" y="4013199"/>
            <a:ext cx="9525000" cy="419100"/>
          </a:xfrm>
          <a:prstGeom prst="rect">
            <a:avLst/>
          </a:prstGeom>
          <a:noFill/>
        </p:spPr>
        <p:txBody>
          <a:bodyPr vert="horz" wrap="square" lIns="0" tIns="0" rIns="0" bIns="0" rtlCol="0" anchor="t">
            <a:noAutofit/>
          </a:bodyPr>
          <a:lstStyle/>
          <a:p>
            <a:pPr algn="ctr"/>
            <a:r>
              <a:rPr lang="es-CO" sz="2300" dirty="0">
                <a:solidFill>
                  <a:srgbClr val="000F4D"/>
                </a:solidFill>
                <a:latin typeface="Bell MT" panose="02020503060305020303" pitchFamily="18" charset="0"/>
              </a:rPr>
              <a:t>Tres condiciones de demanda · orden contrabalanceado</a:t>
            </a:r>
          </a:p>
        </p:txBody>
      </p:sp>
      <p:sp>
        <p:nvSpPr>
          <p:cNvPr id="23" name="CEINNA_text_88">
            <a:extLst>
              <a:ext uri="{FF2B5EF4-FFF2-40B4-BE49-F238E27FC236}">
                <a16:creationId xmlns:a16="http://schemas.microsoft.com/office/drawing/2014/main" id="{18E7A3FB-B184-102A-05FE-F1FDB6FAA1D3}"/>
              </a:ext>
            </a:extLst>
          </p:cNvPr>
          <p:cNvSpPr txBox="1"/>
          <p:nvPr/>
        </p:nvSpPr>
        <p:spPr>
          <a:xfrm>
            <a:off x="1676400" y="4648199"/>
            <a:ext cx="2971800" cy="368300"/>
          </a:xfrm>
          <a:prstGeom prst="rect">
            <a:avLst/>
          </a:prstGeom>
          <a:noFill/>
        </p:spPr>
        <p:txBody>
          <a:bodyPr vert="horz" wrap="square" lIns="0" tIns="0" rIns="0" bIns="0" rtlCol="0" anchor="t">
            <a:noAutofit/>
          </a:bodyPr>
          <a:lstStyle/>
          <a:p>
            <a:r>
              <a:rPr lang="es-CO" sz="2200" b="1" dirty="0">
                <a:solidFill>
                  <a:srgbClr val="000F4D"/>
                </a:solidFill>
                <a:latin typeface="Bell MT" panose="02020503060305020303" pitchFamily="18" charset="0"/>
              </a:rPr>
              <a:t>Antes de cada bloque</a:t>
            </a:r>
          </a:p>
        </p:txBody>
      </p:sp>
      <p:sp>
        <p:nvSpPr>
          <p:cNvPr id="24" name="CEINNA_text_89">
            <a:extLst>
              <a:ext uri="{FF2B5EF4-FFF2-40B4-BE49-F238E27FC236}">
                <a16:creationId xmlns:a16="http://schemas.microsoft.com/office/drawing/2014/main" id="{4CE9D359-DF65-AEC7-6CF1-CA87D45E576C}"/>
              </a:ext>
            </a:extLst>
          </p:cNvPr>
          <p:cNvSpPr txBox="1"/>
          <p:nvPr/>
        </p:nvSpPr>
        <p:spPr>
          <a:xfrm>
            <a:off x="1676400" y="5130799"/>
            <a:ext cx="2971800" cy="673100"/>
          </a:xfrm>
          <a:prstGeom prst="rect">
            <a:avLst/>
          </a:prstGeom>
          <a:noFill/>
        </p:spPr>
        <p:txBody>
          <a:bodyPr vert="horz" wrap="square" lIns="0" tIns="0" rIns="0" bIns="0" rtlCol="0" anchor="t">
            <a:noAutofit/>
          </a:bodyPr>
          <a:lstStyle/>
          <a:p>
            <a:r>
              <a:rPr lang="es-CO" sz="2100" dirty="0">
                <a:solidFill>
                  <a:srgbClr val="242424"/>
                </a:solidFill>
                <a:latin typeface="Bell MT" panose="02020503060305020303" pitchFamily="18" charset="0"/>
              </a:rPr>
              <a:t>Somnolencia (KSS)</a:t>
            </a:r>
          </a:p>
        </p:txBody>
      </p:sp>
      <p:sp>
        <p:nvSpPr>
          <p:cNvPr id="25" name="CEINNA_text_90">
            <a:extLst>
              <a:ext uri="{FF2B5EF4-FFF2-40B4-BE49-F238E27FC236}">
                <a16:creationId xmlns:a16="http://schemas.microsoft.com/office/drawing/2014/main" id="{412CB498-B66B-FA67-2850-FE9AC1FD2D71}"/>
              </a:ext>
            </a:extLst>
          </p:cNvPr>
          <p:cNvSpPr txBox="1"/>
          <p:nvPr/>
        </p:nvSpPr>
        <p:spPr>
          <a:xfrm>
            <a:off x="4914900" y="4648199"/>
            <a:ext cx="2971800" cy="368300"/>
          </a:xfrm>
          <a:prstGeom prst="rect">
            <a:avLst/>
          </a:prstGeom>
          <a:noFill/>
        </p:spPr>
        <p:txBody>
          <a:bodyPr vert="horz" wrap="square" lIns="0" tIns="0" rIns="0" bIns="0" rtlCol="0" anchor="t">
            <a:noAutofit/>
          </a:bodyPr>
          <a:lstStyle/>
          <a:p>
            <a:r>
              <a:rPr lang="es-CO" sz="2200" b="1" dirty="0">
                <a:solidFill>
                  <a:srgbClr val="000F4D"/>
                </a:solidFill>
                <a:latin typeface="Bell MT" panose="02020503060305020303" pitchFamily="18" charset="0"/>
              </a:rPr>
              <a:t>Durante la tarea</a:t>
            </a:r>
          </a:p>
        </p:txBody>
      </p:sp>
      <p:sp>
        <p:nvSpPr>
          <p:cNvPr id="26" name="CEINNA_text_91">
            <a:extLst>
              <a:ext uri="{FF2B5EF4-FFF2-40B4-BE49-F238E27FC236}">
                <a16:creationId xmlns:a16="http://schemas.microsoft.com/office/drawing/2014/main" id="{07493D84-F330-BF0E-DAE1-976CE3179AEE}"/>
              </a:ext>
            </a:extLst>
          </p:cNvPr>
          <p:cNvSpPr txBox="1"/>
          <p:nvPr/>
        </p:nvSpPr>
        <p:spPr>
          <a:xfrm>
            <a:off x="4914900" y="5130799"/>
            <a:ext cx="2971800" cy="673100"/>
          </a:xfrm>
          <a:prstGeom prst="rect">
            <a:avLst/>
          </a:prstGeom>
          <a:noFill/>
        </p:spPr>
        <p:txBody>
          <a:bodyPr vert="horz" wrap="square" lIns="0" tIns="0" rIns="0" bIns="0" rtlCol="0" anchor="t">
            <a:noAutofit/>
          </a:bodyPr>
          <a:lstStyle/>
          <a:p>
            <a:r>
              <a:rPr lang="es-CO" sz="2100" dirty="0">
                <a:solidFill>
                  <a:srgbClr val="242424"/>
                </a:solidFill>
                <a:latin typeface="Bell MT" panose="02020503060305020303" pitchFamily="18" charset="0"/>
              </a:rPr>
              <a:t>Autoevaluación (ISA)</a:t>
            </a:r>
          </a:p>
        </p:txBody>
      </p:sp>
      <p:sp>
        <p:nvSpPr>
          <p:cNvPr id="27" name="CEINNA_text_92">
            <a:extLst>
              <a:ext uri="{FF2B5EF4-FFF2-40B4-BE49-F238E27FC236}">
                <a16:creationId xmlns:a16="http://schemas.microsoft.com/office/drawing/2014/main" id="{A781CBDD-9540-E7F9-FC06-16AEDBDC7302}"/>
              </a:ext>
            </a:extLst>
          </p:cNvPr>
          <p:cNvSpPr txBox="1"/>
          <p:nvPr/>
        </p:nvSpPr>
        <p:spPr>
          <a:xfrm>
            <a:off x="8153400" y="4648199"/>
            <a:ext cx="2971800" cy="368300"/>
          </a:xfrm>
          <a:prstGeom prst="rect">
            <a:avLst/>
          </a:prstGeom>
          <a:noFill/>
        </p:spPr>
        <p:txBody>
          <a:bodyPr vert="horz" wrap="square" lIns="0" tIns="0" rIns="0" bIns="0" rtlCol="0" anchor="t">
            <a:noAutofit/>
          </a:bodyPr>
          <a:lstStyle/>
          <a:p>
            <a:r>
              <a:rPr lang="es-CO" sz="2200" b="1" dirty="0">
                <a:solidFill>
                  <a:srgbClr val="000F4D"/>
                </a:solidFill>
                <a:latin typeface="Bell MT" panose="02020503060305020303" pitchFamily="18" charset="0"/>
              </a:rPr>
              <a:t>Después del bloque</a:t>
            </a:r>
          </a:p>
        </p:txBody>
      </p:sp>
      <p:sp>
        <p:nvSpPr>
          <p:cNvPr id="28" name="CEINNA_text_93">
            <a:extLst>
              <a:ext uri="{FF2B5EF4-FFF2-40B4-BE49-F238E27FC236}">
                <a16:creationId xmlns:a16="http://schemas.microsoft.com/office/drawing/2014/main" id="{D76EE295-9D0E-D866-4684-2BA91FBAB85B}"/>
              </a:ext>
            </a:extLst>
          </p:cNvPr>
          <p:cNvSpPr txBox="1"/>
          <p:nvPr/>
        </p:nvSpPr>
        <p:spPr>
          <a:xfrm>
            <a:off x="8153400" y="5130799"/>
            <a:ext cx="2971800" cy="673100"/>
          </a:xfrm>
          <a:prstGeom prst="rect">
            <a:avLst/>
          </a:prstGeom>
          <a:noFill/>
        </p:spPr>
        <p:txBody>
          <a:bodyPr vert="horz" wrap="square" lIns="0" tIns="0" rIns="0" bIns="0" rtlCol="0" anchor="t">
            <a:noAutofit/>
          </a:bodyPr>
          <a:lstStyle/>
          <a:p>
            <a:r>
              <a:rPr lang="es-CO" sz="2100" dirty="0">
                <a:solidFill>
                  <a:srgbClr val="242424"/>
                </a:solidFill>
                <a:latin typeface="Bell MT" panose="02020503060305020303" pitchFamily="18" charset="0"/>
              </a:rPr>
              <a:t>Carga percibida
(NASA‑TLX)</a:t>
            </a:r>
          </a:p>
        </p:txBody>
      </p:sp>
      <p:sp>
        <p:nvSpPr>
          <p:cNvPr id="29" name="CEINNA_text_94">
            <a:extLst>
              <a:ext uri="{FF2B5EF4-FFF2-40B4-BE49-F238E27FC236}">
                <a16:creationId xmlns:a16="http://schemas.microsoft.com/office/drawing/2014/main" id="{A7B353C2-6652-14C9-33D8-ADFCAA4E2C05}"/>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Manual §4.7; [6] Laverde-López et al., 2022. Preparación, reposo y pausas en la reserva.</a:t>
            </a:r>
          </a:p>
        </p:txBody>
      </p:sp>
      <p:sp>
        <p:nvSpPr>
          <p:cNvPr id="30" name="CEINNA_text_95">
            <a:extLst>
              <a:ext uri="{FF2B5EF4-FFF2-40B4-BE49-F238E27FC236}">
                <a16:creationId xmlns:a16="http://schemas.microsoft.com/office/drawing/2014/main" id="{12E809E8-E579-7237-1C38-F6FF1208C108}"/>
              </a:ext>
            </a:extLst>
          </p:cNvPr>
          <p:cNvSpPr txBox="1"/>
          <p:nvPr/>
        </p:nvSpPr>
        <p:spPr>
          <a:xfrm>
            <a:off x="11036300" y="6032500"/>
            <a:ext cx="292100" cy="228600"/>
          </a:xfrm>
          <a:prstGeom prst="rect">
            <a:avLst/>
          </a:prstGeom>
          <a:noFill/>
        </p:spPr>
        <p:txBody>
          <a:bodyPr vert="horz" wrap="square" lIns="0" tIns="0" rIns="0" bIns="0" rtlCol="0" anchor="t">
            <a:noAutofit/>
          </a:bodyPr>
          <a:lstStyle/>
          <a:p>
            <a:pPr algn="r"/>
            <a:r>
              <a:rPr lang="es-CO" sz="1200" dirty="0">
                <a:solidFill>
                  <a:srgbClr val="4F5A6C"/>
                </a:solidFill>
                <a:latin typeface="Bell MT" panose="02020503060305020303" pitchFamily="18" charset="0"/>
              </a:rPr>
              <a:t>8</a:t>
            </a:r>
          </a:p>
        </p:txBody>
      </p:sp>
    </p:spTree>
    <p:custDataLst>
      <p:tags r:id="rId1"/>
    </p:custDataLst>
    <p:extLst>
      <p:ext uri="{BB962C8B-B14F-4D97-AF65-F5344CB8AC3E}">
        <p14:creationId xmlns:p14="http://schemas.microsoft.com/office/powerpoint/2010/main" val="2497484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C0B2F-ABCF-A16D-9B99-96619EC7347F}"/>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B5C8DCE7-7F59-F685-9165-4D848885236E}"/>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A8E3883C-A3FB-B076-D9C5-4593E72824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512944A-8633-A84A-8248-74134005AF6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17EF142A-3A8B-CD16-CBC7-83A3158E79B9}"/>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79078B8D-A80A-1F4B-6797-EB5D560913BE}"/>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2AEAE2C5-BA4A-C173-EB20-5D20DFF34BC0}"/>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6B36561D-2D6B-4EDE-A51D-6DA6EACFF66A}"/>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96">
            <a:extLst>
              <a:ext uri="{FF2B5EF4-FFF2-40B4-BE49-F238E27FC236}">
                <a16:creationId xmlns:a16="http://schemas.microsoft.com/office/drawing/2014/main" id="{E5E54433-0239-55B5-1CA5-24B43B62CF68}"/>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900" b="1" dirty="0">
                <a:solidFill>
                  <a:srgbClr val="000F4D"/>
                </a:solidFill>
                <a:latin typeface="Bell MT" panose="02020503060305020303" pitchFamily="18" charset="0"/>
              </a:rPr>
              <a:t>Del escenario al análisis</a:t>
            </a:r>
          </a:p>
        </p:txBody>
      </p:sp>
      <p:sp>
        <p:nvSpPr>
          <p:cNvPr id="9" name="CEINNA_box_97">
            <a:extLst>
              <a:ext uri="{FF2B5EF4-FFF2-40B4-BE49-F238E27FC236}">
                <a16:creationId xmlns:a16="http://schemas.microsoft.com/office/drawing/2014/main" id="{D6D0427F-227C-6780-7526-F76F23F0698F}"/>
              </a:ext>
            </a:extLst>
          </p:cNvPr>
          <p:cNvSpPr/>
          <p:nvPr/>
        </p:nvSpPr>
        <p:spPr>
          <a:xfrm>
            <a:off x="1676400" y="2590800"/>
            <a:ext cx="2159000" cy="20447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CEINNA_text_98">
            <a:extLst>
              <a:ext uri="{FF2B5EF4-FFF2-40B4-BE49-F238E27FC236}">
                <a16:creationId xmlns:a16="http://schemas.microsoft.com/office/drawing/2014/main" id="{FC175DC8-1578-9541-AEFD-D0127935CC6A}"/>
              </a:ext>
            </a:extLst>
          </p:cNvPr>
          <p:cNvSpPr txBox="1"/>
          <p:nvPr/>
        </p:nvSpPr>
        <p:spPr>
          <a:xfrm>
            <a:off x="1828800" y="2768599"/>
            <a:ext cx="1879600" cy="495300"/>
          </a:xfrm>
          <a:prstGeom prst="rect">
            <a:avLst/>
          </a:prstGeom>
          <a:noFill/>
        </p:spPr>
        <p:txBody>
          <a:bodyPr vert="horz" wrap="square" lIns="0" tIns="0" rIns="0" bIns="0" rtlCol="0" anchor="t">
            <a:noAutofit/>
          </a:bodyPr>
          <a:lstStyle/>
          <a:p>
            <a:pPr algn="ctr"/>
            <a:r>
              <a:rPr lang="es-CO" sz="2600" b="1" dirty="0">
                <a:solidFill>
                  <a:srgbClr val="000F4D"/>
                </a:solidFill>
                <a:latin typeface="Bell MT" panose="02020503060305020303" pitchFamily="18" charset="0"/>
              </a:rPr>
              <a:t>Escenario</a:t>
            </a:r>
          </a:p>
        </p:txBody>
      </p:sp>
      <p:sp>
        <p:nvSpPr>
          <p:cNvPr id="14" name="CEINNA_text_99">
            <a:extLst>
              <a:ext uri="{FF2B5EF4-FFF2-40B4-BE49-F238E27FC236}">
                <a16:creationId xmlns:a16="http://schemas.microsoft.com/office/drawing/2014/main" id="{65191C62-4F05-2072-E9AA-7BAD51B1FD12}"/>
              </a:ext>
            </a:extLst>
          </p:cNvPr>
          <p:cNvSpPr txBox="1"/>
          <p:nvPr/>
        </p:nvSpPr>
        <p:spPr>
          <a:xfrm>
            <a:off x="1828800" y="3403599"/>
            <a:ext cx="1879600" cy="1130300"/>
          </a:xfrm>
          <a:prstGeom prst="rect">
            <a:avLst/>
          </a:prstGeom>
          <a:noFill/>
        </p:spPr>
        <p:txBody>
          <a:bodyPr vert="horz" wrap="square" lIns="0" tIns="0" rIns="0" bIns="0" rtlCol="0" anchor="t">
            <a:noAutofit/>
          </a:bodyPr>
          <a:lstStyle/>
          <a:p>
            <a:pPr algn="ctr"/>
            <a:r>
              <a:rPr lang="es-CO" sz="2200" dirty="0">
                <a:solidFill>
                  <a:srgbClr val="242424"/>
                </a:solidFill>
                <a:latin typeface="Bell MT" panose="02020503060305020303" pitchFamily="18" charset="0"/>
              </a:rPr>
              <a:t>Parámetros
Semilla
Orden</a:t>
            </a:r>
          </a:p>
        </p:txBody>
      </p:sp>
      <p:sp>
        <p:nvSpPr>
          <p:cNvPr id="15" name="CEINNA_text_100">
            <a:extLst>
              <a:ext uri="{FF2B5EF4-FFF2-40B4-BE49-F238E27FC236}">
                <a16:creationId xmlns:a16="http://schemas.microsoft.com/office/drawing/2014/main" id="{D5FE0B63-67A0-399E-058E-FAEA48D816AE}"/>
              </a:ext>
            </a:extLst>
          </p:cNvPr>
          <p:cNvSpPr txBox="1"/>
          <p:nvPr/>
        </p:nvSpPr>
        <p:spPr>
          <a:xfrm>
            <a:off x="3873500" y="3403599"/>
            <a:ext cx="317500" cy="469900"/>
          </a:xfrm>
          <a:prstGeom prst="rect">
            <a:avLst/>
          </a:prstGeom>
          <a:noFill/>
        </p:spPr>
        <p:txBody>
          <a:bodyPr vert="horz" wrap="square" lIns="0" tIns="0" rIns="0" bIns="0" rtlCol="0" anchor="t">
            <a:noAutofit/>
          </a:bodyPr>
          <a:lstStyle/>
          <a:p>
            <a:pPr algn="ctr"/>
            <a:r>
              <a:rPr lang="es-CO" sz="2400" dirty="0">
                <a:solidFill>
                  <a:srgbClr val="000F4D"/>
                </a:solidFill>
                <a:latin typeface="Bell MT" panose="02020503060305020303" pitchFamily="18" charset="0"/>
              </a:rPr>
              <a:t>→</a:t>
            </a:r>
          </a:p>
        </p:txBody>
      </p:sp>
      <p:sp>
        <p:nvSpPr>
          <p:cNvPr id="16" name="CEINNA_box_101">
            <a:extLst>
              <a:ext uri="{FF2B5EF4-FFF2-40B4-BE49-F238E27FC236}">
                <a16:creationId xmlns:a16="http://schemas.microsoft.com/office/drawing/2014/main" id="{951D7DCF-F244-11E6-5117-A1861EBAE2F5}"/>
              </a:ext>
            </a:extLst>
          </p:cNvPr>
          <p:cNvSpPr/>
          <p:nvPr/>
        </p:nvSpPr>
        <p:spPr>
          <a:xfrm>
            <a:off x="4127500" y="2590800"/>
            <a:ext cx="2159000" cy="20447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7" name="CEINNA_text_102">
            <a:extLst>
              <a:ext uri="{FF2B5EF4-FFF2-40B4-BE49-F238E27FC236}">
                <a16:creationId xmlns:a16="http://schemas.microsoft.com/office/drawing/2014/main" id="{EAACD74A-549E-9B14-7C1F-08BDA35C729B}"/>
              </a:ext>
            </a:extLst>
          </p:cNvPr>
          <p:cNvSpPr txBox="1"/>
          <p:nvPr/>
        </p:nvSpPr>
        <p:spPr>
          <a:xfrm>
            <a:off x="4279900" y="2768599"/>
            <a:ext cx="1879600" cy="495300"/>
          </a:xfrm>
          <a:prstGeom prst="rect">
            <a:avLst/>
          </a:prstGeom>
          <a:noFill/>
        </p:spPr>
        <p:txBody>
          <a:bodyPr vert="horz" wrap="square" lIns="0" tIns="0" rIns="0" bIns="0" rtlCol="0" anchor="t">
            <a:noAutofit/>
          </a:bodyPr>
          <a:lstStyle/>
          <a:p>
            <a:pPr algn="ctr"/>
            <a:r>
              <a:rPr lang="es-CO" sz="2600" b="1" dirty="0">
                <a:solidFill>
                  <a:srgbClr val="000F4D"/>
                </a:solidFill>
                <a:latin typeface="Bell MT" panose="02020503060305020303" pitchFamily="18" charset="0"/>
              </a:rPr>
              <a:t>Registro</a:t>
            </a:r>
          </a:p>
        </p:txBody>
      </p:sp>
      <p:sp>
        <p:nvSpPr>
          <p:cNvPr id="18" name="CEINNA_text_103">
            <a:extLst>
              <a:ext uri="{FF2B5EF4-FFF2-40B4-BE49-F238E27FC236}">
                <a16:creationId xmlns:a16="http://schemas.microsoft.com/office/drawing/2014/main" id="{B7DD5096-225D-712D-6237-40464FB1DDDF}"/>
              </a:ext>
            </a:extLst>
          </p:cNvPr>
          <p:cNvSpPr txBox="1"/>
          <p:nvPr/>
        </p:nvSpPr>
        <p:spPr>
          <a:xfrm>
            <a:off x="4279900" y="3403599"/>
            <a:ext cx="1879600" cy="1130300"/>
          </a:xfrm>
          <a:prstGeom prst="rect">
            <a:avLst/>
          </a:prstGeom>
          <a:noFill/>
        </p:spPr>
        <p:txBody>
          <a:bodyPr vert="horz" wrap="square" lIns="0" tIns="0" rIns="0" bIns="0" rtlCol="0" anchor="t">
            <a:noAutofit/>
          </a:bodyPr>
          <a:lstStyle/>
          <a:p>
            <a:pPr algn="ctr"/>
            <a:r>
              <a:rPr lang="es-CO" sz="2200" dirty="0">
                <a:solidFill>
                  <a:srgbClr val="242424"/>
                </a:solidFill>
                <a:latin typeface="Bell MT" panose="02020503060305020303" pitchFamily="18" charset="0"/>
              </a:rPr>
              <a:t>Identidad
Visita
Eventos</a:t>
            </a:r>
          </a:p>
        </p:txBody>
      </p:sp>
      <p:sp>
        <p:nvSpPr>
          <p:cNvPr id="19" name="CEINNA_text_104">
            <a:extLst>
              <a:ext uri="{FF2B5EF4-FFF2-40B4-BE49-F238E27FC236}">
                <a16:creationId xmlns:a16="http://schemas.microsoft.com/office/drawing/2014/main" id="{8099EC9E-1DE6-804A-4AB3-D780024CB1A6}"/>
              </a:ext>
            </a:extLst>
          </p:cNvPr>
          <p:cNvSpPr txBox="1"/>
          <p:nvPr/>
        </p:nvSpPr>
        <p:spPr>
          <a:xfrm>
            <a:off x="6324600" y="3403599"/>
            <a:ext cx="317500" cy="469900"/>
          </a:xfrm>
          <a:prstGeom prst="rect">
            <a:avLst/>
          </a:prstGeom>
          <a:noFill/>
        </p:spPr>
        <p:txBody>
          <a:bodyPr vert="horz" wrap="square" lIns="0" tIns="0" rIns="0" bIns="0" rtlCol="0" anchor="t">
            <a:noAutofit/>
          </a:bodyPr>
          <a:lstStyle/>
          <a:p>
            <a:pPr algn="ctr"/>
            <a:r>
              <a:rPr lang="es-CO" sz="2400" dirty="0">
                <a:solidFill>
                  <a:srgbClr val="000F4D"/>
                </a:solidFill>
                <a:latin typeface="Bell MT" panose="02020503060305020303" pitchFamily="18" charset="0"/>
              </a:rPr>
              <a:t>→</a:t>
            </a:r>
          </a:p>
        </p:txBody>
      </p:sp>
      <p:sp>
        <p:nvSpPr>
          <p:cNvPr id="20" name="CEINNA_box_105">
            <a:extLst>
              <a:ext uri="{FF2B5EF4-FFF2-40B4-BE49-F238E27FC236}">
                <a16:creationId xmlns:a16="http://schemas.microsoft.com/office/drawing/2014/main" id="{1B8F8385-A5EA-3A6B-24C7-13BD69FC4043}"/>
              </a:ext>
            </a:extLst>
          </p:cNvPr>
          <p:cNvSpPr/>
          <p:nvPr/>
        </p:nvSpPr>
        <p:spPr>
          <a:xfrm>
            <a:off x="6578600" y="2590800"/>
            <a:ext cx="2159000" cy="20447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CEINNA_text_106">
            <a:extLst>
              <a:ext uri="{FF2B5EF4-FFF2-40B4-BE49-F238E27FC236}">
                <a16:creationId xmlns:a16="http://schemas.microsoft.com/office/drawing/2014/main" id="{EA294CB8-CCB0-D6AB-4B3D-E8A935E5CEF6}"/>
              </a:ext>
            </a:extLst>
          </p:cNvPr>
          <p:cNvSpPr txBox="1"/>
          <p:nvPr/>
        </p:nvSpPr>
        <p:spPr>
          <a:xfrm>
            <a:off x="6731000" y="2768599"/>
            <a:ext cx="1879600" cy="495300"/>
          </a:xfrm>
          <a:prstGeom prst="rect">
            <a:avLst/>
          </a:prstGeom>
          <a:noFill/>
        </p:spPr>
        <p:txBody>
          <a:bodyPr vert="horz" wrap="square" lIns="0" tIns="0" rIns="0" bIns="0" rtlCol="0" anchor="t">
            <a:noAutofit/>
          </a:bodyPr>
          <a:lstStyle/>
          <a:p>
            <a:pPr algn="ctr"/>
            <a:r>
              <a:rPr lang="es-CO" sz="2600" b="1" dirty="0">
                <a:solidFill>
                  <a:srgbClr val="000F4D"/>
                </a:solidFill>
                <a:latin typeface="Bell MT" panose="02020503060305020303" pitchFamily="18" charset="0"/>
              </a:rPr>
              <a:t>Métricas</a:t>
            </a:r>
          </a:p>
        </p:txBody>
      </p:sp>
      <p:sp>
        <p:nvSpPr>
          <p:cNvPr id="22" name="CEINNA_text_107">
            <a:extLst>
              <a:ext uri="{FF2B5EF4-FFF2-40B4-BE49-F238E27FC236}">
                <a16:creationId xmlns:a16="http://schemas.microsoft.com/office/drawing/2014/main" id="{47989FFA-8F3E-4F89-EB9D-62F224EB39A2}"/>
              </a:ext>
            </a:extLst>
          </p:cNvPr>
          <p:cNvSpPr txBox="1"/>
          <p:nvPr/>
        </p:nvSpPr>
        <p:spPr>
          <a:xfrm>
            <a:off x="6731000" y="3403599"/>
            <a:ext cx="1879600" cy="1130300"/>
          </a:xfrm>
          <a:prstGeom prst="rect">
            <a:avLst/>
          </a:prstGeom>
          <a:noFill/>
        </p:spPr>
        <p:txBody>
          <a:bodyPr vert="horz" wrap="square" lIns="0" tIns="0" rIns="0" bIns="0" rtlCol="0" anchor="t">
            <a:noAutofit/>
          </a:bodyPr>
          <a:lstStyle/>
          <a:p>
            <a:pPr algn="ctr"/>
            <a:r>
              <a:rPr lang="es-CO" sz="2200" dirty="0">
                <a:solidFill>
                  <a:srgbClr val="242424"/>
                </a:solidFill>
                <a:latin typeface="Bell MT" panose="02020503060305020303" pitchFamily="18" charset="0"/>
              </a:rPr>
              <a:t>Definición
Unidades
Versión</a:t>
            </a:r>
          </a:p>
        </p:txBody>
      </p:sp>
      <p:sp>
        <p:nvSpPr>
          <p:cNvPr id="23" name="CEINNA_text_108">
            <a:extLst>
              <a:ext uri="{FF2B5EF4-FFF2-40B4-BE49-F238E27FC236}">
                <a16:creationId xmlns:a16="http://schemas.microsoft.com/office/drawing/2014/main" id="{9F9A7B85-E5C9-49D9-115A-BD23CC22FD0D}"/>
              </a:ext>
            </a:extLst>
          </p:cNvPr>
          <p:cNvSpPr txBox="1"/>
          <p:nvPr/>
        </p:nvSpPr>
        <p:spPr>
          <a:xfrm>
            <a:off x="8775700" y="3403599"/>
            <a:ext cx="317500" cy="469900"/>
          </a:xfrm>
          <a:prstGeom prst="rect">
            <a:avLst/>
          </a:prstGeom>
          <a:noFill/>
        </p:spPr>
        <p:txBody>
          <a:bodyPr vert="horz" wrap="square" lIns="0" tIns="0" rIns="0" bIns="0" rtlCol="0" anchor="t">
            <a:noAutofit/>
          </a:bodyPr>
          <a:lstStyle/>
          <a:p>
            <a:pPr algn="ctr"/>
            <a:r>
              <a:rPr lang="es-CO" sz="2400" dirty="0">
                <a:solidFill>
                  <a:srgbClr val="000F4D"/>
                </a:solidFill>
                <a:latin typeface="Bell MT" panose="02020503060305020303" pitchFamily="18" charset="0"/>
              </a:rPr>
              <a:t>→</a:t>
            </a:r>
          </a:p>
        </p:txBody>
      </p:sp>
      <p:sp>
        <p:nvSpPr>
          <p:cNvPr id="24" name="CEINNA_box_109">
            <a:extLst>
              <a:ext uri="{FF2B5EF4-FFF2-40B4-BE49-F238E27FC236}">
                <a16:creationId xmlns:a16="http://schemas.microsoft.com/office/drawing/2014/main" id="{0D4DE010-48E3-C682-895A-0F8A9582E20D}"/>
              </a:ext>
            </a:extLst>
          </p:cNvPr>
          <p:cNvSpPr/>
          <p:nvPr/>
        </p:nvSpPr>
        <p:spPr>
          <a:xfrm>
            <a:off x="9029700" y="2590800"/>
            <a:ext cx="2159000" cy="20447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CEINNA_text_110">
            <a:extLst>
              <a:ext uri="{FF2B5EF4-FFF2-40B4-BE49-F238E27FC236}">
                <a16:creationId xmlns:a16="http://schemas.microsoft.com/office/drawing/2014/main" id="{BF1A27ED-6BFC-FCFA-69F4-94130D47A3D3}"/>
              </a:ext>
            </a:extLst>
          </p:cNvPr>
          <p:cNvSpPr txBox="1"/>
          <p:nvPr/>
        </p:nvSpPr>
        <p:spPr>
          <a:xfrm>
            <a:off x="9182100" y="2768599"/>
            <a:ext cx="1879600" cy="495300"/>
          </a:xfrm>
          <a:prstGeom prst="rect">
            <a:avLst/>
          </a:prstGeom>
          <a:noFill/>
        </p:spPr>
        <p:txBody>
          <a:bodyPr vert="horz" wrap="square" lIns="0" tIns="0" rIns="0" bIns="0" rtlCol="0" anchor="t">
            <a:noAutofit/>
          </a:bodyPr>
          <a:lstStyle/>
          <a:p>
            <a:pPr algn="ctr"/>
            <a:r>
              <a:rPr lang="es-CO" sz="2600" b="1" dirty="0">
                <a:solidFill>
                  <a:srgbClr val="000F4D"/>
                </a:solidFill>
                <a:latin typeface="Bell MT" panose="02020503060305020303" pitchFamily="18" charset="0"/>
              </a:rPr>
              <a:t>Análisis</a:t>
            </a:r>
          </a:p>
        </p:txBody>
      </p:sp>
      <p:sp>
        <p:nvSpPr>
          <p:cNvPr id="26" name="CEINNA_text_111">
            <a:extLst>
              <a:ext uri="{FF2B5EF4-FFF2-40B4-BE49-F238E27FC236}">
                <a16:creationId xmlns:a16="http://schemas.microsoft.com/office/drawing/2014/main" id="{B57584C9-1255-2464-F426-45204AF452D9}"/>
              </a:ext>
            </a:extLst>
          </p:cNvPr>
          <p:cNvSpPr txBox="1"/>
          <p:nvPr/>
        </p:nvSpPr>
        <p:spPr>
          <a:xfrm>
            <a:off x="9182100" y="3403599"/>
            <a:ext cx="1879600" cy="1130300"/>
          </a:xfrm>
          <a:prstGeom prst="rect">
            <a:avLst/>
          </a:prstGeom>
          <a:noFill/>
        </p:spPr>
        <p:txBody>
          <a:bodyPr vert="horz" wrap="square" lIns="0" tIns="0" rIns="0" bIns="0" rtlCol="0" anchor="t">
            <a:noAutofit/>
          </a:bodyPr>
          <a:lstStyle/>
          <a:p>
            <a:pPr algn="ctr"/>
            <a:r>
              <a:rPr lang="es-CO" sz="2200" dirty="0">
                <a:solidFill>
                  <a:srgbClr val="242424"/>
                </a:solidFill>
                <a:latin typeface="Bell MT" panose="02020503060305020303" pitchFamily="18" charset="0"/>
              </a:rPr>
              <a:t>Calidad
Elegibilidad
Trazabilidad</a:t>
            </a:r>
          </a:p>
        </p:txBody>
      </p:sp>
      <p:sp>
        <p:nvSpPr>
          <p:cNvPr id="27" name="CEINNA_text_112">
            <a:extLst>
              <a:ext uri="{FF2B5EF4-FFF2-40B4-BE49-F238E27FC236}">
                <a16:creationId xmlns:a16="http://schemas.microsoft.com/office/drawing/2014/main" id="{4488AFDB-15F5-8D7A-FF8F-490089059219}"/>
              </a:ext>
            </a:extLst>
          </p:cNvPr>
          <p:cNvSpPr txBox="1"/>
          <p:nvPr/>
        </p:nvSpPr>
        <p:spPr>
          <a:xfrm>
            <a:off x="1663700" y="5029199"/>
            <a:ext cx="9525000" cy="812800"/>
          </a:xfrm>
          <a:prstGeom prst="rect">
            <a:avLst/>
          </a:prstGeom>
          <a:noFill/>
        </p:spPr>
        <p:txBody>
          <a:bodyPr vert="horz" wrap="square" lIns="0" tIns="0" rIns="0" bIns="0" rtlCol="0" anchor="t">
            <a:noAutofit/>
          </a:bodyPr>
          <a:lstStyle/>
          <a:p>
            <a:r>
              <a:rPr lang="es-CO" sz="2500" dirty="0">
                <a:solidFill>
                  <a:srgbClr val="242424"/>
                </a:solidFill>
                <a:latin typeface="Bell MT" panose="02020503060305020303" pitchFamily="18" charset="0"/>
              </a:rPr>
              <a:t>Cada resultado conserva su vínculo con la condición experimental y el registro de origen.</a:t>
            </a:r>
          </a:p>
        </p:txBody>
      </p:sp>
      <p:sp>
        <p:nvSpPr>
          <p:cNvPr id="28" name="CEINNA_text_113">
            <a:extLst>
              <a:ext uri="{FF2B5EF4-FFF2-40B4-BE49-F238E27FC236}">
                <a16:creationId xmlns:a16="http://schemas.microsoft.com/office/drawing/2014/main" id="{C2B72BAB-1865-F0BF-2DD9-C566D8706912}"/>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[1,5] Cegarra et al., 2020; Vogl et al., 2024. Contratos y manifiestos de MATB.</a:t>
            </a:r>
          </a:p>
        </p:txBody>
      </p:sp>
      <p:sp>
        <p:nvSpPr>
          <p:cNvPr id="29" name="CEINNA_text_114">
            <a:extLst>
              <a:ext uri="{FF2B5EF4-FFF2-40B4-BE49-F238E27FC236}">
                <a16:creationId xmlns:a16="http://schemas.microsoft.com/office/drawing/2014/main" id="{02442678-A442-8A2D-A2BA-00986D82F11F}"/>
              </a:ext>
            </a:extLst>
          </p:cNvPr>
          <p:cNvSpPr txBox="1"/>
          <p:nvPr/>
        </p:nvSpPr>
        <p:spPr>
          <a:xfrm>
            <a:off x="11036300" y="6032500"/>
            <a:ext cx="292100" cy="228600"/>
          </a:xfrm>
          <a:prstGeom prst="rect">
            <a:avLst/>
          </a:prstGeom>
          <a:noFill/>
        </p:spPr>
        <p:txBody>
          <a:bodyPr vert="horz" wrap="square" lIns="0" tIns="0" rIns="0" bIns="0" rtlCol="0" anchor="t">
            <a:noAutofit/>
          </a:bodyPr>
          <a:lstStyle/>
          <a:p>
            <a:pPr algn="r"/>
            <a:r>
              <a:rPr lang="es-CO" sz="1200" dirty="0">
                <a:solidFill>
                  <a:srgbClr val="4F5A6C"/>
                </a:solidFill>
                <a:latin typeface="Bell MT" panose="02020503060305020303" pitchFamily="18" charset="0"/>
              </a:rPr>
              <a:t>9</a:t>
            </a:r>
          </a:p>
        </p:txBody>
      </p:sp>
    </p:spTree>
    <p:custDataLst>
      <p:tags r:id="rId1"/>
    </p:custDataLst>
    <p:extLst>
      <p:ext uri="{BB962C8B-B14F-4D97-AF65-F5344CB8AC3E}">
        <p14:creationId xmlns:p14="http://schemas.microsoft.com/office/powerpoint/2010/main" val="2070521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C0B2F-ABCF-A16D-9B99-96619EC7347F}"/>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B5C8DCE7-7F59-F685-9165-4D848885236E}"/>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A8E3883C-A3FB-B076-D9C5-4593E72824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512944A-8633-A84A-8248-74134005AF6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17EF142A-3A8B-CD16-CBC7-83A3158E79B9}"/>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79078B8D-A80A-1F4B-6797-EB5D560913BE}"/>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2AEAE2C5-BA4A-C173-EB20-5D20DFF34BC0}"/>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FE96F9A2-CC29-44DE-B819-E23B17405AAA}"/>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115">
            <a:extLst>
              <a:ext uri="{FF2B5EF4-FFF2-40B4-BE49-F238E27FC236}">
                <a16:creationId xmlns:a16="http://schemas.microsoft.com/office/drawing/2014/main" id="{AA9A6A6D-048B-AB9C-79C9-0FF1661E0091}"/>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900" b="1" dirty="0">
                <a:solidFill>
                  <a:srgbClr val="000F4D"/>
                </a:solidFill>
                <a:latin typeface="Bell MT" panose="02020503060305020303" pitchFamily="18" charset="0"/>
              </a:rPr>
              <a:t>Resultados de desarrollo</a:t>
            </a:r>
          </a:p>
        </p:txBody>
      </p:sp>
      <p:sp>
        <p:nvSpPr>
          <p:cNvPr id="9" name="CEINNA_text_116">
            <a:extLst>
              <a:ext uri="{FF2B5EF4-FFF2-40B4-BE49-F238E27FC236}">
                <a16:creationId xmlns:a16="http://schemas.microsoft.com/office/drawing/2014/main" id="{AA12FAA3-334B-7AF0-BE46-CA290B8B88AD}"/>
              </a:ext>
            </a:extLst>
          </p:cNvPr>
          <p:cNvSpPr txBox="1"/>
          <p:nvPr/>
        </p:nvSpPr>
        <p:spPr>
          <a:xfrm>
            <a:off x="1663700" y="1714499"/>
            <a:ext cx="9525000" cy="546100"/>
          </a:xfrm>
          <a:prstGeom prst="rect">
            <a:avLst/>
          </a:prstGeom>
          <a:noFill/>
        </p:spPr>
        <p:txBody>
          <a:bodyPr vert="horz" wrap="square" lIns="0" tIns="0" rIns="0" bIns="0" rtlCol="0" anchor="t">
            <a:noAutofit/>
          </a:bodyPr>
          <a:lstStyle/>
          <a:p>
            <a:r>
              <a:rPr lang="es-CO" sz="2600" b="1" dirty="0">
                <a:solidFill>
                  <a:srgbClr val="000F4D"/>
                </a:solidFill>
                <a:latin typeface="Bell MT" panose="02020503060305020303" pitchFamily="18" charset="0"/>
              </a:rPr>
              <a:t>Demostración técnica con datos sintéticos</a:t>
            </a:r>
          </a:p>
        </p:txBody>
      </p:sp>
      <p:sp>
        <p:nvSpPr>
          <p:cNvPr id="11" name="CEINNA_box_117">
            <a:extLst>
              <a:ext uri="{FF2B5EF4-FFF2-40B4-BE49-F238E27FC236}">
                <a16:creationId xmlns:a16="http://schemas.microsoft.com/office/drawing/2014/main" id="{ED1B6DE4-7D2B-E337-AEE3-20CE4E44AA70}"/>
              </a:ext>
            </a:extLst>
          </p:cNvPr>
          <p:cNvSpPr/>
          <p:nvPr/>
        </p:nvSpPr>
        <p:spPr>
          <a:xfrm>
            <a:off x="1663700" y="2540000"/>
            <a:ext cx="9525000" cy="8890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CEINNA_text_118">
            <a:extLst>
              <a:ext uri="{FF2B5EF4-FFF2-40B4-BE49-F238E27FC236}">
                <a16:creationId xmlns:a16="http://schemas.microsoft.com/office/drawing/2014/main" id="{2F0C5FCF-BE89-CA8F-5A88-CF745DEF4557}"/>
              </a:ext>
            </a:extLst>
          </p:cNvPr>
          <p:cNvSpPr txBox="1"/>
          <p:nvPr/>
        </p:nvSpPr>
        <p:spPr>
          <a:xfrm>
            <a:off x="1841500" y="2628899"/>
            <a:ext cx="2794000" cy="736600"/>
          </a:xfrm>
          <a:prstGeom prst="rect">
            <a:avLst/>
          </a:prstGeom>
          <a:noFill/>
        </p:spPr>
        <p:txBody>
          <a:bodyPr vert="horz" wrap="square" lIns="0" tIns="0" rIns="0" bIns="0" rtlCol="0" anchor="t">
            <a:noAutofit/>
          </a:bodyPr>
          <a:lstStyle/>
          <a:p>
            <a:r>
              <a:rPr lang="es-CO" sz="2400" b="1" dirty="0">
                <a:solidFill>
                  <a:srgbClr val="000F4D"/>
                </a:solidFill>
                <a:latin typeface="Bell MT" panose="02020503060305020303" pitchFamily="18" charset="0"/>
              </a:rPr>
              <a:t>Generación</a:t>
            </a:r>
          </a:p>
        </p:txBody>
      </p:sp>
      <p:sp>
        <p:nvSpPr>
          <p:cNvPr id="15" name="CEINNA_text_119">
            <a:extLst>
              <a:ext uri="{FF2B5EF4-FFF2-40B4-BE49-F238E27FC236}">
                <a16:creationId xmlns:a16="http://schemas.microsoft.com/office/drawing/2014/main" id="{5F29DBC4-962D-87C2-B6C9-7C6F916AEDE6}"/>
              </a:ext>
            </a:extLst>
          </p:cNvPr>
          <p:cNvSpPr txBox="1"/>
          <p:nvPr/>
        </p:nvSpPr>
        <p:spPr>
          <a:xfrm>
            <a:off x="4826000" y="2679699"/>
            <a:ext cx="6108700" cy="698500"/>
          </a:xfrm>
          <a:prstGeom prst="rect">
            <a:avLst/>
          </a:prstGeom>
          <a:noFill/>
        </p:spPr>
        <p:txBody>
          <a:bodyPr vert="horz" wrap="square" lIns="0" tIns="0" rIns="0" bIns="0" rtlCol="0" anchor="t">
            <a:noAutofit/>
          </a:bodyPr>
          <a:lstStyle/>
          <a:p>
            <a:r>
              <a:rPr lang="es-CO" sz="2300" dirty="0">
                <a:solidFill>
                  <a:srgbClr val="242424"/>
                </a:solidFill>
                <a:latin typeface="Bell MT" panose="02020503060305020303" pitchFamily="18" charset="0"/>
              </a:rPr>
              <a:t>Tres escenarios de 900 s: LOW, MEDIUM y HIGH.</a:t>
            </a:r>
          </a:p>
        </p:txBody>
      </p:sp>
      <p:sp>
        <p:nvSpPr>
          <p:cNvPr id="16" name="CEINNA_box_120">
            <a:extLst>
              <a:ext uri="{FF2B5EF4-FFF2-40B4-BE49-F238E27FC236}">
                <a16:creationId xmlns:a16="http://schemas.microsoft.com/office/drawing/2014/main" id="{6E879DAE-F50C-3334-0B8D-AE4402916287}"/>
              </a:ext>
            </a:extLst>
          </p:cNvPr>
          <p:cNvSpPr/>
          <p:nvPr/>
        </p:nvSpPr>
        <p:spPr>
          <a:xfrm>
            <a:off x="1663700" y="3568700"/>
            <a:ext cx="9525000" cy="889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7" name="CEINNA_text_121">
            <a:extLst>
              <a:ext uri="{FF2B5EF4-FFF2-40B4-BE49-F238E27FC236}">
                <a16:creationId xmlns:a16="http://schemas.microsoft.com/office/drawing/2014/main" id="{A0BEA167-9506-717C-3F72-64F152B2FF12}"/>
              </a:ext>
            </a:extLst>
          </p:cNvPr>
          <p:cNvSpPr txBox="1"/>
          <p:nvPr/>
        </p:nvSpPr>
        <p:spPr>
          <a:xfrm>
            <a:off x="1841500" y="3657599"/>
            <a:ext cx="2794000" cy="736600"/>
          </a:xfrm>
          <a:prstGeom prst="rect">
            <a:avLst/>
          </a:prstGeom>
          <a:noFill/>
        </p:spPr>
        <p:txBody>
          <a:bodyPr vert="horz" wrap="square" lIns="0" tIns="0" rIns="0" bIns="0" rtlCol="0" anchor="t">
            <a:noAutofit/>
          </a:bodyPr>
          <a:lstStyle/>
          <a:p>
            <a:r>
              <a:rPr lang="es-CO" sz="2400" b="1" dirty="0">
                <a:solidFill>
                  <a:srgbClr val="000F4D"/>
                </a:solidFill>
                <a:latin typeface="Bell MT" panose="02020503060305020303" pitchFamily="18" charset="0"/>
              </a:rPr>
              <a:t>Reproducción</a:t>
            </a:r>
          </a:p>
        </p:txBody>
      </p:sp>
      <p:sp>
        <p:nvSpPr>
          <p:cNvPr id="18" name="CEINNA_text_122">
            <a:extLst>
              <a:ext uri="{FF2B5EF4-FFF2-40B4-BE49-F238E27FC236}">
                <a16:creationId xmlns:a16="http://schemas.microsoft.com/office/drawing/2014/main" id="{68E95E44-0433-EAA4-1696-DD9D8FEE83FC}"/>
              </a:ext>
            </a:extLst>
          </p:cNvPr>
          <p:cNvSpPr txBox="1"/>
          <p:nvPr/>
        </p:nvSpPr>
        <p:spPr>
          <a:xfrm>
            <a:off x="4826000" y="3708399"/>
            <a:ext cx="6108700" cy="698500"/>
          </a:xfrm>
          <a:prstGeom prst="rect">
            <a:avLst/>
          </a:prstGeom>
          <a:noFill/>
        </p:spPr>
        <p:txBody>
          <a:bodyPr vert="horz" wrap="square" lIns="0" tIns="0" rIns="0" bIns="0" rtlCol="0" anchor="t">
            <a:noAutofit/>
          </a:bodyPr>
          <a:lstStyle/>
          <a:p>
            <a:r>
              <a:rPr lang="es-CO" sz="2300" dirty="0">
                <a:solidFill>
                  <a:srgbClr val="242424"/>
                </a:solidFill>
                <a:latin typeface="Bell MT" panose="02020503060305020303" pitchFamily="18" charset="0"/>
              </a:rPr>
              <a:t>Archivos idénticos al repetir parámetros y semillas.</a:t>
            </a:r>
          </a:p>
        </p:txBody>
      </p:sp>
      <p:sp>
        <p:nvSpPr>
          <p:cNvPr id="19" name="CEINNA_box_123">
            <a:extLst>
              <a:ext uri="{FF2B5EF4-FFF2-40B4-BE49-F238E27FC236}">
                <a16:creationId xmlns:a16="http://schemas.microsoft.com/office/drawing/2014/main" id="{E3F9361A-42FF-C5E5-B7EC-8403155F3794}"/>
              </a:ext>
            </a:extLst>
          </p:cNvPr>
          <p:cNvSpPr/>
          <p:nvPr/>
        </p:nvSpPr>
        <p:spPr>
          <a:xfrm>
            <a:off x="1663700" y="4597400"/>
            <a:ext cx="9525000" cy="8890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CEINNA_text_124">
            <a:extLst>
              <a:ext uri="{FF2B5EF4-FFF2-40B4-BE49-F238E27FC236}">
                <a16:creationId xmlns:a16="http://schemas.microsoft.com/office/drawing/2014/main" id="{8D23763D-A083-B58F-6B23-4F0C99859A68}"/>
              </a:ext>
            </a:extLst>
          </p:cNvPr>
          <p:cNvSpPr txBox="1"/>
          <p:nvPr/>
        </p:nvSpPr>
        <p:spPr>
          <a:xfrm>
            <a:off x="1841500" y="4686299"/>
            <a:ext cx="2794000" cy="736600"/>
          </a:xfrm>
          <a:prstGeom prst="rect">
            <a:avLst/>
          </a:prstGeom>
          <a:noFill/>
        </p:spPr>
        <p:txBody>
          <a:bodyPr vert="horz" wrap="square" lIns="0" tIns="0" rIns="0" bIns="0" rtlCol="0" anchor="t">
            <a:noAutofit/>
          </a:bodyPr>
          <a:lstStyle/>
          <a:p>
            <a:r>
              <a:rPr lang="es-CO" sz="2400" b="1" dirty="0">
                <a:solidFill>
                  <a:srgbClr val="000F4D"/>
                </a:solidFill>
                <a:latin typeface="Bell MT" panose="02020503060305020303" pitchFamily="18" charset="0"/>
              </a:rPr>
              <a:t>Integridad y conversión</a:t>
            </a:r>
          </a:p>
        </p:txBody>
      </p:sp>
      <p:sp>
        <p:nvSpPr>
          <p:cNvPr id="21" name="CEINNA_text_125">
            <a:extLst>
              <a:ext uri="{FF2B5EF4-FFF2-40B4-BE49-F238E27FC236}">
                <a16:creationId xmlns:a16="http://schemas.microsoft.com/office/drawing/2014/main" id="{ABB3282E-FC52-F79B-F19A-3786F458D218}"/>
              </a:ext>
            </a:extLst>
          </p:cNvPr>
          <p:cNvSpPr txBox="1"/>
          <p:nvPr/>
        </p:nvSpPr>
        <p:spPr>
          <a:xfrm>
            <a:off x="4826000" y="4737099"/>
            <a:ext cx="6108700" cy="698500"/>
          </a:xfrm>
          <a:prstGeom prst="rect">
            <a:avLst/>
          </a:prstGeom>
          <a:noFill/>
        </p:spPr>
        <p:txBody>
          <a:bodyPr vert="horz" wrap="square" lIns="0" tIns="0" rIns="0" bIns="0" rtlCol="0" anchor="t">
            <a:noAutofit/>
          </a:bodyPr>
          <a:lstStyle/>
          <a:p>
            <a:r>
              <a:rPr lang="es-CO" sz="2300" dirty="0">
                <a:solidFill>
                  <a:srgbClr val="242424"/>
                </a:solidFill>
                <a:latin typeface="Bell MT" panose="02020503060305020303" pitchFamily="18" charset="0"/>
              </a:rPr>
              <a:t>Hashes SHA-256 verificados; tres archivos CSV sintéticos convertidos.</a:t>
            </a:r>
          </a:p>
        </p:txBody>
      </p:sp>
      <p:sp>
        <p:nvSpPr>
          <p:cNvPr id="22" name="CEINNA_text_126">
            <a:extLst>
              <a:ext uri="{FF2B5EF4-FFF2-40B4-BE49-F238E27FC236}">
                <a16:creationId xmlns:a16="http://schemas.microsoft.com/office/drawing/2014/main" id="{92293A63-AE1E-7CD0-F23C-8277B186A14F}"/>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Ejecución local: 21-09-2026 · </a:t>
            </a:r>
            <a:r>
              <a:rPr lang="es-CO" sz="1200" dirty="0" err="1">
                <a:solidFill>
                  <a:srgbClr val="4F5A6C"/>
                </a:solidFill>
                <a:latin typeface="Bell MT" panose="02020503060305020303" pitchFamily="18" charset="0"/>
              </a:rPr>
              <a:t>commit</a:t>
            </a:r>
            <a:r>
              <a:rPr lang="es-CO" sz="1200" dirty="0">
                <a:solidFill>
                  <a:srgbClr val="4F5A6C"/>
                </a:solidFill>
                <a:latin typeface="Bell MT" panose="02020503060305020303" pitchFamily="18" charset="0"/>
              </a:rPr>
              <a:t> fd5e1318 · evidencia/</a:t>
            </a:r>
            <a:r>
              <a:rPr lang="es-CO" sz="1200" dirty="0" err="1">
                <a:solidFill>
                  <a:srgbClr val="4F5A6C"/>
                </a:solidFill>
                <a:latin typeface="Bell MT" panose="02020503060305020303" pitchFamily="18" charset="0"/>
              </a:rPr>
              <a:t>verificacion_tecnica</a:t>
            </a:r>
            <a:r>
              <a:rPr lang="es-CO" sz="1200" dirty="0">
                <a:solidFill>
                  <a:srgbClr val="4F5A6C"/>
                </a:solidFill>
                <a:latin typeface="Bell MT" panose="02020503060305020303" pitchFamily="18" charset="0"/>
              </a:rPr>
              <a:t>/.</a:t>
            </a:r>
          </a:p>
        </p:txBody>
      </p:sp>
      <p:sp>
        <p:nvSpPr>
          <p:cNvPr id="23" name="CEINNA_text_127">
            <a:extLst>
              <a:ext uri="{FF2B5EF4-FFF2-40B4-BE49-F238E27FC236}">
                <a16:creationId xmlns:a16="http://schemas.microsoft.com/office/drawing/2014/main" id="{0E99B30A-2267-38A0-AAEC-92849847D844}"/>
              </a:ext>
            </a:extLst>
          </p:cNvPr>
          <p:cNvSpPr txBox="1"/>
          <p:nvPr/>
        </p:nvSpPr>
        <p:spPr>
          <a:xfrm>
            <a:off x="11036300" y="6032500"/>
            <a:ext cx="292100" cy="228600"/>
          </a:xfrm>
          <a:prstGeom prst="rect">
            <a:avLst/>
          </a:prstGeom>
          <a:noFill/>
        </p:spPr>
        <p:txBody>
          <a:bodyPr vert="horz" wrap="square" lIns="0" tIns="0" rIns="0" bIns="0" rtlCol="0" anchor="t">
            <a:noAutofit/>
          </a:bodyPr>
          <a:lstStyle/>
          <a:p>
            <a:pPr algn="r"/>
            <a:r>
              <a:rPr lang="es-CO" sz="1200" dirty="0">
                <a:solidFill>
                  <a:srgbClr val="4F5A6C"/>
                </a:solidFill>
                <a:latin typeface="Bell MT" panose="02020503060305020303" pitchFamily="18" charset="0"/>
              </a:rPr>
              <a:t>10</a:t>
            </a:r>
          </a:p>
        </p:txBody>
      </p:sp>
    </p:spTree>
    <p:custDataLst>
      <p:tags r:id="rId1"/>
    </p:custDataLst>
    <p:extLst>
      <p:ext uri="{BB962C8B-B14F-4D97-AF65-F5344CB8AC3E}">
        <p14:creationId xmlns:p14="http://schemas.microsoft.com/office/powerpoint/2010/main" val="3832099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C0B2F-ABCF-A16D-9B99-96619EC7347F}"/>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B5C8DCE7-7F59-F685-9165-4D848885236E}"/>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A8E3883C-A3FB-B076-D9C5-4593E72824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512944A-8633-A84A-8248-74134005AF6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17EF142A-3A8B-CD16-CBC7-83A3158E79B9}"/>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79078B8D-A80A-1F4B-6797-EB5D560913BE}"/>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2AEAE2C5-BA4A-C173-EB20-5D20DFF34BC0}"/>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6B36561D-2D6B-4EDE-A51D-6DA6EACFF66A}"/>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128">
            <a:extLst>
              <a:ext uri="{FF2B5EF4-FFF2-40B4-BE49-F238E27FC236}">
                <a16:creationId xmlns:a16="http://schemas.microsoft.com/office/drawing/2014/main" id="{32D9F0D4-15EB-5D03-AF85-AA49E858267B}"/>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900" b="1" dirty="0">
                <a:solidFill>
                  <a:srgbClr val="000F4D"/>
                </a:solidFill>
                <a:latin typeface="Bell MT" panose="02020503060305020303" pitchFamily="18" charset="0"/>
              </a:rPr>
              <a:t>Análisis de medidas repetidas</a:t>
            </a:r>
          </a:p>
        </p:txBody>
      </p:sp>
      <p:sp>
        <p:nvSpPr>
          <p:cNvPr id="9" name="CEINNA_text_129">
            <a:extLst>
              <a:ext uri="{FF2B5EF4-FFF2-40B4-BE49-F238E27FC236}">
                <a16:creationId xmlns:a16="http://schemas.microsoft.com/office/drawing/2014/main" id="{36E9F4E2-77BF-B0BF-3CB0-4342C02A2895}"/>
              </a:ext>
            </a:extLst>
          </p:cNvPr>
          <p:cNvSpPr txBox="1"/>
          <p:nvPr/>
        </p:nvSpPr>
        <p:spPr>
          <a:xfrm>
            <a:off x="1663700" y="1816099"/>
            <a:ext cx="9398000" cy="520700"/>
          </a:xfrm>
          <a:prstGeom prst="rect">
            <a:avLst/>
          </a:prstGeom>
          <a:noFill/>
        </p:spPr>
        <p:txBody>
          <a:bodyPr vert="horz" wrap="square" lIns="0" tIns="0" rIns="0" bIns="0" rtlCol="0" anchor="t">
            <a:noAutofit/>
          </a:bodyPr>
          <a:lstStyle/>
          <a:p>
            <a:r>
              <a:rPr lang="es-CO" sz="2800" b="1" dirty="0">
                <a:solidFill>
                  <a:srgbClr val="000F4D"/>
                </a:solidFill>
                <a:latin typeface="Bell MT" panose="02020503060305020303" pitchFamily="18" charset="0"/>
              </a:rPr>
              <a:t>Unidad de seguimiento: la persona</a:t>
            </a:r>
          </a:p>
        </p:txBody>
      </p:sp>
      <p:sp>
        <p:nvSpPr>
          <p:cNvPr id="11" name="CEINNA_box_130">
            <a:extLst>
              <a:ext uri="{FF2B5EF4-FFF2-40B4-BE49-F238E27FC236}">
                <a16:creationId xmlns:a16="http://schemas.microsoft.com/office/drawing/2014/main" id="{6219D004-CBF0-7842-26E3-AA3930302D73}"/>
              </a:ext>
            </a:extLst>
          </p:cNvPr>
          <p:cNvSpPr/>
          <p:nvPr/>
        </p:nvSpPr>
        <p:spPr>
          <a:xfrm>
            <a:off x="1663700" y="2705100"/>
            <a:ext cx="5613400" cy="13716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CEINNA_text_131">
            <a:extLst>
              <a:ext uri="{FF2B5EF4-FFF2-40B4-BE49-F238E27FC236}">
                <a16:creationId xmlns:a16="http://schemas.microsoft.com/office/drawing/2014/main" id="{AAD8CE3A-A1E9-EEC7-8107-9AE59193CE19}"/>
              </a:ext>
            </a:extLst>
          </p:cNvPr>
          <p:cNvSpPr txBox="1"/>
          <p:nvPr/>
        </p:nvSpPr>
        <p:spPr>
          <a:xfrm>
            <a:off x="1854200" y="3073399"/>
            <a:ext cx="5232400" cy="546100"/>
          </a:xfrm>
          <a:prstGeom prst="rect">
            <a:avLst/>
          </a:prstGeom>
          <a:noFill/>
        </p:spPr>
        <p:txBody>
          <a:bodyPr vert="horz" wrap="square" lIns="0" tIns="0" rIns="0" bIns="0" rtlCol="0" anchor="t">
            <a:noAutofit/>
          </a:bodyPr>
          <a:lstStyle/>
          <a:p>
            <a:pPr algn="ctr"/>
            <a:r>
              <a:rPr lang="es-CO" sz="3000" b="1" dirty="0">
                <a:solidFill>
                  <a:srgbClr val="000F4D"/>
                </a:solidFill>
                <a:latin typeface="Bell MT" panose="02020503060305020303" pitchFamily="18" charset="0"/>
              </a:rPr>
              <a:t>Persona → visita → bloque</a:t>
            </a:r>
          </a:p>
        </p:txBody>
      </p:sp>
      <p:sp>
        <p:nvSpPr>
          <p:cNvPr id="15" name="CEINNA_text_132">
            <a:extLst>
              <a:ext uri="{FF2B5EF4-FFF2-40B4-BE49-F238E27FC236}">
                <a16:creationId xmlns:a16="http://schemas.microsoft.com/office/drawing/2014/main" id="{6992CBC4-BAB7-A813-247F-27F573E9AE5B}"/>
              </a:ext>
            </a:extLst>
          </p:cNvPr>
          <p:cNvSpPr txBox="1"/>
          <p:nvPr/>
        </p:nvSpPr>
        <p:spPr>
          <a:xfrm>
            <a:off x="1676400" y="4444999"/>
            <a:ext cx="5600700" cy="1295400"/>
          </a:xfrm>
          <a:prstGeom prst="rect">
            <a:avLst/>
          </a:prstGeom>
          <a:noFill/>
        </p:spPr>
        <p:txBody>
          <a:bodyPr vert="horz" wrap="square" lIns="0" tIns="0" rIns="0" bIns="0" rtlCol="0" anchor="t">
            <a:noAutofit/>
          </a:bodyPr>
          <a:lstStyle/>
          <a:p>
            <a:r>
              <a:rPr lang="es-CO" sz="2400" dirty="0">
                <a:solidFill>
                  <a:srgbClr val="242424"/>
                </a:solidFill>
                <a:latin typeface="Bell MT" panose="02020503060305020303" pitchFamily="18" charset="0"/>
              </a:rPr>
              <a:t>Trayectorias individuales
Contrastes entre condiciones
Cambios entre visitas</a:t>
            </a:r>
          </a:p>
        </p:txBody>
      </p:sp>
      <p:sp>
        <p:nvSpPr>
          <p:cNvPr id="16" name="CEINNA_text_133">
            <a:extLst>
              <a:ext uri="{FF2B5EF4-FFF2-40B4-BE49-F238E27FC236}">
                <a16:creationId xmlns:a16="http://schemas.microsoft.com/office/drawing/2014/main" id="{345E9ECB-7D2E-1DCB-C5F6-17E0C55051A4}"/>
              </a:ext>
            </a:extLst>
          </p:cNvPr>
          <p:cNvSpPr txBox="1"/>
          <p:nvPr/>
        </p:nvSpPr>
        <p:spPr>
          <a:xfrm>
            <a:off x="7797800" y="2679699"/>
            <a:ext cx="3378200" cy="457200"/>
          </a:xfrm>
          <a:prstGeom prst="rect">
            <a:avLst/>
          </a:prstGeom>
          <a:noFill/>
        </p:spPr>
        <p:txBody>
          <a:bodyPr vert="horz" wrap="square" lIns="0" tIns="0" rIns="0" bIns="0" rtlCol="0" anchor="t">
            <a:noAutofit/>
          </a:bodyPr>
          <a:lstStyle/>
          <a:p>
            <a:r>
              <a:rPr lang="es-CO" sz="2500" b="1" dirty="0">
                <a:solidFill>
                  <a:srgbClr val="000F4D"/>
                </a:solidFill>
                <a:latin typeface="Bell MT" panose="02020503060305020303" pitchFamily="18" charset="0"/>
              </a:rPr>
              <a:t>Contexto de medición</a:t>
            </a:r>
          </a:p>
        </p:txBody>
      </p:sp>
      <p:sp>
        <p:nvSpPr>
          <p:cNvPr id="17" name="CEINNA_text_134">
            <a:extLst>
              <a:ext uri="{FF2B5EF4-FFF2-40B4-BE49-F238E27FC236}">
                <a16:creationId xmlns:a16="http://schemas.microsoft.com/office/drawing/2014/main" id="{1DEE035F-8C49-93D1-296E-8059A6B9C790}"/>
              </a:ext>
            </a:extLst>
          </p:cNvPr>
          <p:cNvSpPr txBox="1"/>
          <p:nvPr/>
        </p:nvSpPr>
        <p:spPr>
          <a:xfrm>
            <a:off x="7797800" y="3314699"/>
            <a:ext cx="3365500" cy="2260600"/>
          </a:xfrm>
          <a:prstGeom prst="rect">
            <a:avLst/>
          </a:prstGeom>
          <a:noFill/>
        </p:spPr>
        <p:txBody>
          <a:bodyPr vert="horz" wrap="square" lIns="0" tIns="0" rIns="0" bIns="0" rtlCol="0" anchor="t">
            <a:noAutofit/>
          </a:bodyPr>
          <a:lstStyle/>
          <a:p>
            <a:r>
              <a:rPr lang="es-CO" sz="2400" dirty="0">
                <a:solidFill>
                  <a:srgbClr val="242424"/>
                </a:solidFill>
                <a:latin typeface="Bell MT" panose="02020503060305020303" pitchFamily="18" charset="0"/>
              </a:rPr>
              <a:t>Orden de bloques
Hora y estación
Sueño previo
Días desde V0</a:t>
            </a:r>
          </a:p>
        </p:txBody>
      </p:sp>
      <p:sp>
        <p:nvSpPr>
          <p:cNvPr id="18" name="CEINNA_text_135">
            <a:extLst>
              <a:ext uri="{FF2B5EF4-FFF2-40B4-BE49-F238E27FC236}">
                <a16:creationId xmlns:a16="http://schemas.microsoft.com/office/drawing/2014/main" id="{D66406D9-A7B2-417E-AD30-14AD72D81EE2}"/>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[3,4] </a:t>
            </a:r>
            <a:r>
              <a:rPr lang="es-CO" sz="1200" dirty="0" err="1">
                <a:solidFill>
                  <a:srgbClr val="4F5A6C"/>
                </a:solidFill>
                <a:latin typeface="Bell MT" panose="02020503060305020303" pitchFamily="18" charset="0"/>
              </a:rPr>
              <a:t>Pontiggia</a:t>
            </a:r>
            <a:r>
              <a:rPr lang="es-CO" sz="1200" dirty="0">
                <a:solidFill>
                  <a:srgbClr val="4F5A6C"/>
                </a:solidFill>
                <a:latin typeface="Bell MT" panose="02020503060305020303" pitchFamily="18" charset="0"/>
              </a:rPr>
              <a:t> et al., 2024 (experimento); </a:t>
            </a:r>
            <a:r>
              <a:rPr lang="es-CO" sz="1200" dirty="0" err="1">
                <a:solidFill>
                  <a:srgbClr val="4F5A6C"/>
                </a:solidFill>
                <a:latin typeface="Bell MT" panose="02020503060305020303" pitchFamily="18" charset="0"/>
              </a:rPr>
              <a:t>Tortello</a:t>
            </a:r>
            <a:r>
              <a:rPr lang="es-CO" sz="1200" dirty="0">
                <a:solidFill>
                  <a:srgbClr val="4F5A6C"/>
                </a:solidFill>
                <a:latin typeface="Bell MT" panose="02020503060305020303" pitchFamily="18" charset="0"/>
              </a:rPr>
              <a:t> et al., 2020. Manual §4.7.</a:t>
            </a:r>
          </a:p>
        </p:txBody>
      </p:sp>
      <p:sp>
        <p:nvSpPr>
          <p:cNvPr id="19" name="CEINNA_text_136">
            <a:extLst>
              <a:ext uri="{FF2B5EF4-FFF2-40B4-BE49-F238E27FC236}">
                <a16:creationId xmlns:a16="http://schemas.microsoft.com/office/drawing/2014/main" id="{FBC9BAF4-AD35-A610-1613-65C8F5095848}"/>
              </a:ext>
            </a:extLst>
          </p:cNvPr>
          <p:cNvSpPr txBox="1"/>
          <p:nvPr/>
        </p:nvSpPr>
        <p:spPr>
          <a:xfrm>
            <a:off x="11036300" y="6032500"/>
            <a:ext cx="292100" cy="228600"/>
          </a:xfrm>
          <a:prstGeom prst="rect">
            <a:avLst/>
          </a:prstGeom>
          <a:noFill/>
        </p:spPr>
        <p:txBody>
          <a:bodyPr vert="horz" wrap="square" lIns="0" tIns="0" rIns="0" bIns="0" rtlCol="0" anchor="t">
            <a:noAutofit/>
          </a:bodyPr>
          <a:lstStyle/>
          <a:p>
            <a:pPr algn="r"/>
            <a:r>
              <a:rPr lang="es-CO" sz="1200" dirty="0">
                <a:solidFill>
                  <a:srgbClr val="4F5A6C"/>
                </a:solidFill>
                <a:latin typeface="Bell MT" panose="02020503060305020303" pitchFamily="18" charset="0"/>
              </a:rPr>
              <a:t>11</a:t>
            </a:r>
          </a:p>
        </p:txBody>
      </p:sp>
    </p:spTree>
    <p:custDataLst>
      <p:tags r:id="rId1"/>
    </p:custDataLst>
    <p:extLst>
      <p:ext uri="{BB962C8B-B14F-4D97-AF65-F5344CB8AC3E}">
        <p14:creationId xmlns:p14="http://schemas.microsoft.com/office/powerpoint/2010/main" val="2722924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C0B2F-ABCF-A16D-9B99-96619EC7347F}"/>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B5C8DCE7-7F59-F685-9165-4D848885236E}"/>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A8E3883C-A3FB-B076-D9C5-4593E72824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512944A-8633-A84A-8248-74134005AF6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17EF142A-3A8B-CD16-CBC7-83A3158E79B9}"/>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79078B8D-A80A-1F4B-6797-EB5D560913BE}"/>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2AEAE2C5-BA4A-C173-EB20-5D20DFF34BC0}"/>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6B36561D-2D6B-4EDE-A51D-6DA6EACFF66A}"/>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137">
            <a:extLst>
              <a:ext uri="{FF2B5EF4-FFF2-40B4-BE49-F238E27FC236}">
                <a16:creationId xmlns:a16="http://schemas.microsoft.com/office/drawing/2014/main" id="{3E04DE54-584C-2B69-AF0E-2555C75EF31B}"/>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900" b="1" dirty="0">
                <a:solidFill>
                  <a:srgbClr val="000F4D"/>
                </a:solidFill>
                <a:latin typeface="Bell MT" panose="02020503060305020303" pitchFamily="18" charset="0"/>
              </a:rPr>
              <a:t>Alcance e interpretación</a:t>
            </a:r>
          </a:p>
        </p:txBody>
      </p:sp>
      <p:sp>
        <p:nvSpPr>
          <p:cNvPr id="9" name="CEINNA_text_138">
            <a:extLst>
              <a:ext uri="{FF2B5EF4-FFF2-40B4-BE49-F238E27FC236}">
                <a16:creationId xmlns:a16="http://schemas.microsoft.com/office/drawing/2014/main" id="{83838E85-3287-2C35-BAA3-F81FE7D3F03F}"/>
              </a:ext>
            </a:extLst>
          </p:cNvPr>
          <p:cNvSpPr txBox="1"/>
          <p:nvPr/>
        </p:nvSpPr>
        <p:spPr>
          <a:xfrm>
            <a:off x="1676400" y="2247899"/>
            <a:ext cx="2959100" cy="533400"/>
          </a:xfrm>
          <a:prstGeom prst="rect">
            <a:avLst/>
          </a:prstGeom>
          <a:noFill/>
        </p:spPr>
        <p:txBody>
          <a:bodyPr vert="horz" wrap="square" lIns="0" tIns="0" rIns="0" bIns="0" rtlCol="0" anchor="t">
            <a:noAutofit/>
          </a:bodyPr>
          <a:lstStyle/>
          <a:p>
            <a:r>
              <a:rPr lang="es-CO" sz="2800" b="1" dirty="0">
                <a:solidFill>
                  <a:srgbClr val="000F4D"/>
                </a:solidFill>
                <a:latin typeface="Bell MT" panose="02020503060305020303" pitchFamily="18" charset="0"/>
              </a:rPr>
              <a:t>Medición</a:t>
            </a:r>
          </a:p>
        </p:txBody>
      </p:sp>
      <p:sp>
        <p:nvSpPr>
          <p:cNvPr id="11" name="CEINNA_text_139">
            <a:extLst>
              <a:ext uri="{FF2B5EF4-FFF2-40B4-BE49-F238E27FC236}">
                <a16:creationId xmlns:a16="http://schemas.microsoft.com/office/drawing/2014/main" id="{9E27224C-F266-77EB-008B-C087E2716684}"/>
              </a:ext>
            </a:extLst>
          </p:cNvPr>
          <p:cNvSpPr txBox="1"/>
          <p:nvPr/>
        </p:nvSpPr>
        <p:spPr>
          <a:xfrm>
            <a:off x="1676400" y="3073399"/>
            <a:ext cx="2921000" cy="1854200"/>
          </a:xfrm>
          <a:prstGeom prst="rect">
            <a:avLst/>
          </a:prstGeom>
          <a:noFill/>
        </p:spPr>
        <p:txBody>
          <a:bodyPr vert="horz" wrap="square" lIns="0" tIns="0" rIns="0" bIns="0" rtlCol="0" anchor="t">
            <a:noAutofit/>
          </a:bodyPr>
          <a:lstStyle/>
          <a:p>
            <a:r>
              <a:rPr lang="es-CO" sz="2500" dirty="0">
                <a:solidFill>
                  <a:srgbClr val="242424"/>
                </a:solidFill>
                <a:latin typeface="Bell MT" panose="02020503060305020303" pitchFamily="18" charset="0"/>
              </a:rPr>
              <a:t>Desempeño, carga percibida y fisiología se analizan por separado.</a:t>
            </a:r>
          </a:p>
        </p:txBody>
      </p:sp>
      <p:sp>
        <p:nvSpPr>
          <p:cNvPr id="14" name="CEINNA_text_140">
            <a:extLst>
              <a:ext uri="{FF2B5EF4-FFF2-40B4-BE49-F238E27FC236}">
                <a16:creationId xmlns:a16="http://schemas.microsoft.com/office/drawing/2014/main" id="{386E9968-2343-B1EC-EBC0-48B89F2B9453}"/>
              </a:ext>
            </a:extLst>
          </p:cNvPr>
          <p:cNvSpPr txBox="1"/>
          <p:nvPr/>
        </p:nvSpPr>
        <p:spPr>
          <a:xfrm>
            <a:off x="4914900" y="2247899"/>
            <a:ext cx="2959100" cy="533400"/>
          </a:xfrm>
          <a:prstGeom prst="rect">
            <a:avLst/>
          </a:prstGeom>
          <a:noFill/>
        </p:spPr>
        <p:txBody>
          <a:bodyPr vert="horz" wrap="square" lIns="0" tIns="0" rIns="0" bIns="0" rtlCol="0" anchor="t">
            <a:noAutofit/>
          </a:bodyPr>
          <a:lstStyle/>
          <a:p>
            <a:r>
              <a:rPr lang="es-CO" sz="2800" b="1" dirty="0">
                <a:solidFill>
                  <a:srgbClr val="000F4D"/>
                </a:solidFill>
                <a:latin typeface="Bell MT" panose="02020503060305020303" pitchFamily="18" charset="0"/>
              </a:rPr>
              <a:t>Diseño</a:t>
            </a:r>
          </a:p>
        </p:txBody>
      </p:sp>
      <p:sp>
        <p:nvSpPr>
          <p:cNvPr id="15" name="CEINNA_text_141">
            <a:extLst>
              <a:ext uri="{FF2B5EF4-FFF2-40B4-BE49-F238E27FC236}">
                <a16:creationId xmlns:a16="http://schemas.microsoft.com/office/drawing/2014/main" id="{9046A508-E576-DE76-EB1C-1357BF2BF8E9}"/>
              </a:ext>
            </a:extLst>
          </p:cNvPr>
          <p:cNvSpPr txBox="1"/>
          <p:nvPr/>
        </p:nvSpPr>
        <p:spPr>
          <a:xfrm>
            <a:off x="4914900" y="3073399"/>
            <a:ext cx="2921000" cy="1854200"/>
          </a:xfrm>
          <a:prstGeom prst="rect">
            <a:avLst/>
          </a:prstGeom>
          <a:noFill/>
        </p:spPr>
        <p:txBody>
          <a:bodyPr vert="horz" wrap="square" lIns="0" tIns="0" rIns="0" bIns="0" rtlCol="0" anchor="t">
            <a:noAutofit/>
          </a:bodyPr>
          <a:lstStyle/>
          <a:p>
            <a:r>
              <a:rPr lang="es-CO" sz="2500" dirty="0">
                <a:solidFill>
                  <a:srgbClr val="242424"/>
                </a:solidFill>
                <a:latin typeface="Bell MT" panose="02020503060305020303" pitchFamily="18" charset="0"/>
              </a:rPr>
              <a:t>Se consideran aprendizaje, horario y distancia entre visitas.</a:t>
            </a:r>
          </a:p>
        </p:txBody>
      </p:sp>
      <p:sp>
        <p:nvSpPr>
          <p:cNvPr id="16" name="CEINNA_text_142">
            <a:extLst>
              <a:ext uri="{FF2B5EF4-FFF2-40B4-BE49-F238E27FC236}">
                <a16:creationId xmlns:a16="http://schemas.microsoft.com/office/drawing/2014/main" id="{2B35CB45-3272-4C9B-59A1-AE96CB4EBCED}"/>
              </a:ext>
            </a:extLst>
          </p:cNvPr>
          <p:cNvSpPr txBox="1"/>
          <p:nvPr/>
        </p:nvSpPr>
        <p:spPr>
          <a:xfrm>
            <a:off x="8153400" y="2247899"/>
            <a:ext cx="2959100" cy="533400"/>
          </a:xfrm>
          <a:prstGeom prst="rect">
            <a:avLst/>
          </a:prstGeom>
          <a:noFill/>
        </p:spPr>
        <p:txBody>
          <a:bodyPr vert="horz" wrap="square" lIns="0" tIns="0" rIns="0" bIns="0" rtlCol="0" anchor="t">
            <a:noAutofit/>
          </a:bodyPr>
          <a:lstStyle/>
          <a:p>
            <a:r>
              <a:rPr lang="es-CO" sz="2800" b="1" dirty="0">
                <a:solidFill>
                  <a:srgbClr val="000F4D"/>
                </a:solidFill>
                <a:latin typeface="Bell MT" panose="02020503060305020303" pitchFamily="18" charset="0"/>
              </a:rPr>
              <a:t>Interpretación</a:t>
            </a:r>
          </a:p>
        </p:txBody>
      </p:sp>
      <p:sp>
        <p:nvSpPr>
          <p:cNvPr id="17" name="CEINNA_text_143">
            <a:extLst>
              <a:ext uri="{FF2B5EF4-FFF2-40B4-BE49-F238E27FC236}">
                <a16:creationId xmlns:a16="http://schemas.microsoft.com/office/drawing/2014/main" id="{08D3BF77-DBB7-3406-6B3B-6F3EE7478663}"/>
              </a:ext>
            </a:extLst>
          </p:cNvPr>
          <p:cNvSpPr txBox="1"/>
          <p:nvPr/>
        </p:nvSpPr>
        <p:spPr>
          <a:xfrm>
            <a:off x="8153400" y="3073399"/>
            <a:ext cx="2921000" cy="1854200"/>
          </a:xfrm>
          <a:prstGeom prst="rect">
            <a:avLst/>
          </a:prstGeom>
          <a:noFill/>
        </p:spPr>
        <p:txBody>
          <a:bodyPr vert="horz" wrap="square" lIns="0" tIns="0" rIns="0" bIns="0" rtlCol="0" anchor="t">
            <a:noAutofit/>
          </a:bodyPr>
          <a:lstStyle/>
          <a:p>
            <a:r>
              <a:rPr lang="es-CO" sz="2500" dirty="0">
                <a:solidFill>
                  <a:srgbClr val="242424"/>
                </a:solidFill>
                <a:latin typeface="Bell MT" panose="02020503060305020303" pitchFamily="18" charset="0"/>
              </a:rPr>
              <a:t>Las trayectorias se describen con magnitud e incertidumbre.</a:t>
            </a:r>
          </a:p>
        </p:txBody>
      </p:sp>
      <p:sp>
        <p:nvSpPr>
          <p:cNvPr id="18" name="CEINNA_text_144">
            <a:extLst>
              <a:ext uri="{FF2B5EF4-FFF2-40B4-BE49-F238E27FC236}">
                <a16:creationId xmlns:a16="http://schemas.microsoft.com/office/drawing/2014/main" id="{F5B5A623-14E7-1183-A55D-66E394B5251C}"/>
              </a:ext>
            </a:extLst>
          </p:cNvPr>
          <p:cNvSpPr txBox="1"/>
          <p:nvPr/>
        </p:nvSpPr>
        <p:spPr>
          <a:xfrm>
            <a:off x="1663700" y="5333999"/>
            <a:ext cx="9525000" cy="457200"/>
          </a:xfrm>
          <a:prstGeom prst="rect">
            <a:avLst/>
          </a:prstGeom>
          <a:noFill/>
        </p:spPr>
        <p:txBody>
          <a:bodyPr vert="horz" wrap="square" lIns="0" tIns="0" rIns="0" bIns="0" rtlCol="0" anchor="t">
            <a:noAutofit/>
          </a:bodyPr>
          <a:lstStyle/>
          <a:p>
            <a:r>
              <a:rPr lang="es-CO" sz="2200" dirty="0">
                <a:solidFill>
                  <a:srgbClr val="4F5A6C"/>
                </a:solidFill>
                <a:latin typeface="Bell MT" panose="02020503060305020303" pitchFamily="18" charset="0"/>
              </a:rPr>
              <a:t>Corte científico de la ponencia: protocolo y desarrollo documentado.</a:t>
            </a:r>
          </a:p>
        </p:txBody>
      </p:sp>
      <p:sp>
        <p:nvSpPr>
          <p:cNvPr id="19" name="CEINNA_text_145">
            <a:extLst>
              <a:ext uri="{FF2B5EF4-FFF2-40B4-BE49-F238E27FC236}">
                <a16:creationId xmlns:a16="http://schemas.microsoft.com/office/drawing/2014/main" id="{84951FED-FCE0-6665-33C1-8DD77460F795}"/>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[2–4] Literatura de demanda multitarea y seguimiento longitudinal; cronograma ASTRA.</a:t>
            </a:r>
          </a:p>
        </p:txBody>
      </p:sp>
      <p:sp>
        <p:nvSpPr>
          <p:cNvPr id="20" name="CEINNA_text_146">
            <a:extLst>
              <a:ext uri="{FF2B5EF4-FFF2-40B4-BE49-F238E27FC236}">
                <a16:creationId xmlns:a16="http://schemas.microsoft.com/office/drawing/2014/main" id="{6C0F04E5-21BA-DE4D-845B-E15E024A7BB2}"/>
              </a:ext>
            </a:extLst>
          </p:cNvPr>
          <p:cNvSpPr txBox="1"/>
          <p:nvPr/>
        </p:nvSpPr>
        <p:spPr>
          <a:xfrm>
            <a:off x="11036300" y="6032500"/>
            <a:ext cx="292100" cy="228600"/>
          </a:xfrm>
          <a:prstGeom prst="rect">
            <a:avLst/>
          </a:prstGeom>
          <a:noFill/>
        </p:spPr>
        <p:txBody>
          <a:bodyPr vert="horz" wrap="square" lIns="0" tIns="0" rIns="0" bIns="0" rtlCol="0" anchor="t">
            <a:noAutofit/>
          </a:bodyPr>
          <a:lstStyle/>
          <a:p>
            <a:pPr algn="r"/>
            <a:r>
              <a:rPr lang="es-CO" sz="1200" dirty="0">
                <a:solidFill>
                  <a:srgbClr val="4F5A6C"/>
                </a:solidFill>
                <a:latin typeface="Bell MT" panose="02020503060305020303" pitchFamily="18" charset="0"/>
              </a:rPr>
              <a:t>12</a:t>
            </a:r>
          </a:p>
        </p:txBody>
      </p:sp>
    </p:spTree>
    <p:custDataLst>
      <p:tags r:id="rId1"/>
    </p:custDataLst>
    <p:extLst>
      <p:ext uri="{BB962C8B-B14F-4D97-AF65-F5344CB8AC3E}">
        <p14:creationId xmlns:p14="http://schemas.microsoft.com/office/powerpoint/2010/main" val="1862236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C0B2F-ABCF-A16D-9B99-96619EC7347F}"/>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B5C8DCE7-7F59-F685-9165-4D848885236E}"/>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A8E3883C-A3FB-B076-D9C5-4593E72824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512944A-8633-A84A-8248-74134005AF6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17EF142A-3A8B-CD16-CBC7-83A3158E79B9}"/>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79078B8D-A80A-1F4B-6797-EB5D560913BE}"/>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2AEAE2C5-BA4A-C173-EB20-5D20DFF34BC0}"/>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4DC38E82-7351-479E-95E0-92862B8BF264}"/>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147">
            <a:extLst>
              <a:ext uri="{FF2B5EF4-FFF2-40B4-BE49-F238E27FC236}">
                <a16:creationId xmlns:a16="http://schemas.microsoft.com/office/drawing/2014/main" id="{6E103ECE-AC1A-AC0A-7C21-2B681828CA1A}"/>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600" b="1" dirty="0">
                <a:solidFill>
                  <a:srgbClr val="000F4D"/>
                </a:solidFill>
                <a:latin typeface="Bell MT" panose="02020503060305020303" pitchFamily="18" charset="0"/>
              </a:rPr>
              <a:t>Conclusiones y recomendaciones</a:t>
            </a:r>
          </a:p>
        </p:txBody>
      </p:sp>
      <p:sp>
        <p:nvSpPr>
          <p:cNvPr id="9" name="CEINNA_text_148">
            <a:extLst>
              <a:ext uri="{FF2B5EF4-FFF2-40B4-BE49-F238E27FC236}">
                <a16:creationId xmlns:a16="http://schemas.microsoft.com/office/drawing/2014/main" id="{05824E78-0888-275B-ACFB-F620867D4220}"/>
              </a:ext>
            </a:extLst>
          </p:cNvPr>
          <p:cNvSpPr txBox="1"/>
          <p:nvPr/>
        </p:nvSpPr>
        <p:spPr>
          <a:xfrm>
            <a:off x="1689100" y="1816099"/>
            <a:ext cx="596900" cy="533400"/>
          </a:xfrm>
          <a:prstGeom prst="rect">
            <a:avLst/>
          </a:prstGeom>
          <a:noFill/>
        </p:spPr>
        <p:txBody>
          <a:bodyPr vert="horz" wrap="square" lIns="0" tIns="0" rIns="0" bIns="0" rtlCol="0" anchor="t">
            <a:noAutofit/>
          </a:bodyPr>
          <a:lstStyle/>
          <a:p>
            <a:r>
              <a:rPr lang="es-CO" sz="3100" b="1" dirty="0">
                <a:solidFill>
                  <a:srgbClr val="000F4D"/>
                </a:solidFill>
                <a:latin typeface="Bell MT" panose="02020503060305020303" pitchFamily="18" charset="0"/>
              </a:rPr>
              <a:t>1</a:t>
            </a:r>
          </a:p>
        </p:txBody>
      </p:sp>
      <p:sp>
        <p:nvSpPr>
          <p:cNvPr id="11" name="CEINNA_text_149">
            <a:extLst>
              <a:ext uri="{FF2B5EF4-FFF2-40B4-BE49-F238E27FC236}">
                <a16:creationId xmlns:a16="http://schemas.microsoft.com/office/drawing/2014/main" id="{4B4F0DFE-1D59-D111-1706-0B6510305D11}"/>
              </a:ext>
            </a:extLst>
          </p:cNvPr>
          <p:cNvSpPr txBox="1"/>
          <p:nvPr/>
        </p:nvSpPr>
        <p:spPr>
          <a:xfrm>
            <a:off x="2451100" y="1816099"/>
            <a:ext cx="8686800" cy="914400"/>
          </a:xfrm>
          <a:prstGeom prst="rect">
            <a:avLst/>
          </a:prstGeom>
          <a:noFill/>
        </p:spPr>
        <p:txBody>
          <a:bodyPr vert="horz" wrap="square" lIns="0" tIns="0" rIns="0" bIns="0" rtlCol="0" anchor="t">
            <a:noAutofit/>
          </a:bodyPr>
          <a:lstStyle/>
          <a:p>
            <a:r>
              <a:rPr lang="es-CO" sz="2700" dirty="0">
                <a:solidFill>
                  <a:srgbClr val="242424"/>
                </a:solidFill>
                <a:latin typeface="Bell MT" panose="02020503060305020303" pitchFamily="18" charset="0"/>
              </a:rPr>
              <a:t>ASTRA estructura la observación longitudinal del desempeño multitarea.</a:t>
            </a:r>
          </a:p>
        </p:txBody>
      </p:sp>
      <p:sp>
        <p:nvSpPr>
          <p:cNvPr id="14" name="CEINNA_text_150">
            <a:extLst>
              <a:ext uri="{FF2B5EF4-FFF2-40B4-BE49-F238E27FC236}">
                <a16:creationId xmlns:a16="http://schemas.microsoft.com/office/drawing/2014/main" id="{D57182DD-A822-01C3-4B50-5033AE88AC26}"/>
              </a:ext>
            </a:extLst>
          </p:cNvPr>
          <p:cNvSpPr txBox="1"/>
          <p:nvPr/>
        </p:nvSpPr>
        <p:spPr>
          <a:xfrm>
            <a:off x="1689100" y="2984499"/>
            <a:ext cx="596900" cy="533400"/>
          </a:xfrm>
          <a:prstGeom prst="rect">
            <a:avLst/>
          </a:prstGeom>
          <a:noFill/>
        </p:spPr>
        <p:txBody>
          <a:bodyPr vert="horz" wrap="square" lIns="0" tIns="0" rIns="0" bIns="0" rtlCol="0" anchor="t">
            <a:noAutofit/>
          </a:bodyPr>
          <a:lstStyle/>
          <a:p>
            <a:r>
              <a:rPr lang="es-CO" sz="3100" b="1" dirty="0">
                <a:solidFill>
                  <a:srgbClr val="000F4D"/>
                </a:solidFill>
                <a:latin typeface="Bell MT" panose="02020503060305020303" pitchFamily="18" charset="0"/>
              </a:rPr>
              <a:t>2</a:t>
            </a:r>
          </a:p>
        </p:txBody>
      </p:sp>
      <p:sp>
        <p:nvSpPr>
          <p:cNvPr id="15" name="CEINNA_text_151">
            <a:extLst>
              <a:ext uri="{FF2B5EF4-FFF2-40B4-BE49-F238E27FC236}">
                <a16:creationId xmlns:a16="http://schemas.microsoft.com/office/drawing/2014/main" id="{C655884C-1280-A90E-5AE5-6FC159AC2E4E}"/>
              </a:ext>
            </a:extLst>
          </p:cNvPr>
          <p:cNvSpPr txBox="1"/>
          <p:nvPr/>
        </p:nvSpPr>
        <p:spPr>
          <a:xfrm>
            <a:off x="2451100" y="2984499"/>
            <a:ext cx="8686800" cy="914400"/>
          </a:xfrm>
          <a:prstGeom prst="rect">
            <a:avLst/>
          </a:prstGeom>
          <a:noFill/>
        </p:spPr>
        <p:txBody>
          <a:bodyPr vert="horz" wrap="square" lIns="0" tIns="0" rIns="0" bIns="0" rtlCol="0" anchor="t">
            <a:noAutofit/>
          </a:bodyPr>
          <a:lstStyle/>
          <a:p>
            <a:r>
              <a:rPr lang="es-CO" sz="2700" dirty="0">
                <a:solidFill>
                  <a:srgbClr val="242424"/>
                </a:solidFill>
                <a:latin typeface="Bell MT" panose="02020503060305020303" pitchFamily="18" charset="0"/>
              </a:rPr>
              <a:t>MATB vincula condiciones de demanda, eventos y métricas reproducibles.</a:t>
            </a:r>
          </a:p>
        </p:txBody>
      </p:sp>
      <p:sp>
        <p:nvSpPr>
          <p:cNvPr id="16" name="CEINNA_text_152">
            <a:extLst>
              <a:ext uri="{FF2B5EF4-FFF2-40B4-BE49-F238E27FC236}">
                <a16:creationId xmlns:a16="http://schemas.microsoft.com/office/drawing/2014/main" id="{4EEDBEDA-15F1-D64F-36F4-20266D66145B}"/>
              </a:ext>
            </a:extLst>
          </p:cNvPr>
          <p:cNvSpPr txBox="1"/>
          <p:nvPr/>
        </p:nvSpPr>
        <p:spPr>
          <a:xfrm>
            <a:off x="1689100" y="4152899"/>
            <a:ext cx="596900" cy="533400"/>
          </a:xfrm>
          <a:prstGeom prst="rect">
            <a:avLst/>
          </a:prstGeom>
          <a:noFill/>
        </p:spPr>
        <p:txBody>
          <a:bodyPr vert="horz" wrap="square" lIns="0" tIns="0" rIns="0" bIns="0" rtlCol="0" anchor="t">
            <a:noAutofit/>
          </a:bodyPr>
          <a:lstStyle/>
          <a:p>
            <a:r>
              <a:rPr lang="es-CO" sz="3100" b="1" dirty="0">
                <a:solidFill>
                  <a:srgbClr val="000F4D"/>
                </a:solidFill>
                <a:latin typeface="Bell MT" panose="02020503060305020303" pitchFamily="18" charset="0"/>
              </a:rPr>
              <a:t>3</a:t>
            </a:r>
          </a:p>
        </p:txBody>
      </p:sp>
      <p:sp>
        <p:nvSpPr>
          <p:cNvPr id="17" name="CEINNA_text_153">
            <a:extLst>
              <a:ext uri="{FF2B5EF4-FFF2-40B4-BE49-F238E27FC236}">
                <a16:creationId xmlns:a16="http://schemas.microsoft.com/office/drawing/2014/main" id="{9C980530-EFE5-DE4A-EBF2-4B8E83C8EDF4}"/>
              </a:ext>
            </a:extLst>
          </p:cNvPr>
          <p:cNvSpPr txBox="1"/>
          <p:nvPr/>
        </p:nvSpPr>
        <p:spPr>
          <a:xfrm>
            <a:off x="2451100" y="4152899"/>
            <a:ext cx="8686800" cy="914400"/>
          </a:xfrm>
          <a:prstGeom prst="rect">
            <a:avLst/>
          </a:prstGeom>
          <a:noFill/>
        </p:spPr>
        <p:txBody>
          <a:bodyPr vert="horz" wrap="square" lIns="0" tIns="0" rIns="0" bIns="0" rtlCol="0" anchor="t">
            <a:noAutofit/>
          </a:bodyPr>
          <a:lstStyle/>
          <a:p>
            <a:r>
              <a:rPr lang="es-CO" sz="2700" dirty="0">
                <a:solidFill>
                  <a:srgbClr val="242424"/>
                </a:solidFill>
                <a:latin typeface="Bell MT" panose="02020503060305020303" pitchFamily="18" charset="0"/>
              </a:rPr>
              <a:t>El análisis integra trayectorias individuales, contexto y calidad del registro.</a:t>
            </a:r>
          </a:p>
        </p:txBody>
      </p:sp>
      <p:sp>
        <p:nvSpPr>
          <p:cNvPr id="18" name="CEINNA_text_154">
            <a:extLst>
              <a:ext uri="{FF2B5EF4-FFF2-40B4-BE49-F238E27FC236}">
                <a16:creationId xmlns:a16="http://schemas.microsoft.com/office/drawing/2014/main" id="{FCDC70B3-E3D8-4819-86C8-4ABAB44EA09B}"/>
              </a:ext>
            </a:extLst>
          </p:cNvPr>
          <p:cNvSpPr txBox="1"/>
          <p:nvPr/>
        </p:nvSpPr>
        <p:spPr>
          <a:xfrm>
            <a:off x="1689100" y="5486399"/>
            <a:ext cx="9512300" cy="444500"/>
          </a:xfrm>
          <a:prstGeom prst="rect">
            <a:avLst/>
          </a:prstGeom>
          <a:noFill/>
        </p:spPr>
        <p:txBody>
          <a:bodyPr vert="horz" wrap="square" lIns="0" tIns="0" rIns="0" bIns="0" rtlCol="0" anchor="t">
            <a:noAutofit/>
          </a:bodyPr>
          <a:lstStyle/>
          <a:p>
            <a:r>
              <a:rPr lang="es-CO" sz="2200" b="1" dirty="0">
                <a:solidFill>
                  <a:srgbClr val="000F4D"/>
                </a:solidFill>
                <a:latin typeface="Bell MT" panose="02020503060305020303" pitchFamily="18" charset="0"/>
              </a:rPr>
              <a:t>Siguiente etapa: ejecución protocolizada y análisis de las visitas.</a:t>
            </a:r>
          </a:p>
        </p:txBody>
      </p:sp>
      <p:sp>
        <p:nvSpPr>
          <p:cNvPr id="19" name="CEINNA_text_155">
            <a:extLst>
              <a:ext uri="{FF2B5EF4-FFF2-40B4-BE49-F238E27FC236}">
                <a16:creationId xmlns:a16="http://schemas.microsoft.com/office/drawing/2014/main" id="{AA8C4F96-4AA8-EDE6-27EF-8A1AC03D43C9}"/>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Síntesis del diseño ASTRA y de la verificación técnica de MATB.</a:t>
            </a:r>
          </a:p>
        </p:txBody>
      </p:sp>
      <p:sp>
        <p:nvSpPr>
          <p:cNvPr id="20" name="CEINNA_text_156">
            <a:extLst>
              <a:ext uri="{FF2B5EF4-FFF2-40B4-BE49-F238E27FC236}">
                <a16:creationId xmlns:a16="http://schemas.microsoft.com/office/drawing/2014/main" id="{EB04B353-BFC2-90A9-1E0F-29CBB1F9E749}"/>
              </a:ext>
            </a:extLst>
          </p:cNvPr>
          <p:cNvSpPr txBox="1"/>
          <p:nvPr/>
        </p:nvSpPr>
        <p:spPr>
          <a:xfrm>
            <a:off x="11036300" y="6032500"/>
            <a:ext cx="292100" cy="228600"/>
          </a:xfrm>
          <a:prstGeom prst="rect">
            <a:avLst/>
          </a:prstGeom>
          <a:noFill/>
        </p:spPr>
        <p:txBody>
          <a:bodyPr vert="horz" wrap="square" lIns="0" tIns="0" rIns="0" bIns="0" rtlCol="0" anchor="t">
            <a:noAutofit/>
          </a:bodyPr>
          <a:lstStyle/>
          <a:p>
            <a:pPr algn="r"/>
            <a:r>
              <a:rPr lang="es-CO" sz="1200" dirty="0">
                <a:solidFill>
                  <a:srgbClr val="4F5A6C"/>
                </a:solidFill>
                <a:latin typeface="Bell MT" panose="02020503060305020303" pitchFamily="18" charset="0"/>
              </a:rPr>
              <a:t>13</a:t>
            </a:r>
          </a:p>
        </p:txBody>
      </p:sp>
    </p:spTree>
    <p:custDataLst>
      <p:tags r:id="rId1"/>
    </p:custDataLst>
    <p:extLst>
      <p:ext uri="{BB962C8B-B14F-4D97-AF65-F5344CB8AC3E}">
        <p14:creationId xmlns:p14="http://schemas.microsoft.com/office/powerpoint/2010/main" val="1021674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52724-8AA8-430E-FEB0-4B972A95EAAA}"/>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E8EA1176-5816-B9DC-12AF-ABF8C2197107}"/>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81F430AD-D31B-2596-B2E1-16149ED6A0CB}"/>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0B220A00-61F1-9AFF-18A5-B5EF0C69BF2E}"/>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41AF5B6C-F154-DA10-4688-5518D649EA18}"/>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274A84F3-CFA1-7921-F433-9D1D90A39239}"/>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D10C52BC-7F82-5D3B-DCD1-B67FB343FD55}"/>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4" name="CuadroTexto 13">
            <a:extLst>
              <a:ext uri="{FF2B5EF4-FFF2-40B4-BE49-F238E27FC236}">
                <a16:creationId xmlns:a16="http://schemas.microsoft.com/office/drawing/2014/main" id="{CBCCDF5A-723C-417C-851E-7D60633F3EB2}"/>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157">
            <a:extLst>
              <a:ext uri="{FF2B5EF4-FFF2-40B4-BE49-F238E27FC236}">
                <a16:creationId xmlns:a16="http://schemas.microsoft.com/office/drawing/2014/main" id="{0A138E20-EAEC-DD5D-D278-2ABE93548E30}"/>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900" b="1" dirty="0">
                <a:solidFill>
                  <a:srgbClr val="000F4D"/>
                </a:solidFill>
                <a:latin typeface="Bell MT" panose="02020503060305020303" pitchFamily="18" charset="0"/>
              </a:rPr>
              <a:t>Bibliografía I</a:t>
            </a:r>
          </a:p>
        </p:txBody>
      </p:sp>
      <p:sp>
        <p:nvSpPr>
          <p:cNvPr id="9" name="CEINNA_text_158">
            <a:extLst>
              <a:ext uri="{FF2B5EF4-FFF2-40B4-BE49-F238E27FC236}">
                <a16:creationId xmlns:a16="http://schemas.microsoft.com/office/drawing/2014/main" id="{B98485D2-B1DE-53E2-7A55-FAB39D8D1A53}"/>
              </a:ext>
            </a:extLst>
          </p:cNvPr>
          <p:cNvSpPr txBox="1"/>
          <p:nvPr/>
        </p:nvSpPr>
        <p:spPr>
          <a:xfrm>
            <a:off x="1651000" y="1714499"/>
            <a:ext cx="9563100" cy="1282700"/>
          </a:xfrm>
          <a:prstGeom prst="rect">
            <a:avLst/>
          </a:prstGeom>
          <a:noFill/>
        </p:spPr>
        <p:txBody>
          <a:bodyPr vert="horz" wrap="square" lIns="0" tIns="0" rIns="0" bIns="0" rtlCol="0" anchor="t">
            <a:noAutofit/>
          </a:bodyPr>
          <a:lstStyle/>
          <a:p>
            <a:r>
              <a:rPr lang="es-CO" sz="1850">
                <a:solidFill>
                  <a:srgbClr val="242424"/>
                </a:solidFill>
                <a:latin typeface="Bell MT" panose="02020503060305020303" pitchFamily="18" charset="0"/>
              </a:rPr>
              <a:t>[1] Cegarra et al. (2020). OpenMATB: A Multi-Attribute Task Battery promoting task customization, software extensibility and experiment replicability. Behavior Research Methods, 52(5), 1980–1990. https://doi.org/10.3758/s13428-020-01364-w</a:t>
            </a:r>
            <a:endParaRPr lang="es-CO" sz="1850" dirty="0">
              <a:solidFill>
                <a:srgbClr val="242424"/>
              </a:solidFill>
              <a:latin typeface="Bell MT" panose="02020503060305020303" pitchFamily="18" charset="0"/>
            </a:endParaRPr>
          </a:p>
        </p:txBody>
      </p:sp>
      <p:sp>
        <p:nvSpPr>
          <p:cNvPr id="11" name="CEINNA_text_159">
            <a:extLst>
              <a:ext uri="{FF2B5EF4-FFF2-40B4-BE49-F238E27FC236}">
                <a16:creationId xmlns:a16="http://schemas.microsoft.com/office/drawing/2014/main" id="{312AE299-ADBC-8BF9-7FB8-3FFA7EE03536}"/>
              </a:ext>
            </a:extLst>
          </p:cNvPr>
          <p:cNvSpPr txBox="1"/>
          <p:nvPr/>
        </p:nvSpPr>
        <p:spPr>
          <a:xfrm>
            <a:off x="1651000" y="3111499"/>
            <a:ext cx="9563100" cy="1282700"/>
          </a:xfrm>
          <a:prstGeom prst="rect">
            <a:avLst/>
          </a:prstGeom>
          <a:noFill/>
        </p:spPr>
        <p:txBody>
          <a:bodyPr vert="horz" wrap="square" lIns="0" tIns="0" rIns="0" bIns="0" rtlCol="0" anchor="t">
            <a:noAutofit/>
          </a:bodyPr>
          <a:lstStyle/>
          <a:p>
            <a:r>
              <a:rPr lang="es-CO" sz="1850">
                <a:solidFill>
                  <a:srgbClr val="242424"/>
                </a:solidFill>
                <a:latin typeface="Bell MT" panose="02020503060305020303" pitchFamily="18" charset="0"/>
              </a:rPr>
              <a:t>[2] Pontiggia et al. (2024). MATB for assessing different mental workload levels. Frontiers in Physiology, 15, Article 1408242. https://doi.org/10.3389/fphys.2024.1408242</a:t>
            </a:r>
            <a:endParaRPr lang="es-CO" sz="1850" dirty="0">
              <a:solidFill>
                <a:srgbClr val="242424"/>
              </a:solidFill>
              <a:latin typeface="Bell MT" panose="02020503060305020303" pitchFamily="18" charset="0"/>
            </a:endParaRPr>
          </a:p>
        </p:txBody>
      </p:sp>
      <p:sp>
        <p:nvSpPr>
          <p:cNvPr id="13" name="CEINNA_text_160">
            <a:extLst>
              <a:ext uri="{FF2B5EF4-FFF2-40B4-BE49-F238E27FC236}">
                <a16:creationId xmlns:a16="http://schemas.microsoft.com/office/drawing/2014/main" id="{EE8CAE83-7B6D-C36B-E0A2-E1B95481AD56}"/>
              </a:ext>
            </a:extLst>
          </p:cNvPr>
          <p:cNvSpPr txBox="1"/>
          <p:nvPr/>
        </p:nvSpPr>
        <p:spPr>
          <a:xfrm>
            <a:off x="1651000" y="4508499"/>
            <a:ext cx="9563100" cy="1282700"/>
          </a:xfrm>
          <a:prstGeom prst="rect">
            <a:avLst/>
          </a:prstGeom>
          <a:noFill/>
        </p:spPr>
        <p:txBody>
          <a:bodyPr vert="horz" wrap="square" lIns="0" tIns="0" rIns="0" bIns="0" rtlCol="0" anchor="t">
            <a:noAutofit/>
          </a:bodyPr>
          <a:lstStyle/>
          <a:p>
            <a:r>
              <a:rPr lang="es-CO" sz="1850">
                <a:solidFill>
                  <a:srgbClr val="242424"/>
                </a:solidFill>
                <a:latin typeface="Bell MT" panose="02020503060305020303" pitchFamily="18" charset="0"/>
              </a:rPr>
              <a:t>[3] Pontiggia et al. (2024). Combined effects of moderate hypoxia and sleep restriction on mental workload. Clocks &amp; Sleep, 6(3), 338–358. https://doi.org/10.3390/clockssleep6030024</a:t>
            </a:r>
            <a:endParaRPr lang="es-CO" sz="1850" dirty="0">
              <a:solidFill>
                <a:srgbClr val="242424"/>
              </a:solidFill>
              <a:latin typeface="Bell MT" panose="02020503060305020303" pitchFamily="18" charset="0"/>
            </a:endParaRPr>
          </a:p>
        </p:txBody>
      </p:sp>
      <p:sp>
        <p:nvSpPr>
          <p:cNvPr id="15" name="CEINNA_text_161">
            <a:extLst>
              <a:ext uri="{FF2B5EF4-FFF2-40B4-BE49-F238E27FC236}">
                <a16:creationId xmlns:a16="http://schemas.microsoft.com/office/drawing/2014/main" id="{ED65B53B-F1AD-0EB3-4954-E8076B540444}"/>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Autorías abreviadas en pantalla. Referencias APA completas en notas y documento adjunto.</a:t>
            </a:r>
          </a:p>
        </p:txBody>
      </p:sp>
      <p:sp>
        <p:nvSpPr>
          <p:cNvPr id="16" name="CEINNA_text_162">
            <a:extLst>
              <a:ext uri="{FF2B5EF4-FFF2-40B4-BE49-F238E27FC236}">
                <a16:creationId xmlns:a16="http://schemas.microsoft.com/office/drawing/2014/main" id="{FEFDD3AA-DE34-2649-1A9C-3BB4A794337A}"/>
              </a:ext>
            </a:extLst>
          </p:cNvPr>
          <p:cNvSpPr txBox="1"/>
          <p:nvPr/>
        </p:nvSpPr>
        <p:spPr>
          <a:xfrm>
            <a:off x="11036300" y="6032500"/>
            <a:ext cx="292100" cy="228600"/>
          </a:xfrm>
          <a:prstGeom prst="rect">
            <a:avLst/>
          </a:prstGeom>
          <a:noFill/>
        </p:spPr>
        <p:txBody>
          <a:bodyPr vert="horz" wrap="square" lIns="0" tIns="0" rIns="0" bIns="0" rtlCol="0" anchor="t">
            <a:noAutofit/>
          </a:bodyPr>
          <a:lstStyle/>
          <a:p>
            <a:pPr algn="r"/>
            <a:r>
              <a:rPr lang="es-CO" sz="1200" dirty="0">
                <a:solidFill>
                  <a:srgbClr val="4F5A6C"/>
                </a:solidFill>
                <a:latin typeface="Bell MT" panose="02020503060305020303" pitchFamily="18" charset="0"/>
              </a:rPr>
              <a:t>14</a:t>
            </a:r>
          </a:p>
        </p:txBody>
      </p:sp>
    </p:spTree>
    <p:custDataLst>
      <p:tags r:id="rId1"/>
    </p:custDataLst>
    <p:extLst>
      <p:ext uri="{BB962C8B-B14F-4D97-AF65-F5344CB8AC3E}">
        <p14:creationId xmlns:p14="http://schemas.microsoft.com/office/powerpoint/2010/main" val="598936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52724-8AA8-430E-FEB0-4B972A95EAAA}"/>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E8EA1176-5816-B9DC-12AF-ABF8C2197107}"/>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81F430AD-D31B-2596-B2E1-16149ED6A0CB}"/>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0B220A00-61F1-9AFF-18A5-B5EF0C69BF2E}"/>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41AF5B6C-F154-DA10-4688-5518D649EA18}"/>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274A84F3-CFA1-7921-F433-9D1D90A39239}"/>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D10C52BC-7F82-5D3B-DCD1-B67FB343FD55}"/>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4" name="CuadroTexto 13">
            <a:extLst>
              <a:ext uri="{FF2B5EF4-FFF2-40B4-BE49-F238E27FC236}">
                <a16:creationId xmlns:a16="http://schemas.microsoft.com/office/drawing/2014/main" id="{CBCCDF5A-723C-417C-851E-7D60633F3EB2}"/>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163">
            <a:extLst>
              <a:ext uri="{FF2B5EF4-FFF2-40B4-BE49-F238E27FC236}">
                <a16:creationId xmlns:a16="http://schemas.microsoft.com/office/drawing/2014/main" id="{A71AB2C9-0523-BC3A-88D0-970B6BE763CC}"/>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900" b="1" dirty="0">
                <a:solidFill>
                  <a:srgbClr val="000F4D"/>
                </a:solidFill>
                <a:latin typeface="Bell MT" panose="02020503060305020303" pitchFamily="18" charset="0"/>
              </a:rPr>
              <a:t>Bibliografía II</a:t>
            </a:r>
          </a:p>
        </p:txBody>
      </p:sp>
      <p:sp>
        <p:nvSpPr>
          <p:cNvPr id="9" name="CEINNA_text_164">
            <a:extLst>
              <a:ext uri="{FF2B5EF4-FFF2-40B4-BE49-F238E27FC236}">
                <a16:creationId xmlns:a16="http://schemas.microsoft.com/office/drawing/2014/main" id="{A5E00939-EC7A-9DAC-5B6E-BCF6320449DC}"/>
              </a:ext>
            </a:extLst>
          </p:cNvPr>
          <p:cNvSpPr txBox="1"/>
          <p:nvPr/>
        </p:nvSpPr>
        <p:spPr>
          <a:xfrm>
            <a:off x="1651000" y="1714499"/>
            <a:ext cx="9563100" cy="1282700"/>
          </a:xfrm>
          <a:prstGeom prst="rect">
            <a:avLst/>
          </a:prstGeom>
          <a:noFill/>
        </p:spPr>
        <p:txBody>
          <a:bodyPr vert="horz" wrap="square" lIns="0" tIns="0" rIns="0" bIns="0" rtlCol="0" anchor="t">
            <a:noAutofit/>
          </a:bodyPr>
          <a:lstStyle/>
          <a:p>
            <a:r>
              <a:rPr lang="es-CO" sz="1850">
                <a:solidFill>
                  <a:srgbClr val="242424"/>
                </a:solidFill>
                <a:latin typeface="Bell MT" panose="02020503060305020303" pitchFamily="18" charset="0"/>
              </a:rPr>
              <a:t>[4] Tortello et al. (2020). Subjective time estimation in Antarctica: The impact of extreme environments and isolation on a time production task. Neuroscience Letters, 725, Article 134893. https://doi.org/10.1016/j.neulet.2020.134893</a:t>
            </a:r>
            <a:endParaRPr lang="es-CO" sz="1850" dirty="0">
              <a:solidFill>
                <a:srgbClr val="242424"/>
              </a:solidFill>
              <a:latin typeface="Bell MT" panose="02020503060305020303" pitchFamily="18" charset="0"/>
            </a:endParaRPr>
          </a:p>
        </p:txBody>
      </p:sp>
      <p:sp>
        <p:nvSpPr>
          <p:cNvPr id="11" name="CEINNA_text_165">
            <a:extLst>
              <a:ext uri="{FF2B5EF4-FFF2-40B4-BE49-F238E27FC236}">
                <a16:creationId xmlns:a16="http://schemas.microsoft.com/office/drawing/2014/main" id="{0CAD9A64-3291-D5E7-E16F-949249026FA8}"/>
              </a:ext>
            </a:extLst>
          </p:cNvPr>
          <p:cNvSpPr txBox="1"/>
          <p:nvPr/>
        </p:nvSpPr>
        <p:spPr>
          <a:xfrm>
            <a:off x="1651000" y="3111499"/>
            <a:ext cx="9563100" cy="1282700"/>
          </a:xfrm>
          <a:prstGeom prst="rect">
            <a:avLst/>
          </a:prstGeom>
          <a:noFill/>
        </p:spPr>
        <p:txBody>
          <a:bodyPr vert="horz" wrap="square" lIns="0" tIns="0" rIns="0" bIns="0" rtlCol="0" anchor="t">
            <a:noAutofit/>
          </a:bodyPr>
          <a:lstStyle/>
          <a:p>
            <a:r>
              <a:rPr lang="es-CO" sz="1850">
                <a:solidFill>
                  <a:srgbClr val="242424"/>
                </a:solidFill>
                <a:latin typeface="Bell MT" panose="02020503060305020303" pitchFamily="18" charset="0"/>
              </a:rPr>
              <a:t>[5] Vogl et al. (2024). The United States Army Aeromedical Research Laboratory Multi-Attribute Task Battery. Frontiers in Neuroergonomics, 5, Article 1435588. https://doi.org/10.3389/fnrgo.2024.1435588</a:t>
            </a:r>
            <a:endParaRPr lang="es-CO" sz="1850" dirty="0">
              <a:solidFill>
                <a:srgbClr val="242424"/>
              </a:solidFill>
              <a:latin typeface="Bell MT" panose="02020503060305020303" pitchFamily="18" charset="0"/>
            </a:endParaRPr>
          </a:p>
        </p:txBody>
      </p:sp>
      <p:sp>
        <p:nvSpPr>
          <p:cNvPr id="13" name="CEINNA_text_166">
            <a:extLst>
              <a:ext uri="{FF2B5EF4-FFF2-40B4-BE49-F238E27FC236}">
                <a16:creationId xmlns:a16="http://schemas.microsoft.com/office/drawing/2014/main" id="{63485E00-4C7D-2232-C483-76B1D48A2D14}"/>
              </a:ext>
            </a:extLst>
          </p:cNvPr>
          <p:cNvSpPr txBox="1"/>
          <p:nvPr/>
        </p:nvSpPr>
        <p:spPr>
          <a:xfrm>
            <a:off x="1651000" y="4508499"/>
            <a:ext cx="9563100" cy="1282700"/>
          </a:xfrm>
          <a:prstGeom prst="rect">
            <a:avLst/>
          </a:prstGeom>
          <a:noFill/>
        </p:spPr>
        <p:txBody>
          <a:bodyPr vert="horz" wrap="square" lIns="0" tIns="0" rIns="0" bIns="0" rtlCol="0" anchor="t">
            <a:noAutofit/>
          </a:bodyPr>
          <a:lstStyle/>
          <a:p>
            <a:r>
              <a:rPr lang="es-CO" sz="1850">
                <a:solidFill>
                  <a:srgbClr val="242424"/>
                </a:solidFill>
                <a:latin typeface="Bell MT" panose="02020503060305020303" pitchFamily="18" charset="0"/>
              </a:rPr>
              <a:t>[6] Laverde-López et al. (2022). Validation of the Colombian version of the Karolinska sleepiness scale. Sleep Science, 15(Spec 1), 97–104. https://doi.org/10.5935/1984-0063.20220006</a:t>
            </a:r>
            <a:endParaRPr lang="es-CO" sz="1850" dirty="0">
              <a:solidFill>
                <a:srgbClr val="242424"/>
              </a:solidFill>
              <a:latin typeface="Bell MT" panose="02020503060305020303" pitchFamily="18" charset="0"/>
            </a:endParaRPr>
          </a:p>
        </p:txBody>
      </p:sp>
      <p:sp>
        <p:nvSpPr>
          <p:cNvPr id="15" name="CEINNA_text_167">
            <a:extLst>
              <a:ext uri="{FF2B5EF4-FFF2-40B4-BE49-F238E27FC236}">
                <a16:creationId xmlns:a16="http://schemas.microsoft.com/office/drawing/2014/main" id="{932E73CF-70E6-2003-B0F6-14D13F6D2B27}"/>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Autorías abreviadas en pantalla. Referencias APA completas en notas y documento adjunto.</a:t>
            </a:r>
          </a:p>
        </p:txBody>
      </p:sp>
      <p:sp>
        <p:nvSpPr>
          <p:cNvPr id="16" name="CEINNA_text_168">
            <a:extLst>
              <a:ext uri="{FF2B5EF4-FFF2-40B4-BE49-F238E27FC236}">
                <a16:creationId xmlns:a16="http://schemas.microsoft.com/office/drawing/2014/main" id="{08A3BC7C-3F69-AC8D-F399-662166CB5063}"/>
              </a:ext>
            </a:extLst>
          </p:cNvPr>
          <p:cNvSpPr txBox="1"/>
          <p:nvPr/>
        </p:nvSpPr>
        <p:spPr>
          <a:xfrm>
            <a:off x="11036300" y="6032500"/>
            <a:ext cx="292100" cy="228600"/>
          </a:xfrm>
          <a:prstGeom prst="rect">
            <a:avLst/>
          </a:prstGeom>
          <a:noFill/>
        </p:spPr>
        <p:txBody>
          <a:bodyPr vert="horz" wrap="square" lIns="0" tIns="0" rIns="0" bIns="0" rtlCol="0" anchor="t">
            <a:noAutofit/>
          </a:bodyPr>
          <a:lstStyle/>
          <a:p>
            <a:pPr algn="r"/>
            <a:r>
              <a:rPr lang="es-CO" sz="1200" dirty="0">
                <a:solidFill>
                  <a:srgbClr val="4F5A6C"/>
                </a:solidFill>
                <a:latin typeface="Bell MT" panose="02020503060305020303" pitchFamily="18" charset="0"/>
              </a:rPr>
              <a:t>15</a:t>
            </a:r>
          </a:p>
        </p:txBody>
      </p:sp>
    </p:spTree>
    <p:custDataLst>
      <p:tags r:id="rId1"/>
    </p:custDataLst>
    <p:extLst>
      <p:ext uri="{BB962C8B-B14F-4D97-AF65-F5344CB8AC3E}">
        <p14:creationId xmlns:p14="http://schemas.microsoft.com/office/powerpoint/2010/main" val="3858763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DACAB-7777-992A-0A7C-7D594272851A}"/>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BA1418DE-5541-FFD4-3BE5-529607D742B6}"/>
              </a:ext>
            </a:extLst>
          </p:cNvPr>
          <p:cNvSpPr/>
          <p:nvPr/>
        </p:nvSpPr>
        <p:spPr>
          <a:xfrm>
            <a:off x="11529162" y="3496321"/>
            <a:ext cx="662838"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2C7A685B-3ED7-68D0-AA28-5C324237D34B}"/>
              </a:ext>
            </a:extLst>
          </p:cNvPr>
          <p:cNvSpPr/>
          <p:nvPr/>
        </p:nvSpPr>
        <p:spPr>
          <a:xfrm>
            <a:off x="11529162" y="5227683"/>
            <a:ext cx="662838"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C27231FE-9AA7-2608-ECC4-9D0CB750A14C}"/>
              </a:ext>
            </a:extLst>
          </p:cNvPr>
          <p:cNvSpPr/>
          <p:nvPr/>
        </p:nvSpPr>
        <p:spPr>
          <a:xfrm>
            <a:off x="11527436" y="0"/>
            <a:ext cx="662838"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0373642A-7EB2-B049-25EB-29A25E7510C8}"/>
              </a:ext>
            </a:extLst>
          </p:cNvPr>
          <p:cNvSpPr/>
          <p:nvPr/>
        </p:nvSpPr>
        <p:spPr>
          <a:xfrm>
            <a:off x="11529162" y="1656417"/>
            <a:ext cx="662838"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pic>
        <p:nvPicPr>
          <p:cNvPr id="7" name="Imagen 6" descr="Diagrama&#10;&#10;El contenido generado por inteligencia artificial puede ser incorrecto.">
            <a:extLst>
              <a:ext uri="{FF2B5EF4-FFF2-40B4-BE49-F238E27FC236}">
                <a16:creationId xmlns:a16="http://schemas.microsoft.com/office/drawing/2014/main" id="{269D18FA-4C6D-2E05-BC37-03430A9D703D}"/>
              </a:ext>
            </a:extLst>
          </p:cNvPr>
          <p:cNvPicPr>
            <a:picLocks noChangeAspect="1"/>
          </p:cNvPicPr>
          <p:nvPr/>
        </p:nvPicPr>
        <p:blipFill>
          <a:blip r:embed="rId4"/>
          <a:srcRect l="6260" t="10344" r="5922" b="28494"/>
          <a:stretch/>
        </p:blipFill>
        <p:spPr>
          <a:xfrm>
            <a:off x="2924221" y="479700"/>
            <a:ext cx="5999177" cy="5217326"/>
          </a:xfrm>
          <a:prstGeom prst="rect">
            <a:avLst/>
          </a:prstGeom>
        </p:spPr>
      </p:pic>
    </p:spTree>
    <p:custDataLst>
      <p:tags r:id="rId1"/>
    </p:custDataLst>
    <p:extLst>
      <p:ext uri="{BB962C8B-B14F-4D97-AF65-F5344CB8AC3E}">
        <p14:creationId xmlns:p14="http://schemas.microsoft.com/office/powerpoint/2010/main" val="27775560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EINNA_DURATION_SECONDS" val="0"/>
  <p:tag name="CEINNA_TEMPLATE_SLIDE" val="1"/>
</p:tagLst>
</file>

<file path=ppt/tags/tag2.xml><?xml version="1.0" encoding="utf-8"?>
<p:tagLst xmlns:a="http://schemas.openxmlformats.org/drawingml/2006/main" xmlns:r="http://schemas.openxmlformats.org/officeDocument/2006/relationships" xmlns:p="http://schemas.openxmlformats.org/presentationml/2006/main">
  <p:tag name="CEINNA_DURATION_SECONDS" val="20"/>
  <p:tag name="CEINNA_TEMPLATE_SLIDE" val="2"/>
</p:tagLst>
</file>

<file path=ppt/tags/tag3.xml><?xml version="1.0" encoding="utf-8"?>
<p:tagLst xmlns:a="http://schemas.openxmlformats.org/drawingml/2006/main" xmlns:r="http://schemas.openxmlformats.org/officeDocument/2006/relationships" xmlns:p="http://schemas.openxmlformats.org/presentationml/2006/main">
  <p:tag name="CEINNA_DURATION_SECONDS" val="10"/>
  <p:tag name="CEINNA_TEMPLATE_SLIDE" val="3"/>
</p:tagLst>
</file>

<file path=ppt/tags/tag4.xml><?xml version="1.0" encoding="utf-8"?>
<p:tagLst xmlns:a="http://schemas.openxmlformats.org/drawingml/2006/main" xmlns:r="http://schemas.openxmlformats.org/officeDocument/2006/relationships" xmlns:p="http://schemas.openxmlformats.org/presentationml/2006/main">
  <p:tag name="CEINNA_DURATION_SECONDS" val="50"/>
  <p:tag name="CEINNA_TEMPLATE_SLIDE" val="4"/>
</p:tagLst>
</file>

<file path=ppt/tags/tag5.xml><?xml version="1.0" encoding="utf-8"?>
<p:tagLst xmlns:a="http://schemas.openxmlformats.org/drawingml/2006/main" xmlns:r="http://schemas.openxmlformats.org/officeDocument/2006/relationships" xmlns:p="http://schemas.openxmlformats.org/presentationml/2006/main">
  <p:tag name="CEINNA_DURATION_SECONDS" val="50"/>
  <p:tag name="CEINNA_TEMPLATE_SLIDE" val="4"/>
</p:tagLst>
</file>

<file path=ppt/tags/tag6.xml><?xml version="1.0" encoding="utf-8"?>
<p:tagLst xmlns:a="http://schemas.openxmlformats.org/drawingml/2006/main" xmlns:r="http://schemas.openxmlformats.org/officeDocument/2006/relationships" xmlns:p="http://schemas.openxmlformats.org/presentationml/2006/main">
  <p:tag name="CEINNA_DURATION_SECONDS" val="75"/>
  <p:tag name="CEINNA_TEMPLATE_SLIDE" val="4"/>
</p:tagLst>
</file>

<file path=ppt/tags/tag7.xml><?xml version="1.0" encoding="utf-8"?>
<p:tagLst xmlns:a="http://schemas.openxmlformats.org/drawingml/2006/main" xmlns:r="http://schemas.openxmlformats.org/officeDocument/2006/relationships" xmlns:p="http://schemas.openxmlformats.org/presentationml/2006/main">
  <p:tag name="CEINNA_DURATION_SECONDS" val="60"/>
  <p:tag name="CEINNA_TEMPLATE_SLIDE" val="4"/>
</p:tagLst>
</file>

<file path=ppt/tags/tag8.xml><?xml version="1.0" encoding="utf-8"?>
<p:tagLst xmlns:a="http://schemas.openxmlformats.org/drawingml/2006/main" xmlns:r="http://schemas.openxmlformats.org/officeDocument/2006/relationships" xmlns:p="http://schemas.openxmlformats.org/presentationml/2006/main">
  <p:tag name="CEINNA_DURATION_SECONDS" val="60"/>
  <p:tag name="CEINNA_TEMPLATE_SLIDE" val="4"/>
</p:tagLst>
</file>

<file path=ppt/tags/tag9.xml><?xml version="1.0" encoding="utf-8"?>
<p:tagLst xmlns:a="http://schemas.openxmlformats.org/drawingml/2006/main" xmlns:r="http://schemas.openxmlformats.org/officeDocument/2006/relationships" xmlns:p="http://schemas.openxmlformats.org/presentationml/2006/main">
  <p:tag name="CEINNA_DURATION_SECONDS" val="70"/>
  <p:tag name="CEINNA_TEMPLATE_SLIDE" val="4"/>
</p:tagLst>
</file>

<file path=ppt/tags/tag10.xml><?xml version="1.0" encoding="utf-8"?>
<p:tagLst xmlns:a="http://schemas.openxmlformats.org/drawingml/2006/main" xmlns:r="http://schemas.openxmlformats.org/officeDocument/2006/relationships" xmlns:p="http://schemas.openxmlformats.org/presentationml/2006/main">
  <p:tag name="CEINNA_DURATION_SECONDS" val="75"/>
  <p:tag name="CEINNA_TEMPLATE_SLIDE" val="5"/>
</p:tagLst>
</file>

<file path=ppt/tags/tag11.xml><?xml version="1.0" encoding="utf-8"?>
<p:tagLst xmlns:a="http://schemas.openxmlformats.org/drawingml/2006/main" xmlns:r="http://schemas.openxmlformats.org/officeDocument/2006/relationships" xmlns:p="http://schemas.openxmlformats.org/presentationml/2006/main">
  <p:tag name="CEINNA_DURATION_SECONDS" val="65"/>
  <p:tag name="CEINNA_TEMPLATE_SLIDE" val="4"/>
</p:tagLst>
</file>

<file path=ppt/tags/tag12.xml><?xml version="1.0" encoding="utf-8"?>
<p:tagLst xmlns:a="http://schemas.openxmlformats.org/drawingml/2006/main" xmlns:r="http://schemas.openxmlformats.org/officeDocument/2006/relationships" xmlns:p="http://schemas.openxmlformats.org/presentationml/2006/main">
  <p:tag name="CEINNA_DURATION_SECONDS" val="60"/>
  <p:tag name="CEINNA_TEMPLATE_SLIDE" val="4"/>
</p:tagLst>
</file>

<file path=ppt/tags/tag13.xml><?xml version="1.0" encoding="utf-8"?>
<p:tagLst xmlns:a="http://schemas.openxmlformats.org/drawingml/2006/main" xmlns:r="http://schemas.openxmlformats.org/officeDocument/2006/relationships" xmlns:p="http://schemas.openxmlformats.org/presentationml/2006/main">
  <p:tag name="CEINNA_DURATION_SECONDS" val="75"/>
  <p:tag name="CEINNA_TEMPLATE_SLIDE" val="6"/>
</p:tagLst>
</file>

<file path=ppt/tags/tag14.xml><?xml version="1.0" encoding="utf-8"?>
<p:tagLst xmlns:a="http://schemas.openxmlformats.org/drawingml/2006/main" xmlns:r="http://schemas.openxmlformats.org/officeDocument/2006/relationships" xmlns:p="http://schemas.openxmlformats.org/presentationml/2006/main">
  <p:tag name="CEINNA_DURATION_SECONDS" val="10"/>
  <p:tag name="CEINNA_TEMPLATE_SLIDE" val="7"/>
</p:tagLst>
</file>

<file path=ppt/tags/tag15.xml><?xml version="1.0" encoding="utf-8"?>
<p:tagLst xmlns:a="http://schemas.openxmlformats.org/drawingml/2006/main" xmlns:r="http://schemas.openxmlformats.org/officeDocument/2006/relationships" xmlns:p="http://schemas.openxmlformats.org/presentationml/2006/main">
  <p:tag name="CEINNA_DURATION_SECONDS" val="10"/>
  <p:tag name="CEINNA_TEMPLATE_SLIDE" val="7"/>
</p:tagLst>
</file>

<file path=ppt/tags/tag16.xml><?xml version="1.0" encoding="utf-8"?>
<p:tagLst xmlns:a="http://schemas.openxmlformats.org/drawingml/2006/main" xmlns:r="http://schemas.openxmlformats.org/officeDocument/2006/relationships" xmlns:p="http://schemas.openxmlformats.org/presentationml/2006/main">
  <p:tag name="CEINNA_DURATION_SECONDS" val="0"/>
  <p:tag name="CEINNA_TEMPLATE_SLIDE" val="8"/>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04a20c9-9af0-4dae-aeba-e15070a73960" xsi:nil="true"/>
    <lcf76f155ced4ddcb4097134ff3c332f xmlns="6a6d1859-6a9f-4da9-824f-e439e613a89f">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D0BB7AEC58CAC444A4B63F811FEE926A" ma:contentTypeVersion="14" ma:contentTypeDescription="Crear nuevo documento." ma:contentTypeScope="" ma:versionID="8680629e63e992b24468668303c781b6">
  <xsd:schema xmlns:xsd="http://www.w3.org/2001/XMLSchema" xmlns:xs="http://www.w3.org/2001/XMLSchema" xmlns:p="http://schemas.microsoft.com/office/2006/metadata/properties" xmlns:ns2="6a6d1859-6a9f-4da9-824f-e439e613a89f" xmlns:ns3="f04a20c9-9af0-4dae-aeba-e15070a73960" targetNamespace="http://schemas.microsoft.com/office/2006/metadata/properties" ma:root="true" ma:fieldsID="909707a9e4cffbda75ecfe28d8aeea2e" ns2:_="" ns3:_="">
    <xsd:import namespace="6a6d1859-6a9f-4da9-824f-e439e613a89f"/>
    <xsd:import namespace="f04a20c9-9af0-4dae-aeba-e15070a7396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6d1859-6a9f-4da9-824f-e439e613a8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Etiquetas de imagen" ma:readOnly="false" ma:fieldId="{5cf76f15-5ced-4ddc-b409-7134ff3c332f}" ma:taxonomyMulti="true" ma:sspId="5debfcba-7ab8-4e81-bb94-72804333e642"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04a20c9-9af0-4dae-aeba-e15070a73960"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2efe0e46-6f69-4631-9b8a-7499e98fccfb}" ma:internalName="TaxCatchAll" ma:showField="CatchAllData" ma:web="f04a20c9-9af0-4dae-aeba-e15070a73960">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EE0B4A-4B8F-450D-941A-3F7D05332286}">
  <ds:schemaRefs>
    <ds:schemaRef ds:uri="6a6d1859-6a9f-4da9-824f-e439e613a89f"/>
    <ds:schemaRef ds:uri="f04a20c9-9af0-4dae-aeba-e15070a7396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ED65B62-C00E-42C2-9341-1C77C5EFCF65}">
  <ds:schemaRefs>
    <ds:schemaRef ds:uri="6a6d1859-6a9f-4da9-824f-e439e613a89f"/>
    <ds:schemaRef ds:uri="f04a20c9-9af0-4dae-aeba-e15070a7396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D648084-310C-4C87-A46F-36D90DACF3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33</TotalTime>
  <Words>4691</Words>
  <Application>Microsoft Office PowerPoint</Application>
  <PresentationFormat>Widescreen</PresentationFormat>
  <Paragraphs>303</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Bell MT</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Carga mental y desempeño multitarea en ASTRA: diseño longitudinal mediante MATB</dc:title>
  <dc:subject>III CEINNA 2026 · Subdirección Científica Aeroespacial – DIMAE</dc:subject>
  <dc:creator>SMSM DIEGO L MALPICA</dc:creator>
  <cp:lastModifiedBy>SMSM16. DIEGO LEONEL MALPICA HINCAPIE</cp:lastModifiedBy>
  <cp:revision>9</cp:revision>
  <dcterms:created xsi:type="dcterms:W3CDTF">2025-03-11T18:05:24Z</dcterms:created>
  <dcterms:modified xsi:type="dcterms:W3CDTF">2026-09-21T14:43:47Z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0x010100D0BB7AEC58CAC444A4B63F811FEE926A</vt:lpwstr>
  </property>
  <property fmtid="{D5CDD505-2E9C-101B-9397-08002B2CF9AE}" pid="3" name="MediaServiceImageTags">
    <vt:lpwstr/>
  </property>
</Properties>
</file>