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98" r:id="rId2"/>
    <p:sldId id="299" r:id="rId3"/>
    <p:sldId id="300" r:id="rId4"/>
    <p:sldId id="301" r:id="rId5"/>
    <p:sldId id="302" r:id="rId6"/>
    <p:sldId id="303" r:id="rId7"/>
    <p:sldId id="304" r:id="rId8"/>
    <p:sldId id="305" r:id="rId9"/>
    <p:sldId id="306" r:id="rId10"/>
    <p:sldId id="307" r:id="rId11"/>
    <p:sldId id="308" r:id="rId12"/>
    <p:sldId id="309" r:id="rId13"/>
    <p:sldId id="310" r:id="rId14"/>
    <p:sldId id="311" r:id="rId15"/>
    <p:sldId id="312" r:id="rId16"/>
    <p:sldId id="313" r:id="rId17"/>
    <p:sldId id="314" r:id="rId18"/>
    <p:sldId id="315" r:id="rId19"/>
    <p:sldId id="316" r:id="rId20"/>
    <p:sldId id="317" r:id="rId21"/>
    <p:sldId id="318" r:id="rId22"/>
    <p:sldId id="319" r:id="rId23"/>
    <p:sldId id="320" r:id="rId24"/>
    <p:sldId id="321" r:id="rId2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30C6B9-1DFF-4049-B5AD-AF6645E3C94A}" v="4" dt="2024-09-30T01:43:32.6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31" autoAdjust="0"/>
  </p:normalViewPr>
  <p:slideViewPr>
    <p:cSldViewPr snapToGrid="0">
      <p:cViewPr varScale="1">
        <p:scale>
          <a:sx n="78" d="100"/>
          <a:sy n="78" d="100"/>
        </p:scale>
        <p:origin x="835" y="43"/>
      </p:cViewPr>
      <p:guideLst/>
    </p:cSldViewPr>
  </p:slideViewPr>
  <p:notesTextViewPr>
    <p:cViewPr>
      <p:scale>
        <a:sx n="1" d="1"/>
        <a:sy n="1" d="1"/>
      </p:scale>
      <p:origin x="0" y="0"/>
    </p:cViewPr>
  </p:notesTextViewPr>
  <p:notesViewPr>
    <p:cSldViewPr snapToGrid="0">
      <p:cViewPr varScale="1">
        <p:scale>
          <a:sx n="86" d="100"/>
          <a:sy n="86" d="100"/>
        </p:scale>
        <p:origin x="386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Malpica" userId="6122c89c30f64940" providerId="LiveId" clId="{4930C6B9-1DFF-4049-B5AD-AF6645E3C94A}"/>
    <pc:docChg chg="custSel modSld">
      <pc:chgData name="Diego Malpica" userId="6122c89c30f64940" providerId="LiveId" clId="{4930C6B9-1DFF-4049-B5AD-AF6645E3C94A}" dt="2024-09-30T01:43:33.984" v="6" actId="478"/>
      <pc:docMkLst>
        <pc:docMk/>
      </pc:docMkLst>
      <pc:sldChg chg="delSp mod">
        <pc:chgData name="Diego Malpica" userId="6122c89c30f64940" providerId="LiveId" clId="{4930C6B9-1DFF-4049-B5AD-AF6645E3C94A}" dt="2024-09-30T01:43:33.984" v="6" actId="478"/>
        <pc:sldMkLst>
          <pc:docMk/>
          <pc:sldMk cId="2410976799" sldId="259"/>
        </pc:sldMkLst>
        <pc:spChg chg="del">
          <ac:chgData name="Diego Malpica" userId="6122c89c30f64940" providerId="LiveId" clId="{4930C6B9-1DFF-4049-B5AD-AF6645E3C94A}" dt="2024-09-30T01:43:28.990" v="3" actId="478"/>
          <ac:spMkLst>
            <pc:docMk/>
            <pc:sldMk cId="2410976799" sldId="259"/>
            <ac:spMk id="14" creationId="{DD297227-1E92-4B1C-81D8-A040CCBD583D}"/>
          </ac:spMkLst>
        </pc:spChg>
        <pc:spChg chg="del">
          <ac:chgData name="Diego Malpica" userId="6122c89c30f64940" providerId="LiveId" clId="{4930C6B9-1DFF-4049-B5AD-AF6645E3C94A}" dt="2024-09-30T01:43:32.615" v="5" actId="478"/>
          <ac:spMkLst>
            <pc:docMk/>
            <pc:sldMk cId="2410976799" sldId="259"/>
            <ac:spMk id="16" creationId="{C6733392-7165-4BF6-B148-90ABF71B56C6}"/>
          </ac:spMkLst>
        </pc:spChg>
        <pc:spChg chg="del">
          <ac:chgData name="Diego Malpica" userId="6122c89c30f64940" providerId="LiveId" clId="{4930C6B9-1DFF-4049-B5AD-AF6645E3C94A}" dt="2024-09-30T01:43:31.008" v="4" actId="478"/>
          <ac:spMkLst>
            <pc:docMk/>
            <pc:sldMk cId="2410976799" sldId="259"/>
            <ac:spMk id="20" creationId="{1DDDFDF4-87D5-4BE6-88CE-E1E98A31CA79}"/>
          </ac:spMkLst>
        </pc:spChg>
        <pc:spChg chg="del">
          <ac:chgData name="Diego Malpica" userId="6122c89c30f64940" providerId="LiveId" clId="{4930C6B9-1DFF-4049-B5AD-AF6645E3C94A}" dt="2024-09-30T01:43:23.526" v="0" actId="478"/>
          <ac:spMkLst>
            <pc:docMk/>
            <pc:sldMk cId="2410976799" sldId="259"/>
            <ac:spMk id="21" creationId="{2840005A-FDFB-4B5E-9821-922132400730}"/>
          </ac:spMkLst>
        </pc:spChg>
        <pc:cxnChg chg="del">
          <ac:chgData name="Diego Malpica" userId="6122c89c30f64940" providerId="LiveId" clId="{4930C6B9-1DFF-4049-B5AD-AF6645E3C94A}" dt="2024-09-30T01:43:26.149" v="2" actId="478"/>
          <ac:cxnSpMkLst>
            <pc:docMk/>
            <pc:sldMk cId="2410976799" sldId="259"/>
            <ac:cxnSpMk id="15" creationId="{DDF91C2D-26E1-4BAE-92A4-9C2FDEA90EEE}"/>
          </ac:cxnSpMkLst>
        </pc:cxnChg>
        <pc:cxnChg chg="del">
          <ac:chgData name="Diego Malpica" userId="6122c89c30f64940" providerId="LiveId" clId="{4930C6B9-1DFF-4049-B5AD-AF6645E3C94A}" dt="2024-09-30T01:43:33.984" v="6" actId="478"/>
          <ac:cxnSpMkLst>
            <pc:docMk/>
            <pc:sldMk cId="2410976799" sldId="259"/>
            <ac:cxnSpMk id="17" creationId="{3CF2CCDF-F14B-41C6-BC92-97A9E283D99A}"/>
          </ac:cxnSpMkLst>
        </pc:cxnChg>
        <pc:cxnChg chg="del">
          <ac:chgData name="Diego Malpica" userId="6122c89c30f64940" providerId="LiveId" clId="{4930C6B9-1DFF-4049-B5AD-AF6645E3C94A}" dt="2024-09-30T01:43:24.492" v="1" actId="478"/>
          <ac:cxnSpMkLst>
            <pc:docMk/>
            <pc:sldMk cId="2410976799" sldId="259"/>
            <ac:cxnSpMk id="19" creationId="{FEE18C80-D2C7-4927-A1E6-124F780D2682}"/>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AF90E3E-C3C6-4CE4-AF88-3ABB243F8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51D616DB-4D8D-4B8A-A648-EAE6C595E1F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5B89203-AB92-4B41-B6F8-9F6D17302F78}" type="datetimeFigureOut">
              <a:rPr lang="es-CO" smtClean="0"/>
              <a:t>23/09/2026</a:t>
            </a:fld>
            <a:endParaRPr lang="es-CO"/>
          </a:p>
        </p:txBody>
      </p:sp>
      <p:sp>
        <p:nvSpPr>
          <p:cNvPr id="4" name="Marcador de pie de página 3">
            <a:extLst>
              <a:ext uri="{FF2B5EF4-FFF2-40B4-BE49-F238E27FC236}">
                <a16:creationId xmlns:a16="http://schemas.microsoft.com/office/drawing/2014/main" id="{91FF0FE5-0BFC-45F7-A445-7A5B9496B2D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BA171B9F-F3C5-4159-AF27-A04BBD708E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F5B2AE-F625-4D24-80B4-337F2652B3EB}" type="slidenum">
              <a:rPr lang="es-CO" smtClean="0"/>
              <a:t>‹#›</a:t>
            </a:fld>
            <a:endParaRPr lang="es-CO"/>
          </a:p>
        </p:txBody>
      </p:sp>
    </p:spTree>
    <p:extLst>
      <p:ext uri="{BB962C8B-B14F-4D97-AF65-F5344CB8AC3E}">
        <p14:creationId xmlns:p14="http://schemas.microsoft.com/office/powerpoint/2010/main" val="3707861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3533F9-277A-4FF1-9E31-1F8E1503BF39}" type="datetimeFigureOut">
              <a:rPr lang="es-CO" smtClean="0"/>
              <a:t>23/09/2026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0142E0-0063-4CA8-9E14-1202441AE250}" type="slidenum">
              <a:rPr lang="es-CO" smtClean="0"/>
              <a:t>‹#›</a:t>
            </a:fld>
            <a:endParaRPr lang="es-CO"/>
          </a:p>
        </p:txBody>
      </p:sp>
    </p:spTree>
    <p:extLst>
      <p:ext uri="{BB962C8B-B14F-4D97-AF65-F5344CB8AC3E}">
        <p14:creationId xmlns:p14="http://schemas.microsoft.com/office/powerpoint/2010/main" val="1984785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(0 s)</a:t>
            </a:r>
          </a:p>
          <a:p>
            <a:endParaRPr lang="es-CO"/>
          </a:p>
          <a:p>
            <a:r>
              <a:rPr lang="es-CO"/>
              <a:t>Pantalla de apertura; avanzar al aviso de privacidad.</a:t>
            </a:r>
          </a:p>
          <a:p>
            <a:endParaRPr lang="es-CO"/>
          </a:p>
          <a:p>
            <a:r>
              <a:rPr lang="es-CO"/>
              <a:t>APOYO Y FUENTES</a:t>
            </a:r>
          </a:p>
          <a:p>
            <a:r>
              <a:rPr lang="es-CO"/>
              <a:t>Plantilla FAC, diapositiva 1.</a:t>
            </a:r>
          </a:p>
        </p:txBody>
      </p:sp>
      <p:sp>
        <p:nvSpPr>
          <p:cNvPr id="4" name="Slide Number Placeholder 3"/>
          <p:cNvSpPr>
            <a:spLocks noGrp="1"/>
          </p:cNvSpPr>
          <p:nvPr>
            <p:ph type="sldNum" sz="quarter" idx="5"/>
          </p:nvPr>
        </p:nvSpPr>
        <p:spPr/>
        <p:txBody>
          <a:bodyPr/>
          <a:lstStyle/>
          <a:p>
            <a:fld id="{1C0142E0-0063-4CA8-9E14-1202441AE250}" type="slidenum">
              <a:rPr lang="es-CO" smtClean="0"/>
              <a:t>1</a:t>
            </a:fld>
            <a:endParaRPr lang="es-CO"/>
          </a:p>
        </p:txBody>
      </p:sp>
    </p:spTree>
    <p:extLst>
      <p:ext uri="{BB962C8B-B14F-4D97-AF65-F5344CB8AC3E}">
        <p14:creationId xmlns:p14="http://schemas.microsoft.com/office/powerpoint/2010/main" val="2916612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(0 s)</a:t>
            </a:r>
          </a:p>
          <a:p>
            <a:endParaRPr lang="es-CO"/>
          </a:p>
          <a:p>
            <a:r>
              <a:rPr lang="es-CO"/>
              <a:t>Aviso de información pública clasificada.</a:t>
            </a:r>
          </a:p>
          <a:p>
            <a:endParaRPr lang="es-CO"/>
          </a:p>
          <a:p>
            <a:r>
              <a:rPr lang="es-CO"/>
              <a:t>APOYO Y FUENTES</a:t>
            </a:r>
          </a:p>
          <a:p>
            <a:r>
              <a:rPr lang="es-CO"/>
              <a:t>Plantilla FAC, diapositiva 4; clasificación declarada por el usuario.</a:t>
            </a:r>
          </a:p>
        </p:txBody>
      </p:sp>
      <p:sp>
        <p:nvSpPr>
          <p:cNvPr id="4" name="Slide Number Placeholder 3"/>
          <p:cNvSpPr>
            <a:spLocks noGrp="1"/>
          </p:cNvSpPr>
          <p:nvPr>
            <p:ph type="sldNum" sz="quarter" idx="5"/>
          </p:nvPr>
        </p:nvSpPr>
        <p:spPr/>
        <p:txBody>
          <a:bodyPr/>
          <a:lstStyle/>
          <a:p>
            <a:fld id="{1C0142E0-0063-4CA8-9E14-1202441AE250}" type="slidenum">
              <a:rPr lang="es-CO" smtClean="0"/>
              <a:t>2</a:t>
            </a:fld>
            <a:endParaRPr lang="es-CO"/>
          </a:p>
        </p:txBody>
      </p:sp>
    </p:spTree>
    <p:extLst>
      <p:ext uri="{BB962C8B-B14F-4D97-AF65-F5344CB8AC3E}">
        <p14:creationId xmlns:p14="http://schemas.microsoft.com/office/powerpoint/2010/main" val="588742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(20 s)</a:t>
            </a:r>
          </a:p>
          <a:p>
            <a:endParaRPr lang="es-CO"/>
          </a:p>
          <a:p>
            <a:r>
              <a:rPr lang="es-CO"/>
              <a:t>Soy Diego L. Malpica, especialista en Medicina Aeroespacial de la Subdirección Científica Aeroespacial de la DIMAE. Presentaré el diseño de investigación de ASTRA mediante MATB y una demostración de las principales funciones de la aplicación.</a:t>
            </a:r>
          </a:p>
          <a:p>
            <a:endParaRPr lang="es-CO"/>
          </a:p>
          <a:p>
            <a:r>
              <a:rPr lang="es-CO"/>
              <a:t>APOYO Y FUENTES</a:t>
            </a:r>
          </a:p>
          <a:p>
            <a:r>
              <a:rPr lang="es-CO"/>
              <a:t>Autoría reutilizada de CEINNA, confirmada por el investigador.</a:t>
            </a:r>
          </a:p>
        </p:txBody>
      </p:sp>
      <p:sp>
        <p:nvSpPr>
          <p:cNvPr id="4" name="Slide Number Placeholder 3"/>
          <p:cNvSpPr>
            <a:spLocks noGrp="1"/>
          </p:cNvSpPr>
          <p:nvPr>
            <p:ph type="sldNum" sz="quarter" idx="5"/>
          </p:nvPr>
        </p:nvSpPr>
        <p:spPr/>
        <p:txBody>
          <a:bodyPr/>
          <a:lstStyle/>
          <a:p>
            <a:fld id="{1C0142E0-0063-4CA8-9E14-1202441AE250}" type="slidenum">
              <a:rPr lang="es-CO" smtClean="0"/>
              <a:t>3</a:t>
            </a:fld>
            <a:endParaRPr lang="es-CO"/>
          </a:p>
        </p:txBody>
      </p:sp>
    </p:spTree>
    <p:extLst>
      <p:ext uri="{BB962C8B-B14F-4D97-AF65-F5344CB8AC3E}">
        <p14:creationId xmlns:p14="http://schemas.microsoft.com/office/powerpoint/2010/main" val="4225101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(20 s)</a:t>
            </a:r>
          </a:p>
          <a:p>
            <a:endParaRPr lang="es-CO"/>
          </a:p>
          <a:p>
            <a:r>
              <a:rPr lang="es-CO"/>
              <a:t>El recorrido conecta la pregunta científica con las medidas, la preparación de tareas y la revisión de evidencia. Al final se presentan el análisis previsto y la siguiente etapa.</a:t>
            </a:r>
          </a:p>
          <a:p>
            <a:endParaRPr lang="es-CO"/>
          </a:p>
          <a:p>
            <a:r>
              <a:rPr lang="es-CO"/>
              <a:t>APOYO Y FUENTES</a:t>
            </a:r>
          </a:p>
          <a:p>
            <a:r>
              <a:rPr lang="es-CO"/>
              <a:t>Estructura de la presentación EMAVI.</a:t>
            </a:r>
          </a:p>
        </p:txBody>
      </p:sp>
      <p:sp>
        <p:nvSpPr>
          <p:cNvPr id="4" name="Slide Number Placeholder 3"/>
          <p:cNvSpPr>
            <a:spLocks noGrp="1"/>
          </p:cNvSpPr>
          <p:nvPr>
            <p:ph type="sldNum" sz="quarter" idx="5"/>
          </p:nvPr>
        </p:nvSpPr>
        <p:spPr/>
        <p:txBody>
          <a:bodyPr/>
          <a:lstStyle/>
          <a:p>
            <a:fld id="{1C0142E0-0063-4CA8-9E14-1202441AE250}" type="slidenum">
              <a:rPr lang="es-CO" smtClean="0"/>
              <a:t>4</a:t>
            </a:fld>
            <a:endParaRPr lang="es-CO"/>
          </a:p>
        </p:txBody>
      </p:sp>
    </p:spTree>
    <p:extLst>
      <p:ext uri="{BB962C8B-B14F-4D97-AF65-F5344CB8AC3E}">
        <p14:creationId xmlns:p14="http://schemas.microsoft.com/office/powerpoint/2010/main" val="2770534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(45 s)</a:t>
            </a:r>
          </a:p>
          <a:p>
            <a:endParaRPr lang="es-CO"/>
          </a:p>
          <a:p>
            <a:r>
              <a:rPr lang="es-CO"/>
              <a:t>La pregunta central es cómo varían el desempeño multitarea y la carga percibida entre condiciones de demanda y a lo largo de ASTRA. La unidad de seguimiento es la persona, observada en varias visitas y bloques. Separar demanda, desempeño y percepción permite interpretar respuestas diferentes ante una misma tarea. Presentaré el diseño y un recorrido de la aplicación. Las capturas corresponden a una demostración local con registros sintéticos; los datos humanos de las misiones se obtendrán mediante la ejecución del protocolo.</a:t>
            </a:r>
          </a:p>
          <a:p>
            <a:endParaRPr lang="es-CO"/>
          </a:p>
          <a:p>
            <a:r>
              <a:rPr lang="es-CO"/>
              <a:t>APOYO Y FUENTES</a:t>
            </a:r>
          </a:p>
          <a:p>
            <a:r>
              <a:rPr lang="es-CO"/>
              <a:t>CEINNA/guion/diapositivas.md, láminas 4, 11; Manual ASTRA §4.7.</a:t>
            </a:r>
          </a:p>
        </p:txBody>
      </p:sp>
      <p:sp>
        <p:nvSpPr>
          <p:cNvPr id="4" name="Slide Number Placeholder 3"/>
          <p:cNvSpPr>
            <a:spLocks noGrp="1"/>
          </p:cNvSpPr>
          <p:nvPr>
            <p:ph type="sldNum" sz="quarter" idx="5"/>
          </p:nvPr>
        </p:nvSpPr>
        <p:spPr/>
        <p:txBody>
          <a:bodyPr/>
          <a:lstStyle/>
          <a:p>
            <a:fld id="{1C0142E0-0063-4CA8-9E14-1202441AE250}" type="slidenum">
              <a:rPr lang="es-CO" smtClean="0"/>
              <a:t>5</a:t>
            </a:fld>
            <a:endParaRPr lang="es-CO"/>
          </a:p>
        </p:txBody>
      </p:sp>
    </p:spTree>
    <p:extLst>
      <p:ext uri="{BB962C8B-B14F-4D97-AF65-F5344CB8AC3E}">
        <p14:creationId xmlns:p14="http://schemas.microsoft.com/office/powerpoint/2010/main" val="504517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(45 s)</a:t>
            </a:r>
          </a:p>
          <a:p>
            <a:endParaRPr lang="es-CO"/>
          </a:p>
          <a:p>
            <a:r>
              <a:rPr lang="es-CO"/>
              <a:t>Las implementaciones MATB aportan herramientas complementarias. OpenMATB enfatiza personalización y replicabilidad, mientras USAARL documenta transiciones de demanda y automatización adaptativa. La revisión de Pontiggia encontró siete configuraciones suficientemente descritas entre diecinueve estudios. Esa proporción se refiere a la calidad del reporte, no al éxito de replicaciones. La decisión metodológica del proyecto es conservar los parámetros y la secuencia de eventos junto con la versión que los produjo. Así podemos reconstruir la exposición experimental que antecede a cada resultado.</a:t>
            </a:r>
          </a:p>
          <a:p>
            <a:endParaRPr lang="es-CO"/>
          </a:p>
          <a:p>
            <a:r>
              <a:rPr lang="es-CO"/>
              <a:t>APOYO Y FUENTES</a:t>
            </a:r>
          </a:p>
          <a:p>
            <a:r>
              <a:rPr lang="es-CO"/>
              <a:t>[1] Cegarra et al., 2020; [2] Pontiggia, Gomez-Mérino et al., 2024, §3; [5] Vogl et al., 2024. Lectura documentada en CEINNA/evidencia/lectura_comparativa_y_aportes.md.</a:t>
            </a:r>
          </a:p>
        </p:txBody>
      </p:sp>
      <p:sp>
        <p:nvSpPr>
          <p:cNvPr id="4" name="Slide Number Placeholder 3"/>
          <p:cNvSpPr>
            <a:spLocks noGrp="1"/>
          </p:cNvSpPr>
          <p:nvPr>
            <p:ph type="sldNum" sz="quarter" idx="5"/>
          </p:nvPr>
        </p:nvSpPr>
        <p:spPr/>
        <p:txBody>
          <a:bodyPr/>
          <a:lstStyle/>
          <a:p>
            <a:fld id="{1C0142E0-0063-4CA8-9E14-1202441AE250}" type="slidenum">
              <a:rPr lang="es-CO" smtClean="0"/>
              <a:t>6</a:t>
            </a:fld>
            <a:endParaRPr lang="es-CO"/>
          </a:p>
        </p:txBody>
      </p:sp>
    </p:spTree>
    <p:extLst>
      <p:ext uri="{BB962C8B-B14F-4D97-AF65-F5344CB8AC3E}">
        <p14:creationId xmlns:p14="http://schemas.microsoft.com/office/powerpoint/2010/main" val="1855644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(50 s)</a:t>
            </a:r>
          </a:p>
          <a:p>
            <a:endParaRPr lang="es-CO"/>
          </a:p>
          <a:p>
            <a:r>
              <a:rPr lang="es-CO"/>
              <a:t>ASTRA contempla dos misiones secuenciales, con hasta seis personas previstas en cada una. El seguimiento incluye una visita basal, seis visitas intramisión y una posterior al egreso. Cada visita reserva noventa minutos y contiene tres escenarios de quince minutos, además de preparación y pausas. El orden de las condiciones se contrabalancea. LOW, MEDIUM y HIGH identifican preajustes de ingeniería cuya relación con la respuesta humana requiere calibración. En el análisis se conservarán las fechas reales, el horario, la estación y la distancia respecto a la evaluación basal.</a:t>
            </a:r>
          </a:p>
          <a:p>
            <a:endParaRPr lang="es-CO"/>
          </a:p>
          <a:p>
            <a:r>
              <a:rPr lang="es-CO"/>
              <a:t>APOYO Y FUENTES</a:t>
            </a:r>
          </a:p>
          <a:p>
            <a:r>
              <a:rPr lang="es-CO"/>
              <a:t>CEINNA/fuentes/Manual_de_Operaciones_ASTRA_2026.md §4.7; CEINNA/fuentes/Cronograma_ASTRA_1_y_2_2026.md. Diseño previsto, no ejecución constatada.</a:t>
            </a:r>
          </a:p>
        </p:txBody>
      </p:sp>
      <p:sp>
        <p:nvSpPr>
          <p:cNvPr id="4" name="Slide Number Placeholder 3"/>
          <p:cNvSpPr>
            <a:spLocks noGrp="1"/>
          </p:cNvSpPr>
          <p:nvPr>
            <p:ph type="sldNum" sz="quarter" idx="5"/>
          </p:nvPr>
        </p:nvSpPr>
        <p:spPr/>
        <p:txBody>
          <a:bodyPr/>
          <a:lstStyle/>
          <a:p>
            <a:fld id="{1C0142E0-0063-4CA8-9E14-1202441AE250}" type="slidenum">
              <a:rPr lang="es-CO" smtClean="0"/>
              <a:t>7</a:t>
            </a:fld>
            <a:endParaRPr lang="es-CO"/>
          </a:p>
        </p:txBody>
      </p:sp>
    </p:spTree>
    <p:extLst>
      <p:ext uri="{BB962C8B-B14F-4D97-AF65-F5344CB8AC3E}">
        <p14:creationId xmlns:p14="http://schemas.microsoft.com/office/powerpoint/2010/main" val="2626325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(45 s)</a:t>
            </a:r>
          </a:p>
          <a:p>
            <a:endParaRPr lang="es-CO"/>
          </a:p>
          <a:p>
            <a:r>
              <a:rPr lang="es-CO"/>
              <a:t>Las cuatro tareas aportan medidas específicas. La supervisión de sistemas registra detecciones y omisiones; el seguimiento registra desviación del objetivo; comunicaciones y gestión de recursos aportan sus propias respuestas. KSS describe somnolencia subjetiva antes del bloque, ISA recoge autoevaluación durante la tarea y NASA-TLX caracteriza carga percibida después. La interpretación exige conservar la definición y la unidad de cada métrica. El recorrido que sigue muestra cómo la aplicación organiza la preparación, la ejecución y la revisión de estas observaciones.</a:t>
            </a:r>
          </a:p>
          <a:p>
            <a:endParaRPr lang="es-CO"/>
          </a:p>
          <a:p>
            <a:r>
              <a:rPr lang="es-CO"/>
              <a:t>APOYO Y FUENTES</a:t>
            </a:r>
          </a:p>
          <a:p>
            <a:r>
              <a:rPr lang="es-CO"/>
              <a:t>[1] Cegarra et al., 2020; [6] Laverde-López et al., 2022; CEINNA/evidencia/auditoria_matb.md; matb_integration/metrics_spec.json.</a:t>
            </a:r>
          </a:p>
        </p:txBody>
      </p:sp>
      <p:sp>
        <p:nvSpPr>
          <p:cNvPr id="4" name="Slide Number Placeholder 3"/>
          <p:cNvSpPr>
            <a:spLocks noGrp="1"/>
          </p:cNvSpPr>
          <p:nvPr>
            <p:ph type="sldNum" sz="quarter" idx="5"/>
          </p:nvPr>
        </p:nvSpPr>
        <p:spPr/>
        <p:txBody>
          <a:bodyPr/>
          <a:lstStyle/>
          <a:p>
            <a:fld id="{1C0142E0-0063-4CA8-9E14-1202441AE250}" type="slidenum">
              <a:rPr lang="es-CO" smtClean="0"/>
              <a:t>8</a:t>
            </a:fld>
            <a:endParaRPr lang="es-CO"/>
          </a:p>
        </p:txBody>
      </p:sp>
    </p:spTree>
    <p:extLst>
      <p:ext uri="{BB962C8B-B14F-4D97-AF65-F5344CB8AC3E}">
        <p14:creationId xmlns:p14="http://schemas.microsoft.com/office/powerpoint/2010/main" val="3873533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(30 s)</a:t>
            </a:r>
          </a:p>
          <a:p>
            <a:endParaRPr lang="es-CO"/>
          </a:p>
          <a:p>
            <a:r>
              <a:rPr lang="es-CO"/>
              <a:t>ASTRA incluye una línea fisiológica propia. Polar H10 puede aportar intervalos R–R cuando se verifica la ruta de captura; ActiGraph registra movimiento y actividad. La variabilidad cardíaca se calcula después de revisar calidad, cobertura y sincronización. La demostración de EMAVI solo presenta preparación y requisitos; no conectó sensores ni registró señales humanas.</a:t>
            </a:r>
          </a:p>
          <a:p>
            <a:endParaRPr lang="es-CO"/>
          </a:p>
          <a:p>
            <a:r>
              <a:rPr lang="es-CO"/>
              <a:t>APOYO Y FUENTES</a:t>
            </a:r>
          </a:p>
          <a:p>
            <a:r>
              <a:rPr lang="es-CO"/>
              <a:t>Manual ASTRA v2.5, adquisición fisiológica; matb_integration/physiology/contracts.py y analysis.py; EMAVI/video/ALCANCE_Y_VERIFICACION.md, Polar H10. Ilustración conceptual generada con IA, no evidencia.</a:t>
            </a:r>
          </a:p>
        </p:txBody>
      </p:sp>
      <p:sp>
        <p:nvSpPr>
          <p:cNvPr id="4" name="Slide Number Placeholder 3"/>
          <p:cNvSpPr>
            <a:spLocks noGrp="1"/>
          </p:cNvSpPr>
          <p:nvPr>
            <p:ph type="sldNum" sz="quarter" idx="5"/>
          </p:nvPr>
        </p:nvSpPr>
        <p:spPr/>
        <p:txBody>
          <a:bodyPr/>
          <a:lstStyle/>
          <a:p>
            <a:fld id="{1C0142E0-0063-4CA8-9E14-1202441AE250}" type="slidenum">
              <a:rPr lang="es-CO" smtClean="0"/>
              <a:t>9</a:t>
            </a:fld>
            <a:endParaRPr lang="es-CO"/>
          </a:p>
        </p:txBody>
      </p:sp>
    </p:spTree>
    <p:extLst>
      <p:ext uri="{BB962C8B-B14F-4D97-AF65-F5344CB8AC3E}">
        <p14:creationId xmlns:p14="http://schemas.microsoft.com/office/powerpoint/2010/main" val="3762412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(0 s)</a:t>
            </a:r>
          </a:p>
          <a:p>
            <a:endParaRPr lang="es-CO"/>
          </a:p>
          <a:p>
            <a:r>
              <a:rPr lang="es-CO"/>
              <a:t>Comienza el recorrido por capturas reales. La demostración no requiere conexión durante la presentación.</a:t>
            </a:r>
          </a:p>
          <a:p>
            <a:endParaRPr lang="es-CO"/>
          </a:p>
          <a:p>
            <a:r>
              <a:rPr lang="es-CO"/>
              <a:t>APOYO Y FUENTES</a:t>
            </a:r>
          </a:p>
          <a:p>
            <a:r>
              <a:rPr lang="es-CO"/>
              <a:t>Capturas locales; base de demostración aislada.</a:t>
            </a:r>
          </a:p>
        </p:txBody>
      </p:sp>
      <p:sp>
        <p:nvSpPr>
          <p:cNvPr id="4" name="Slide Number Placeholder 3"/>
          <p:cNvSpPr>
            <a:spLocks noGrp="1"/>
          </p:cNvSpPr>
          <p:nvPr>
            <p:ph type="sldNum" sz="quarter" idx="5"/>
          </p:nvPr>
        </p:nvSpPr>
        <p:spPr/>
        <p:txBody>
          <a:bodyPr/>
          <a:lstStyle/>
          <a:p>
            <a:fld id="{1C0142E0-0063-4CA8-9E14-1202441AE250}" type="slidenum">
              <a:rPr lang="es-CO" smtClean="0"/>
              <a:t>10</a:t>
            </a:fld>
            <a:endParaRPr lang="es-CO"/>
          </a:p>
        </p:txBody>
      </p:sp>
    </p:spTree>
    <p:extLst>
      <p:ext uri="{BB962C8B-B14F-4D97-AF65-F5344CB8AC3E}">
        <p14:creationId xmlns:p14="http://schemas.microsoft.com/office/powerpoint/2010/main" val="3269650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(35 s)</a:t>
            </a:r>
          </a:p>
          <a:p>
            <a:endParaRPr lang="es-CO"/>
          </a:p>
          <a:p>
            <a:r>
              <a:rPr lang="es-CO"/>
              <a:t>La entrada del participante reúne las actividades disponibles. Cada opción describe qué hará la persona, qué equipo necesita y cómo interpretar el resultado. El propósito de la sesión se declara antes de continuar: práctica o participación en un estudio. Esta distinción acompaña el registro y permite revisar después a qué procedimiento pertenece. La captura muestra el catálogo real de la consola; la disponibilidad de cada componente depende de la instalación local.</a:t>
            </a:r>
          </a:p>
          <a:p>
            <a:endParaRPr lang="es-CO"/>
          </a:p>
          <a:p>
            <a:r>
              <a:rPr lang="es-CO"/>
              <a:t>APOYO Y FUENTES</a:t>
            </a:r>
          </a:p>
          <a:p>
            <a:r>
              <a:rPr lang="es-CO"/>
              <a:t>webui/frontend/src/app/start/page.tsx; README.es.md, identidad y propósito.</a:t>
            </a:r>
          </a:p>
        </p:txBody>
      </p:sp>
      <p:sp>
        <p:nvSpPr>
          <p:cNvPr id="4" name="Slide Number Placeholder 3"/>
          <p:cNvSpPr>
            <a:spLocks noGrp="1"/>
          </p:cNvSpPr>
          <p:nvPr>
            <p:ph type="sldNum" sz="quarter" idx="5"/>
          </p:nvPr>
        </p:nvSpPr>
        <p:spPr/>
        <p:txBody>
          <a:bodyPr/>
          <a:lstStyle/>
          <a:p>
            <a:fld id="{1C0142E0-0063-4CA8-9E14-1202441AE250}" type="slidenum">
              <a:rPr lang="es-CO" smtClean="0"/>
              <a:t>11</a:t>
            </a:fld>
            <a:endParaRPr lang="es-CO"/>
          </a:p>
        </p:txBody>
      </p:sp>
    </p:spTree>
    <p:extLst>
      <p:ext uri="{BB962C8B-B14F-4D97-AF65-F5344CB8AC3E}">
        <p14:creationId xmlns:p14="http://schemas.microsoft.com/office/powerpoint/2010/main" val="2948205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(40 s)</a:t>
            </a:r>
          </a:p>
          <a:p>
            <a:endParaRPr lang="es-CO"/>
          </a:p>
          <a:p>
            <a:r>
              <a:rPr lang="es-CO"/>
              <a:t>El diseñador permite revisar la distribución temporal de tareas y eventos. En esta demostración se compila un escenario breve con una semilla explícita. La aplicación presenta restricciones de diseño y las huellas del escenario y de su especificación. Estos identificadores sirven para reconocer qué configuración se ejecutó. La compilación verifica contratos de software; la calibración de demanda en personas requiere un procedimiento experimental independiente.</a:t>
            </a:r>
          </a:p>
          <a:p>
            <a:endParaRPr lang="es-CO"/>
          </a:p>
          <a:p>
            <a:r>
              <a:rPr lang="es-CO"/>
              <a:t>APOYO Y FUENTES</a:t>
            </a:r>
          </a:p>
          <a:p>
            <a:r>
              <a:rPr lang="es-CO"/>
              <a:t>webui/frontend/src/components/experiments/ExperimentDesigner.tsx; webui/frontend/src/lib/experiment-designer.ts.</a:t>
            </a:r>
          </a:p>
        </p:txBody>
      </p:sp>
      <p:sp>
        <p:nvSpPr>
          <p:cNvPr id="4" name="Slide Number Placeholder 3"/>
          <p:cNvSpPr>
            <a:spLocks noGrp="1"/>
          </p:cNvSpPr>
          <p:nvPr>
            <p:ph type="sldNum" sz="quarter" idx="5"/>
          </p:nvPr>
        </p:nvSpPr>
        <p:spPr/>
        <p:txBody>
          <a:bodyPr/>
          <a:lstStyle/>
          <a:p>
            <a:fld id="{1C0142E0-0063-4CA8-9E14-1202441AE250}" type="slidenum">
              <a:rPr lang="es-CO" smtClean="0"/>
              <a:t>12</a:t>
            </a:fld>
            <a:endParaRPr lang="es-CO"/>
          </a:p>
        </p:txBody>
      </p:sp>
    </p:spTree>
    <p:extLst>
      <p:ext uri="{BB962C8B-B14F-4D97-AF65-F5344CB8AC3E}">
        <p14:creationId xmlns:p14="http://schemas.microsoft.com/office/powerpoint/2010/main" val="2243325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(35 s)</a:t>
            </a:r>
          </a:p>
          <a:p>
            <a:endParaRPr lang="es-CO"/>
          </a:p>
          <a:p>
            <a:r>
              <a:rPr lang="es-CO"/>
              <a:t>La preparación de OpenMATB conecta el escenario con el entorno de tareas de escritorio. La vista previa permite revisar cómo se organizan los paneles antes de iniciar una sesión. Es necesario distinguir esta preparación en el navegador de la presentación efectiva de estímulos y la captura en OpenMATB. La apariencia forma parte del contexto de medición y debe conservarse junto con el resto de parámetros cuando se comparan sesiones.</a:t>
            </a:r>
          </a:p>
          <a:p>
            <a:endParaRPr lang="es-CO"/>
          </a:p>
          <a:p>
            <a:r>
              <a:rPr lang="es-CO"/>
              <a:t>APOYO Y FUENTES</a:t>
            </a:r>
          </a:p>
          <a:p>
            <a:r>
              <a:rPr lang="es-CO"/>
              <a:t>webui/frontend/src/app/openmatb/appearance/page.tsx; componentes AppearanceWorkbench; README.es.md.</a:t>
            </a:r>
          </a:p>
        </p:txBody>
      </p:sp>
      <p:sp>
        <p:nvSpPr>
          <p:cNvPr id="4" name="Slide Number Placeholder 3"/>
          <p:cNvSpPr>
            <a:spLocks noGrp="1"/>
          </p:cNvSpPr>
          <p:nvPr>
            <p:ph type="sldNum" sz="quarter" idx="5"/>
          </p:nvPr>
        </p:nvSpPr>
        <p:spPr/>
        <p:txBody>
          <a:bodyPr/>
          <a:lstStyle/>
          <a:p>
            <a:fld id="{1C0142E0-0063-4CA8-9E14-1202441AE250}" type="slidenum">
              <a:rPr lang="es-CO" smtClean="0"/>
              <a:t>13</a:t>
            </a:fld>
            <a:endParaRPr lang="es-CO"/>
          </a:p>
        </p:txBody>
      </p:sp>
    </p:spTree>
    <p:extLst>
      <p:ext uri="{BB962C8B-B14F-4D97-AF65-F5344CB8AC3E}">
        <p14:creationId xmlns:p14="http://schemas.microsoft.com/office/powerpoint/2010/main" val="3877002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(35 s)</a:t>
            </a:r>
          </a:p>
          <a:p>
            <a:endParaRPr lang="es-CO"/>
          </a:p>
          <a:p>
            <a:r>
              <a:rPr lang="es-CO"/>
              <a:t>La secuencia KSS y PVT registra primero la somnolencia percibida y después presenta las instrucciones de vigilancia. En la pantalla se utiliza un código sintético creado para esta demostración. Este ejemplo ilustra cómo se conserva el orden de administración y se vincula la actividad con una ocasión de medición. El PVT constituye una actividad adicional de vigilancia; su resultado debe interpretarse dentro del protocolo y de la calidad temporal documentada.</a:t>
            </a:r>
          </a:p>
          <a:p>
            <a:endParaRPr lang="es-CO"/>
          </a:p>
          <a:p>
            <a:r>
              <a:rPr lang="es-CO"/>
              <a:t>APOYO Y FUENTES</a:t>
            </a:r>
          </a:p>
          <a:p>
            <a:r>
              <a:rPr lang="es-CO"/>
              <a:t>webui/frontend/src/app/pvt/page.tsx; webui/frontend/e2e/participant-journey.spec.ts; [6] para KSS.</a:t>
            </a:r>
          </a:p>
        </p:txBody>
      </p:sp>
      <p:sp>
        <p:nvSpPr>
          <p:cNvPr id="4" name="Slide Number Placeholder 3"/>
          <p:cNvSpPr>
            <a:spLocks noGrp="1"/>
          </p:cNvSpPr>
          <p:nvPr>
            <p:ph type="sldNum" sz="quarter" idx="5"/>
          </p:nvPr>
        </p:nvSpPr>
        <p:spPr/>
        <p:txBody>
          <a:bodyPr/>
          <a:lstStyle/>
          <a:p>
            <a:fld id="{1C0142E0-0063-4CA8-9E14-1202441AE250}" type="slidenum">
              <a:rPr lang="es-CO" smtClean="0"/>
              <a:t>14</a:t>
            </a:fld>
            <a:endParaRPr lang="es-CO"/>
          </a:p>
        </p:txBody>
      </p:sp>
    </p:spTree>
    <p:extLst>
      <p:ext uri="{BB962C8B-B14F-4D97-AF65-F5344CB8AC3E}">
        <p14:creationId xmlns:p14="http://schemas.microsoft.com/office/powerpoint/2010/main" val="8508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(40 s)</a:t>
            </a:r>
          </a:p>
          <a:p>
            <a:endParaRPr lang="es-CO"/>
          </a:p>
          <a:p>
            <a:r>
              <a:rPr lang="es-CO"/>
              <a:t>El módulo sUAS ofrece una tarea distinta, centrada en supervisión de una misión sintética. El investigador puede observar el mapa, la flota y las alertas, mientras el sistema registra los eventos. La captura corresponde al modo técnico y conserva esa identificación en pantalla. Es una demostración del entorno de supervisión. Su relación con el rendimiento en personas y su comparabilidad con las tareas OpenMATB requieren diseños específicos.</a:t>
            </a:r>
          </a:p>
          <a:p>
            <a:endParaRPr lang="es-CO"/>
          </a:p>
          <a:p>
            <a:r>
              <a:rPr lang="es-CO"/>
              <a:t>APOYO Y FUENTES</a:t>
            </a:r>
          </a:p>
          <a:p>
            <a:r>
              <a:rPr lang="es-CO"/>
              <a:t>webui/frontend/e2e/technical-test.spec.ts; webui/frontend/src/app/mission/test/page.tsx; README.es.md.</a:t>
            </a:r>
          </a:p>
        </p:txBody>
      </p:sp>
      <p:sp>
        <p:nvSpPr>
          <p:cNvPr id="4" name="Slide Number Placeholder 3"/>
          <p:cNvSpPr>
            <a:spLocks noGrp="1"/>
          </p:cNvSpPr>
          <p:nvPr>
            <p:ph type="sldNum" sz="quarter" idx="5"/>
          </p:nvPr>
        </p:nvSpPr>
        <p:spPr/>
        <p:txBody>
          <a:bodyPr/>
          <a:lstStyle/>
          <a:p>
            <a:fld id="{1C0142E0-0063-4CA8-9E14-1202441AE250}" type="slidenum">
              <a:rPr lang="es-CO" smtClean="0"/>
              <a:t>15</a:t>
            </a:fld>
            <a:endParaRPr lang="es-CO"/>
          </a:p>
        </p:txBody>
      </p:sp>
    </p:spTree>
    <p:extLst>
      <p:ext uri="{BB962C8B-B14F-4D97-AF65-F5344CB8AC3E}">
        <p14:creationId xmlns:p14="http://schemas.microsoft.com/office/powerpoint/2010/main" val="4009735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(40 s)</a:t>
            </a:r>
          </a:p>
          <a:p>
            <a:endParaRPr lang="es-CO"/>
          </a:p>
          <a:p>
            <a:r>
              <a:rPr lang="es-CO"/>
              <a:t>La revisión comienza con los archivos que documentan la captura. El paquete pareado reúne manifiestos, eventos y observaciones temporales. La consola permite abrir una métrica y seguir los eventos que contribuyen a su cálculo. En esta demostración se utiliza el generador sintético de referencia del repositorio. Esta trazabilidad permite comprobar reglas y transformaciones sin presentar sus valores como resultados de participantes.</a:t>
            </a:r>
          </a:p>
          <a:p>
            <a:endParaRPr lang="es-CO"/>
          </a:p>
          <a:p>
            <a:r>
              <a:rPr lang="es-CO"/>
              <a:t>APOYO Y FUENTES</a:t>
            </a:r>
          </a:p>
          <a:p>
            <a:r>
              <a:rPr lang="es-CO"/>
              <a:t>webui/frontend/e2e/evidence.spec.ts; matb_integration/evidence/reference.py.</a:t>
            </a:r>
          </a:p>
        </p:txBody>
      </p:sp>
      <p:sp>
        <p:nvSpPr>
          <p:cNvPr id="4" name="Slide Number Placeholder 3"/>
          <p:cNvSpPr>
            <a:spLocks noGrp="1"/>
          </p:cNvSpPr>
          <p:nvPr>
            <p:ph type="sldNum" sz="quarter" idx="5"/>
          </p:nvPr>
        </p:nvSpPr>
        <p:spPr/>
        <p:txBody>
          <a:bodyPr/>
          <a:lstStyle/>
          <a:p>
            <a:fld id="{1C0142E0-0063-4CA8-9E14-1202441AE250}" type="slidenum">
              <a:rPr lang="es-CO" smtClean="0"/>
              <a:t>16</a:t>
            </a:fld>
            <a:endParaRPr lang="es-CO"/>
          </a:p>
        </p:txBody>
      </p:sp>
    </p:spTree>
    <p:extLst>
      <p:ext uri="{BB962C8B-B14F-4D97-AF65-F5344CB8AC3E}">
        <p14:creationId xmlns:p14="http://schemas.microsoft.com/office/powerpoint/2010/main" val="3793459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(40 s)</a:t>
            </a:r>
          </a:p>
          <a:p>
            <a:endParaRPr lang="es-CO"/>
          </a:p>
          <a:p>
            <a:r>
              <a:rPr lang="es-CO"/>
              <a:t>La inspección a nivel de evento muestra de dónde procede un resultado y cuál es su base temporal. Cuando una métrica requiere evidencia adicional, la aplicación mantiene visibles los motivos de elegibilidad. El paquete exportable permite revisar integridad y recomputación fuera de la consola. Este paso conecta el registro original con la interpretación científica y facilita detectar diferencias entre una observación de software y el inicio físico de un estímulo.</a:t>
            </a:r>
          </a:p>
          <a:p>
            <a:endParaRPr lang="es-CO"/>
          </a:p>
          <a:p>
            <a:r>
              <a:rPr lang="es-CO"/>
              <a:t>APOYO Y FUENTES</a:t>
            </a:r>
          </a:p>
          <a:p>
            <a:r>
              <a:rPr lang="es-CO"/>
              <a:t>webui/frontend/e2e/evidence.spec.ts; matb_integration/evidence; docs/research/qualification-workflow.md.</a:t>
            </a:r>
          </a:p>
        </p:txBody>
      </p:sp>
      <p:sp>
        <p:nvSpPr>
          <p:cNvPr id="4" name="Slide Number Placeholder 3"/>
          <p:cNvSpPr>
            <a:spLocks noGrp="1"/>
          </p:cNvSpPr>
          <p:nvPr>
            <p:ph type="sldNum" sz="quarter" idx="5"/>
          </p:nvPr>
        </p:nvSpPr>
        <p:spPr/>
        <p:txBody>
          <a:bodyPr/>
          <a:lstStyle/>
          <a:p>
            <a:fld id="{1C0142E0-0063-4CA8-9E14-1202441AE250}" type="slidenum">
              <a:rPr lang="es-CO" smtClean="0"/>
              <a:t>17</a:t>
            </a:fld>
            <a:endParaRPr lang="es-CO"/>
          </a:p>
        </p:txBody>
      </p:sp>
    </p:spTree>
    <p:extLst>
      <p:ext uri="{BB962C8B-B14F-4D97-AF65-F5344CB8AC3E}">
        <p14:creationId xmlns:p14="http://schemas.microsoft.com/office/powerpoint/2010/main" val="3251395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(50 s)</a:t>
            </a:r>
          </a:p>
          <a:p>
            <a:endParaRPr lang="es-CO"/>
          </a:p>
          <a:p>
            <a:r>
              <a:rPr lang="es-CO"/>
              <a:t>La cadena de análisis parte del escenario y conserva la relación entre manifiestos, eventos y métricas. Un ejemplo es RTLX: con seis respuestas completas de cero a diez, se calcula la media y se multiplica por diez para obtener el índice de cero a cien. El análisis longitudinal organiza esas observaciones por persona, visita, bloque y condición. Antes de comparar trayectorias se revisan la calidad, los datos faltantes y la elegibilidad. Los valores de demostración mostrados en la consola no se incorporan al estudio.</a:t>
            </a:r>
          </a:p>
          <a:p>
            <a:endParaRPr lang="es-CO"/>
          </a:p>
          <a:p>
            <a:r>
              <a:rPr lang="es-CO"/>
              <a:t>APOYO Y FUENTES</a:t>
            </a:r>
          </a:p>
          <a:p>
            <a:r>
              <a:rPr lang="es-CO"/>
              <a:t>CEINNA/guion/diapositivas.md, láminas 9 y 11; matb_integration/log_converter.py; docs/research/scientific-foundation-v2.md.</a:t>
            </a:r>
          </a:p>
        </p:txBody>
      </p:sp>
      <p:sp>
        <p:nvSpPr>
          <p:cNvPr id="4" name="Slide Number Placeholder 3"/>
          <p:cNvSpPr>
            <a:spLocks noGrp="1"/>
          </p:cNvSpPr>
          <p:nvPr>
            <p:ph type="sldNum" sz="quarter" idx="5"/>
          </p:nvPr>
        </p:nvSpPr>
        <p:spPr/>
        <p:txBody>
          <a:bodyPr/>
          <a:lstStyle/>
          <a:p>
            <a:fld id="{1C0142E0-0063-4CA8-9E14-1202441AE250}" type="slidenum">
              <a:rPr lang="es-CO" smtClean="0"/>
              <a:t>18</a:t>
            </a:fld>
            <a:endParaRPr lang="es-CO"/>
          </a:p>
        </p:txBody>
      </p:sp>
    </p:spTree>
    <p:extLst>
      <p:ext uri="{BB962C8B-B14F-4D97-AF65-F5344CB8AC3E}">
        <p14:creationId xmlns:p14="http://schemas.microsoft.com/office/powerpoint/2010/main" val="2398064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(45 s)</a:t>
            </a:r>
          </a:p>
          <a:p>
            <a:endParaRPr lang="es-CO"/>
          </a:p>
          <a:p>
            <a:r>
              <a:rPr lang="es-CO"/>
              <a:t>El paquete CEINNA documentó verificaciones técnicas de generación, integridad y conversión con datos sintéticos. Esta presentación añade un recorrido visual de interfaces reales. Las clases de evidencia conservan sus preguntas: reproducibilidad del software, temporización física del equipo, respuesta humana y estabilidad entre sesiones. Cada una requiere su propio procedimiento. La siguiente etapa del estudio es ejecutar las visitas previstas y analizar las observaciones con sus condiciones de adquisición y calidad.</a:t>
            </a:r>
          </a:p>
          <a:p>
            <a:endParaRPr lang="es-CO"/>
          </a:p>
          <a:p>
            <a:r>
              <a:rPr lang="es-CO"/>
              <a:t>APOYO Y FUENTES</a:t>
            </a:r>
          </a:p>
          <a:p>
            <a:r>
              <a:rPr lang="es-CO"/>
              <a:t>CEINNA/evidencia/verificacion_tecnica/resultado_verificacion.json: ejecución histórica del 21-09-2026, commit fd5e1318; revisión EMAVI identificada por su propio commit y fecha.</a:t>
            </a:r>
          </a:p>
        </p:txBody>
      </p:sp>
      <p:sp>
        <p:nvSpPr>
          <p:cNvPr id="4" name="Slide Number Placeholder 3"/>
          <p:cNvSpPr>
            <a:spLocks noGrp="1"/>
          </p:cNvSpPr>
          <p:nvPr>
            <p:ph type="sldNum" sz="quarter" idx="5"/>
          </p:nvPr>
        </p:nvSpPr>
        <p:spPr/>
        <p:txBody>
          <a:bodyPr/>
          <a:lstStyle/>
          <a:p>
            <a:fld id="{1C0142E0-0063-4CA8-9E14-1202441AE250}" type="slidenum">
              <a:rPr lang="es-CO" smtClean="0"/>
              <a:t>19</a:t>
            </a:fld>
            <a:endParaRPr lang="es-CO"/>
          </a:p>
        </p:txBody>
      </p:sp>
    </p:spTree>
    <p:extLst>
      <p:ext uri="{BB962C8B-B14F-4D97-AF65-F5344CB8AC3E}">
        <p14:creationId xmlns:p14="http://schemas.microsoft.com/office/powerpoint/2010/main" val="12795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(40 s)</a:t>
            </a:r>
          </a:p>
          <a:p>
            <a:endParaRPr lang="es-CO"/>
          </a:p>
          <a:p>
            <a:r>
              <a:rPr lang="es-CO"/>
              <a:t>El diseño conecta cuatro elementos: una demanda documentada, un registro trazable, métricas explícitas y seguimiento de cada persona. La consola facilita organizar ese proceso desde la preparación hasta la revisión. ASTRA aporta el contexto longitudinal donde se estudiará la respuesta multitarea. La demostración deja visibles los pasos y la procedencia necesarios para interpretar después los datos del estudio.</a:t>
            </a:r>
          </a:p>
          <a:p>
            <a:endParaRPr lang="es-CO"/>
          </a:p>
          <a:p>
            <a:r>
              <a:rPr lang="es-CO"/>
              <a:t>APOYO Y FUENTES</a:t>
            </a:r>
          </a:p>
          <a:p>
            <a:r>
              <a:rPr lang="es-CO"/>
              <a:t>Síntesis del diseño y del recorrido de la aplicación; no inferencia sobre eficacia o validez clínica.</a:t>
            </a:r>
          </a:p>
        </p:txBody>
      </p:sp>
      <p:sp>
        <p:nvSpPr>
          <p:cNvPr id="4" name="Slide Number Placeholder 3"/>
          <p:cNvSpPr>
            <a:spLocks noGrp="1"/>
          </p:cNvSpPr>
          <p:nvPr>
            <p:ph type="sldNum" sz="quarter" idx="5"/>
          </p:nvPr>
        </p:nvSpPr>
        <p:spPr/>
        <p:txBody>
          <a:bodyPr/>
          <a:lstStyle/>
          <a:p>
            <a:fld id="{1C0142E0-0063-4CA8-9E14-1202441AE250}" type="slidenum">
              <a:rPr lang="es-CO" smtClean="0"/>
              <a:t>20</a:t>
            </a:fld>
            <a:endParaRPr lang="es-CO"/>
          </a:p>
        </p:txBody>
      </p:sp>
    </p:spTree>
    <p:extLst>
      <p:ext uri="{BB962C8B-B14F-4D97-AF65-F5344CB8AC3E}">
        <p14:creationId xmlns:p14="http://schemas.microsoft.com/office/powerpoint/2010/main" val="2655118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(10 s)</a:t>
            </a:r>
          </a:p>
          <a:p>
            <a:endParaRPr lang="es-CO"/>
          </a:p>
          <a:p>
            <a:r>
              <a:rPr lang="es-CO"/>
              <a:t>Las referencias completas y su aplicación están disponibles en el documento de apoyo.</a:t>
            </a:r>
          </a:p>
          <a:p>
            <a:endParaRPr lang="es-CO"/>
          </a:p>
          <a:p>
            <a:r>
              <a:rPr lang="es-CO"/>
              <a:t>APOYO Y FUENTES</a:t>
            </a:r>
          </a:p>
          <a:p>
            <a:r>
              <a:rPr lang="es-CO"/>
              <a:t>Referencias_APA.md, referencias 1–3; verificación heredada de CEINNA.</a:t>
            </a:r>
          </a:p>
        </p:txBody>
      </p:sp>
      <p:sp>
        <p:nvSpPr>
          <p:cNvPr id="4" name="Slide Number Placeholder 3"/>
          <p:cNvSpPr>
            <a:spLocks noGrp="1"/>
          </p:cNvSpPr>
          <p:nvPr>
            <p:ph type="sldNum" sz="quarter" idx="5"/>
          </p:nvPr>
        </p:nvSpPr>
        <p:spPr/>
        <p:txBody>
          <a:bodyPr/>
          <a:lstStyle/>
          <a:p>
            <a:fld id="{1C0142E0-0063-4CA8-9E14-1202441AE250}" type="slidenum">
              <a:rPr lang="es-CO" smtClean="0"/>
              <a:t>21</a:t>
            </a:fld>
            <a:endParaRPr lang="es-CO"/>
          </a:p>
        </p:txBody>
      </p:sp>
    </p:spTree>
    <p:extLst>
      <p:ext uri="{BB962C8B-B14F-4D97-AF65-F5344CB8AC3E}">
        <p14:creationId xmlns:p14="http://schemas.microsoft.com/office/powerpoint/2010/main" val="10141893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(10 s)</a:t>
            </a:r>
          </a:p>
          <a:p>
            <a:endParaRPr lang="es-CO"/>
          </a:p>
          <a:p>
            <a:r>
              <a:rPr lang="es-CO"/>
              <a:t>Estas fuentes sustentan las tareas, las decisiones metodológicas y las medidas complementarias.</a:t>
            </a:r>
          </a:p>
          <a:p>
            <a:endParaRPr lang="es-CO"/>
          </a:p>
          <a:p>
            <a:r>
              <a:rPr lang="es-CO"/>
              <a:t>APOYO Y FUENTES</a:t>
            </a:r>
          </a:p>
          <a:p>
            <a:r>
              <a:rPr lang="es-CO"/>
              <a:t>Referencias_APA.md, referencias 4–6; verificación heredada de CEINNA.</a:t>
            </a:r>
          </a:p>
        </p:txBody>
      </p:sp>
      <p:sp>
        <p:nvSpPr>
          <p:cNvPr id="4" name="Slide Number Placeholder 3"/>
          <p:cNvSpPr>
            <a:spLocks noGrp="1"/>
          </p:cNvSpPr>
          <p:nvPr>
            <p:ph type="sldNum" sz="quarter" idx="5"/>
          </p:nvPr>
        </p:nvSpPr>
        <p:spPr/>
        <p:txBody>
          <a:bodyPr/>
          <a:lstStyle/>
          <a:p>
            <a:fld id="{1C0142E0-0063-4CA8-9E14-1202441AE250}" type="slidenum">
              <a:rPr lang="es-CO" smtClean="0"/>
              <a:t>22</a:t>
            </a:fld>
            <a:endParaRPr lang="es-CO"/>
          </a:p>
        </p:txBody>
      </p:sp>
    </p:spTree>
    <p:extLst>
      <p:ext uri="{BB962C8B-B14F-4D97-AF65-F5344CB8AC3E}">
        <p14:creationId xmlns:p14="http://schemas.microsoft.com/office/powerpoint/2010/main" val="764432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(0 s)</a:t>
            </a:r>
          </a:p>
          <a:p>
            <a:endParaRPr lang="es-CO"/>
          </a:p>
          <a:p>
            <a:r>
              <a:rPr lang="es-CO"/>
              <a:t>El aviso de privacidad se reitera antes del cierre institucional.</a:t>
            </a:r>
          </a:p>
          <a:p>
            <a:endParaRPr lang="es-CO"/>
          </a:p>
          <a:p>
            <a:r>
              <a:rPr lang="es-CO"/>
              <a:t>APOYO Y FUENTES</a:t>
            </a:r>
          </a:p>
          <a:p>
            <a:r>
              <a:rPr lang="es-CO"/>
              <a:t>Plantilla FAC, diapositiva 4.</a:t>
            </a:r>
          </a:p>
        </p:txBody>
      </p:sp>
      <p:sp>
        <p:nvSpPr>
          <p:cNvPr id="4" name="Slide Number Placeholder 3"/>
          <p:cNvSpPr>
            <a:spLocks noGrp="1"/>
          </p:cNvSpPr>
          <p:nvPr>
            <p:ph type="sldNum" sz="quarter" idx="5"/>
          </p:nvPr>
        </p:nvSpPr>
        <p:spPr/>
        <p:txBody>
          <a:bodyPr/>
          <a:lstStyle/>
          <a:p>
            <a:fld id="{1C0142E0-0063-4CA8-9E14-1202441AE250}" type="slidenum">
              <a:rPr lang="es-CO" smtClean="0"/>
              <a:t>23</a:t>
            </a:fld>
            <a:endParaRPr lang="es-CO"/>
          </a:p>
        </p:txBody>
      </p:sp>
    </p:spTree>
    <p:extLst>
      <p:ext uri="{BB962C8B-B14F-4D97-AF65-F5344CB8AC3E}">
        <p14:creationId xmlns:p14="http://schemas.microsoft.com/office/powerpoint/2010/main" val="9835885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a:t>GUION ORAL (0 s)</a:t>
            </a:r>
          </a:p>
          <a:p>
            <a:endParaRPr lang="es-CO"/>
          </a:p>
          <a:p>
            <a:r>
              <a:rPr lang="es-CO"/>
              <a:t>Espacio para preguntas.</a:t>
            </a:r>
          </a:p>
          <a:p>
            <a:endParaRPr lang="es-CO"/>
          </a:p>
          <a:p>
            <a:r>
              <a:rPr lang="es-CO"/>
              <a:t>APOYO Y FUENTES</a:t>
            </a:r>
          </a:p>
          <a:p>
            <a:r>
              <a:rPr lang="es-CO"/>
              <a:t>Plantilla FAC, diapositiva 12.</a:t>
            </a:r>
          </a:p>
        </p:txBody>
      </p:sp>
      <p:sp>
        <p:nvSpPr>
          <p:cNvPr id="4" name="Slide Number Placeholder 3"/>
          <p:cNvSpPr>
            <a:spLocks noGrp="1"/>
          </p:cNvSpPr>
          <p:nvPr>
            <p:ph type="sldNum" sz="quarter" idx="5"/>
          </p:nvPr>
        </p:nvSpPr>
        <p:spPr/>
        <p:txBody>
          <a:bodyPr/>
          <a:lstStyle/>
          <a:p>
            <a:fld id="{1C0142E0-0063-4CA8-9E14-1202441AE250}" type="slidenum">
              <a:rPr lang="es-CO" smtClean="0"/>
              <a:t>24</a:t>
            </a:fld>
            <a:endParaRPr lang="es-CO"/>
          </a:p>
        </p:txBody>
      </p:sp>
    </p:spTree>
    <p:extLst>
      <p:ext uri="{BB962C8B-B14F-4D97-AF65-F5344CB8AC3E}">
        <p14:creationId xmlns:p14="http://schemas.microsoft.com/office/powerpoint/2010/main" val="35709682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F798B-6272-4E7F-9B29-71C0FF55202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99DF568-4163-4E8F-87D5-088C43C486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63D68E4D-4E2E-42CD-91B0-02DB545C3057}"/>
              </a:ext>
            </a:extLst>
          </p:cNvPr>
          <p:cNvSpPr>
            <a:spLocks noGrp="1"/>
          </p:cNvSpPr>
          <p:nvPr>
            <p:ph type="dt" sz="half" idx="10"/>
          </p:nvPr>
        </p:nvSpPr>
        <p:spPr/>
        <p:txBody>
          <a:bodyPr/>
          <a:lstStyle/>
          <a:p>
            <a:fld id="{8131957D-5D43-4C56-B69D-65CB3FF9E4F8}" type="datetimeFigureOut">
              <a:rPr lang="es-CO" smtClean="0"/>
              <a:t>23/09/2026</a:t>
            </a:fld>
            <a:endParaRPr lang="es-CO"/>
          </a:p>
        </p:txBody>
      </p:sp>
      <p:sp>
        <p:nvSpPr>
          <p:cNvPr id="5" name="Marcador de pie de página 4">
            <a:extLst>
              <a:ext uri="{FF2B5EF4-FFF2-40B4-BE49-F238E27FC236}">
                <a16:creationId xmlns:a16="http://schemas.microsoft.com/office/drawing/2014/main" id="{1575B5CF-08B6-4FC5-BEC5-D29B4A574AE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39AC8F6-6AC5-4DB8-B171-2FAFF2CE3110}"/>
              </a:ext>
            </a:extLst>
          </p:cNvPr>
          <p:cNvSpPr>
            <a:spLocks noGrp="1"/>
          </p:cNvSpPr>
          <p:nvPr>
            <p:ph type="sldNum" sz="quarter" idx="12"/>
          </p:nvPr>
        </p:nvSpPr>
        <p:spPr/>
        <p:txBody>
          <a:bodyPr/>
          <a:lstStyle/>
          <a:p>
            <a:fld id="{4E2B26BD-1A36-4082-9043-39ACABC0DC8B}" type="slidenum">
              <a:rPr lang="es-CO" smtClean="0"/>
              <a:t>‹#›</a:t>
            </a:fld>
            <a:endParaRPr lang="es-CO"/>
          </a:p>
        </p:txBody>
      </p:sp>
      <p:pic>
        <p:nvPicPr>
          <p:cNvPr id="8" name="Imagen 7">
            <a:extLst>
              <a:ext uri="{FF2B5EF4-FFF2-40B4-BE49-F238E27FC236}">
                <a16:creationId xmlns:a16="http://schemas.microsoft.com/office/drawing/2014/main" id="{A8F22F9C-7B16-4A09-B101-A22972AED44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86" t="-1" b="-1379"/>
          <a:stretch/>
        </p:blipFill>
        <p:spPr>
          <a:xfrm>
            <a:off x="0" y="0"/>
            <a:ext cx="12192000" cy="6959600"/>
          </a:xfrm>
          <a:prstGeom prst="rect">
            <a:avLst/>
          </a:prstGeom>
        </p:spPr>
      </p:pic>
      <p:pic>
        <p:nvPicPr>
          <p:cNvPr id="12" name="Imagen 11">
            <a:extLst>
              <a:ext uri="{FF2B5EF4-FFF2-40B4-BE49-F238E27FC236}">
                <a16:creationId xmlns:a16="http://schemas.microsoft.com/office/drawing/2014/main" id="{F0207E8E-53FA-4A89-B4C6-CCD79EF1270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81400" y="858416"/>
            <a:ext cx="4865279" cy="5141167"/>
          </a:xfrm>
          <a:prstGeom prst="rect">
            <a:avLst/>
          </a:prstGeom>
        </p:spPr>
      </p:pic>
    </p:spTree>
    <p:extLst>
      <p:ext uri="{BB962C8B-B14F-4D97-AF65-F5344CB8AC3E}">
        <p14:creationId xmlns:p14="http://schemas.microsoft.com/office/powerpoint/2010/main" val="3605371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F798B-6272-4E7F-9B29-71C0FF55202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99DF568-4163-4E8F-87D5-088C43C486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63D68E4D-4E2E-42CD-91B0-02DB545C3057}"/>
              </a:ext>
            </a:extLst>
          </p:cNvPr>
          <p:cNvSpPr>
            <a:spLocks noGrp="1"/>
          </p:cNvSpPr>
          <p:nvPr>
            <p:ph type="dt" sz="half" idx="10"/>
          </p:nvPr>
        </p:nvSpPr>
        <p:spPr/>
        <p:txBody>
          <a:bodyPr/>
          <a:lstStyle/>
          <a:p>
            <a:fld id="{8131957D-5D43-4C56-B69D-65CB3FF9E4F8}" type="datetimeFigureOut">
              <a:rPr lang="es-CO" smtClean="0"/>
              <a:t>23/09/2026</a:t>
            </a:fld>
            <a:endParaRPr lang="es-CO"/>
          </a:p>
        </p:txBody>
      </p:sp>
      <p:sp>
        <p:nvSpPr>
          <p:cNvPr id="5" name="Marcador de pie de página 4">
            <a:extLst>
              <a:ext uri="{FF2B5EF4-FFF2-40B4-BE49-F238E27FC236}">
                <a16:creationId xmlns:a16="http://schemas.microsoft.com/office/drawing/2014/main" id="{1575B5CF-08B6-4FC5-BEC5-D29B4A574AE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39AC8F6-6AC5-4DB8-B171-2FAFF2CE3110}"/>
              </a:ext>
            </a:extLst>
          </p:cNvPr>
          <p:cNvSpPr>
            <a:spLocks noGrp="1"/>
          </p:cNvSpPr>
          <p:nvPr>
            <p:ph type="sldNum" sz="quarter" idx="12"/>
          </p:nvPr>
        </p:nvSpPr>
        <p:spPr/>
        <p:txBody>
          <a:bodyPr/>
          <a:lstStyle/>
          <a:p>
            <a:fld id="{4E2B26BD-1A36-4082-9043-39ACABC0DC8B}" type="slidenum">
              <a:rPr lang="es-CO" smtClean="0"/>
              <a:t>‹#›</a:t>
            </a:fld>
            <a:endParaRPr lang="es-CO"/>
          </a:p>
        </p:txBody>
      </p:sp>
      <p:pic>
        <p:nvPicPr>
          <p:cNvPr id="8" name="Imagen 7">
            <a:extLst>
              <a:ext uri="{FF2B5EF4-FFF2-40B4-BE49-F238E27FC236}">
                <a16:creationId xmlns:a16="http://schemas.microsoft.com/office/drawing/2014/main" id="{A8F22F9C-7B16-4A09-B101-A22972AED44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86" t="-1" b="-1379"/>
          <a:stretch/>
        </p:blipFill>
        <p:spPr>
          <a:xfrm>
            <a:off x="0" y="0"/>
            <a:ext cx="12192000" cy="6959600"/>
          </a:xfrm>
          <a:prstGeom prst="rect">
            <a:avLst/>
          </a:prstGeom>
        </p:spPr>
      </p:pic>
      <p:pic>
        <p:nvPicPr>
          <p:cNvPr id="9" name="Imagen 8">
            <a:extLst>
              <a:ext uri="{FF2B5EF4-FFF2-40B4-BE49-F238E27FC236}">
                <a16:creationId xmlns:a16="http://schemas.microsoft.com/office/drawing/2014/main" id="{AFA29A55-0099-4C4E-AEB8-4C9CD0E7809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0429" y="394382"/>
            <a:ext cx="2697365" cy="692970"/>
          </a:xfrm>
          <a:prstGeom prst="rect">
            <a:avLst/>
          </a:prstGeom>
        </p:spPr>
      </p:pic>
    </p:spTree>
    <p:extLst>
      <p:ext uri="{BB962C8B-B14F-4D97-AF65-F5344CB8AC3E}">
        <p14:creationId xmlns:p14="http://schemas.microsoft.com/office/powerpoint/2010/main" val="809510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B47D0C-8D5B-4186-9AEB-618863BB8CD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7228457-05F9-4E7D-8FFD-E8B4444D5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2F2F8B3-973B-4637-81CB-DE4BD4667823}"/>
              </a:ext>
            </a:extLst>
          </p:cNvPr>
          <p:cNvSpPr>
            <a:spLocks noGrp="1"/>
          </p:cNvSpPr>
          <p:nvPr>
            <p:ph type="dt" sz="half" idx="10"/>
          </p:nvPr>
        </p:nvSpPr>
        <p:spPr/>
        <p:txBody>
          <a:bodyPr/>
          <a:lstStyle/>
          <a:p>
            <a:fld id="{8131957D-5D43-4C56-B69D-65CB3FF9E4F8}" type="datetimeFigureOut">
              <a:rPr lang="es-CO" smtClean="0"/>
              <a:t>23/09/2026</a:t>
            </a:fld>
            <a:endParaRPr lang="es-CO"/>
          </a:p>
        </p:txBody>
      </p:sp>
      <p:sp>
        <p:nvSpPr>
          <p:cNvPr id="5" name="Marcador de pie de página 4">
            <a:extLst>
              <a:ext uri="{FF2B5EF4-FFF2-40B4-BE49-F238E27FC236}">
                <a16:creationId xmlns:a16="http://schemas.microsoft.com/office/drawing/2014/main" id="{939907F1-94EB-4461-B2FF-3E19CA7C654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BA754BA-6865-45F6-9E79-B2BC6812BD96}"/>
              </a:ext>
            </a:extLst>
          </p:cNvPr>
          <p:cNvSpPr>
            <a:spLocks noGrp="1"/>
          </p:cNvSpPr>
          <p:nvPr>
            <p:ph type="sldNum" sz="quarter" idx="12"/>
          </p:nvPr>
        </p:nvSpPr>
        <p:spPr/>
        <p:txBody>
          <a:bodyPr/>
          <a:lstStyle/>
          <a:p>
            <a:fld id="{4E2B26BD-1A36-4082-9043-39ACABC0DC8B}" type="slidenum">
              <a:rPr lang="es-CO" smtClean="0"/>
              <a:t>‹#›</a:t>
            </a:fld>
            <a:endParaRPr lang="es-CO"/>
          </a:p>
        </p:txBody>
      </p:sp>
      <p:pic>
        <p:nvPicPr>
          <p:cNvPr id="8" name="Imagen 7">
            <a:extLst>
              <a:ext uri="{FF2B5EF4-FFF2-40B4-BE49-F238E27FC236}">
                <a16:creationId xmlns:a16="http://schemas.microsoft.com/office/drawing/2014/main" id="{29F5EB57-A3E0-4D31-9622-EBCD730062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607" b="10280"/>
          <a:stretch/>
        </p:blipFill>
        <p:spPr>
          <a:xfrm>
            <a:off x="0" y="0"/>
            <a:ext cx="12216822" cy="6858000"/>
          </a:xfrm>
          <a:prstGeom prst="rect">
            <a:avLst/>
          </a:prstGeom>
        </p:spPr>
      </p:pic>
      <p:pic>
        <p:nvPicPr>
          <p:cNvPr id="11" name="Imagen 10">
            <a:extLst>
              <a:ext uri="{FF2B5EF4-FFF2-40B4-BE49-F238E27FC236}">
                <a16:creationId xmlns:a16="http://schemas.microsoft.com/office/drawing/2014/main" id="{F0E8C7C1-57F1-4D40-9E13-447E3292BDB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0429" y="394382"/>
            <a:ext cx="2697365" cy="692970"/>
          </a:xfrm>
          <a:prstGeom prst="rect">
            <a:avLst/>
          </a:prstGeom>
        </p:spPr>
      </p:pic>
    </p:spTree>
    <p:extLst>
      <p:ext uri="{BB962C8B-B14F-4D97-AF65-F5344CB8AC3E}">
        <p14:creationId xmlns:p14="http://schemas.microsoft.com/office/powerpoint/2010/main" val="21930076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CDCE214D-D1AD-4FE7-B0C3-78C3599AC5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6" name="Gráfico 15">
            <a:extLst>
              <a:ext uri="{FF2B5EF4-FFF2-40B4-BE49-F238E27FC236}">
                <a16:creationId xmlns:a16="http://schemas.microsoft.com/office/drawing/2014/main" id="{8C77A9CD-B706-4422-A919-AEC972F1F2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174564" y="339136"/>
            <a:ext cx="528920" cy="528920"/>
          </a:xfrm>
          <a:prstGeom prst="rect">
            <a:avLst/>
          </a:prstGeom>
        </p:spPr>
      </p:pic>
      <p:sp>
        <p:nvSpPr>
          <p:cNvPr id="5" name="Marcador de fecha 4">
            <a:extLst>
              <a:ext uri="{FF2B5EF4-FFF2-40B4-BE49-F238E27FC236}">
                <a16:creationId xmlns:a16="http://schemas.microsoft.com/office/drawing/2014/main" id="{81F8132A-1ED5-4AF5-A6E5-7AB3D733B67F}"/>
              </a:ext>
            </a:extLst>
          </p:cNvPr>
          <p:cNvSpPr>
            <a:spLocks noGrp="1"/>
          </p:cNvSpPr>
          <p:nvPr>
            <p:ph type="dt" sz="half" idx="10"/>
          </p:nvPr>
        </p:nvSpPr>
        <p:spPr/>
        <p:txBody>
          <a:bodyPr/>
          <a:lstStyle/>
          <a:p>
            <a:fld id="{8131957D-5D43-4C56-B69D-65CB3FF9E4F8}" type="datetimeFigureOut">
              <a:rPr lang="es-CO" smtClean="0"/>
              <a:t>23/09/2026</a:t>
            </a:fld>
            <a:endParaRPr lang="es-CO"/>
          </a:p>
        </p:txBody>
      </p:sp>
      <p:sp>
        <p:nvSpPr>
          <p:cNvPr id="6" name="Marcador de pie de página 5">
            <a:extLst>
              <a:ext uri="{FF2B5EF4-FFF2-40B4-BE49-F238E27FC236}">
                <a16:creationId xmlns:a16="http://schemas.microsoft.com/office/drawing/2014/main" id="{80712588-16FD-4DEB-B835-34FC628284A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1310B34-B046-4AAB-8116-83C4B1A93DE8}"/>
              </a:ext>
            </a:extLst>
          </p:cNvPr>
          <p:cNvSpPr>
            <a:spLocks noGrp="1"/>
          </p:cNvSpPr>
          <p:nvPr>
            <p:ph type="sldNum" sz="quarter" idx="12"/>
          </p:nvPr>
        </p:nvSpPr>
        <p:spPr/>
        <p:txBody>
          <a:bodyPr/>
          <a:lstStyle/>
          <a:p>
            <a:fld id="{4E2B26BD-1A36-4082-9043-39ACABC0DC8B}" type="slidenum">
              <a:rPr lang="es-CO" smtClean="0"/>
              <a:t>‹#›</a:t>
            </a:fld>
            <a:endParaRPr lang="es-CO"/>
          </a:p>
        </p:txBody>
      </p:sp>
      <p:sp>
        <p:nvSpPr>
          <p:cNvPr id="8" name="Marcador de número de diapositiva 5">
            <a:extLst>
              <a:ext uri="{FF2B5EF4-FFF2-40B4-BE49-F238E27FC236}">
                <a16:creationId xmlns:a16="http://schemas.microsoft.com/office/drawing/2014/main" id="{FA573831-C740-E58F-54E1-E1BAB142C3F0}"/>
              </a:ext>
            </a:extLst>
          </p:cNvPr>
          <p:cNvSpPr txBox="1">
            <a:spLocks/>
          </p:cNvSpPr>
          <p:nvPr userDrawn="1"/>
        </p:nvSpPr>
        <p:spPr>
          <a:xfrm>
            <a:off x="11118610" y="421034"/>
            <a:ext cx="640828" cy="365125"/>
          </a:xfrm>
          <a:prstGeom prst="rect">
            <a:avLst/>
          </a:prstGeom>
        </p:spPr>
        <p:txBody>
          <a:bodyPr vert="horz" lIns="91440" tIns="45720" rIns="91440" bIns="45720" rtlCol="0" anchor="ctr"/>
          <a:lstStyle>
            <a:defPPr>
              <a:defRPr lang="es-C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E2B26BD-1A36-4082-9043-39ACABC0DC8B}" type="slidenum">
              <a:rPr lang="es-CO" sz="1600" smtClean="0">
                <a:solidFill>
                  <a:schemeClr val="tx1"/>
                </a:solidFill>
                <a:latin typeface=" Arial"/>
              </a:rPr>
              <a:pPr algn="ctr"/>
              <a:t>‹#›</a:t>
            </a:fld>
            <a:endParaRPr lang="es-CO" sz="1600" dirty="0">
              <a:solidFill>
                <a:schemeClr val="tx1"/>
              </a:solidFill>
              <a:latin typeface=" Arial"/>
            </a:endParaRPr>
          </a:p>
        </p:txBody>
      </p:sp>
      <p:grpSp>
        <p:nvGrpSpPr>
          <p:cNvPr id="12" name="Grupo 11">
            <a:extLst>
              <a:ext uri="{FF2B5EF4-FFF2-40B4-BE49-F238E27FC236}">
                <a16:creationId xmlns:a16="http://schemas.microsoft.com/office/drawing/2014/main" id="{3141499B-7C77-4FF6-B02D-AE5226267CC1}"/>
              </a:ext>
            </a:extLst>
          </p:cNvPr>
          <p:cNvGrpSpPr/>
          <p:nvPr userDrawn="1"/>
        </p:nvGrpSpPr>
        <p:grpSpPr>
          <a:xfrm>
            <a:off x="6557659" y="5983067"/>
            <a:ext cx="4945474" cy="758197"/>
            <a:chOff x="3729401" y="6099803"/>
            <a:chExt cx="4945474" cy="758197"/>
          </a:xfrm>
        </p:grpSpPr>
        <p:pic>
          <p:nvPicPr>
            <p:cNvPr id="13" name="Imagen 12">
              <a:extLst>
                <a:ext uri="{FF2B5EF4-FFF2-40B4-BE49-F238E27FC236}">
                  <a16:creationId xmlns:a16="http://schemas.microsoft.com/office/drawing/2014/main" id="{B33512B1-294D-4751-9766-75CD637B2E3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477913" y="6099803"/>
              <a:ext cx="1448450" cy="758197"/>
            </a:xfrm>
            <a:prstGeom prst="rect">
              <a:avLst/>
            </a:prstGeom>
          </p:spPr>
        </p:pic>
        <p:pic>
          <p:nvPicPr>
            <p:cNvPr id="14" name="Gráfico 13">
              <a:extLst>
                <a:ext uri="{FF2B5EF4-FFF2-40B4-BE49-F238E27FC236}">
                  <a16:creationId xmlns:a16="http://schemas.microsoft.com/office/drawing/2014/main" id="{305D1523-0713-4BE1-9ED3-C780A37D5B0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974190" y="6436805"/>
              <a:ext cx="1700685" cy="84192"/>
            </a:xfrm>
            <a:prstGeom prst="rect">
              <a:avLst/>
            </a:prstGeom>
          </p:spPr>
        </p:pic>
        <p:pic>
          <p:nvPicPr>
            <p:cNvPr id="15" name="Gráfico 14">
              <a:extLst>
                <a:ext uri="{FF2B5EF4-FFF2-40B4-BE49-F238E27FC236}">
                  <a16:creationId xmlns:a16="http://schemas.microsoft.com/office/drawing/2014/main" id="{2855315B-E446-45B3-ADEB-FC93BD61BF4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rot="10800000">
              <a:off x="3729401" y="6436805"/>
              <a:ext cx="1700685" cy="84192"/>
            </a:xfrm>
            <a:prstGeom prst="rect">
              <a:avLst/>
            </a:prstGeom>
          </p:spPr>
        </p:pic>
      </p:grpSp>
    </p:spTree>
    <p:extLst>
      <p:ext uri="{BB962C8B-B14F-4D97-AF65-F5344CB8AC3E}">
        <p14:creationId xmlns:p14="http://schemas.microsoft.com/office/powerpoint/2010/main" val="5474685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66D0B9-B34A-4650-8736-4390CA6CA95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80744C4-6FF2-4264-B863-FA499EB9C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F1A96BB-D932-401B-9ED6-0BE94A2F28B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0AC6D33-7160-47EB-8041-BA03A09197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BE439FF-2207-4320-B50F-2078A1DFFD2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AAC385B-7873-4056-AC58-149EB5F2F9C6}"/>
              </a:ext>
            </a:extLst>
          </p:cNvPr>
          <p:cNvSpPr>
            <a:spLocks noGrp="1"/>
          </p:cNvSpPr>
          <p:nvPr>
            <p:ph type="dt" sz="half" idx="10"/>
          </p:nvPr>
        </p:nvSpPr>
        <p:spPr/>
        <p:txBody>
          <a:bodyPr/>
          <a:lstStyle/>
          <a:p>
            <a:fld id="{8131957D-5D43-4C56-B69D-65CB3FF9E4F8}" type="datetimeFigureOut">
              <a:rPr lang="es-CO" smtClean="0"/>
              <a:t>23/09/2026</a:t>
            </a:fld>
            <a:endParaRPr lang="es-CO"/>
          </a:p>
        </p:txBody>
      </p:sp>
      <p:sp>
        <p:nvSpPr>
          <p:cNvPr id="8" name="Marcador de pie de página 7">
            <a:extLst>
              <a:ext uri="{FF2B5EF4-FFF2-40B4-BE49-F238E27FC236}">
                <a16:creationId xmlns:a16="http://schemas.microsoft.com/office/drawing/2014/main" id="{746C8B14-6B16-47CA-B981-C78DAA78F206}"/>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FB2EE807-CC29-47E1-BEDE-10E6CA803E8A}"/>
              </a:ext>
            </a:extLst>
          </p:cNvPr>
          <p:cNvSpPr>
            <a:spLocks noGrp="1"/>
          </p:cNvSpPr>
          <p:nvPr>
            <p:ph type="sldNum" sz="quarter" idx="12"/>
          </p:nvPr>
        </p:nvSpPr>
        <p:spPr/>
        <p:txBody>
          <a:bodyPr/>
          <a:lstStyle/>
          <a:p>
            <a:fld id="{4E2B26BD-1A36-4082-9043-39ACABC0DC8B}" type="slidenum">
              <a:rPr lang="es-CO" smtClean="0"/>
              <a:t>‹#›</a:t>
            </a:fld>
            <a:endParaRPr lang="es-CO"/>
          </a:p>
        </p:txBody>
      </p:sp>
      <p:pic>
        <p:nvPicPr>
          <p:cNvPr id="10" name="Imagen 9">
            <a:extLst>
              <a:ext uri="{FF2B5EF4-FFF2-40B4-BE49-F238E27FC236}">
                <a16:creationId xmlns:a16="http://schemas.microsoft.com/office/drawing/2014/main" id="{F8EEAFF9-DE43-4CA9-A3B5-F99C830099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4" name="Grupo 13">
            <a:extLst>
              <a:ext uri="{FF2B5EF4-FFF2-40B4-BE49-F238E27FC236}">
                <a16:creationId xmlns:a16="http://schemas.microsoft.com/office/drawing/2014/main" id="{188AB720-FDCE-42FB-B780-32FB6ABFA11E}"/>
              </a:ext>
            </a:extLst>
          </p:cNvPr>
          <p:cNvGrpSpPr/>
          <p:nvPr userDrawn="1"/>
        </p:nvGrpSpPr>
        <p:grpSpPr>
          <a:xfrm>
            <a:off x="3623263" y="5983067"/>
            <a:ext cx="4945474" cy="758197"/>
            <a:chOff x="3729401" y="6099803"/>
            <a:chExt cx="4945474" cy="758197"/>
          </a:xfrm>
        </p:grpSpPr>
        <p:pic>
          <p:nvPicPr>
            <p:cNvPr id="15" name="Imagen 14">
              <a:extLst>
                <a:ext uri="{FF2B5EF4-FFF2-40B4-BE49-F238E27FC236}">
                  <a16:creationId xmlns:a16="http://schemas.microsoft.com/office/drawing/2014/main" id="{C50C96E2-C3A5-4842-91D0-FDA622B9E66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477913" y="6099803"/>
              <a:ext cx="1448450" cy="758197"/>
            </a:xfrm>
            <a:prstGeom prst="rect">
              <a:avLst/>
            </a:prstGeom>
          </p:spPr>
        </p:pic>
        <p:pic>
          <p:nvPicPr>
            <p:cNvPr id="16" name="Gráfico 15">
              <a:extLst>
                <a:ext uri="{FF2B5EF4-FFF2-40B4-BE49-F238E27FC236}">
                  <a16:creationId xmlns:a16="http://schemas.microsoft.com/office/drawing/2014/main" id="{98D0A138-9437-4915-80BD-E6317056F33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74190" y="6436805"/>
              <a:ext cx="1700685" cy="84192"/>
            </a:xfrm>
            <a:prstGeom prst="rect">
              <a:avLst/>
            </a:prstGeom>
          </p:spPr>
        </p:pic>
        <p:pic>
          <p:nvPicPr>
            <p:cNvPr id="17" name="Gráfico 16">
              <a:extLst>
                <a:ext uri="{FF2B5EF4-FFF2-40B4-BE49-F238E27FC236}">
                  <a16:creationId xmlns:a16="http://schemas.microsoft.com/office/drawing/2014/main" id="{E371130D-1CBC-4975-BAEA-EDE1A31C3B7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0800000">
              <a:off x="3729401" y="6436805"/>
              <a:ext cx="1700685" cy="84192"/>
            </a:xfrm>
            <a:prstGeom prst="rect">
              <a:avLst/>
            </a:prstGeom>
          </p:spPr>
        </p:pic>
      </p:grpSp>
      <p:pic>
        <p:nvPicPr>
          <p:cNvPr id="19" name="Gráfico 18">
            <a:extLst>
              <a:ext uri="{FF2B5EF4-FFF2-40B4-BE49-F238E27FC236}">
                <a16:creationId xmlns:a16="http://schemas.microsoft.com/office/drawing/2014/main" id="{B87BC77E-285C-459A-8B6C-EF637160781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174563" y="339136"/>
            <a:ext cx="528920" cy="528920"/>
          </a:xfrm>
          <a:prstGeom prst="rect">
            <a:avLst/>
          </a:prstGeom>
        </p:spPr>
      </p:pic>
      <p:sp>
        <p:nvSpPr>
          <p:cNvPr id="13" name="Marcador de número de diapositiva 5">
            <a:extLst>
              <a:ext uri="{FF2B5EF4-FFF2-40B4-BE49-F238E27FC236}">
                <a16:creationId xmlns:a16="http://schemas.microsoft.com/office/drawing/2014/main" id="{FFDA4B7A-D2BF-3BED-A9F0-C277964959DE}"/>
              </a:ext>
            </a:extLst>
          </p:cNvPr>
          <p:cNvSpPr txBox="1">
            <a:spLocks/>
          </p:cNvSpPr>
          <p:nvPr userDrawn="1"/>
        </p:nvSpPr>
        <p:spPr>
          <a:xfrm>
            <a:off x="11138184" y="421034"/>
            <a:ext cx="601679" cy="365125"/>
          </a:xfrm>
          <a:prstGeom prst="rect">
            <a:avLst/>
          </a:prstGeom>
        </p:spPr>
        <p:txBody>
          <a:bodyPr vert="horz" lIns="91440" tIns="45720" rIns="91440" bIns="45720" rtlCol="0" anchor="ctr"/>
          <a:lstStyle>
            <a:defPPr>
              <a:defRPr lang="es-C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E2B26BD-1A36-4082-9043-39ACABC0DC8B}" type="slidenum">
              <a:rPr lang="es-CO" sz="1600" smtClean="0">
                <a:solidFill>
                  <a:schemeClr val="tx1"/>
                </a:solidFill>
                <a:latin typeface=" Arial"/>
              </a:rPr>
              <a:pPr algn="ctr"/>
              <a:t>‹#›</a:t>
            </a:fld>
            <a:endParaRPr lang="es-CO" sz="1600" dirty="0">
              <a:solidFill>
                <a:schemeClr val="tx1"/>
              </a:solidFill>
              <a:latin typeface=" Arial"/>
            </a:endParaRPr>
          </a:p>
        </p:txBody>
      </p:sp>
    </p:spTree>
    <p:extLst>
      <p:ext uri="{BB962C8B-B14F-4D97-AF65-F5344CB8AC3E}">
        <p14:creationId xmlns:p14="http://schemas.microsoft.com/office/powerpoint/2010/main" val="3008709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862FFB6-AE93-4175-B322-2C89851542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749067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B932761-D230-4227-92F0-0F95B87070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963A91B-464A-43DC-8862-9E77518487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E7903EB-7FE5-4E40-88C7-8D182D4288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31957D-5D43-4C56-B69D-65CB3FF9E4F8}" type="datetimeFigureOut">
              <a:rPr lang="es-CO" smtClean="0"/>
              <a:t>23/09/2026</a:t>
            </a:fld>
            <a:endParaRPr lang="es-CO"/>
          </a:p>
        </p:txBody>
      </p:sp>
      <p:sp>
        <p:nvSpPr>
          <p:cNvPr id="5" name="Marcador de pie de página 4">
            <a:extLst>
              <a:ext uri="{FF2B5EF4-FFF2-40B4-BE49-F238E27FC236}">
                <a16:creationId xmlns:a16="http://schemas.microsoft.com/office/drawing/2014/main" id="{80EDC385-0B08-4706-8B59-0924C070F1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FD349FD2-E35C-422B-AA2B-BAAC4B6102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2B26BD-1A36-4082-9043-39ACABC0DC8B}" type="slidenum">
              <a:rPr lang="es-CO" smtClean="0"/>
              <a:t>‹#›</a:t>
            </a:fld>
            <a:endParaRPr lang="es-CO"/>
          </a:p>
        </p:txBody>
      </p:sp>
    </p:spTree>
    <p:extLst>
      <p:ext uri="{BB962C8B-B14F-4D97-AF65-F5344CB8AC3E}">
        <p14:creationId xmlns:p14="http://schemas.microsoft.com/office/powerpoint/2010/main" val="244621780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61"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12.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15.pn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16.pn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4.xml"/><Relationship Id="rId5" Type="http://schemas.openxmlformats.org/officeDocument/2006/relationships/image" Target="../media/image17.pn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5.xml"/><Relationship Id="rId5" Type="http://schemas.openxmlformats.org/officeDocument/2006/relationships/image" Target="../media/image18.pn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6.xml"/><Relationship Id="rId5" Type="http://schemas.openxmlformats.org/officeDocument/2006/relationships/image" Target="../media/image19.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7.xml"/><Relationship Id="rId5" Type="http://schemas.openxmlformats.org/officeDocument/2006/relationships/image" Target="../media/image20.png"/><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8.xml"/><Relationship Id="rId5" Type="http://schemas.openxmlformats.org/officeDocument/2006/relationships/image" Target="../media/image21.png"/><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9.xml"/><Relationship Id="rId5" Type="http://schemas.openxmlformats.org/officeDocument/2006/relationships/image" Target="../media/image22.png"/><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4.sv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14.sv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4.sv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4.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135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3">
            <a:extLst>
              <a:ext uri="{FF2B5EF4-FFF2-40B4-BE49-F238E27FC236}">
                <a16:creationId xmlns:a16="http://schemas.microsoft.com/office/drawing/2014/main" id="{3188D108-40B4-43B9-8C15-E2E8CC948FE3}"/>
              </a:ext>
            </a:extLst>
          </p:cNvPr>
          <p:cNvSpPr txBox="1">
            <a:spLocks noChangeArrowheads="1"/>
          </p:cNvSpPr>
          <p:nvPr/>
        </p:nvSpPr>
        <p:spPr bwMode="auto">
          <a:xfrm>
            <a:off x="3363717" y="668227"/>
            <a:ext cx="592466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O" altLang="es-CO" sz="4000" b="1" i="0" u="none" strike="noStrike" kern="1200" cap="none" spc="0" normalizeH="0" baseline="0" noProof="0" dirty="0">
                <a:ln>
                  <a:noFill/>
                </a:ln>
                <a:solidFill>
                  <a:srgbClr val="FF0000"/>
                </a:solidFill>
                <a:effectLst/>
                <a:uLnTx/>
                <a:uFillTx/>
                <a:latin typeface=" Arial"/>
                <a:ea typeface="+mn-ea"/>
                <a:cs typeface="Times New Roman" panose="02020603050405020304" pitchFamily="18" charset="0"/>
              </a:rPr>
              <a:t>Políticas de Privacidad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O" altLang="es-CO" sz="4000" b="1" i="0" u="none" strike="noStrike" kern="1200" cap="none" spc="0" normalizeH="0" baseline="0" noProof="0" dirty="0">
                <a:ln>
                  <a:noFill/>
                </a:ln>
                <a:solidFill>
                  <a:srgbClr val="FF0000"/>
                </a:solidFill>
                <a:effectLst/>
                <a:uLnTx/>
                <a:uFillTx/>
                <a:latin typeface=" Arial"/>
                <a:ea typeface="+mn-ea"/>
                <a:cs typeface="Times New Roman" panose="02020603050405020304" pitchFamily="18" charset="0"/>
              </a:rPr>
              <a:t>Información Calificada</a:t>
            </a:r>
            <a:endParaRPr kumimoji="0" lang="id-ID" altLang="es-CO" sz="4000" b="1" i="0" u="none" strike="noStrike" kern="1200" cap="none" spc="0" normalizeH="0" baseline="0" noProof="0" dirty="0">
              <a:ln>
                <a:noFill/>
              </a:ln>
              <a:solidFill>
                <a:srgbClr val="FF0000"/>
              </a:solidFill>
              <a:effectLst/>
              <a:uLnTx/>
              <a:uFillTx/>
              <a:latin typeface=" Arial"/>
              <a:ea typeface="+mn-ea"/>
              <a:cs typeface="Times New Roman" panose="02020603050405020304" pitchFamily="18" charset="0"/>
            </a:endParaRPr>
          </a:p>
        </p:txBody>
      </p:sp>
      <p:sp>
        <p:nvSpPr>
          <p:cNvPr id="12" name="TextBox 3">
            <a:extLst>
              <a:ext uri="{FF2B5EF4-FFF2-40B4-BE49-F238E27FC236}">
                <a16:creationId xmlns:a16="http://schemas.microsoft.com/office/drawing/2014/main" id="{A169EA45-E9EE-4599-B26F-B19DFE9DC300}"/>
              </a:ext>
            </a:extLst>
          </p:cNvPr>
          <p:cNvSpPr txBox="1">
            <a:spLocks noChangeArrowheads="1"/>
          </p:cNvSpPr>
          <p:nvPr/>
        </p:nvSpPr>
        <p:spPr bwMode="auto">
          <a:xfrm>
            <a:off x="2018992" y="2195906"/>
            <a:ext cx="840688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lvl="0" algn="just">
              <a:defRPr/>
            </a:pPr>
            <a:r>
              <a:rPr lang="es-ES" altLang="es-CO" dirty="0">
                <a:solidFill>
                  <a:prstClr val="white"/>
                </a:solidFill>
                <a:cs typeface="Calibri" panose="020F0502020204030204" pitchFamily="34" charset="0"/>
              </a:rPr>
              <a:t>El contenido de ésta presentación es propiedad de la Fuerza Aérea Colombiana. Es para uso exclusivo del destinatario y puede contener información que goza de reserva legal. Por lo tanto, no es de carácter público. Se informa que, cualquier uso, difusión, distribución, duplicado, copiado, revisión, retransmisión o diseminación de esta comunicación, así como, cualquier acción que se tome respecto a la información contenida, por personas o entidades diferentes al propósito original de la misma, no esta autorizado.</a:t>
            </a:r>
            <a:endParaRPr lang="id-ID" altLang="es-CO" dirty="0">
              <a:solidFill>
                <a:prstClr val="white"/>
              </a:solidFill>
              <a:cs typeface="Calibri" panose="020F0502020204030204" pitchFamily="34" charset="0"/>
            </a:endParaRPr>
          </a:p>
        </p:txBody>
      </p:sp>
      <p:sp>
        <p:nvSpPr>
          <p:cNvPr id="13" name="TextBox 3">
            <a:extLst>
              <a:ext uri="{FF2B5EF4-FFF2-40B4-BE49-F238E27FC236}">
                <a16:creationId xmlns:a16="http://schemas.microsoft.com/office/drawing/2014/main" id="{6E2433C0-C4EA-4534-90FC-9277DC5ED259}"/>
              </a:ext>
            </a:extLst>
          </p:cNvPr>
          <p:cNvSpPr txBox="1">
            <a:spLocks noChangeArrowheads="1"/>
          </p:cNvSpPr>
          <p:nvPr/>
        </p:nvSpPr>
        <p:spPr bwMode="auto">
          <a:xfrm>
            <a:off x="3185987" y="6014639"/>
            <a:ext cx="6280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O" altLang="es-CO" sz="1800" b="1" i="0" u="none" strike="noStrike" kern="1200" cap="none" spc="0" normalizeH="0" baseline="0" noProof="0">
                <a:ln>
                  <a:noFill/>
                </a:ln>
                <a:solidFill>
                  <a:srgbClr val="FF0000"/>
                </a:solidFill>
                <a:effectLst>
                  <a:outerShdw blurRad="38100" dist="38100" dir="2700000" algn="tl">
                    <a:srgbClr val="000000">
                      <a:alpha val="43137"/>
                    </a:srgbClr>
                  </a:outerShdw>
                </a:effectLst>
                <a:uLnTx/>
                <a:uFillTx/>
                <a:latin typeface=" Arial"/>
                <a:ea typeface="+mn-ea"/>
                <a:cs typeface="Times New Roman" panose="02020603050405020304" pitchFamily="18" charset="0"/>
              </a:rPr>
              <a:t>Público Clasificado</a:t>
            </a:r>
            <a:endParaRPr kumimoji="0" lang="es-CO" altLang="es-CO" sz="1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 Arial"/>
              <a:ea typeface="+mn-ea"/>
              <a:cs typeface="Times New Roman" panose="02020603050405020304" pitchFamily="18" charset="0"/>
            </a:endParaRPr>
          </a:p>
        </p:txBody>
      </p:sp>
    </p:spTree>
    <p:extLst>
      <p:ext uri="{BB962C8B-B14F-4D97-AF65-F5344CB8AC3E}">
        <p14:creationId xmlns:p14="http://schemas.microsoft.com/office/powerpoint/2010/main" val="2110016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5">
            <a:extLst>
              <a:ext uri="{FF2B5EF4-FFF2-40B4-BE49-F238E27FC236}">
                <a16:creationId xmlns:a16="http://schemas.microsoft.com/office/drawing/2014/main" id="{CDB326B8-C3CA-44B3-B48B-93D350F29261}"/>
              </a:ext>
            </a:extLst>
          </p:cNvPr>
          <p:cNvSpPr txBox="1"/>
          <p:nvPr/>
        </p:nvSpPr>
        <p:spPr>
          <a:xfrm>
            <a:off x="1735866" y="2429565"/>
            <a:ext cx="8720261" cy="1323439"/>
          </a:xfrm>
          <a:prstGeom prst="rect">
            <a:avLst/>
          </a:prstGeom>
          <a:noFill/>
        </p:spPr>
        <p:txBody>
          <a:bodyPr wrap="square">
            <a:noAutofit/>
          </a:bodyPr>
          <a:lstStyle/>
          <a:p>
            <a:pPr algn="ctr" eaLnBrk="1" fontAlgn="auto" hangingPunct="1">
              <a:spcBef>
                <a:spcPts val="0"/>
              </a:spcBef>
              <a:spcAft>
                <a:spcPts val="0"/>
              </a:spcAft>
              <a:defRPr/>
            </a:pPr>
            <a:r>
              <a:rPr lang="es-CO" sz="4000">
                <a:solidFill>
                  <a:srgbClr val="F4D171"/>
                </a:solidFill>
                <a:latin typeface="Arial" panose="020B0604020202020204" pitchFamily="34" charset="0"/>
                <a:cs typeface="Arial" panose="020B0604020202020204" pitchFamily="34" charset="0"/>
              </a:rPr>
              <a:t>MATB Y ASTRA
INVESTIGACIÓN EN EMAVI</a:t>
            </a:r>
            <a:endParaRPr lang="id-ID" sz="4000" dirty="0">
              <a:solidFill>
                <a:srgbClr val="F4D171"/>
              </a:solidFill>
              <a:latin typeface="Arial" panose="020B0604020202020204" pitchFamily="34" charset="0"/>
              <a:cs typeface="Arial" panose="020B0604020202020204" pitchFamily="34" charset="0"/>
            </a:endParaRPr>
          </a:p>
        </p:txBody>
      </p:sp>
      <p:sp>
        <p:nvSpPr>
          <p:cNvPr id="5" name="TextBox 21">
            <a:extLst>
              <a:ext uri="{FF2B5EF4-FFF2-40B4-BE49-F238E27FC236}">
                <a16:creationId xmlns:a16="http://schemas.microsoft.com/office/drawing/2014/main" id="{B48934D5-6E16-4B2E-B022-1CB1CA56C7A0}"/>
              </a:ext>
            </a:extLst>
          </p:cNvPr>
          <p:cNvSpPr txBox="1">
            <a:spLocks noChangeArrowheads="1"/>
          </p:cNvSpPr>
          <p:nvPr/>
        </p:nvSpPr>
        <p:spPr bwMode="auto">
          <a:xfrm>
            <a:off x="0" y="4390840"/>
            <a:ext cx="12192000" cy="461963"/>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s-CO" sz="2400" b="1">
                <a:solidFill>
                  <a:srgbClr val="FFFFFF"/>
                </a:solidFill>
                <a:latin typeface="Arial" panose="020B0604020202020204" pitchFamily="34" charset="0"/>
                <a:cs typeface="Arial" panose="020B0604020202020204" pitchFamily="34" charset="0"/>
              </a:rPr>
              <a:t>Smsm DIEGO L MALPICA</a:t>
            </a:r>
            <a:endParaRPr lang="id-ID" altLang="es-CO" sz="2400" b="1" dirty="0">
              <a:solidFill>
                <a:srgbClr val="FFFFFF"/>
              </a:solidFill>
              <a:latin typeface="Arial" panose="020B0604020202020204" pitchFamily="34" charset="0"/>
              <a:cs typeface="Arial" panose="020B0604020202020204" pitchFamily="34" charset="0"/>
            </a:endParaRPr>
          </a:p>
        </p:txBody>
      </p:sp>
      <p:sp>
        <p:nvSpPr>
          <p:cNvPr id="6" name="TextBox 14">
            <a:extLst>
              <a:ext uri="{FF2B5EF4-FFF2-40B4-BE49-F238E27FC236}">
                <a16:creationId xmlns:a16="http://schemas.microsoft.com/office/drawing/2014/main" id="{8D8C0866-B9C3-46C5-A4D1-5A7DF3FF9148}"/>
              </a:ext>
            </a:extLst>
          </p:cNvPr>
          <p:cNvSpPr txBox="1">
            <a:spLocks noChangeArrowheads="1"/>
          </p:cNvSpPr>
          <p:nvPr/>
        </p:nvSpPr>
        <p:spPr bwMode="auto">
          <a:xfrm>
            <a:off x="0" y="4743810"/>
            <a:ext cx="12191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CO" altLang="es-CO" sz="2400">
                <a:solidFill>
                  <a:srgbClr val="FFFFFF"/>
                </a:solidFill>
                <a:latin typeface="Arial" panose="020B0604020202020204" pitchFamily="34" charset="0"/>
                <a:cs typeface="Arial" panose="020B0604020202020204" pitchFamily="34" charset="0"/>
              </a:rPr>
              <a:t>Especialista En Medicina Aeroespacial</a:t>
            </a:r>
            <a:endParaRPr lang="id-ID" altLang="es-CO" sz="2400" dirty="0">
              <a:solidFill>
                <a:srgbClr val="FFFFFF"/>
              </a:solidFill>
              <a:latin typeface="Arial" panose="020B0604020202020204" pitchFamily="34" charset="0"/>
              <a:cs typeface="Arial" panose="020B0604020202020204" pitchFamily="34" charset="0"/>
            </a:endParaRPr>
          </a:p>
        </p:txBody>
      </p:sp>
      <p:sp>
        <p:nvSpPr>
          <p:cNvPr id="2" name="EMAVI_CLASSIFICATION">
            <a:extLst>
              <a:ext uri="{FF2B5EF4-FFF2-40B4-BE49-F238E27FC236}">
                <a16:creationId xmlns:a16="http://schemas.microsoft.com/office/drawing/2014/main" id="{B0C264A1-0AE8-E5A8-FCD1-99896764DCB9}"/>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107976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13434452-E2FB-4AB6-85BD-CB087F271B26}"/>
              </a:ext>
            </a:extLst>
          </p:cNvPr>
          <p:cNvSpPr txBox="1">
            <a:spLocks noChangeArrowheads="1"/>
          </p:cNvSpPr>
          <p:nvPr/>
        </p:nvSpPr>
        <p:spPr bwMode="auto">
          <a:xfrm>
            <a:off x="1760534" y="1280608"/>
            <a:ext cx="86709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CO" altLang="es-CO" sz="4000">
                <a:solidFill>
                  <a:srgbClr val="F4D171"/>
                </a:solidFill>
                <a:latin typeface="Arial" panose="020B0604020202020204" pitchFamily="34" charset="0"/>
              </a:rPr>
              <a:t>AGENDA</a:t>
            </a:r>
            <a:endParaRPr lang="id-ID" altLang="es-CO" sz="4000" dirty="0">
              <a:solidFill>
                <a:srgbClr val="F4D171"/>
              </a:solidFill>
              <a:latin typeface="Arial" panose="020B0604020202020204" pitchFamily="34" charset="0"/>
            </a:endParaRPr>
          </a:p>
        </p:txBody>
      </p:sp>
      <p:sp>
        <p:nvSpPr>
          <p:cNvPr id="5" name="TextBox 10">
            <a:extLst>
              <a:ext uri="{FF2B5EF4-FFF2-40B4-BE49-F238E27FC236}">
                <a16:creationId xmlns:a16="http://schemas.microsoft.com/office/drawing/2014/main" id="{B195D5D5-67F4-4938-BE5F-8C427C7420E7}"/>
              </a:ext>
            </a:extLst>
          </p:cNvPr>
          <p:cNvSpPr txBox="1">
            <a:spLocks noChangeArrowheads="1"/>
          </p:cNvSpPr>
          <p:nvPr/>
        </p:nvSpPr>
        <p:spPr bwMode="auto">
          <a:xfrm>
            <a:off x="3232360" y="2229516"/>
            <a:ext cx="6027143"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s-CO" altLang="es-CO" sz="2800">
                <a:solidFill>
                  <a:srgbClr val="F4D171"/>
                </a:solidFill>
                <a:latin typeface="Arial" panose="020B0604020202020204" pitchFamily="34" charset="0"/>
                <a:cs typeface="Arial" panose="020B0604020202020204" pitchFamily="34" charset="0"/>
              </a:rPr>
              <a:t>1</a:t>
            </a:r>
            <a:r>
              <a:rPr lang="es-CO" altLang="es-CO" sz="2800">
                <a:solidFill>
                  <a:srgbClr val="FFFFFF"/>
                </a:solidFill>
                <a:latin typeface="Arial" panose="020B0604020202020204" pitchFamily="34" charset="0"/>
                <a:cs typeface="Arial" panose="020B0604020202020204" pitchFamily="34" charset="0"/>
              </a:rPr>
              <a:t>.   Pregunta y diseño</a:t>
            </a:r>
          </a:p>
          <a:p>
            <a:pPr eaLnBrk="1" hangingPunct="1"/>
            <a:r>
              <a:rPr lang="es-CO" altLang="es-CO" sz="2800">
                <a:solidFill>
                  <a:srgbClr val="F4D171"/>
                </a:solidFill>
                <a:latin typeface="Arial" panose="020B0604020202020204" pitchFamily="34" charset="0"/>
                <a:cs typeface="Arial" panose="020B0604020202020204" pitchFamily="34" charset="0"/>
              </a:rPr>
              <a:t>2</a:t>
            </a:r>
            <a:r>
              <a:rPr lang="es-CO" altLang="es-CO" sz="2800">
                <a:solidFill>
                  <a:srgbClr val="FFFFFF"/>
                </a:solidFill>
                <a:latin typeface="Arial" panose="020B0604020202020204" pitchFamily="34" charset="0"/>
                <a:cs typeface="Arial" panose="020B0604020202020204" pitchFamily="34" charset="0"/>
              </a:rPr>
              <a:t>.   Medición y trazabilidad</a:t>
            </a:r>
          </a:p>
          <a:p>
            <a:pPr eaLnBrk="1" hangingPunct="1"/>
            <a:r>
              <a:rPr lang="es-CO" altLang="es-CO" sz="2800">
                <a:solidFill>
                  <a:srgbClr val="F4D171"/>
                </a:solidFill>
                <a:latin typeface="Arial" panose="020B0604020202020204" pitchFamily="34" charset="0"/>
                <a:cs typeface="Arial" panose="020B0604020202020204" pitchFamily="34" charset="0"/>
              </a:rPr>
              <a:t>3</a:t>
            </a:r>
            <a:r>
              <a:rPr lang="es-CO" altLang="es-CO" sz="2800">
                <a:solidFill>
                  <a:srgbClr val="FFFFFF"/>
                </a:solidFill>
                <a:latin typeface="Arial" panose="020B0604020202020204" pitchFamily="34" charset="0"/>
                <a:cs typeface="Arial" panose="020B0604020202020204" pitchFamily="34" charset="0"/>
              </a:rPr>
              <a:t>.   Demostración de la aplicación</a:t>
            </a:r>
          </a:p>
          <a:p>
            <a:pPr eaLnBrk="1" hangingPunct="1"/>
            <a:r>
              <a:rPr lang="es-CO" altLang="es-CO" sz="2800">
                <a:solidFill>
                  <a:srgbClr val="F4D171"/>
                </a:solidFill>
                <a:latin typeface="Arial" panose="020B0604020202020204" pitchFamily="34" charset="0"/>
                <a:cs typeface="Arial" panose="020B0604020202020204" pitchFamily="34" charset="0"/>
              </a:rPr>
              <a:t>4</a:t>
            </a:r>
            <a:r>
              <a:rPr lang="es-CO" altLang="es-CO" sz="2800">
                <a:solidFill>
                  <a:srgbClr val="FFFFFF"/>
                </a:solidFill>
                <a:latin typeface="Arial" panose="020B0604020202020204" pitchFamily="34" charset="0"/>
                <a:cs typeface="Arial" panose="020B0604020202020204" pitchFamily="34" charset="0"/>
              </a:rPr>
              <a:t>.   Análisis y siguiente etapa</a:t>
            </a:r>
          </a:p>
          <a:p>
            <a:pPr eaLnBrk="1" hangingPunct="1"/>
            <a:endParaRPr lang="es-CO" altLang="es-CO" sz="2400" dirty="0">
              <a:solidFill>
                <a:schemeClr val="bg1"/>
              </a:solidFill>
              <a:latin typeface="Arial" panose="020B0604020202020204" pitchFamily="34" charset="0"/>
              <a:cs typeface="Arial" panose="020B0604020202020204" pitchFamily="34" charset="0"/>
            </a:endParaRPr>
          </a:p>
        </p:txBody>
      </p:sp>
      <p:sp>
        <p:nvSpPr>
          <p:cNvPr id="2" name="EMAVI_CLASSIFICATION">
            <a:extLst>
              <a:ext uri="{FF2B5EF4-FFF2-40B4-BE49-F238E27FC236}">
                <a16:creationId xmlns:a16="http://schemas.microsoft.com/office/drawing/2014/main" id="{0AD24CDB-9980-A4D9-98BC-FBE088B45881}"/>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1326700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6">
            <a:extLst>
              <a:ext uri="{FF2B5EF4-FFF2-40B4-BE49-F238E27FC236}">
                <a16:creationId xmlns:a16="http://schemas.microsoft.com/office/drawing/2014/main" id="{263F1AFE-9E82-4CCB-B6AF-BA10848D97A5}"/>
              </a:ext>
            </a:extLst>
          </p:cNvPr>
          <p:cNvSpPr txBox="1"/>
          <p:nvPr/>
        </p:nvSpPr>
        <p:spPr>
          <a:xfrm>
            <a:off x="8152374" y="3040918"/>
            <a:ext cx="3469462" cy="2031325"/>
          </a:xfrm>
          <a:prstGeom prst="rect">
            <a:avLst/>
          </a:prstGeom>
          <a:noFill/>
        </p:spPr>
        <p:txBody>
          <a:bodyPr wrap="square">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CO" sz="140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Demanda programada; desempeño y carga percibida por separado.
Seguimiento de cada persona entre visitas.</a:t>
            </a:r>
            <a:endParaRPr kumimoji="0" lang="es-CO" sz="1400"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EE8F408C-04F8-4D01-9231-8476D779B363}"/>
              </a:ext>
            </a:extLst>
          </p:cNvPr>
          <p:cNvSpPr/>
          <p:nvPr/>
        </p:nvSpPr>
        <p:spPr>
          <a:xfrm>
            <a:off x="8064976" y="1466489"/>
            <a:ext cx="3637835" cy="1077218"/>
          </a:xfrm>
          <a:prstGeom prst="rect">
            <a:avLst/>
          </a:prstGeom>
        </p:spPr>
        <p:txBody>
          <a:bodyPr wrap="square">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Pregunta y diseño</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ea typeface="+mn-ea"/>
              <a:cs typeface="Arial" panose="020B0604020202020204" pitchFamily="34" charset="0"/>
            </a:endParaRPr>
          </a:p>
        </p:txBody>
      </p:sp>
      <p:pic>
        <p:nvPicPr>
          <p:cNvPr id="15" name="Gráfico 14">
            <a:extLst>
              <a:ext uri="{FF2B5EF4-FFF2-40B4-BE49-F238E27FC236}">
                <a16:creationId xmlns:a16="http://schemas.microsoft.com/office/drawing/2014/main" id="{B89630FD-AA9F-4D6C-8DF0-9982B14D4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6842" y="2627183"/>
            <a:ext cx="3463568" cy="83796"/>
          </a:xfrm>
          <a:prstGeom prst="rect">
            <a:avLst/>
          </a:prstGeom>
          <a:effectLst>
            <a:outerShdw blurRad="25400" dist="25400" dir="2700000" algn="tl" rotWithShape="0">
              <a:prstClr val="black">
                <a:alpha val="60000"/>
              </a:prstClr>
            </a:outerShdw>
          </a:effectLst>
        </p:spPr>
      </p:pic>
      <p:pic>
        <p:nvPicPr>
          <p:cNvPr id="3" name="FAC_IMAGE_SLOT" descr="Operadora en estación de investigación multitarea; ilustración conceptual, sin datos." title="Ilustración conceptual generada con imagegen; no fotografía de ASTRA ni captura de MATB. EMAVI/visuales/PROMPTS_IMAGEGEN.md.">
            <a:extLst>
              <a:ext uri="{FF2B5EF4-FFF2-40B4-BE49-F238E27FC236}">
                <a16:creationId xmlns:a16="http://schemas.microsoft.com/office/drawing/2014/main" id="{37A02B73-E0DE-04F1-66BF-0D1ECCA9904F}"/>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t="-17080" b="-17080"/>
          <a:stretch>
            <a:fillRect/>
          </a:stretch>
        </p:blipFill>
        <p:spPr>
          <a:xfrm>
            <a:off x="-6111" y="0"/>
            <a:ext cx="5593596" cy="6858000"/>
          </a:xfrm>
          <a:prstGeom prst="rect">
            <a:avLst/>
          </a:prstGeom>
        </p:spPr>
      </p:pic>
      <p:sp>
        <p:nvSpPr>
          <p:cNvPr id="4" name="EMAVI_CLASSIFICATION">
            <a:extLst>
              <a:ext uri="{FF2B5EF4-FFF2-40B4-BE49-F238E27FC236}">
                <a16:creationId xmlns:a16="http://schemas.microsoft.com/office/drawing/2014/main" id="{3E4A15C2-6684-4E5A-5437-878336AD9738}"/>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1051600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222D1E9-3E48-4E86-8991-A844993ECCE1}"/>
              </a:ext>
            </a:extLst>
          </p:cNvPr>
          <p:cNvSpPr/>
          <p:nvPr/>
        </p:nvSpPr>
        <p:spPr>
          <a:xfrm>
            <a:off x="597635" y="356098"/>
            <a:ext cx="4175317" cy="731520"/>
          </a:xfrm>
          <a:prstGeom prst="rect">
            <a:avLst/>
          </a:prstGeom>
        </p:spPr>
        <p:txBody>
          <a:bodyPr wrap="square">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s-CO" altLang="en-US" sz="2400" b="1">
                <a:solidFill>
                  <a:srgbClr val="001326"/>
                </a:solidFill>
                <a:latin typeface="Arial" panose="020B0604020202020204" pitchFamily="34" charset="0"/>
                <a:cs typeface="Arial" panose="020B0604020202020204" pitchFamily="34" charset="0"/>
              </a:rPr>
              <a:t>Fundamento y reproducibilidad</a:t>
            </a:r>
            <a:endParaRPr kumimoji="0" lang="es-CO" altLang="en-US" sz="2400" b="1" i="0" u="none" strike="noStrike" kern="1200" cap="none" spc="0" normalizeH="0" baseline="0" noProof="0" dirty="0">
              <a:ln>
                <a:noFill/>
              </a:ln>
              <a:solidFill>
                <a:srgbClr val="001326"/>
              </a:solidFill>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6758C6A-4355-4BCA-AC58-89F66EEF4642}"/>
              </a:ext>
            </a:extLst>
          </p:cNvPr>
          <p:cNvSpPr txBox="1"/>
          <p:nvPr/>
        </p:nvSpPr>
        <p:spPr>
          <a:xfrm>
            <a:off x="4053818" y="2685633"/>
            <a:ext cx="3811026" cy="2031325"/>
          </a:xfrm>
          <a:prstGeom prst="rect">
            <a:avLst/>
          </a:prstGeom>
          <a:noFill/>
        </p:spPr>
        <p:txBody>
          <a:bodyPr wrap="square">
            <a:noAutofit/>
          </a:bodyPr>
          <a:lstStyle/>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OpenMATB: personalización y replicabilidad [1].</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USAARL: transiciones y automatización [5].</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7/19 estudios describieron su configuración con detalle suficiente [2].</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endParaRPr kumimoji="0" lang="es-CO" sz="1400" b="1"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pic>
        <p:nvPicPr>
          <p:cNvPr id="19" name="Gráfico 18">
            <a:extLst>
              <a:ext uri="{FF2B5EF4-FFF2-40B4-BE49-F238E27FC236}">
                <a16:creationId xmlns:a16="http://schemas.microsoft.com/office/drawing/2014/main" id="{E3791E01-FF01-4E47-B8BC-4A1704BA16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271" y="1097881"/>
            <a:ext cx="6820926" cy="121082"/>
          </a:xfrm>
          <a:prstGeom prst="rect">
            <a:avLst/>
          </a:prstGeom>
          <a:effectLst>
            <a:outerShdw blurRad="25400" dist="25400" dir="2700000" algn="tl" rotWithShape="0">
              <a:prstClr val="black">
                <a:alpha val="60000"/>
              </a:prstClr>
            </a:outerShdw>
          </a:effectLst>
        </p:spPr>
      </p:pic>
      <p:sp>
        <p:nvSpPr>
          <p:cNvPr id="2" name="EMAVI_CLASSIFICATION">
            <a:extLst>
              <a:ext uri="{FF2B5EF4-FFF2-40B4-BE49-F238E27FC236}">
                <a16:creationId xmlns:a16="http://schemas.microsoft.com/office/drawing/2014/main" id="{93EB84AA-49C0-B98D-B6AC-528EA259032F}"/>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939486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222D1E9-3E48-4E86-8991-A844993ECCE1}"/>
              </a:ext>
            </a:extLst>
          </p:cNvPr>
          <p:cNvSpPr/>
          <p:nvPr/>
        </p:nvSpPr>
        <p:spPr>
          <a:xfrm>
            <a:off x="597635" y="356098"/>
            <a:ext cx="4175317" cy="731520"/>
          </a:xfrm>
          <a:prstGeom prst="rect">
            <a:avLst/>
          </a:prstGeom>
        </p:spPr>
        <p:txBody>
          <a:bodyPr wrap="square">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s-CO" altLang="en-US" sz="2400" b="1">
                <a:solidFill>
                  <a:srgbClr val="001326"/>
                </a:solidFill>
                <a:latin typeface="Arial" panose="020B0604020202020204" pitchFamily="34" charset="0"/>
                <a:cs typeface="Arial" panose="020B0604020202020204" pitchFamily="34" charset="0"/>
              </a:rPr>
              <a:t>ASTRA: seguimiento longitudinal</a:t>
            </a:r>
            <a:endParaRPr kumimoji="0" lang="es-CO" altLang="en-US" sz="2400" b="1" i="0" u="none" strike="noStrike" kern="1200" cap="none" spc="0" normalizeH="0" baseline="0" noProof="0" dirty="0">
              <a:ln>
                <a:noFill/>
              </a:ln>
              <a:solidFill>
                <a:srgbClr val="001326"/>
              </a:solidFill>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6758C6A-4355-4BCA-AC58-89F66EEF4642}"/>
              </a:ext>
            </a:extLst>
          </p:cNvPr>
          <p:cNvSpPr txBox="1"/>
          <p:nvPr/>
        </p:nvSpPr>
        <p:spPr>
          <a:xfrm>
            <a:off x="4053818" y="2685633"/>
            <a:ext cx="3811026" cy="2031325"/>
          </a:xfrm>
          <a:prstGeom prst="rect">
            <a:avLst/>
          </a:prstGeom>
          <a:noFill/>
        </p:spPr>
        <p:txBody>
          <a:bodyPr wrap="square">
            <a:noAutofit/>
          </a:bodyPr>
          <a:lstStyle/>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2 misiones; hasta 6 participantes por misión.</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8 visitas: basal, 6 intramisión y posegreso.</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3 condiciones × 900 s de escenario.</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Orden contrabalanceado; reserva de 90 min.</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endParaRPr kumimoji="0" lang="es-CO" sz="1400" b="1"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pic>
        <p:nvPicPr>
          <p:cNvPr id="19" name="Gráfico 18">
            <a:extLst>
              <a:ext uri="{FF2B5EF4-FFF2-40B4-BE49-F238E27FC236}">
                <a16:creationId xmlns:a16="http://schemas.microsoft.com/office/drawing/2014/main" id="{E3791E01-FF01-4E47-B8BC-4A1704BA16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271" y="1097881"/>
            <a:ext cx="6820926" cy="121082"/>
          </a:xfrm>
          <a:prstGeom prst="rect">
            <a:avLst/>
          </a:prstGeom>
          <a:effectLst>
            <a:outerShdw blurRad="25400" dist="25400" dir="2700000" algn="tl" rotWithShape="0">
              <a:prstClr val="black">
                <a:alpha val="60000"/>
              </a:prstClr>
            </a:outerShdw>
          </a:effectLst>
        </p:spPr>
      </p:pic>
      <p:sp>
        <p:nvSpPr>
          <p:cNvPr id="2" name="EMAVI_CLASSIFICATION">
            <a:extLst>
              <a:ext uri="{FF2B5EF4-FFF2-40B4-BE49-F238E27FC236}">
                <a16:creationId xmlns:a16="http://schemas.microsoft.com/office/drawing/2014/main" id="{8EC0F0FC-A819-7AF8-9180-0712998312A4}"/>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91049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222D1E9-3E48-4E86-8991-A844993ECCE1}"/>
              </a:ext>
            </a:extLst>
          </p:cNvPr>
          <p:cNvSpPr/>
          <p:nvPr/>
        </p:nvSpPr>
        <p:spPr>
          <a:xfrm>
            <a:off x="597635" y="356098"/>
            <a:ext cx="4175317" cy="731520"/>
          </a:xfrm>
          <a:prstGeom prst="rect">
            <a:avLst/>
          </a:prstGeom>
        </p:spPr>
        <p:txBody>
          <a:bodyPr wrap="square">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s-CO" altLang="en-US" sz="2400" b="1">
                <a:solidFill>
                  <a:srgbClr val="001326"/>
                </a:solidFill>
                <a:latin typeface="Arial" panose="020B0604020202020204" pitchFamily="34" charset="0"/>
                <a:cs typeface="Arial" panose="020B0604020202020204" pitchFamily="34" charset="0"/>
              </a:rPr>
              <a:t>Qué se mide en cada bloque</a:t>
            </a:r>
            <a:endParaRPr kumimoji="0" lang="es-CO" altLang="en-US" sz="2400" b="1" i="0" u="none" strike="noStrike" kern="1200" cap="none" spc="0" normalizeH="0" baseline="0" noProof="0" dirty="0">
              <a:ln>
                <a:noFill/>
              </a:ln>
              <a:solidFill>
                <a:srgbClr val="001326"/>
              </a:solidFill>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6758C6A-4355-4BCA-AC58-89F66EEF4642}"/>
              </a:ext>
            </a:extLst>
          </p:cNvPr>
          <p:cNvSpPr txBox="1"/>
          <p:nvPr/>
        </p:nvSpPr>
        <p:spPr>
          <a:xfrm>
            <a:off x="4053818" y="2685633"/>
            <a:ext cx="3811026" cy="2031325"/>
          </a:xfrm>
          <a:prstGeom prst="rect">
            <a:avLst/>
          </a:prstGeom>
          <a:noFill/>
        </p:spPr>
        <p:txBody>
          <a:bodyPr wrap="square">
            <a:noAutofit/>
          </a:bodyPr>
          <a:lstStyle/>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SYSMON: detecciones, omisiones y latencias.</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TRACK: desviación respecto al objetivo.</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COMM y RESMAN: respuestas y regulación.</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KSS antes; ISA durante; NASA-TLX después.</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endParaRPr kumimoji="0" lang="es-CO" sz="1400" b="1"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pic>
        <p:nvPicPr>
          <p:cNvPr id="19" name="Gráfico 18">
            <a:extLst>
              <a:ext uri="{FF2B5EF4-FFF2-40B4-BE49-F238E27FC236}">
                <a16:creationId xmlns:a16="http://schemas.microsoft.com/office/drawing/2014/main" id="{E3791E01-FF01-4E47-B8BC-4A1704BA16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271" y="1097881"/>
            <a:ext cx="6820926" cy="121082"/>
          </a:xfrm>
          <a:prstGeom prst="rect">
            <a:avLst/>
          </a:prstGeom>
          <a:effectLst>
            <a:outerShdw blurRad="25400" dist="25400" dir="2700000" algn="tl" rotWithShape="0">
              <a:prstClr val="black">
                <a:alpha val="60000"/>
              </a:prstClr>
            </a:outerShdw>
          </a:effectLst>
        </p:spPr>
      </p:pic>
      <p:sp>
        <p:nvSpPr>
          <p:cNvPr id="2" name="EMAVI_CLASSIFICATION">
            <a:extLst>
              <a:ext uri="{FF2B5EF4-FFF2-40B4-BE49-F238E27FC236}">
                <a16:creationId xmlns:a16="http://schemas.microsoft.com/office/drawing/2014/main" id="{6A149964-63E0-47F0-287E-F03868620C44}"/>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3972271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6">
            <a:extLst>
              <a:ext uri="{FF2B5EF4-FFF2-40B4-BE49-F238E27FC236}">
                <a16:creationId xmlns:a16="http://schemas.microsoft.com/office/drawing/2014/main" id="{263F1AFE-9E82-4CCB-B6AF-BA10848D97A5}"/>
              </a:ext>
            </a:extLst>
          </p:cNvPr>
          <p:cNvSpPr txBox="1"/>
          <p:nvPr/>
        </p:nvSpPr>
        <p:spPr>
          <a:xfrm>
            <a:off x="8152374" y="3040918"/>
            <a:ext cx="3469462" cy="2031325"/>
          </a:xfrm>
          <a:prstGeom prst="rect">
            <a:avLst/>
          </a:prstGeom>
          <a:noFill/>
        </p:spPr>
        <p:txBody>
          <a:bodyPr wrap="square">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CO" sz="140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Polar H10: intervalos R–R, si la ruta se verifica.
ActiGraph: movimiento. HRV: descriptor derivado.
Sin señales humanas adquiridas en la demostración.</a:t>
            </a:r>
            <a:endParaRPr kumimoji="0" lang="es-CO" sz="1400"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EE8F408C-04F8-4D01-9231-8476D779B363}"/>
              </a:ext>
            </a:extLst>
          </p:cNvPr>
          <p:cNvSpPr/>
          <p:nvPr/>
        </p:nvSpPr>
        <p:spPr>
          <a:xfrm>
            <a:off x="8064976" y="1466489"/>
            <a:ext cx="3637835" cy="1077218"/>
          </a:xfrm>
          <a:prstGeom prst="rect">
            <a:avLst/>
          </a:prstGeom>
        </p:spPr>
        <p:txBody>
          <a:bodyPr wrap="square">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Adquisición fisiológica</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ea typeface="+mn-ea"/>
              <a:cs typeface="Arial" panose="020B0604020202020204" pitchFamily="34" charset="0"/>
            </a:endParaRPr>
          </a:p>
        </p:txBody>
      </p:sp>
      <p:pic>
        <p:nvPicPr>
          <p:cNvPr id="15" name="Gráfico 14">
            <a:extLst>
              <a:ext uri="{FF2B5EF4-FFF2-40B4-BE49-F238E27FC236}">
                <a16:creationId xmlns:a16="http://schemas.microsoft.com/office/drawing/2014/main" id="{B89630FD-AA9F-4D6C-8DF0-9982B14D4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6842" y="2627183"/>
            <a:ext cx="3463568" cy="83796"/>
          </a:xfrm>
          <a:prstGeom prst="rect">
            <a:avLst/>
          </a:prstGeom>
          <a:effectLst>
            <a:outerShdw blurRad="25400" dist="25400" dir="2700000" algn="tl" rotWithShape="0">
              <a:prstClr val="black">
                <a:alpha val="60000"/>
              </a:prstClr>
            </a:outerShdw>
          </a:effectLst>
        </p:spPr>
      </p:pic>
      <p:pic>
        <p:nvPicPr>
          <p:cNvPr id="3" name="FAC_IMAGE_SLOT" descr="Banda pectoral y monitor de actividad de muñeca, como concepto de adquisición fisiológica." title="Ilustración conceptual generada con imagegen; dispositivos no conectados. EMAVI/visuales/PROMPTS_IMAGEGEN.md.">
            <a:extLst>
              <a:ext uri="{FF2B5EF4-FFF2-40B4-BE49-F238E27FC236}">
                <a16:creationId xmlns:a16="http://schemas.microsoft.com/office/drawing/2014/main" id="{A9CBC8B7-896A-603D-B234-63E4D833F88C}"/>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t="-41954" b="-41954"/>
          <a:stretch>
            <a:fillRect/>
          </a:stretch>
        </p:blipFill>
        <p:spPr>
          <a:xfrm>
            <a:off x="-6111" y="0"/>
            <a:ext cx="5593596" cy="6858000"/>
          </a:xfrm>
          <a:prstGeom prst="rect">
            <a:avLst/>
          </a:prstGeom>
        </p:spPr>
      </p:pic>
      <p:sp>
        <p:nvSpPr>
          <p:cNvPr id="4" name="EMAVI_CLASSIFICATION">
            <a:extLst>
              <a:ext uri="{FF2B5EF4-FFF2-40B4-BE49-F238E27FC236}">
                <a16:creationId xmlns:a16="http://schemas.microsoft.com/office/drawing/2014/main" id="{53EAADF0-F644-D51F-580E-EC5432B5EEAB}"/>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9398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41B4B5-1BD7-40DA-862F-5480B5E8FFB7}"/>
              </a:ext>
            </a:extLst>
          </p:cNvPr>
          <p:cNvSpPr txBox="1">
            <a:spLocks noChangeArrowheads="1"/>
          </p:cNvSpPr>
          <p:nvPr/>
        </p:nvSpPr>
        <p:spPr bwMode="auto">
          <a:xfrm>
            <a:off x="3121052" y="2955447"/>
            <a:ext cx="59371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CO" altLang="es-CO" sz="4000">
                <a:solidFill>
                  <a:srgbClr val="FFFFFF"/>
                </a:solidFill>
                <a:latin typeface="Times New Roman" panose="02020603050405020304" pitchFamily="18" charset="0"/>
                <a:cs typeface="Times New Roman" panose="02020603050405020304" pitchFamily="18" charset="0"/>
              </a:rPr>
              <a:t>Demostración</a:t>
            </a:r>
            <a:endParaRPr lang="id-ID" altLang="es-CO" sz="4000" dirty="0">
              <a:solidFill>
                <a:srgbClr val="FFFFFF"/>
              </a:solidFill>
              <a:latin typeface="Times New Roman" panose="02020603050405020304" pitchFamily="18" charset="0"/>
              <a:cs typeface="Times New Roman" panose="02020603050405020304" pitchFamily="18" charset="0"/>
            </a:endParaRPr>
          </a:p>
        </p:txBody>
      </p:sp>
      <p:grpSp>
        <p:nvGrpSpPr>
          <p:cNvPr id="5" name="Grupo 4">
            <a:extLst>
              <a:ext uri="{FF2B5EF4-FFF2-40B4-BE49-F238E27FC236}">
                <a16:creationId xmlns:a16="http://schemas.microsoft.com/office/drawing/2014/main" id="{5D9061DF-4876-4DD5-9AEC-7C94047A4491}"/>
              </a:ext>
            </a:extLst>
          </p:cNvPr>
          <p:cNvGrpSpPr/>
          <p:nvPr/>
        </p:nvGrpSpPr>
        <p:grpSpPr>
          <a:xfrm>
            <a:off x="3217545" y="3827823"/>
            <a:ext cx="5755005" cy="90706"/>
            <a:chOff x="3169920" y="3827823"/>
            <a:chExt cx="5852160" cy="90706"/>
          </a:xfrm>
        </p:grpSpPr>
        <p:cxnSp>
          <p:nvCxnSpPr>
            <p:cNvPr id="6" name="Conector recto 5">
              <a:extLst>
                <a:ext uri="{FF2B5EF4-FFF2-40B4-BE49-F238E27FC236}">
                  <a16:creationId xmlns:a16="http://schemas.microsoft.com/office/drawing/2014/main" id="{FA682BE6-2B81-4D1E-A6AF-9CD951A6A889}"/>
                </a:ext>
              </a:extLst>
            </p:cNvPr>
            <p:cNvCxnSpPr/>
            <p:nvPr/>
          </p:nvCxnSpPr>
          <p:spPr>
            <a:xfrm>
              <a:off x="3169920" y="3827823"/>
              <a:ext cx="5852160" cy="0"/>
            </a:xfrm>
            <a:prstGeom prst="line">
              <a:avLst/>
            </a:prstGeom>
            <a:ln w="12700">
              <a:solidFill>
                <a:schemeClr val="accent4">
                  <a:lumMod val="60000"/>
                  <a:lumOff val="40000"/>
                </a:schemeClr>
              </a:solidFill>
            </a:ln>
            <a:scene3d>
              <a:camera prst="orthographicFront"/>
              <a:lightRig rig="threePt" dir="t"/>
            </a:scene3d>
            <a:sp3d>
              <a:bevelT prst="slope"/>
            </a:sp3d>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04BFDA4A-C352-49D1-BC92-1AAAC633AF24}"/>
                </a:ext>
              </a:extLst>
            </p:cNvPr>
            <p:cNvCxnSpPr>
              <a:cxnSpLocks/>
            </p:cNvCxnSpPr>
            <p:nvPr/>
          </p:nvCxnSpPr>
          <p:spPr>
            <a:xfrm flipV="1">
              <a:off x="3169920" y="3918528"/>
              <a:ext cx="5852160" cy="1"/>
            </a:xfrm>
            <a:prstGeom prst="line">
              <a:avLst/>
            </a:prstGeom>
            <a:ln w="12700">
              <a:solidFill>
                <a:schemeClr val="bg1">
                  <a:lumMod val="85000"/>
                </a:schemeClr>
              </a:solidFill>
            </a:ln>
            <a:effectLst>
              <a:outerShdw blurRad="50800" dist="38100" dir="2700000" algn="tl" rotWithShape="0">
                <a:prstClr val="black">
                  <a:alpha val="40000"/>
                </a:prstClr>
              </a:outerShdw>
            </a:effectLst>
            <a:scene3d>
              <a:camera prst="orthographicFront"/>
              <a:lightRig rig="threePt" dir="t"/>
            </a:scene3d>
            <a:sp3d>
              <a:bevelT prst="slope"/>
            </a:sp3d>
          </p:spPr>
          <p:style>
            <a:lnRef idx="1">
              <a:schemeClr val="accent1"/>
            </a:lnRef>
            <a:fillRef idx="0">
              <a:schemeClr val="accent1"/>
            </a:fillRef>
            <a:effectRef idx="0">
              <a:schemeClr val="accent1"/>
            </a:effectRef>
            <a:fontRef idx="minor">
              <a:schemeClr val="tx1"/>
            </a:fontRef>
          </p:style>
        </p:cxnSp>
      </p:grpSp>
      <p:sp>
        <p:nvSpPr>
          <p:cNvPr id="2" name="EMAVI_CLASSIFICATION">
            <a:extLst>
              <a:ext uri="{FF2B5EF4-FFF2-40B4-BE49-F238E27FC236}">
                <a16:creationId xmlns:a16="http://schemas.microsoft.com/office/drawing/2014/main" id="{EBC4C7A5-E336-D099-C5A7-4C6EEE3F5C68}"/>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571060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6">
            <a:extLst>
              <a:ext uri="{FF2B5EF4-FFF2-40B4-BE49-F238E27FC236}">
                <a16:creationId xmlns:a16="http://schemas.microsoft.com/office/drawing/2014/main" id="{263F1AFE-9E82-4CCB-B6AF-BA10848D97A5}"/>
              </a:ext>
            </a:extLst>
          </p:cNvPr>
          <p:cNvSpPr txBox="1"/>
          <p:nvPr/>
        </p:nvSpPr>
        <p:spPr>
          <a:xfrm>
            <a:off x="8152374" y="3040918"/>
            <a:ext cx="3469462" cy="2031325"/>
          </a:xfrm>
          <a:prstGeom prst="rect">
            <a:avLst/>
          </a:prstGeom>
          <a:noFill/>
        </p:spPr>
        <p:txBody>
          <a:bodyPr wrap="square">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CO" sz="140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El catálogo presenta las tareas y sus requisitos.
La selección distingue práctica y participación en un estudio.
Captura local de demostración.</a:t>
            </a:r>
            <a:endParaRPr kumimoji="0" lang="es-CO" sz="1400"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EE8F408C-04F8-4D01-9231-8476D779B363}"/>
              </a:ext>
            </a:extLst>
          </p:cNvPr>
          <p:cNvSpPr/>
          <p:nvPr/>
        </p:nvSpPr>
        <p:spPr>
          <a:xfrm>
            <a:off x="8064976" y="1466489"/>
            <a:ext cx="3637835" cy="1077218"/>
          </a:xfrm>
          <a:prstGeom prst="rect">
            <a:avLst/>
          </a:prstGeom>
        </p:spPr>
        <p:txBody>
          <a:bodyPr wrap="square">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Elegir una actividad</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ea typeface="+mn-ea"/>
              <a:cs typeface="Arial" panose="020B0604020202020204" pitchFamily="34" charset="0"/>
            </a:endParaRPr>
          </a:p>
        </p:txBody>
      </p:sp>
      <p:pic>
        <p:nvPicPr>
          <p:cNvPr id="15" name="Gráfico 14">
            <a:extLst>
              <a:ext uri="{FF2B5EF4-FFF2-40B4-BE49-F238E27FC236}">
                <a16:creationId xmlns:a16="http://schemas.microsoft.com/office/drawing/2014/main" id="{B89630FD-AA9F-4D6C-8DF0-9982B14D4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6842" y="2627183"/>
            <a:ext cx="3463568" cy="83796"/>
          </a:xfrm>
          <a:prstGeom prst="rect">
            <a:avLst/>
          </a:prstGeom>
          <a:effectLst>
            <a:outerShdw blurRad="25400" dist="25400" dir="2700000" algn="tl" rotWithShape="0">
              <a:prstClr val="black">
                <a:alpha val="60000"/>
              </a:prstClr>
            </a:outerShdw>
          </a:effectLst>
        </p:spPr>
      </p:pic>
      <p:pic>
        <p:nvPicPr>
          <p:cNvPr id="3" name="FAC_IMAGE_SLOT" descr="Elegir una actividad — captura real de la aplicación con datos de demostración." title="Captura local de MATB; demostración sintética. Véase capturas/procedencia.json, 01_catalogo.">
            <a:extLst>
              <a:ext uri="{FF2B5EF4-FFF2-40B4-BE49-F238E27FC236}">
                <a16:creationId xmlns:a16="http://schemas.microsoft.com/office/drawing/2014/main" id="{6A3CDE07-19FC-5CC6-F7B9-70BD2D722E9B}"/>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l="-2554" r="-2554"/>
          <a:stretch>
            <a:fillRect/>
          </a:stretch>
        </p:blipFill>
        <p:spPr>
          <a:xfrm>
            <a:off x="-6111" y="0"/>
            <a:ext cx="5593596" cy="6858000"/>
          </a:xfrm>
          <a:prstGeom prst="rect">
            <a:avLst/>
          </a:prstGeom>
        </p:spPr>
      </p:pic>
      <p:sp>
        <p:nvSpPr>
          <p:cNvPr id="4" name="EMAVI_CLASSIFICATION">
            <a:extLst>
              <a:ext uri="{FF2B5EF4-FFF2-40B4-BE49-F238E27FC236}">
                <a16:creationId xmlns:a16="http://schemas.microsoft.com/office/drawing/2014/main" id="{0466AB8E-9B01-A8C9-414C-40ACA5ACD750}"/>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210041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6">
            <a:extLst>
              <a:ext uri="{FF2B5EF4-FFF2-40B4-BE49-F238E27FC236}">
                <a16:creationId xmlns:a16="http://schemas.microsoft.com/office/drawing/2014/main" id="{263F1AFE-9E82-4CCB-B6AF-BA10848D97A5}"/>
              </a:ext>
            </a:extLst>
          </p:cNvPr>
          <p:cNvSpPr txBox="1"/>
          <p:nvPr/>
        </p:nvSpPr>
        <p:spPr>
          <a:xfrm>
            <a:off x="8152374" y="3040918"/>
            <a:ext cx="3469462" cy="2031325"/>
          </a:xfrm>
          <a:prstGeom prst="rect">
            <a:avLst/>
          </a:prstGeom>
          <a:noFill/>
        </p:spPr>
        <p:txBody>
          <a:bodyPr wrap="square">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CO" sz="140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La línea temporal organiza tareas y eventos.
Duración y semilla definen una configuración reproducible.
La compilación materializa su procedencia.</a:t>
            </a:r>
            <a:endParaRPr kumimoji="0" lang="es-CO" sz="1400"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EE8F408C-04F8-4D01-9231-8476D779B363}"/>
              </a:ext>
            </a:extLst>
          </p:cNvPr>
          <p:cNvSpPr/>
          <p:nvPr/>
        </p:nvSpPr>
        <p:spPr>
          <a:xfrm>
            <a:off x="8064976" y="1466489"/>
            <a:ext cx="3637835" cy="1077218"/>
          </a:xfrm>
          <a:prstGeom prst="rect">
            <a:avLst/>
          </a:prstGeom>
        </p:spPr>
        <p:txBody>
          <a:bodyPr wrap="square">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Diseñar el escenario</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ea typeface="+mn-ea"/>
              <a:cs typeface="Arial" panose="020B0604020202020204" pitchFamily="34" charset="0"/>
            </a:endParaRPr>
          </a:p>
        </p:txBody>
      </p:sp>
      <p:pic>
        <p:nvPicPr>
          <p:cNvPr id="15" name="Gráfico 14">
            <a:extLst>
              <a:ext uri="{FF2B5EF4-FFF2-40B4-BE49-F238E27FC236}">
                <a16:creationId xmlns:a16="http://schemas.microsoft.com/office/drawing/2014/main" id="{B89630FD-AA9F-4D6C-8DF0-9982B14D4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6842" y="2627183"/>
            <a:ext cx="3463568" cy="83796"/>
          </a:xfrm>
          <a:prstGeom prst="rect">
            <a:avLst/>
          </a:prstGeom>
          <a:effectLst>
            <a:outerShdw blurRad="25400" dist="25400" dir="2700000" algn="tl" rotWithShape="0">
              <a:prstClr val="black">
                <a:alpha val="60000"/>
              </a:prstClr>
            </a:outerShdw>
          </a:effectLst>
        </p:spPr>
      </p:pic>
      <p:pic>
        <p:nvPicPr>
          <p:cNvPr id="3" name="FAC_IMAGE_SLOT" descr="Diseñar el escenario — captura real de la aplicación con datos de demostración." title="Captura local de MATB; demostración sintética. Véase capturas/procedencia.json, 02_diseno.">
            <a:extLst>
              <a:ext uri="{FF2B5EF4-FFF2-40B4-BE49-F238E27FC236}">
                <a16:creationId xmlns:a16="http://schemas.microsoft.com/office/drawing/2014/main" id="{5B0DCAFF-4E0C-E737-8C81-7C33D3545FB5}"/>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t="-73664" b="-73664"/>
          <a:stretch>
            <a:fillRect/>
          </a:stretch>
        </p:blipFill>
        <p:spPr>
          <a:xfrm>
            <a:off x="-6111" y="0"/>
            <a:ext cx="5593596" cy="6858000"/>
          </a:xfrm>
          <a:prstGeom prst="rect">
            <a:avLst/>
          </a:prstGeom>
        </p:spPr>
      </p:pic>
      <p:sp>
        <p:nvSpPr>
          <p:cNvPr id="4" name="EMAVI_CLASSIFICATION">
            <a:extLst>
              <a:ext uri="{FF2B5EF4-FFF2-40B4-BE49-F238E27FC236}">
                <a16:creationId xmlns:a16="http://schemas.microsoft.com/office/drawing/2014/main" id="{45D2DC94-D943-FEBB-D65F-BA04F8E2F39F}"/>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208315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6">
            <a:extLst>
              <a:ext uri="{FF2B5EF4-FFF2-40B4-BE49-F238E27FC236}">
                <a16:creationId xmlns:a16="http://schemas.microsoft.com/office/drawing/2014/main" id="{263F1AFE-9E82-4CCB-B6AF-BA10848D97A5}"/>
              </a:ext>
            </a:extLst>
          </p:cNvPr>
          <p:cNvSpPr txBox="1"/>
          <p:nvPr/>
        </p:nvSpPr>
        <p:spPr>
          <a:xfrm>
            <a:off x="8152374" y="3040918"/>
            <a:ext cx="3469462" cy="2031325"/>
          </a:xfrm>
          <a:prstGeom prst="rect">
            <a:avLst/>
          </a:prstGeom>
          <a:noFill/>
        </p:spPr>
        <p:txBody>
          <a:bodyPr wrap="square">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CO" sz="140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La consola configura el entorno de cuatro tareas.
La vista previa permite revisar la presentación antes de ejecutar.
El entorno de tareas se ejecuta en OpenMATB.</a:t>
            </a:r>
            <a:endParaRPr kumimoji="0" lang="es-CO" sz="1400"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EE8F408C-04F8-4D01-9231-8476D779B363}"/>
              </a:ext>
            </a:extLst>
          </p:cNvPr>
          <p:cNvSpPr/>
          <p:nvPr/>
        </p:nvSpPr>
        <p:spPr>
          <a:xfrm>
            <a:off x="8064976" y="1466489"/>
            <a:ext cx="3637835" cy="1077218"/>
          </a:xfrm>
          <a:prstGeom prst="rect">
            <a:avLst/>
          </a:prstGeom>
        </p:spPr>
        <p:txBody>
          <a:bodyPr wrap="square">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Preparar OpenMATB</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ea typeface="+mn-ea"/>
              <a:cs typeface="Arial" panose="020B0604020202020204" pitchFamily="34" charset="0"/>
            </a:endParaRPr>
          </a:p>
        </p:txBody>
      </p:sp>
      <p:pic>
        <p:nvPicPr>
          <p:cNvPr id="15" name="Gráfico 14">
            <a:extLst>
              <a:ext uri="{FF2B5EF4-FFF2-40B4-BE49-F238E27FC236}">
                <a16:creationId xmlns:a16="http://schemas.microsoft.com/office/drawing/2014/main" id="{B89630FD-AA9F-4D6C-8DF0-9982B14D4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6842" y="2627183"/>
            <a:ext cx="3463568" cy="83796"/>
          </a:xfrm>
          <a:prstGeom prst="rect">
            <a:avLst/>
          </a:prstGeom>
          <a:effectLst>
            <a:outerShdw blurRad="25400" dist="25400" dir="2700000" algn="tl" rotWithShape="0">
              <a:prstClr val="black">
                <a:alpha val="60000"/>
              </a:prstClr>
            </a:outerShdw>
          </a:effectLst>
        </p:spPr>
      </p:pic>
      <p:pic>
        <p:nvPicPr>
          <p:cNvPr id="3" name="FAC_IMAGE_SLOT" descr="Preparar OpenMATB — captura real de la aplicación con datos de demostración." title="Captura local de MATB; demostración sintética. Véase capturas/procedencia.json, 03_openmatb.">
            <a:extLst>
              <a:ext uri="{FF2B5EF4-FFF2-40B4-BE49-F238E27FC236}">
                <a16:creationId xmlns:a16="http://schemas.microsoft.com/office/drawing/2014/main" id="{429C8514-9CC9-CE73-7A13-A894C31CA77C}"/>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t="-363" b="-363"/>
          <a:stretch>
            <a:fillRect/>
          </a:stretch>
        </p:blipFill>
        <p:spPr>
          <a:xfrm>
            <a:off x="-6111" y="0"/>
            <a:ext cx="5593596" cy="6858000"/>
          </a:xfrm>
          <a:prstGeom prst="rect">
            <a:avLst/>
          </a:prstGeom>
        </p:spPr>
      </p:pic>
      <p:sp>
        <p:nvSpPr>
          <p:cNvPr id="4" name="EMAVI_CLASSIFICATION">
            <a:extLst>
              <a:ext uri="{FF2B5EF4-FFF2-40B4-BE49-F238E27FC236}">
                <a16:creationId xmlns:a16="http://schemas.microsoft.com/office/drawing/2014/main" id="{2755F3C8-DA35-F10B-D4A6-9BCBE4F2E9C6}"/>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478454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6">
            <a:extLst>
              <a:ext uri="{FF2B5EF4-FFF2-40B4-BE49-F238E27FC236}">
                <a16:creationId xmlns:a16="http://schemas.microsoft.com/office/drawing/2014/main" id="{263F1AFE-9E82-4CCB-B6AF-BA10848D97A5}"/>
              </a:ext>
            </a:extLst>
          </p:cNvPr>
          <p:cNvSpPr txBox="1"/>
          <p:nvPr/>
        </p:nvSpPr>
        <p:spPr>
          <a:xfrm>
            <a:off x="8152374" y="3040918"/>
            <a:ext cx="3469462" cy="2031325"/>
          </a:xfrm>
          <a:prstGeom prst="rect">
            <a:avLst/>
          </a:prstGeom>
          <a:noFill/>
        </p:spPr>
        <p:txBody>
          <a:bodyPr wrap="square">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CO" sz="140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KSS precede a las instrucciones del PVT.
La secuencia enlaza preparación, actividad y cierre.
Participante de demostración; sin datos humanos.</a:t>
            </a:r>
            <a:endParaRPr kumimoji="0" lang="es-CO" sz="1400"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EE8F408C-04F8-4D01-9231-8476D779B363}"/>
              </a:ext>
            </a:extLst>
          </p:cNvPr>
          <p:cNvSpPr/>
          <p:nvPr/>
        </p:nvSpPr>
        <p:spPr>
          <a:xfrm>
            <a:off x="8064976" y="1466489"/>
            <a:ext cx="3637835" cy="1077218"/>
          </a:xfrm>
          <a:prstGeom prst="rect">
            <a:avLst/>
          </a:prstGeom>
        </p:spPr>
        <p:txBody>
          <a:bodyPr wrap="square">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Somnolencia y vigilancia</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ea typeface="+mn-ea"/>
              <a:cs typeface="Arial" panose="020B0604020202020204" pitchFamily="34" charset="0"/>
            </a:endParaRPr>
          </a:p>
        </p:txBody>
      </p:sp>
      <p:pic>
        <p:nvPicPr>
          <p:cNvPr id="15" name="Gráfico 14">
            <a:extLst>
              <a:ext uri="{FF2B5EF4-FFF2-40B4-BE49-F238E27FC236}">
                <a16:creationId xmlns:a16="http://schemas.microsoft.com/office/drawing/2014/main" id="{B89630FD-AA9F-4D6C-8DF0-9982B14D4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6842" y="2627183"/>
            <a:ext cx="3463568" cy="83796"/>
          </a:xfrm>
          <a:prstGeom prst="rect">
            <a:avLst/>
          </a:prstGeom>
          <a:effectLst>
            <a:outerShdw blurRad="25400" dist="25400" dir="2700000" algn="tl" rotWithShape="0">
              <a:prstClr val="black">
                <a:alpha val="60000"/>
              </a:prstClr>
            </a:outerShdw>
          </a:effectLst>
        </p:spPr>
      </p:pic>
      <p:pic>
        <p:nvPicPr>
          <p:cNvPr id="3" name="FAC_IMAGE_SLOT" descr="Somnolencia y vigilancia — captura real de la aplicación con datos de demostración." title="Captura local de MATB; demostración sintética. Véase capturas/procedencia.json, 04_kss.">
            <a:extLst>
              <a:ext uri="{FF2B5EF4-FFF2-40B4-BE49-F238E27FC236}">
                <a16:creationId xmlns:a16="http://schemas.microsoft.com/office/drawing/2014/main" id="{69438C5D-16CC-E281-5C39-4480580121D8}"/>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l="-461" r="-461"/>
          <a:stretch>
            <a:fillRect/>
          </a:stretch>
        </p:blipFill>
        <p:spPr>
          <a:xfrm>
            <a:off x="-6111" y="0"/>
            <a:ext cx="5593596" cy="6858000"/>
          </a:xfrm>
          <a:prstGeom prst="rect">
            <a:avLst/>
          </a:prstGeom>
        </p:spPr>
      </p:pic>
      <p:sp>
        <p:nvSpPr>
          <p:cNvPr id="4" name="EMAVI_CLASSIFICATION">
            <a:extLst>
              <a:ext uri="{FF2B5EF4-FFF2-40B4-BE49-F238E27FC236}">
                <a16:creationId xmlns:a16="http://schemas.microsoft.com/office/drawing/2014/main" id="{5776F509-9FCF-A5D9-47D0-9D9D3238E170}"/>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1557006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6">
            <a:extLst>
              <a:ext uri="{FF2B5EF4-FFF2-40B4-BE49-F238E27FC236}">
                <a16:creationId xmlns:a16="http://schemas.microsoft.com/office/drawing/2014/main" id="{263F1AFE-9E82-4CCB-B6AF-BA10848D97A5}"/>
              </a:ext>
            </a:extLst>
          </p:cNvPr>
          <p:cNvSpPr txBox="1"/>
          <p:nvPr/>
        </p:nvSpPr>
        <p:spPr>
          <a:xfrm>
            <a:off x="8152374" y="3040918"/>
            <a:ext cx="3469462" cy="2031325"/>
          </a:xfrm>
          <a:prstGeom prst="rect">
            <a:avLst/>
          </a:prstGeom>
          <a:noFill/>
        </p:spPr>
        <p:txBody>
          <a:bodyPr wrap="square">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CO" sz="140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El módulo sUAS integra mapa, flota, alertas y controles.
La captura procede de una prueba técnica sintética.
El registro conserva eventos para revisión posterior.</a:t>
            </a:r>
            <a:endParaRPr kumimoji="0" lang="es-CO" sz="1400"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EE8F408C-04F8-4D01-9231-8476D779B363}"/>
              </a:ext>
            </a:extLst>
          </p:cNvPr>
          <p:cNvSpPr/>
          <p:nvPr/>
        </p:nvSpPr>
        <p:spPr>
          <a:xfrm>
            <a:off x="8064976" y="1466489"/>
            <a:ext cx="3637835" cy="1077218"/>
          </a:xfrm>
          <a:prstGeom prst="rect">
            <a:avLst/>
          </a:prstGeom>
        </p:spPr>
        <p:txBody>
          <a:bodyPr wrap="square">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Supervisar una misión</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ea typeface="+mn-ea"/>
              <a:cs typeface="Arial" panose="020B0604020202020204" pitchFamily="34" charset="0"/>
            </a:endParaRPr>
          </a:p>
        </p:txBody>
      </p:sp>
      <p:pic>
        <p:nvPicPr>
          <p:cNvPr id="15" name="Gráfico 14">
            <a:extLst>
              <a:ext uri="{FF2B5EF4-FFF2-40B4-BE49-F238E27FC236}">
                <a16:creationId xmlns:a16="http://schemas.microsoft.com/office/drawing/2014/main" id="{B89630FD-AA9F-4D6C-8DF0-9982B14D4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6842" y="2627183"/>
            <a:ext cx="3463568" cy="83796"/>
          </a:xfrm>
          <a:prstGeom prst="rect">
            <a:avLst/>
          </a:prstGeom>
          <a:effectLst>
            <a:outerShdw blurRad="25400" dist="25400" dir="2700000" algn="tl" rotWithShape="0">
              <a:prstClr val="black">
                <a:alpha val="60000"/>
              </a:prstClr>
            </a:outerShdw>
          </a:effectLst>
        </p:spPr>
      </p:pic>
      <p:pic>
        <p:nvPicPr>
          <p:cNvPr id="3" name="FAC_IMAGE_SLOT" descr="Supervisar una misión — captura real de la aplicación con datos de demostración." title="Captura local de MATB; demostración sintética. Véase capturas/procedencia.json, 05_suas.">
            <a:extLst>
              <a:ext uri="{FF2B5EF4-FFF2-40B4-BE49-F238E27FC236}">
                <a16:creationId xmlns:a16="http://schemas.microsoft.com/office/drawing/2014/main" id="{15B9F13F-9A61-9CF2-482B-967CF888E8E2}"/>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t="-7949" b="-7949"/>
          <a:stretch>
            <a:fillRect/>
          </a:stretch>
        </p:blipFill>
        <p:spPr>
          <a:xfrm>
            <a:off x="-6111" y="0"/>
            <a:ext cx="5593596" cy="6858000"/>
          </a:xfrm>
          <a:prstGeom prst="rect">
            <a:avLst/>
          </a:prstGeom>
        </p:spPr>
      </p:pic>
      <p:sp>
        <p:nvSpPr>
          <p:cNvPr id="4" name="EMAVI_CLASSIFICATION">
            <a:extLst>
              <a:ext uri="{FF2B5EF4-FFF2-40B4-BE49-F238E27FC236}">
                <a16:creationId xmlns:a16="http://schemas.microsoft.com/office/drawing/2014/main" id="{10775B0A-3A5E-B5BA-6F49-94CA657B8305}"/>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1849009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6">
            <a:extLst>
              <a:ext uri="{FF2B5EF4-FFF2-40B4-BE49-F238E27FC236}">
                <a16:creationId xmlns:a16="http://schemas.microsoft.com/office/drawing/2014/main" id="{263F1AFE-9E82-4CCB-B6AF-BA10848D97A5}"/>
              </a:ext>
            </a:extLst>
          </p:cNvPr>
          <p:cNvSpPr txBox="1"/>
          <p:nvPr/>
        </p:nvSpPr>
        <p:spPr>
          <a:xfrm>
            <a:off x="8152374" y="3040918"/>
            <a:ext cx="3469462" cy="2031325"/>
          </a:xfrm>
          <a:prstGeom prst="rect">
            <a:avLst/>
          </a:prstGeom>
          <a:noFill/>
        </p:spPr>
        <p:txBody>
          <a:bodyPr wrap="square">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CO" sz="140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La carga pareada reúne manifiestos, eventos y observaciones temporales.
La consola enlaza cada métrica con su evidencia.
Ejemplo sintético de referencia.</a:t>
            </a:r>
            <a:endParaRPr kumimoji="0" lang="es-CO" sz="1400"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EE8F408C-04F8-4D01-9231-8476D779B363}"/>
              </a:ext>
            </a:extLst>
          </p:cNvPr>
          <p:cNvSpPr/>
          <p:nvPr/>
        </p:nvSpPr>
        <p:spPr>
          <a:xfrm>
            <a:off x="8064976" y="1466489"/>
            <a:ext cx="3637835" cy="1077218"/>
          </a:xfrm>
          <a:prstGeom prst="rect">
            <a:avLst/>
          </a:prstGeom>
        </p:spPr>
        <p:txBody>
          <a:bodyPr wrap="square">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Revisar la evidencia</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ea typeface="+mn-ea"/>
              <a:cs typeface="Arial" panose="020B0604020202020204" pitchFamily="34" charset="0"/>
            </a:endParaRPr>
          </a:p>
        </p:txBody>
      </p:sp>
      <p:pic>
        <p:nvPicPr>
          <p:cNvPr id="15" name="Gráfico 14">
            <a:extLst>
              <a:ext uri="{FF2B5EF4-FFF2-40B4-BE49-F238E27FC236}">
                <a16:creationId xmlns:a16="http://schemas.microsoft.com/office/drawing/2014/main" id="{B89630FD-AA9F-4D6C-8DF0-9982B14D4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6842" y="2627183"/>
            <a:ext cx="3463568" cy="83796"/>
          </a:xfrm>
          <a:prstGeom prst="rect">
            <a:avLst/>
          </a:prstGeom>
          <a:effectLst>
            <a:outerShdw blurRad="25400" dist="25400" dir="2700000" algn="tl" rotWithShape="0">
              <a:prstClr val="black">
                <a:alpha val="60000"/>
              </a:prstClr>
            </a:outerShdw>
          </a:effectLst>
        </p:spPr>
      </p:pic>
      <p:pic>
        <p:nvPicPr>
          <p:cNvPr id="3" name="FAC_IMAGE_SLOT" descr="Revisar la evidencia — captura real de la aplicación con datos de demostración." title="Captura local de MATB; demostración sintética. Véase capturas/procedencia.json, 06_evidencia.">
            <a:extLst>
              <a:ext uri="{FF2B5EF4-FFF2-40B4-BE49-F238E27FC236}">
                <a16:creationId xmlns:a16="http://schemas.microsoft.com/office/drawing/2014/main" id="{E46ED0F5-3B74-BD4F-8E38-A4BE3123D4F3}"/>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t="-18464" b="-18464"/>
          <a:stretch>
            <a:fillRect/>
          </a:stretch>
        </p:blipFill>
        <p:spPr>
          <a:xfrm>
            <a:off x="-6111" y="0"/>
            <a:ext cx="5593596" cy="6858000"/>
          </a:xfrm>
          <a:prstGeom prst="rect">
            <a:avLst/>
          </a:prstGeom>
        </p:spPr>
      </p:pic>
      <p:sp>
        <p:nvSpPr>
          <p:cNvPr id="4" name="EMAVI_CLASSIFICATION">
            <a:extLst>
              <a:ext uri="{FF2B5EF4-FFF2-40B4-BE49-F238E27FC236}">
                <a16:creationId xmlns:a16="http://schemas.microsoft.com/office/drawing/2014/main" id="{40222D24-882E-F599-BB8D-87A31FCCB4B7}"/>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3246011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6">
            <a:extLst>
              <a:ext uri="{FF2B5EF4-FFF2-40B4-BE49-F238E27FC236}">
                <a16:creationId xmlns:a16="http://schemas.microsoft.com/office/drawing/2014/main" id="{263F1AFE-9E82-4CCB-B6AF-BA10848D97A5}"/>
              </a:ext>
            </a:extLst>
          </p:cNvPr>
          <p:cNvSpPr txBox="1"/>
          <p:nvPr/>
        </p:nvSpPr>
        <p:spPr>
          <a:xfrm>
            <a:off x="8152374" y="3040918"/>
            <a:ext cx="3469462" cy="2031325"/>
          </a:xfrm>
          <a:prstGeom prst="rect">
            <a:avLst/>
          </a:prstGeom>
          <a:noFill/>
        </p:spPr>
        <p:txBody>
          <a:bodyPr wrap="square">
            <a:noAutofit/>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CO" sz="1400"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La revisión conserva el evento y su base temporal.
Los motivos de elegibilidad permanecen visibles.
La evidencia puede exportarse para recomputación.</a:t>
            </a:r>
            <a:endParaRPr kumimoji="0" lang="es-CO" sz="1400"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EE8F408C-04F8-4D01-9231-8476D779B363}"/>
              </a:ext>
            </a:extLst>
          </p:cNvPr>
          <p:cNvSpPr/>
          <p:nvPr/>
        </p:nvSpPr>
        <p:spPr>
          <a:xfrm>
            <a:off x="8064976" y="1466489"/>
            <a:ext cx="3637835" cy="1077218"/>
          </a:xfrm>
          <a:prstGeom prst="rect">
            <a:avLst/>
          </a:prstGeom>
        </p:spPr>
        <p:txBody>
          <a:bodyPr wrap="square">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Del evento al resultado</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ea typeface="+mn-ea"/>
              <a:cs typeface="Arial" panose="020B0604020202020204" pitchFamily="34" charset="0"/>
            </a:endParaRPr>
          </a:p>
        </p:txBody>
      </p:sp>
      <p:pic>
        <p:nvPicPr>
          <p:cNvPr id="15" name="Gráfico 14">
            <a:extLst>
              <a:ext uri="{FF2B5EF4-FFF2-40B4-BE49-F238E27FC236}">
                <a16:creationId xmlns:a16="http://schemas.microsoft.com/office/drawing/2014/main" id="{B89630FD-AA9F-4D6C-8DF0-9982B14D41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6842" y="2627183"/>
            <a:ext cx="3463568" cy="83796"/>
          </a:xfrm>
          <a:prstGeom prst="rect">
            <a:avLst/>
          </a:prstGeom>
          <a:effectLst>
            <a:outerShdw blurRad="25400" dist="25400" dir="2700000" algn="tl" rotWithShape="0">
              <a:prstClr val="black">
                <a:alpha val="60000"/>
              </a:prstClr>
            </a:outerShdw>
          </a:effectLst>
        </p:spPr>
      </p:pic>
      <p:pic>
        <p:nvPicPr>
          <p:cNvPr id="3" name="FAC_IMAGE_SLOT" descr="Del evento al resultado — captura real de la aplicación con datos de demostración." title="Captura local de MATB; demostración sintética. Véase capturas/procedencia.json, 07_evento.">
            <a:extLst>
              <a:ext uri="{FF2B5EF4-FFF2-40B4-BE49-F238E27FC236}">
                <a16:creationId xmlns:a16="http://schemas.microsoft.com/office/drawing/2014/main" id="{9918CBA6-8498-78E3-96A7-AE78E1F01078}"/>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rcRect t="-44864" b="-44864"/>
          <a:stretch>
            <a:fillRect/>
          </a:stretch>
        </p:blipFill>
        <p:spPr>
          <a:xfrm>
            <a:off x="-6111" y="0"/>
            <a:ext cx="5593596" cy="6858000"/>
          </a:xfrm>
          <a:prstGeom prst="rect">
            <a:avLst/>
          </a:prstGeom>
        </p:spPr>
      </p:pic>
      <p:sp>
        <p:nvSpPr>
          <p:cNvPr id="4" name="EMAVI_CLASSIFICATION">
            <a:extLst>
              <a:ext uri="{FF2B5EF4-FFF2-40B4-BE49-F238E27FC236}">
                <a16:creationId xmlns:a16="http://schemas.microsoft.com/office/drawing/2014/main" id="{FE18A82D-C883-BAC1-63AA-C1A0E2BCEF22}"/>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771470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222D1E9-3E48-4E86-8991-A844993ECCE1}"/>
              </a:ext>
            </a:extLst>
          </p:cNvPr>
          <p:cNvSpPr/>
          <p:nvPr/>
        </p:nvSpPr>
        <p:spPr>
          <a:xfrm>
            <a:off x="597635" y="356098"/>
            <a:ext cx="4175317" cy="731520"/>
          </a:xfrm>
          <a:prstGeom prst="rect">
            <a:avLst/>
          </a:prstGeom>
        </p:spPr>
        <p:txBody>
          <a:bodyPr wrap="square">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s-CO" altLang="en-US" sz="2400" b="1">
                <a:solidFill>
                  <a:srgbClr val="001326"/>
                </a:solidFill>
                <a:latin typeface="Arial" panose="020B0604020202020204" pitchFamily="34" charset="0"/>
                <a:cs typeface="Arial" panose="020B0604020202020204" pitchFamily="34" charset="0"/>
              </a:rPr>
              <a:t>Del registro al análisis longitudinal</a:t>
            </a:r>
            <a:endParaRPr kumimoji="0" lang="es-CO" altLang="en-US" sz="2400" b="1" i="0" u="none" strike="noStrike" kern="1200" cap="none" spc="0" normalizeH="0" baseline="0" noProof="0" dirty="0">
              <a:ln>
                <a:noFill/>
              </a:ln>
              <a:solidFill>
                <a:srgbClr val="001326"/>
              </a:solidFill>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6758C6A-4355-4BCA-AC58-89F66EEF4642}"/>
              </a:ext>
            </a:extLst>
          </p:cNvPr>
          <p:cNvSpPr txBox="1"/>
          <p:nvPr/>
        </p:nvSpPr>
        <p:spPr>
          <a:xfrm>
            <a:off x="4053818" y="2685633"/>
            <a:ext cx="3811026" cy="2031325"/>
          </a:xfrm>
          <a:prstGeom prst="rect">
            <a:avLst/>
          </a:prstGeom>
          <a:noFill/>
        </p:spPr>
        <p:txBody>
          <a:bodyPr wrap="square">
            <a:noAutofit/>
          </a:bodyPr>
          <a:lstStyle/>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Escenario → eventos → métricas versionadas.</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Persona → visita → bloque → condición.</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RTLX: media de 6 respuestas (0–10) × 10.</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Revisar calidad antes de comparar trayectorias.</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endParaRPr kumimoji="0" lang="es-CO" sz="1400" b="1"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pic>
        <p:nvPicPr>
          <p:cNvPr id="19" name="Gráfico 18">
            <a:extLst>
              <a:ext uri="{FF2B5EF4-FFF2-40B4-BE49-F238E27FC236}">
                <a16:creationId xmlns:a16="http://schemas.microsoft.com/office/drawing/2014/main" id="{E3791E01-FF01-4E47-B8BC-4A1704BA16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271" y="1097881"/>
            <a:ext cx="6820926" cy="121082"/>
          </a:xfrm>
          <a:prstGeom prst="rect">
            <a:avLst/>
          </a:prstGeom>
          <a:effectLst>
            <a:outerShdw blurRad="25400" dist="25400" dir="2700000" algn="tl" rotWithShape="0">
              <a:prstClr val="black">
                <a:alpha val="60000"/>
              </a:prstClr>
            </a:outerShdw>
          </a:effectLst>
        </p:spPr>
      </p:pic>
      <p:sp>
        <p:nvSpPr>
          <p:cNvPr id="2" name="EMAVI_CLASSIFICATION">
            <a:extLst>
              <a:ext uri="{FF2B5EF4-FFF2-40B4-BE49-F238E27FC236}">
                <a16:creationId xmlns:a16="http://schemas.microsoft.com/office/drawing/2014/main" id="{F29F7B49-5C02-2A77-1113-327F17AC6AB3}"/>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717151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222D1E9-3E48-4E86-8991-A844993ECCE1}"/>
              </a:ext>
            </a:extLst>
          </p:cNvPr>
          <p:cNvSpPr/>
          <p:nvPr/>
        </p:nvSpPr>
        <p:spPr>
          <a:xfrm>
            <a:off x="597635" y="356098"/>
            <a:ext cx="4175317" cy="731520"/>
          </a:xfrm>
          <a:prstGeom prst="rect">
            <a:avLst/>
          </a:prstGeom>
        </p:spPr>
        <p:txBody>
          <a:bodyPr wrap="square">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s-CO" altLang="en-US" sz="2400" b="1">
                <a:solidFill>
                  <a:srgbClr val="001326"/>
                </a:solidFill>
                <a:latin typeface="Arial" panose="020B0604020202020204" pitchFamily="34" charset="0"/>
                <a:cs typeface="Arial" panose="020B0604020202020204" pitchFamily="34" charset="0"/>
              </a:rPr>
              <a:t>Estado de la evidencia y siguiente etapa</a:t>
            </a:r>
            <a:endParaRPr kumimoji="0" lang="es-CO" altLang="en-US" sz="2400" b="1" i="0" u="none" strike="noStrike" kern="1200" cap="none" spc="0" normalizeH="0" baseline="0" noProof="0" dirty="0">
              <a:ln>
                <a:noFill/>
              </a:ln>
              <a:solidFill>
                <a:srgbClr val="001326"/>
              </a:solidFill>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6758C6A-4355-4BCA-AC58-89F66EEF4642}"/>
              </a:ext>
            </a:extLst>
          </p:cNvPr>
          <p:cNvSpPr txBox="1"/>
          <p:nvPr/>
        </p:nvSpPr>
        <p:spPr>
          <a:xfrm>
            <a:off x="4053818" y="2685633"/>
            <a:ext cx="3811026" cy="2031325"/>
          </a:xfrm>
          <a:prstGeom prst="rect">
            <a:avLst/>
          </a:prstGeom>
          <a:noFill/>
        </p:spPr>
        <p:txBody>
          <a:bodyPr wrap="square">
            <a:noAutofit/>
          </a:bodyPr>
          <a:lstStyle/>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CEINNA: verificaciones con datos sintéticos.</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EMAVI: recorrido de interfaces reales.</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Calificar tiempo físico y respuesta humana.</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Siguiente etapa: ejecutar y analizar visitas.</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endParaRPr kumimoji="0" lang="es-CO" sz="1400" b="1"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pic>
        <p:nvPicPr>
          <p:cNvPr id="19" name="Gráfico 18">
            <a:extLst>
              <a:ext uri="{FF2B5EF4-FFF2-40B4-BE49-F238E27FC236}">
                <a16:creationId xmlns:a16="http://schemas.microsoft.com/office/drawing/2014/main" id="{E3791E01-FF01-4E47-B8BC-4A1704BA16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271" y="1097881"/>
            <a:ext cx="6820926" cy="121082"/>
          </a:xfrm>
          <a:prstGeom prst="rect">
            <a:avLst/>
          </a:prstGeom>
          <a:effectLst>
            <a:outerShdw blurRad="25400" dist="25400" dir="2700000" algn="tl" rotWithShape="0">
              <a:prstClr val="black">
                <a:alpha val="60000"/>
              </a:prstClr>
            </a:outerShdw>
          </a:effectLst>
        </p:spPr>
      </p:pic>
      <p:sp>
        <p:nvSpPr>
          <p:cNvPr id="2" name="EMAVI_CLASSIFICATION">
            <a:extLst>
              <a:ext uri="{FF2B5EF4-FFF2-40B4-BE49-F238E27FC236}">
                <a16:creationId xmlns:a16="http://schemas.microsoft.com/office/drawing/2014/main" id="{BF768204-25C7-BE7D-AC54-9D8B95A32D48}"/>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284145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222D1E9-3E48-4E86-8991-A844993ECCE1}"/>
              </a:ext>
            </a:extLst>
          </p:cNvPr>
          <p:cNvSpPr/>
          <p:nvPr/>
        </p:nvSpPr>
        <p:spPr>
          <a:xfrm>
            <a:off x="597635" y="502844"/>
            <a:ext cx="4175317" cy="584775"/>
          </a:xfrm>
          <a:prstGeom prst="rect">
            <a:avLst/>
          </a:prstGeom>
        </p:spPr>
        <p:txBody>
          <a:bodyPr wrap="square">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Conclusiones</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6758C6A-4355-4BCA-AC58-89F66EEF4642}"/>
              </a:ext>
            </a:extLst>
          </p:cNvPr>
          <p:cNvSpPr txBox="1"/>
          <p:nvPr/>
        </p:nvSpPr>
        <p:spPr>
          <a:xfrm>
            <a:off x="4053818" y="2685633"/>
            <a:ext cx="3811026" cy="2031325"/>
          </a:xfrm>
          <a:prstGeom prst="rect">
            <a:avLst/>
          </a:prstGeom>
          <a:noFill/>
        </p:spPr>
        <p:txBody>
          <a:bodyPr wrap="square">
            <a:noAutofit/>
          </a:bodyPr>
          <a:lstStyle/>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Documentar la demanda experimental.</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Vincular configuración, evento y métrica.</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Revisar calidad y procedencia del registro.</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Seguir la trayectoria de cada persona.</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endParaRPr kumimoji="0" lang="es-CO" sz="1400" b="1"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pic>
        <p:nvPicPr>
          <p:cNvPr id="19" name="Gráfico 18">
            <a:extLst>
              <a:ext uri="{FF2B5EF4-FFF2-40B4-BE49-F238E27FC236}">
                <a16:creationId xmlns:a16="http://schemas.microsoft.com/office/drawing/2014/main" id="{E3791E01-FF01-4E47-B8BC-4A1704BA16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271" y="1097881"/>
            <a:ext cx="6820926" cy="121082"/>
          </a:xfrm>
          <a:prstGeom prst="rect">
            <a:avLst/>
          </a:prstGeom>
          <a:effectLst>
            <a:outerShdw blurRad="25400" dist="25400" dir="2700000" algn="tl" rotWithShape="0">
              <a:prstClr val="black">
                <a:alpha val="60000"/>
              </a:prstClr>
            </a:outerShdw>
          </a:effectLst>
        </p:spPr>
      </p:pic>
      <p:sp>
        <p:nvSpPr>
          <p:cNvPr id="2" name="EMAVI_CLASSIFICATION">
            <a:extLst>
              <a:ext uri="{FF2B5EF4-FFF2-40B4-BE49-F238E27FC236}">
                <a16:creationId xmlns:a16="http://schemas.microsoft.com/office/drawing/2014/main" id="{FB8F1B48-3B82-5476-48F1-92F10B34D1E5}"/>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3016511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222D1E9-3E48-4E86-8991-A844993ECCE1}"/>
              </a:ext>
            </a:extLst>
          </p:cNvPr>
          <p:cNvSpPr/>
          <p:nvPr/>
        </p:nvSpPr>
        <p:spPr>
          <a:xfrm>
            <a:off x="597635" y="502844"/>
            <a:ext cx="4175317" cy="584775"/>
          </a:xfrm>
          <a:prstGeom prst="rect">
            <a:avLst/>
          </a:prstGeom>
        </p:spPr>
        <p:txBody>
          <a:bodyPr wrap="square">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Referencias I</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6758C6A-4355-4BCA-AC58-89F66EEF4642}"/>
              </a:ext>
            </a:extLst>
          </p:cNvPr>
          <p:cNvSpPr txBox="1"/>
          <p:nvPr/>
        </p:nvSpPr>
        <p:spPr>
          <a:xfrm>
            <a:off x="4053818" y="2685633"/>
            <a:ext cx="3811026" cy="2031325"/>
          </a:xfrm>
          <a:prstGeom prst="rect">
            <a:avLst/>
          </a:prstGeom>
          <a:noFill/>
        </p:spPr>
        <p:txBody>
          <a:bodyPr wrap="square">
            <a:noAutofit/>
          </a:bodyPr>
          <a:lstStyle/>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[1] Cegarra et al. (2020). OpenMATB.</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[2] Pontiggia, Gomez-Mérino et al. (2024). MATB y niveles de carga mental.</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[3] Pontiggia, Fabries et al. (2024). Hipoxia, restricción de sueño y carga.</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endParaRPr kumimoji="0" lang="es-CO" sz="1400" b="1"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pic>
        <p:nvPicPr>
          <p:cNvPr id="19" name="Gráfico 18">
            <a:extLst>
              <a:ext uri="{FF2B5EF4-FFF2-40B4-BE49-F238E27FC236}">
                <a16:creationId xmlns:a16="http://schemas.microsoft.com/office/drawing/2014/main" id="{E3791E01-FF01-4E47-B8BC-4A1704BA16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271" y="1097881"/>
            <a:ext cx="6820926" cy="121082"/>
          </a:xfrm>
          <a:prstGeom prst="rect">
            <a:avLst/>
          </a:prstGeom>
          <a:effectLst>
            <a:outerShdw blurRad="25400" dist="25400" dir="2700000" algn="tl" rotWithShape="0">
              <a:prstClr val="black">
                <a:alpha val="60000"/>
              </a:prstClr>
            </a:outerShdw>
          </a:effectLst>
        </p:spPr>
      </p:pic>
      <p:sp>
        <p:nvSpPr>
          <p:cNvPr id="2" name="EMAVI_CLASSIFICATION">
            <a:extLst>
              <a:ext uri="{FF2B5EF4-FFF2-40B4-BE49-F238E27FC236}">
                <a16:creationId xmlns:a16="http://schemas.microsoft.com/office/drawing/2014/main" id="{C85A6789-EB9A-E587-D5F2-CFF3E56A8B60}"/>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617837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222D1E9-3E48-4E86-8991-A844993ECCE1}"/>
              </a:ext>
            </a:extLst>
          </p:cNvPr>
          <p:cNvSpPr/>
          <p:nvPr/>
        </p:nvSpPr>
        <p:spPr>
          <a:xfrm>
            <a:off x="597635" y="502844"/>
            <a:ext cx="4175317" cy="584775"/>
          </a:xfrm>
          <a:prstGeom prst="rect">
            <a:avLst/>
          </a:prstGeom>
        </p:spPr>
        <p:txBody>
          <a:bodyPr wrap="square">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s-CO" altLang="en-US" sz="3200" b="1">
                <a:solidFill>
                  <a:srgbClr val="001326"/>
                </a:solidFill>
                <a:latin typeface="Arial" panose="020B0604020202020204" pitchFamily="34" charset="0"/>
                <a:cs typeface="Arial" panose="020B0604020202020204" pitchFamily="34" charset="0"/>
              </a:rPr>
              <a:t>Referencias II</a:t>
            </a:r>
            <a:endParaRPr kumimoji="0" lang="es-CO" altLang="en-US" sz="3200" b="1" i="0" u="none" strike="noStrike" kern="1200" cap="none" spc="0" normalizeH="0" baseline="0" noProof="0" dirty="0">
              <a:ln>
                <a:noFill/>
              </a:ln>
              <a:solidFill>
                <a:srgbClr val="001326"/>
              </a:solidFill>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6758C6A-4355-4BCA-AC58-89F66EEF4642}"/>
              </a:ext>
            </a:extLst>
          </p:cNvPr>
          <p:cNvSpPr txBox="1"/>
          <p:nvPr/>
        </p:nvSpPr>
        <p:spPr>
          <a:xfrm>
            <a:off x="4053818" y="2685633"/>
            <a:ext cx="3811026" cy="2031325"/>
          </a:xfrm>
          <a:prstGeom prst="rect">
            <a:avLst/>
          </a:prstGeom>
          <a:noFill/>
        </p:spPr>
        <p:txBody>
          <a:bodyPr wrap="square">
            <a:noAutofit/>
          </a:bodyPr>
          <a:lstStyle/>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[4] Tortello et al. (2020). Estimación temporal en la Antártida.</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da-DK"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[5] Vogl et al. (2024). USAARL MATB.</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r>
              <a:rPr kumimoji="0" lang="es-CO" sz="1400" b="1" i="0" u="none" strike="noStrike" kern="1200" cap="none" spc="0" normalizeH="0" baseline="0" noProof="0">
                <a:ln>
                  <a:noFill/>
                </a:ln>
                <a:solidFill>
                  <a:srgbClr val="404040"/>
                </a:solidFill>
                <a:effectLst/>
                <a:uLnTx/>
                <a:uFillTx/>
                <a:latin typeface="Arial" panose="020B0604020202020204" pitchFamily="34" charset="0"/>
                <a:ea typeface="+mn-ea"/>
                <a:cs typeface="Arial" panose="020B0604020202020204" pitchFamily="34" charset="0"/>
              </a:rPr>
              <a:t>[6] Laverde-López et al. (2022). Validación colombiana de KSS.</a:t>
            </a:r>
          </a:p>
          <a:p>
            <a:pPr marL="285750" marR="0" lvl="0" indent="-285750" algn="just" defTabSz="914400" rtl="0" eaLnBrk="1" fontAlgn="auto" latinLnBrk="0" hangingPunct="1">
              <a:lnSpc>
                <a:spcPct val="100000"/>
              </a:lnSpc>
              <a:spcBef>
                <a:spcPct val="0"/>
              </a:spcBef>
              <a:spcAft>
                <a:spcPts val="0"/>
              </a:spcAft>
              <a:buClrTx/>
              <a:buSzTx/>
              <a:buBlip>
                <a:blip r:embed="rId3"/>
              </a:buBlip>
              <a:tabLst/>
              <a:defRPr/>
            </a:pPr>
            <a:endParaRPr kumimoji="0" lang="es-CO" sz="1400" b="1" i="0" u="none" strike="noStrike" kern="1200" cap="none" spc="0" normalizeH="0" baseline="0" noProof="0" dirty="0">
              <a:ln>
                <a:noFill/>
              </a:ln>
              <a:solidFill>
                <a:srgbClr val="404040"/>
              </a:solidFill>
              <a:effectLst/>
              <a:uLnTx/>
              <a:uFillTx/>
              <a:latin typeface="Arial" panose="020B0604020202020204" pitchFamily="34" charset="0"/>
              <a:ea typeface="+mn-ea"/>
              <a:cs typeface="Arial" panose="020B0604020202020204" pitchFamily="34" charset="0"/>
            </a:endParaRPr>
          </a:p>
        </p:txBody>
      </p:sp>
      <p:pic>
        <p:nvPicPr>
          <p:cNvPr id="19" name="Gráfico 18">
            <a:extLst>
              <a:ext uri="{FF2B5EF4-FFF2-40B4-BE49-F238E27FC236}">
                <a16:creationId xmlns:a16="http://schemas.microsoft.com/office/drawing/2014/main" id="{E3791E01-FF01-4E47-B8BC-4A1704BA16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271" y="1097881"/>
            <a:ext cx="6820926" cy="121082"/>
          </a:xfrm>
          <a:prstGeom prst="rect">
            <a:avLst/>
          </a:prstGeom>
          <a:effectLst>
            <a:outerShdw blurRad="25400" dist="25400" dir="2700000" algn="tl" rotWithShape="0">
              <a:prstClr val="black">
                <a:alpha val="60000"/>
              </a:prstClr>
            </a:outerShdw>
          </a:effectLst>
        </p:spPr>
      </p:pic>
      <p:sp>
        <p:nvSpPr>
          <p:cNvPr id="2" name="EMAVI_CLASSIFICATION">
            <a:extLst>
              <a:ext uri="{FF2B5EF4-FFF2-40B4-BE49-F238E27FC236}">
                <a16:creationId xmlns:a16="http://schemas.microsoft.com/office/drawing/2014/main" id="{50DDA3A9-02DE-C89A-871B-50E5C6FEAC3D}"/>
              </a:ext>
            </a:extLst>
          </p:cNvPr>
          <p:cNvSpPr txBox="1"/>
          <p:nvPr/>
        </p:nvSpPr>
        <p:spPr>
          <a:xfrm>
            <a:off x="8128000" y="127000"/>
            <a:ext cx="2794000" cy="184666"/>
          </a:xfrm>
          <a:prstGeom prst="rect">
            <a:avLst/>
          </a:prstGeom>
          <a:noFill/>
        </p:spPr>
        <p:txBody>
          <a:bodyPr vert="horz" lIns="0" tIns="0" rIns="0" bIns="0" rtlCol="0">
            <a:spAutoFit/>
          </a:bodyPr>
          <a:lstStyle/>
          <a:p>
            <a:pPr algn="ctr"/>
            <a:r>
              <a:rPr lang="es-CO" sz="1200" b="1">
                <a:solidFill>
                  <a:srgbClr val="FF0000"/>
                </a:solidFill>
                <a:latin typeface="Arial" panose="020B0604020202020204" pitchFamily="34" charset="0"/>
              </a:rPr>
              <a:t>Público Clasificado</a:t>
            </a:r>
          </a:p>
        </p:txBody>
      </p:sp>
    </p:spTree>
    <p:extLst>
      <p:ext uri="{BB962C8B-B14F-4D97-AF65-F5344CB8AC3E}">
        <p14:creationId xmlns:p14="http://schemas.microsoft.com/office/powerpoint/2010/main" val="928316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3">
            <a:extLst>
              <a:ext uri="{FF2B5EF4-FFF2-40B4-BE49-F238E27FC236}">
                <a16:creationId xmlns:a16="http://schemas.microsoft.com/office/drawing/2014/main" id="{3188D108-40B4-43B9-8C15-E2E8CC948FE3}"/>
              </a:ext>
            </a:extLst>
          </p:cNvPr>
          <p:cNvSpPr txBox="1">
            <a:spLocks noChangeArrowheads="1"/>
          </p:cNvSpPr>
          <p:nvPr/>
        </p:nvSpPr>
        <p:spPr bwMode="auto">
          <a:xfrm>
            <a:off x="3363717" y="668227"/>
            <a:ext cx="592466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O" altLang="es-CO" sz="4000" b="1" i="0" u="none" strike="noStrike" kern="1200" cap="none" spc="0" normalizeH="0" baseline="0" noProof="0" dirty="0">
                <a:ln>
                  <a:noFill/>
                </a:ln>
                <a:solidFill>
                  <a:srgbClr val="FF0000"/>
                </a:solidFill>
                <a:effectLst/>
                <a:uLnTx/>
                <a:uFillTx/>
                <a:latin typeface=" Arial"/>
                <a:ea typeface="+mn-ea"/>
                <a:cs typeface="Times New Roman" panose="02020603050405020304" pitchFamily="18" charset="0"/>
              </a:rPr>
              <a:t>Políticas de Privacidad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O" altLang="es-CO" sz="4000" b="1" i="0" u="none" strike="noStrike" kern="1200" cap="none" spc="0" normalizeH="0" baseline="0" noProof="0" dirty="0">
                <a:ln>
                  <a:noFill/>
                </a:ln>
                <a:solidFill>
                  <a:srgbClr val="FF0000"/>
                </a:solidFill>
                <a:effectLst/>
                <a:uLnTx/>
                <a:uFillTx/>
                <a:latin typeface=" Arial"/>
                <a:ea typeface="+mn-ea"/>
                <a:cs typeface="Times New Roman" panose="02020603050405020304" pitchFamily="18" charset="0"/>
              </a:rPr>
              <a:t>Información Calificada</a:t>
            </a:r>
            <a:endParaRPr kumimoji="0" lang="id-ID" altLang="es-CO" sz="4000" b="1" i="0" u="none" strike="noStrike" kern="1200" cap="none" spc="0" normalizeH="0" baseline="0" noProof="0" dirty="0">
              <a:ln>
                <a:noFill/>
              </a:ln>
              <a:solidFill>
                <a:srgbClr val="FF0000"/>
              </a:solidFill>
              <a:effectLst/>
              <a:uLnTx/>
              <a:uFillTx/>
              <a:latin typeface=" Arial"/>
              <a:ea typeface="+mn-ea"/>
              <a:cs typeface="Times New Roman" panose="02020603050405020304" pitchFamily="18" charset="0"/>
            </a:endParaRPr>
          </a:p>
        </p:txBody>
      </p:sp>
      <p:sp>
        <p:nvSpPr>
          <p:cNvPr id="12" name="TextBox 3">
            <a:extLst>
              <a:ext uri="{FF2B5EF4-FFF2-40B4-BE49-F238E27FC236}">
                <a16:creationId xmlns:a16="http://schemas.microsoft.com/office/drawing/2014/main" id="{A169EA45-E9EE-4599-B26F-B19DFE9DC300}"/>
              </a:ext>
            </a:extLst>
          </p:cNvPr>
          <p:cNvSpPr txBox="1">
            <a:spLocks noChangeArrowheads="1"/>
          </p:cNvSpPr>
          <p:nvPr/>
        </p:nvSpPr>
        <p:spPr bwMode="auto">
          <a:xfrm>
            <a:off x="2018992" y="2195906"/>
            <a:ext cx="840688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lvl="0" algn="just">
              <a:defRPr/>
            </a:pPr>
            <a:r>
              <a:rPr lang="es-ES" altLang="es-CO" dirty="0">
                <a:solidFill>
                  <a:prstClr val="white"/>
                </a:solidFill>
                <a:cs typeface="Calibri" panose="020F0502020204030204" pitchFamily="34" charset="0"/>
              </a:rPr>
              <a:t>El contenido de ésta presentación es propiedad de la Fuerza Aérea Colombiana. Es para uso exclusivo del destinatario y puede contener información que goza de reserva legal. Por lo tanto, no es de carácter público. Se informa que, cualquier uso, difusión, distribución, duplicado, copiado, revisión, retransmisión o diseminación de esta comunicación, así como, cualquier acción que se tome respecto a la información contenida, por personas o entidades diferentes al propósito original de la misma, no esta autorizado.</a:t>
            </a:r>
            <a:endParaRPr lang="id-ID" altLang="es-CO" dirty="0">
              <a:solidFill>
                <a:prstClr val="white"/>
              </a:solidFill>
              <a:cs typeface="Calibri" panose="020F0502020204030204" pitchFamily="34" charset="0"/>
            </a:endParaRPr>
          </a:p>
        </p:txBody>
      </p:sp>
      <p:sp>
        <p:nvSpPr>
          <p:cNvPr id="13" name="TextBox 3">
            <a:extLst>
              <a:ext uri="{FF2B5EF4-FFF2-40B4-BE49-F238E27FC236}">
                <a16:creationId xmlns:a16="http://schemas.microsoft.com/office/drawing/2014/main" id="{6E2433C0-C4EA-4534-90FC-9277DC5ED259}"/>
              </a:ext>
            </a:extLst>
          </p:cNvPr>
          <p:cNvSpPr txBox="1">
            <a:spLocks noChangeArrowheads="1"/>
          </p:cNvSpPr>
          <p:nvPr/>
        </p:nvSpPr>
        <p:spPr bwMode="auto">
          <a:xfrm>
            <a:off x="3185987" y="6014639"/>
            <a:ext cx="6280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CO" altLang="es-CO" sz="1800" b="1" i="0" u="none" strike="noStrike" kern="1200" cap="none" spc="0" normalizeH="0" baseline="0" noProof="0">
                <a:ln>
                  <a:noFill/>
                </a:ln>
                <a:solidFill>
                  <a:srgbClr val="FF0000"/>
                </a:solidFill>
                <a:effectLst>
                  <a:outerShdw blurRad="38100" dist="38100" dir="2700000" algn="tl">
                    <a:srgbClr val="000000">
                      <a:alpha val="43137"/>
                    </a:srgbClr>
                  </a:outerShdw>
                </a:effectLst>
                <a:uLnTx/>
                <a:uFillTx/>
                <a:latin typeface=" Arial"/>
                <a:ea typeface="+mn-ea"/>
                <a:cs typeface="Times New Roman" panose="02020603050405020304" pitchFamily="18" charset="0"/>
              </a:rPr>
              <a:t>Público Clasificado</a:t>
            </a:r>
            <a:endParaRPr kumimoji="0" lang="es-CO" altLang="es-CO" sz="1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 Arial"/>
              <a:ea typeface="+mn-ea"/>
              <a:cs typeface="Times New Roman" panose="02020603050405020304" pitchFamily="18" charset="0"/>
            </a:endParaRPr>
          </a:p>
        </p:txBody>
      </p:sp>
    </p:spTree>
    <p:extLst>
      <p:ext uri="{BB962C8B-B14F-4D97-AF65-F5344CB8AC3E}">
        <p14:creationId xmlns:p14="http://schemas.microsoft.com/office/powerpoint/2010/main" val="686436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56274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AC.SOURCE" val="Ilustración conceptual generada con imagegen; no fotografía de ASTRA ni captura de MATB. EMAVI/visuales/PROMPTS_IMAGEGEN.md."/>
  <p:tag name="FAC.ALT" val="Operadora en estación de investigación multitarea; ilustración conceptual, sin datos."/>
</p:tagLst>
</file>

<file path=ppt/tags/tag2.xml><?xml version="1.0" encoding="utf-8"?>
<p:tagLst xmlns:a="http://schemas.openxmlformats.org/drawingml/2006/main" xmlns:r="http://schemas.openxmlformats.org/officeDocument/2006/relationships" xmlns:p="http://schemas.openxmlformats.org/presentationml/2006/main">
  <p:tag name="FAC.SOURCE" val="Ilustración conceptual generada con imagegen; dispositivos no conectados. EMAVI/visuales/PROMPTS_IMAGEGEN.md."/>
  <p:tag name="FAC.ALT" val="Banda pectoral y monitor de actividad de muñeca, como concepto de adquisición fisiológica."/>
</p:tagLst>
</file>

<file path=ppt/tags/tag3.xml><?xml version="1.0" encoding="utf-8"?>
<p:tagLst xmlns:a="http://schemas.openxmlformats.org/drawingml/2006/main" xmlns:r="http://schemas.openxmlformats.org/officeDocument/2006/relationships" xmlns:p="http://schemas.openxmlformats.org/presentationml/2006/main">
  <p:tag name="FAC.SOURCE" val="Captura local de MATB; demostración sintética. Véase capturas/procedencia.json, 01_catalogo."/>
  <p:tag name="FAC.ALT" val="Elegir una actividad — captura real de la aplicación con datos de demostración."/>
</p:tagLst>
</file>

<file path=ppt/tags/tag4.xml><?xml version="1.0" encoding="utf-8"?>
<p:tagLst xmlns:a="http://schemas.openxmlformats.org/drawingml/2006/main" xmlns:r="http://schemas.openxmlformats.org/officeDocument/2006/relationships" xmlns:p="http://schemas.openxmlformats.org/presentationml/2006/main">
  <p:tag name="FAC.SOURCE" val="Captura local de MATB; demostración sintética. Véase capturas/procedencia.json, 02_diseno."/>
  <p:tag name="FAC.ALT" val="Diseñar el escenario — captura real de la aplicación con datos de demostración."/>
</p:tagLst>
</file>

<file path=ppt/tags/tag5.xml><?xml version="1.0" encoding="utf-8"?>
<p:tagLst xmlns:a="http://schemas.openxmlformats.org/drawingml/2006/main" xmlns:r="http://schemas.openxmlformats.org/officeDocument/2006/relationships" xmlns:p="http://schemas.openxmlformats.org/presentationml/2006/main">
  <p:tag name="FAC.SOURCE" val="Captura local de MATB; demostración sintética. Véase capturas/procedencia.json, 03_openmatb."/>
  <p:tag name="FAC.ALT" val="Preparar OpenMATB — captura real de la aplicación con datos de demostración."/>
</p:tagLst>
</file>

<file path=ppt/tags/tag6.xml><?xml version="1.0" encoding="utf-8"?>
<p:tagLst xmlns:a="http://schemas.openxmlformats.org/drawingml/2006/main" xmlns:r="http://schemas.openxmlformats.org/officeDocument/2006/relationships" xmlns:p="http://schemas.openxmlformats.org/presentationml/2006/main">
  <p:tag name="FAC.SOURCE" val="Captura local de MATB; demostración sintética. Véase capturas/procedencia.json, 04_kss."/>
  <p:tag name="FAC.ALT" val="Somnolencia y vigilancia — captura real de la aplicación con datos de demostración."/>
</p:tagLst>
</file>

<file path=ppt/tags/tag7.xml><?xml version="1.0" encoding="utf-8"?>
<p:tagLst xmlns:a="http://schemas.openxmlformats.org/drawingml/2006/main" xmlns:r="http://schemas.openxmlformats.org/officeDocument/2006/relationships" xmlns:p="http://schemas.openxmlformats.org/presentationml/2006/main">
  <p:tag name="FAC.SOURCE" val="Captura local de MATB; demostración sintética. Véase capturas/procedencia.json, 05_suas."/>
  <p:tag name="FAC.ALT" val="Supervisar una misión — captura real de la aplicación con datos de demostración."/>
</p:tagLst>
</file>

<file path=ppt/tags/tag8.xml><?xml version="1.0" encoding="utf-8"?>
<p:tagLst xmlns:a="http://schemas.openxmlformats.org/drawingml/2006/main" xmlns:r="http://schemas.openxmlformats.org/officeDocument/2006/relationships" xmlns:p="http://schemas.openxmlformats.org/presentationml/2006/main">
  <p:tag name="FAC.SOURCE" val="Captura local de MATB; demostración sintética. Véase capturas/procedencia.json, 06_evidencia."/>
  <p:tag name="FAC.ALT" val="Revisar la evidencia — captura real de la aplicación con datos de demostración."/>
</p:tagLst>
</file>

<file path=ppt/tags/tag9.xml><?xml version="1.0" encoding="utf-8"?>
<p:tagLst xmlns:a="http://schemas.openxmlformats.org/drawingml/2006/main" xmlns:r="http://schemas.openxmlformats.org/officeDocument/2006/relationships" xmlns:p="http://schemas.openxmlformats.org/presentationml/2006/main">
  <p:tag name="FAC.SOURCE" val="Captura local de MATB; demostración sintética. Véase capturas/procedencia.json, 07_evento."/>
  <p:tag name="FAC.ALT" val="Del evento al resultado — captura real de la aplicación con datos de demostración."/>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 Fuerza Aeroespacial" id="{5569AF3E-A9D7-4662-8D96-9A3665B43E3C}" vid="{F1FBD26E-FC25-4DEA-98D1-1E6EDA739E9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913</TotalTime>
  <Words>2978</Words>
  <Application>Microsoft Office PowerPoint</Application>
  <PresentationFormat>Widescreen</PresentationFormat>
  <Paragraphs>260</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 Arial</vt:lpstr>
      <vt:lpstr>Arial</vt:lpstr>
      <vt:lpstr>Calibri</vt:lpstr>
      <vt:lpstr>Calibri Light</vt:lpstr>
      <vt:lpstr>Times New Roman</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MATB y ASTRA - EMAVI</dc:title>
  <dc:subject>Público Clasificado - Investigación y demostración</dc:subject>
  <dc:creator>SMSM DIEGO L MALPICA</dc:creator>
  <cp:lastModifiedBy>SMSM16. DIEGO LEONEL MALPICA HINCAPIE</cp:lastModifiedBy>
  <cp:revision>59</cp:revision>
  <dcterms:created xsi:type="dcterms:W3CDTF">2023-08-04T11:46:55Z</dcterms:created>
  <dcterms:modified xsi:type="dcterms:W3CDTF">2026-09-23T16:37:50Z</dcterms:modified>
</cp:coreProperties>
</file>