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" d="100"/>
          <a:sy n="12" d="100"/>
        </p:scale>
        <p:origin x="1867" y="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59DF2-B211-4466-ACF5-B555C06B6B6A}" type="datetimeFigureOut">
              <a:rPr lang="es-CO" smtClean="0"/>
              <a:t>23/09/2026</a:t>
            </a:fld>
            <a:endParaRPr lang="es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76DCA0-38E8-4323-A60D-08A605E2E6F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4782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Actualización del 23-09-2026. Fuentes locales: README.es.md; matb_integration/evidence/reconcile.py; docs/research/qualification-workflow.md; docs/physiology/polar-h10-release-a.md; EMAVI/revision/verificacion_exportacion.json. Referencia [5]: verificación histórica, no una nueva ejecución. Consulte AUDITORIA_POSTER_ACTUALIZADO.md. La duración y el número de visitas dependen del protocolo; existen discrepancias entre la presentación ASTRA y el protocolo del software. No se importaron capturas ni contenido clasificado de la presentación. El banner institucional procede del póster original. No se efectuó revisión jurídica de difusión.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4656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nner institucional original" descr="page-1.png"/>
          <p:cNvPicPr>
            <a:picLocks/>
          </p:cNvPicPr>
          <p:nvPr/>
        </p:nvPicPr>
        <p:blipFill>
          <a:blip r:embed="rId3"/>
          <a:srcRect b="87650"/>
          <a:stretch>
            <a:fillRect/>
          </a:stretch>
        </p:blipFill>
        <p:spPr>
          <a:xfrm>
            <a:off x="0" y="0"/>
            <a:ext cx="28800000" cy="5328000"/>
          </a:xfrm>
          <a:prstGeom prst="rect">
            <a:avLst/>
          </a:prstGeom>
        </p:spPr>
      </p:pic>
      <p:sp>
        <p:nvSpPr>
          <p:cNvPr id="50" name="Fondo blanco">
            <a:extLst>
              <a:ext uri="{FF2B5EF4-FFF2-40B4-BE49-F238E27FC236}">
                <a16:creationId xmlns:a16="http://schemas.microsoft.com/office/drawing/2014/main" id="{E7F8D7C5-5F6F-8728-2380-8780672CA80C}"/>
              </a:ext>
            </a:extLst>
          </p:cNvPr>
          <p:cNvSpPr/>
          <p:nvPr/>
        </p:nvSpPr>
        <p:spPr>
          <a:xfrm>
            <a:off x="0" y="5328000"/>
            <a:ext cx="28800000" cy="3787200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4" name="Titulo">
            <a:extLst>
              <a:ext uri="{FF2B5EF4-FFF2-40B4-BE49-F238E27FC236}">
                <a16:creationId xmlns:a16="http://schemas.microsoft.com/office/drawing/2014/main" id="{0990323F-3CC1-5BA8-21B6-E3673F2ABCB3}"/>
              </a:ext>
            </a:extLst>
          </p:cNvPr>
          <p:cNvSpPr txBox="1"/>
          <p:nvPr/>
        </p:nvSpPr>
        <p:spPr>
          <a:xfrm>
            <a:off x="1800000" y="6120000"/>
            <a:ext cx="25200000" cy="144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4300" b="1">
                <a:solidFill>
                  <a:srgbClr val="252B30"/>
                </a:solidFill>
                <a:latin typeface="Arial" panose="020B0604020202020204" pitchFamily="34" charset="0"/>
              </a:rPr>
              <a:t>MATB-FAC: PLATAFORMA DE INVESTIGACIÓN</a:t>
            </a:r>
          </a:p>
          <a:p>
            <a:pPr algn="ctr">
              <a:spcAft>
                <a:spcPts val="400"/>
              </a:spcAft>
            </a:pPr>
            <a:r>
              <a:rPr lang="es-CO" sz="4300" b="1">
                <a:solidFill>
                  <a:srgbClr val="252B30"/>
                </a:solidFill>
                <a:latin typeface="Arial" panose="020B0604020202020204" pitchFamily="34" charset="0"/>
              </a:rPr>
              <a:t>DEL DESEMPEÑO HUMANO Y LA CARGA MENTAL</a:t>
            </a:r>
          </a:p>
        </p:txBody>
      </p:sp>
      <p:sp>
        <p:nvSpPr>
          <p:cNvPr id="55" name="Autor">
            <a:extLst>
              <a:ext uri="{FF2B5EF4-FFF2-40B4-BE49-F238E27FC236}">
                <a16:creationId xmlns:a16="http://schemas.microsoft.com/office/drawing/2014/main" id="{25A615D6-AB65-2BF7-B811-ABC3CDA1915F}"/>
              </a:ext>
            </a:extLst>
          </p:cNvPr>
          <p:cNvSpPr txBox="1"/>
          <p:nvPr/>
        </p:nvSpPr>
        <p:spPr>
          <a:xfrm>
            <a:off x="2880000" y="7704000"/>
            <a:ext cx="23040000" cy="504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100">
                <a:solidFill>
                  <a:srgbClr val="252B30"/>
                </a:solidFill>
                <a:latin typeface="Arial" panose="020B0604020202020204" pitchFamily="34" charset="0"/>
              </a:rPr>
              <a:t>Diego Leonel Malpica Hincapié</a:t>
            </a:r>
          </a:p>
        </p:txBody>
      </p:sp>
      <p:sp>
        <p:nvSpPr>
          <p:cNvPr id="56" name="Contacto">
            <a:extLst>
              <a:ext uri="{FF2B5EF4-FFF2-40B4-BE49-F238E27FC236}">
                <a16:creationId xmlns:a16="http://schemas.microsoft.com/office/drawing/2014/main" id="{24BBF606-792A-2F1E-68A8-0DABFEAACCC6}"/>
              </a:ext>
            </a:extLst>
          </p:cNvPr>
          <p:cNvSpPr txBox="1"/>
          <p:nvPr/>
        </p:nvSpPr>
        <p:spPr>
          <a:xfrm>
            <a:off x="2880000" y="8208000"/>
            <a:ext cx="23040000" cy="432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500">
                <a:solidFill>
                  <a:srgbClr val="252B30"/>
                </a:solidFill>
                <a:latin typeface="Arial" panose="020B0604020202020204" pitchFamily="34" charset="0"/>
              </a:rPr>
              <a:t>diego.malpica@fac.mil.co  ·  ORCID: 0000-0002-2257-4940</a:t>
            </a:r>
          </a:p>
        </p:txBody>
      </p:sp>
      <p:sp>
        <p:nvSpPr>
          <p:cNvPr id="57" name="Afiliacion">
            <a:extLst>
              <a:ext uri="{FF2B5EF4-FFF2-40B4-BE49-F238E27FC236}">
                <a16:creationId xmlns:a16="http://schemas.microsoft.com/office/drawing/2014/main" id="{B53BFF11-9894-292F-632B-6EE9EB338DBA}"/>
              </a:ext>
            </a:extLst>
          </p:cNvPr>
          <p:cNvSpPr txBox="1"/>
          <p:nvPr/>
        </p:nvSpPr>
        <p:spPr>
          <a:xfrm>
            <a:off x="1800000" y="8676000"/>
            <a:ext cx="25200000" cy="432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400">
                <a:solidFill>
                  <a:srgbClr val="252B30"/>
                </a:solidFill>
                <a:latin typeface="Arial" panose="020B0604020202020204" pitchFamily="34" charset="0"/>
              </a:rPr>
              <a:t>Fuerza Aeroespacial Colombiana · Dirección de Medicina Aeroespacial · Bogotá, Colombia</a:t>
            </a:r>
          </a:p>
        </p:txBody>
      </p:sp>
      <p:sp>
        <p:nvSpPr>
          <p:cNvPr id="58" name="Resumen-frame">
            <a:extLst>
              <a:ext uri="{FF2B5EF4-FFF2-40B4-BE49-F238E27FC236}">
                <a16:creationId xmlns:a16="http://schemas.microsoft.com/office/drawing/2014/main" id="{1EBEE6E8-1103-0420-39AC-56FDE9F311EE}"/>
              </a:ext>
            </a:extLst>
          </p:cNvPr>
          <p:cNvSpPr/>
          <p:nvPr/>
        </p:nvSpPr>
        <p:spPr>
          <a:xfrm>
            <a:off x="1800000" y="10440000"/>
            <a:ext cx="25199998" cy="37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" name="Resumen-tab">
            <a:extLst>
              <a:ext uri="{FF2B5EF4-FFF2-40B4-BE49-F238E27FC236}">
                <a16:creationId xmlns:a16="http://schemas.microsoft.com/office/drawing/2014/main" id="{D932CAA7-F3E1-A759-0318-40CAFD26E0A0}"/>
              </a:ext>
            </a:extLst>
          </p:cNvPr>
          <p:cNvSpPr/>
          <p:nvPr/>
        </p:nvSpPr>
        <p:spPr>
          <a:xfrm>
            <a:off x="2196000" y="10224000"/>
            <a:ext cx="5400000" cy="792000"/>
          </a:xfrm>
          <a:prstGeom prst="roundRect">
            <a:avLst>
              <a:gd name="adj" fmla="val 8000"/>
            </a:avLst>
          </a:prstGeom>
          <a:solidFill>
            <a:srgbClr val="002054"/>
          </a:solidFill>
          <a:ln w="17780">
            <a:solidFill>
              <a:srgbClr val="4B8064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" name="Resumen-heading">
            <a:extLst>
              <a:ext uri="{FF2B5EF4-FFF2-40B4-BE49-F238E27FC236}">
                <a16:creationId xmlns:a16="http://schemas.microsoft.com/office/drawing/2014/main" id="{86CB7DCF-2D0A-5543-93DC-3D61F9E373A3}"/>
              </a:ext>
            </a:extLst>
          </p:cNvPr>
          <p:cNvSpPr txBox="1"/>
          <p:nvPr/>
        </p:nvSpPr>
        <p:spPr>
          <a:xfrm>
            <a:off x="2322000" y="10303200"/>
            <a:ext cx="5148000" cy="54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600" b="1">
                <a:solidFill>
                  <a:srgbClr val="FFFFFF"/>
                </a:solidFill>
                <a:latin typeface="Arial" panose="020B0604020202020204" pitchFamily="34" charset="0"/>
              </a:rPr>
              <a:t>RESUMEN</a:t>
            </a:r>
          </a:p>
        </p:txBody>
      </p:sp>
      <p:sp>
        <p:nvSpPr>
          <p:cNvPr id="61" name="Resumen bilingue">
            <a:extLst>
              <a:ext uri="{FF2B5EF4-FFF2-40B4-BE49-F238E27FC236}">
                <a16:creationId xmlns:a16="http://schemas.microsoft.com/office/drawing/2014/main" id="{7161529F-F64D-F48E-B136-C9DAABA2A273}"/>
              </a:ext>
            </a:extLst>
          </p:cNvPr>
          <p:cNvSpPr txBox="1"/>
          <p:nvPr/>
        </p:nvSpPr>
        <p:spPr>
          <a:xfrm>
            <a:off x="2232000" y="11160000"/>
            <a:ext cx="24336000" cy="2844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400">
                <a:solidFill>
                  <a:srgbClr val="252B30"/>
                </a:solidFill>
                <a:latin typeface="Arial" panose="020B0604020202020204" pitchFamily="34" charset="0"/>
              </a:rPr>
              <a:t>Resumen. Se revisaron la implementación y los artefactos técnicos de MATB-FAC. La plataforma reúne tareas OpenMATB, carga percibida, simulación y adquisición fisiológica experimental con trazabilidad por evento. Una verificación sintética documenta 11 métricas recomputadas; la calificación del entorno y la validación humana permanecen pendientes.</a:t>
            </a:r>
          </a:p>
          <a:p>
            <a:pPr>
              <a:spcAft>
                <a:spcPts val="400"/>
              </a:spcAft>
            </a:pPr>
            <a:r>
              <a:rPr lang="es-CO" sz="2400">
                <a:solidFill>
                  <a:srgbClr val="252B30"/>
                </a:solidFill>
                <a:latin typeface="Arial" panose="020B0604020202020204" pitchFamily="34" charset="0"/>
              </a:rPr>
              <a:t>Abstract. MATB-FAC combines multitask performance, perceived workload, simulation and experimental physiology with event-level provenance. A documented synthetic verification recomputed 11 metrics; environment qualification and human validation remain pending.</a:t>
            </a:r>
          </a:p>
          <a:p>
            <a:pPr>
              <a:spcAft>
                <a:spcPts val="400"/>
              </a:spcAft>
            </a:pPr>
            <a:r>
              <a:rPr lang="es-CO" sz="2400">
                <a:solidFill>
                  <a:srgbClr val="252B30"/>
                </a:solidFill>
                <a:latin typeface="Arial" panose="020B0604020202020204" pitchFamily="34" charset="0"/>
              </a:rPr>
              <a:t>Palabras clave / Keywords: carga mental / mental workload; desempeño humano / human performance; simulación / simulation.</a:t>
            </a:r>
          </a:p>
          <a:p>
            <a:pPr>
              <a:spcAft>
                <a:spcPts val="400"/>
              </a:spcAft>
            </a:pPr>
            <a:r>
              <a:rPr lang="es-CO" sz="2400">
                <a:solidFill>
                  <a:srgbClr val="252B30"/>
                </a:solidFill>
                <a:latin typeface="Arial" panose="020B0604020202020204" pitchFamily="34" charset="0"/>
              </a:rPr>
              <a:t>MATB: batería multitarea de atributos múltiples. FAC: Fuerza Aeroespacial Colombiana.</a:t>
            </a:r>
          </a:p>
        </p:txBody>
      </p:sp>
      <p:sp>
        <p:nvSpPr>
          <p:cNvPr id="62" name="Introduccion-frame">
            <a:extLst>
              <a:ext uri="{FF2B5EF4-FFF2-40B4-BE49-F238E27FC236}">
                <a16:creationId xmlns:a16="http://schemas.microsoft.com/office/drawing/2014/main" id="{A409C519-F99C-A234-311D-9EE05150F446}"/>
              </a:ext>
            </a:extLst>
          </p:cNvPr>
          <p:cNvSpPr/>
          <p:nvPr/>
        </p:nvSpPr>
        <p:spPr>
          <a:xfrm>
            <a:off x="1980000" y="14760000"/>
            <a:ext cx="12240000" cy="79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3" name="Introduccion-tab">
            <a:extLst>
              <a:ext uri="{FF2B5EF4-FFF2-40B4-BE49-F238E27FC236}">
                <a16:creationId xmlns:a16="http://schemas.microsoft.com/office/drawing/2014/main" id="{35A7B5ED-28D8-FDFF-35D8-C8DEAA0D4601}"/>
              </a:ext>
            </a:extLst>
          </p:cNvPr>
          <p:cNvSpPr/>
          <p:nvPr/>
        </p:nvSpPr>
        <p:spPr>
          <a:xfrm>
            <a:off x="2376000" y="14544001"/>
            <a:ext cx="6120000" cy="791999"/>
          </a:xfrm>
          <a:prstGeom prst="roundRect">
            <a:avLst>
              <a:gd name="adj" fmla="val 8000"/>
            </a:avLst>
          </a:prstGeom>
          <a:solidFill>
            <a:srgbClr val="002054"/>
          </a:solidFill>
          <a:ln w="17780">
            <a:solidFill>
              <a:srgbClr val="4B8064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Introduccion-heading">
            <a:extLst>
              <a:ext uri="{FF2B5EF4-FFF2-40B4-BE49-F238E27FC236}">
                <a16:creationId xmlns:a16="http://schemas.microsoft.com/office/drawing/2014/main" id="{F5C06E6B-631B-C0DE-4A2E-9D48ED12E793}"/>
              </a:ext>
            </a:extLst>
          </p:cNvPr>
          <p:cNvSpPr txBox="1"/>
          <p:nvPr/>
        </p:nvSpPr>
        <p:spPr>
          <a:xfrm>
            <a:off x="2502000" y="14623200"/>
            <a:ext cx="5868000" cy="54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600" b="1">
                <a:solidFill>
                  <a:srgbClr val="FFFFFF"/>
                </a:solidFill>
                <a:latin typeface="Arial" panose="020B0604020202020204" pitchFamily="34" charset="0"/>
              </a:rPr>
              <a:t>INTRODUCCIÓN</a:t>
            </a:r>
          </a:p>
        </p:txBody>
      </p:sp>
      <p:sp>
        <p:nvSpPr>
          <p:cNvPr id="65" name="Introduccion texto">
            <a:extLst>
              <a:ext uri="{FF2B5EF4-FFF2-40B4-BE49-F238E27FC236}">
                <a16:creationId xmlns:a16="http://schemas.microsoft.com/office/drawing/2014/main" id="{01DB9F23-DC9F-07A3-24FC-5C2B4F5127D8}"/>
              </a:ext>
            </a:extLst>
          </p:cNvPr>
          <p:cNvSpPr txBox="1"/>
          <p:nvPr/>
        </p:nvSpPr>
        <p:spPr>
          <a:xfrm>
            <a:off x="2412000" y="15516000"/>
            <a:ext cx="11376000" cy="2916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700">
                <a:solidFill>
                  <a:srgbClr val="252B30"/>
                </a:solidFill>
                <a:latin typeface="Arial" panose="020B0604020202020204" pitchFamily="34" charset="0"/>
              </a:rPr>
              <a:t>El estudio de la multitarea exige documentar la demanda programada y separar desempeño, carga percibida y fisiología. OpenMATB permite configurar tareas reproducibles [1]; la diversidad de configuraciones limita las comparaciones entre estudios [2,3]. Objetivo: describir las capacidades actuales y el alcance de su evidencia técnica.</a:t>
            </a:r>
          </a:p>
        </p:txBody>
      </p:sp>
      <p:sp>
        <p:nvSpPr>
          <p:cNvPr id="66" name="Dominio-0">
            <a:extLst>
              <a:ext uri="{FF2B5EF4-FFF2-40B4-BE49-F238E27FC236}">
                <a16:creationId xmlns:a16="http://schemas.microsoft.com/office/drawing/2014/main" id="{64AB055C-69E5-F4A2-71FA-6F9A15EF2CAE}"/>
              </a:ext>
            </a:extLst>
          </p:cNvPr>
          <p:cNvSpPr/>
          <p:nvPr/>
        </p:nvSpPr>
        <p:spPr>
          <a:xfrm>
            <a:off x="2448000" y="19044000"/>
            <a:ext cx="3492000" cy="1980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 w="17780">
            <a:solidFill>
              <a:srgbClr val="2E69A8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7" name="Dominio-titulo-0">
            <a:extLst>
              <a:ext uri="{FF2B5EF4-FFF2-40B4-BE49-F238E27FC236}">
                <a16:creationId xmlns:a16="http://schemas.microsoft.com/office/drawing/2014/main" id="{D055073A-AC74-DF24-F9DF-7138B3012FE2}"/>
              </a:ext>
            </a:extLst>
          </p:cNvPr>
          <p:cNvSpPr txBox="1"/>
          <p:nvPr/>
        </p:nvSpPr>
        <p:spPr>
          <a:xfrm>
            <a:off x="2592000" y="19332000"/>
            <a:ext cx="3204000" cy="64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300" b="1">
                <a:solidFill>
                  <a:srgbClr val="002054"/>
                </a:solidFill>
                <a:latin typeface="Arial" panose="020B0604020202020204" pitchFamily="34" charset="0"/>
              </a:rPr>
              <a:t>DESEMPEÑO</a:t>
            </a:r>
          </a:p>
        </p:txBody>
      </p:sp>
      <p:sp>
        <p:nvSpPr>
          <p:cNvPr id="68" name="Dominio-detalle-0">
            <a:extLst>
              <a:ext uri="{FF2B5EF4-FFF2-40B4-BE49-F238E27FC236}">
                <a16:creationId xmlns:a16="http://schemas.microsoft.com/office/drawing/2014/main" id="{1903BA2F-5D3E-A644-3FD3-D068A468ACB3}"/>
              </a:ext>
            </a:extLst>
          </p:cNvPr>
          <p:cNvSpPr txBox="1"/>
          <p:nvPr/>
        </p:nvSpPr>
        <p:spPr>
          <a:xfrm>
            <a:off x="2592000" y="20160000"/>
            <a:ext cx="3204000" cy="46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200">
                <a:solidFill>
                  <a:srgbClr val="252B30"/>
                </a:solidFill>
                <a:latin typeface="Arial" panose="020B0604020202020204" pitchFamily="34" charset="0"/>
              </a:rPr>
              <a:t>respuestas y control</a:t>
            </a:r>
          </a:p>
        </p:txBody>
      </p:sp>
      <p:sp>
        <p:nvSpPr>
          <p:cNvPr id="69" name="Dominio-1">
            <a:extLst>
              <a:ext uri="{FF2B5EF4-FFF2-40B4-BE49-F238E27FC236}">
                <a16:creationId xmlns:a16="http://schemas.microsoft.com/office/drawing/2014/main" id="{2DF9659B-84C4-24B8-7998-C7A83D3F3384}"/>
              </a:ext>
            </a:extLst>
          </p:cNvPr>
          <p:cNvSpPr/>
          <p:nvPr/>
        </p:nvSpPr>
        <p:spPr>
          <a:xfrm>
            <a:off x="6228000" y="19044000"/>
            <a:ext cx="3492001" cy="1980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 w="17780">
            <a:solidFill>
              <a:srgbClr val="2E69A8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0" name="Dominio-titulo-1">
            <a:extLst>
              <a:ext uri="{FF2B5EF4-FFF2-40B4-BE49-F238E27FC236}">
                <a16:creationId xmlns:a16="http://schemas.microsoft.com/office/drawing/2014/main" id="{63CB178B-1764-BC36-5B64-A27F6C7F8422}"/>
              </a:ext>
            </a:extLst>
          </p:cNvPr>
          <p:cNvSpPr txBox="1"/>
          <p:nvPr/>
        </p:nvSpPr>
        <p:spPr>
          <a:xfrm>
            <a:off x="6372000" y="19332000"/>
            <a:ext cx="3204000" cy="64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300" b="1">
                <a:solidFill>
                  <a:srgbClr val="002054"/>
                </a:solidFill>
                <a:latin typeface="Arial" panose="020B0604020202020204" pitchFamily="34" charset="0"/>
              </a:rPr>
              <a:t>CARGA PERCIBIDA</a:t>
            </a:r>
          </a:p>
        </p:txBody>
      </p:sp>
      <p:sp>
        <p:nvSpPr>
          <p:cNvPr id="71" name="Dominio-detalle-1">
            <a:extLst>
              <a:ext uri="{FF2B5EF4-FFF2-40B4-BE49-F238E27FC236}">
                <a16:creationId xmlns:a16="http://schemas.microsoft.com/office/drawing/2014/main" id="{CD65CB31-C1D1-1BE1-CBED-1566375CE79A}"/>
              </a:ext>
            </a:extLst>
          </p:cNvPr>
          <p:cNvSpPr txBox="1"/>
          <p:nvPr/>
        </p:nvSpPr>
        <p:spPr>
          <a:xfrm>
            <a:off x="6372000" y="20160000"/>
            <a:ext cx="3204000" cy="46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200">
                <a:solidFill>
                  <a:srgbClr val="252B30"/>
                </a:solidFill>
                <a:latin typeface="Arial" panose="020B0604020202020204" pitchFamily="34" charset="0"/>
              </a:rPr>
              <a:t>autoinforme</a:t>
            </a:r>
          </a:p>
        </p:txBody>
      </p:sp>
      <p:sp>
        <p:nvSpPr>
          <p:cNvPr id="72" name="Dominio-2">
            <a:extLst>
              <a:ext uri="{FF2B5EF4-FFF2-40B4-BE49-F238E27FC236}">
                <a16:creationId xmlns:a16="http://schemas.microsoft.com/office/drawing/2014/main" id="{8F4BB9B5-795F-950B-8F1B-6ED3F581EC6C}"/>
              </a:ext>
            </a:extLst>
          </p:cNvPr>
          <p:cNvSpPr/>
          <p:nvPr/>
        </p:nvSpPr>
        <p:spPr>
          <a:xfrm>
            <a:off x="10008000" y="19044000"/>
            <a:ext cx="3492001" cy="1980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 w="17780">
            <a:solidFill>
              <a:srgbClr val="2E69A8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3" name="Dominio-titulo-2">
            <a:extLst>
              <a:ext uri="{FF2B5EF4-FFF2-40B4-BE49-F238E27FC236}">
                <a16:creationId xmlns:a16="http://schemas.microsoft.com/office/drawing/2014/main" id="{5634582E-A548-F351-5463-EFAB669C09F9}"/>
              </a:ext>
            </a:extLst>
          </p:cNvPr>
          <p:cNvSpPr txBox="1"/>
          <p:nvPr/>
        </p:nvSpPr>
        <p:spPr>
          <a:xfrm>
            <a:off x="10152000" y="19332000"/>
            <a:ext cx="3204000" cy="64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300" b="1">
                <a:solidFill>
                  <a:srgbClr val="002054"/>
                </a:solidFill>
                <a:latin typeface="Arial" panose="020B0604020202020204" pitchFamily="34" charset="0"/>
              </a:rPr>
              <a:t>FISIOLOGÍA</a:t>
            </a:r>
          </a:p>
        </p:txBody>
      </p:sp>
      <p:sp>
        <p:nvSpPr>
          <p:cNvPr id="74" name="Dominio-detalle-2">
            <a:extLst>
              <a:ext uri="{FF2B5EF4-FFF2-40B4-BE49-F238E27FC236}">
                <a16:creationId xmlns:a16="http://schemas.microsoft.com/office/drawing/2014/main" id="{3F2E7C09-72F0-FBBA-3986-BC84254E839A}"/>
              </a:ext>
            </a:extLst>
          </p:cNvPr>
          <p:cNvSpPr txBox="1"/>
          <p:nvPr/>
        </p:nvSpPr>
        <p:spPr>
          <a:xfrm>
            <a:off x="10152000" y="20160000"/>
            <a:ext cx="3204000" cy="46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200">
                <a:solidFill>
                  <a:srgbClr val="252B30"/>
                </a:solidFill>
                <a:latin typeface="Arial" panose="020B0604020202020204" pitchFamily="34" charset="0"/>
              </a:rPr>
              <a:t>contexto descriptivo</a:t>
            </a:r>
          </a:p>
        </p:txBody>
      </p:sp>
      <p:sp>
        <p:nvSpPr>
          <p:cNvPr id="75" name="Separacion de constructos">
            <a:extLst>
              <a:ext uri="{FF2B5EF4-FFF2-40B4-BE49-F238E27FC236}">
                <a16:creationId xmlns:a16="http://schemas.microsoft.com/office/drawing/2014/main" id="{47F92ABB-29F7-ECDC-3895-31756279C8AF}"/>
              </a:ext>
            </a:extLst>
          </p:cNvPr>
          <p:cNvSpPr txBox="1"/>
          <p:nvPr/>
        </p:nvSpPr>
        <p:spPr>
          <a:xfrm>
            <a:off x="2520000" y="21599999"/>
            <a:ext cx="11160000" cy="612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500" b="1">
                <a:solidFill>
                  <a:srgbClr val="002054"/>
                </a:solidFill>
                <a:latin typeface="Arial" panose="020B0604020202020204" pitchFamily="34" charset="0"/>
              </a:rPr>
              <a:t>Dominios relacionados, analizados por separado.</a:t>
            </a:r>
          </a:p>
        </p:txBody>
      </p:sp>
      <p:sp>
        <p:nvSpPr>
          <p:cNvPr id="76" name="Metodologia-frame">
            <a:extLst>
              <a:ext uri="{FF2B5EF4-FFF2-40B4-BE49-F238E27FC236}">
                <a16:creationId xmlns:a16="http://schemas.microsoft.com/office/drawing/2014/main" id="{299B414D-E75B-62C0-29C9-FF498AF4DFDF}"/>
              </a:ext>
            </a:extLst>
          </p:cNvPr>
          <p:cNvSpPr/>
          <p:nvPr/>
        </p:nvSpPr>
        <p:spPr>
          <a:xfrm>
            <a:off x="14760000" y="14760000"/>
            <a:ext cx="12240002" cy="9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" name="Metodologia-tab">
            <a:extLst>
              <a:ext uri="{FF2B5EF4-FFF2-40B4-BE49-F238E27FC236}">
                <a16:creationId xmlns:a16="http://schemas.microsoft.com/office/drawing/2014/main" id="{84F4AF59-36E4-7EFB-F7F7-F40CA58192BF}"/>
              </a:ext>
            </a:extLst>
          </p:cNvPr>
          <p:cNvSpPr/>
          <p:nvPr/>
        </p:nvSpPr>
        <p:spPr>
          <a:xfrm>
            <a:off x="15156000" y="14544001"/>
            <a:ext cx="6120001" cy="791999"/>
          </a:xfrm>
          <a:prstGeom prst="roundRect">
            <a:avLst>
              <a:gd name="adj" fmla="val 8000"/>
            </a:avLst>
          </a:prstGeom>
          <a:solidFill>
            <a:srgbClr val="002054"/>
          </a:solidFill>
          <a:ln w="17780">
            <a:solidFill>
              <a:srgbClr val="4B8064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" name="Metodologia-heading">
            <a:extLst>
              <a:ext uri="{FF2B5EF4-FFF2-40B4-BE49-F238E27FC236}">
                <a16:creationId xmlns:a16="http://schemas.microsoft.com/office/drawing/2014/main" id="{6B94020D-AE85-13B0-7E34-37C685D19DA7}"/>
              </a:ext>
            </a:extLst>
          </p:cNvPr>
          <p:cNvSpPr txBox="1"/>
          <p:nvPr/>
        </p:nvSpPr>
        <p:spPr>
          <a:xfrm>
            <a:off x="15282001" y="14623200"/>
            <a:ext cx="5868000" cy="54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600" b="1">
                <a:solidFill>
                  <a:srgbClr val="FFFFFF"/>
                </a:solidFill>
                <a:latin typeface="Arial" panose="020B0604020202020204" pitchFamily="34" charset="0"/>
              </a:rPr>
              <a:t>METODOLOGÍA</a:t>
            </a:r>
          </a:p>
        </p:txBody>
      </p:sp>
      <p:sp>
        <p:nvSpPr>
          <p:cNvPr id="79" name="Metodologia texto">
            <a:extLst>
              <a:ext uri="{FF2B5EF4-FFF2-40B4-BE49-F238E27FC236}">
                <a16:creationId xmlns:a16="http://schemas.microsoft.com/office/drawing/2014/main" id="{116DAFD3-DD33-C1D8-ADA4-9C02D87DB7EC}"/>
              </a:ext>
            </a:extLst>
          </p:cNvPr>
          <p:cNvSpPr txBox="1"/>
          <p:nvPr/>
        </p:nvSpPr>
        <p:spPr>
          <a:xfrm>
            <a:off x="15192000" y="15516000"/>
            <a:ext cx="11376000" cy="2052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600">
                <a:solidFill>
                  <a:srgbClr val="252B30"/>
                </a:solidFill>
                <a:latin typeface="Arial" panose="020B0604020202020204" pitchFamily="34" charset="0"/>
              </a:rPr>
              <a:t>Revisión técnica del código, contratos de medición y artefactos de verificación [4]. Se distinguen capacidades implementadas, comprobaciones sintéticas y validación pendiente. Esta revisión no incorpora datos de participantes.</a:t>
            </a:r>
          </a:p>
        </p:txBody>
      </p:sp>
      <p:sp>
        <p:nvSpPr>
          <p:cNvPr id="80" name="Paso-0">
            <a:extLst>
              <a:ext uri="{FF2B5EF4-FFF2-40B4-BE49-F238E27FC236}">
                <a16:creationId xmlns:a16="http://schemas.microsoft.com/office/drawing/2014/main" id="{1BED396C-CBC8-2F6C-EDC8-94E0854733C8}"/>
              </a:ext>
            </a:extLst>
          </p:cNvPr>
          <p:cNvSpPr/>
          <p:nvPr/>
        </p:nvSpPr>
        <p:spPr>
          <a:xfrm>
            <a:off x="15479999" y="17891999"/>
            <a:ext cx="10800000" cy="1044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1" name="Paso-numero-0">
            <a:extLst>
              <a:ext uri="{FF2B5EF4-FFF2-40B4-BE49-F238E27FC236}">
                <a16:creationId xmlns:a16="http://schemas.microsoft.com/office/drawing/2014/main" id="{335C1DD5-9B41-C0D0-A4FE-4386C15562BD}"/>
              </a:ext>
            </a:extLst>
          </p:cNvPr>
          <p:cNvSpPr txBox="1"/>
          <p:nvPr/>
        </p:nvSpPr>
        <p:spPr>
          <a:xfrm>
            <a:off x="15660001" y="18017999"/>
            <a:ext cx="720000" cy="64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200" b="1">
                <a:solidFill>
                  <a:srgbClr val="2E69A8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2" name="Paso-titulo-0">
            <a:extLst>
              <a:ext uri="{FF2B5EF4-FFF2-40B4-BE49-F238E27FC236}">
                <a16:creationId xmlns:a16="http://schemas.microsoft.com/office/drawing/2014/main" id="{0E9A7D11-1F4A-DF99-BCE7-50B761BE557B}"/>
              </a:ext>
            </a:extLst>
          </p:cNvPr>
          <p:cNvSpPr txBox="1"/>
          <p:nvPr/>
        </p:nvSpPr>
        <p:spPr>
          <a:xfrm>
            <a:off x="16560000" y="17982000"/>
            <a:ext cx="9360000" cy="36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400" b="1">
                <a:solidFill>
                  <a:srgbClr val="002054"/>
                </a:solidFill>
                <a:latin typeface="Arial" panose="020B0604020202020204" pitchFamily="34" charset="0"/>
              </a:rPr>
              <a:t>ESCENARIO</a:t>
            </a:r>
          </a:p>
        </p:txBody>
      </p:sp>
      <p:sp>
        <p:nvSpPr>
          <p:cNvPr id="83" name="Paso-texto-0">
            <a:extLst>
              <a:ext uri="{FF2B5EF4-FFF2-40B4-BE49-F238E27FC236}">
                <a16:creationId xmlns:a16="http://schemas.microsoft.com/office/drawing/2014/main" id="{108D7082-9BDF-B27B-F163-1297CA066C5B}"/>
              </a:ext>
            </a:extLst>
          </p:cNvPr>
          <p:cNvSpPr txBox="1"/>
          <p:nvPr/>
        </p:nvSpPr>
        <p:spPr>
          <a:xfrm>
            <a:off x="16560000" y="18414000"/>
            <a:ext cx="9360000" cy="36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300">
                <a:solidFill>
                  <a:srgbClr val="252B30"/>
                </a:solidFill>
                <a:latin typeface="Arial" panose="020B0604020202020204" pitchFamily="34" charset="0"/>
              </a:rPr>
              <a:t>Tareas, eventos, duración y semilla</a:t>
            </a:r>
          </a:p>
        </p:txBody>
      </p:sp>
      <p:cxnSp>
        <p:nvCxnSpPr>
          <p:cNvPr id="84" name="Paso-flecha-0">
            <a:extLst>
              <a:ext uri="{FF2B5EF4-FFF2-40B4-BE49-F238E27FC236}">
                <a16:creationId xmlns:a16="http://schemas.microsoft.com/office/drawing/2014/main" id="{FD97A11A-7C93-6C5A-12AC-7E994F84739F}"/>
              </a:ext>
            </a:extLst>
          </p:cNvPr>
          <p:cNvCxnSpPr/>
          <p:nvPr/>
        </p:nvCxnSpPr>
        <p:spPr>
          <a:xfrm>
            <a:off x="20880000" y="18943200"/>
            <a:ext cx="0" cy="165600"/>
          </a:xfrm>
          <a:prstGeom prst="line">
            <a:avLst/>
          </a:prstGeom>
          <a:ln w="25400">
            <a:solidFill>
              <a:srgbClr val="2E69A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Paso-1">
            <a:extLst>
              <a:ext uri="{FF2B5EF4-FFF2-40B4-BE49-F238E27FC236}">
                <a16:creationId xmlns:a16="http://schemas.microsoft.com/office/drawing/2014/main" id="{CA8F55D6-364C-E2EE-FA40-4237100F969A}"/>
              </a:ext>
            </a:extLst>
          </p:cNvPr>
          <p:cNvSpPr/>
          <p:nvPr/>
        </p:nvSpPr>
        <p:spPr>
          <a:xfrm>
            <a:off x="15479999" y="19116001"/>
            <a:ext cx="10800000" cy="1043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6" name="Paso-numero-1">
            <a:extLst>
              <a:ext uri="{FF2B5EF4-FFF2-40B4-BE49-F238E27FC236}">
                <a16:creationId xmlns:a16="http://schemas.microsoft.com/office/drawing/2014/main" id="{565062D7-EDC4-0B9A-646E-77C96C4421A1}"/>
              </a:ext>
            </a:extLst>
          </p:cNvPr>
          <p:cNvSpPr txBox="1"/>
          <p:nvPr/>
        </p:nvSpPr>
        <p:spPr>
          <a:xfrm>
            <a:off x="15660001" y="19242001"/>
            <a:ext cx="720000" cy="64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200" b="1">
                <a:solidFill>
                  <a:srgbClr val="2E69A8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7" name="Paso-titulo-1">
            <a:extLst>
              <a:ext uri="{FF2B5EF4-FFF2-40B4-BE49-F238E27FC236}">
                <a16:creationId xmlns:a16="http://schemas.microsoft.com/office/drawing/2014/main" id="{FA7C93D0-C03A-F0E7-4559-EE34000F0643}"/>
              </a:ext>
            </a:extLst>
          </p:cNvPr>
          <p:cNvSpPr txBox="1"/>
          <p:nvPr/>
        </p:nvSpPr>
        <p:spPr>
          <a:xfrm>
            <a:off x="16560000" y="19206000"/>
            <a:ext cx="9360000" cy="36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400" b="1">
                <a:solidFill>
                  <a:srgbClr val="002054"/>
                </a:solidFill>
                <a:latin typeface="Arial" panose="020B0604020202020204" pitchFamily="34" charset="0"/>
              </a:rPr>
              <a:t>CAPTURA</a:t>
            </a:r>
          </a:p>
        </p:txBody>
      </p:sp>
      <p:sp>
        <p:nvSpPr>
          <p:cNvPr id="88" name="Paso-texto-1">
            <a:extLst>
              <a:ext uri="{FF2B5EF4-FFF2-40B4-BE49-F238E27FC236}">
                <a16:creationId xmlns:a16="http://schemas.microsoft.com/office/drawing/2014/main" id="{62D1BCBE-4000-EFA5-C222-B14DFFDF693C}"/>
              </a:ext>
            </a:extLst>
          </p:cNvPr>
          <p:cNvSpPr txBox="1"/>
          <p:nvPr/>
        </p:nvSpPr>
        <p:spPr>
          <a:xfrm>
            <a:off x="16560000" y="19638000"/>
            <a:ext cx="9360000" cy="36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300">
                <a:solidFill>
                  <a:srgbClr val="252B30"/>
                </a:solidFill>
                <a:latin typeface="Arial" panose="020B0604020202020204" pitchFamily="34" charset="0"/>
              </a:rPr>
              <a:t>Práctica o estudio; eventos y manifiesto</a:t>
            </a:r>
          </a:p>
        </p:txBody>
      </p:sp>
      <p:cxnSp>
        <p:nvCxnSpPr>
          <p:cNvPr id="89" name="Paso-flecha-1">
            <a:extLst>
              <a:ext uri="{FF2B5EF4-FFF2-40B4-BE49-F238E27FC236}">
                <a16:creationId xmlns:a16="http://schemas.microsoft.com/office/drawing/2014/main" id="{7F2E3BE9-15F9-4B07-B259-85EE2FD38C17}"/>
              </a:ext>
            </a:extLst>
          </p:cNvPr>
          <p:cNvCxnSpPr/>
          <p:nvPr/>
        </p:nvCxnSpPr>
        <p:spPr>
          <a:xfrm>
            <a:off x="20880000" y="20167200"/>
            <a:ext cx="0" cy="165601"/>
          </a:xfrm>
          <a:prstGeom prst="line">
            <a:avLst/>
          </a:prstGeom>
          <a:ln w="25400">
            <a:solidFill>
              <a:srgbClr val="2E69A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Paso-2">
            <a:extLst>
              <a:ext uri="{FF2B5EF4-FFF2-40B4-BE49-F238E27FC236}">
                <a16:creationId xmlns:a16="http://schemas.microsoft.com/office/drawing/2014/main" id="{728DF32D-73B2-C0FA-9662-D6B7323D3F94}"/>
              </a:ext>
            </a:extLst>
          </p:cNvPr>
          <p:cNvSpPr/>
          <p:nvPr/>
        </p:nvSpPr>
        <p:spPr>
          <a:xfrm>
            <a:off x="15479999" y="20340000"/>
            <a:ext cx="10800000" cy="1044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1" name="Paso-numero-2">
            <a:extLst>
              <a:ext uri="{FF2B5EF4-FFF2-40B4-BE49-F238E27FC236}">
                <a16:creationId xmlns:a16="http://schemas.microsoft.com/office/drawing/2014/main" id="{0723030D-93EB-20EF-58C8-9B2DAB2E06EC}"/>
              </a:ext>
            </a:extLst>
          </p:cNvPr>
          <p:cNvSpPr txBox="1"/>
          <p:nvPr/>
        </p:nvSpPr>
        <p:spPr>
          <a:xfrm>
            <a:off x="15660001" y="20466000"/>
            <a:ext cx="720000" cy="64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200" b="1">
                <a:solidFill>
                  <a:srgbClr val="2E69A8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92" name="Paso-titulo-2">
            <a:extLst>
              <a:ext uri="{FF2B5EF4-FFF2-40B4-BE49-F238E27FC236}">
                <a16:creationId xmlns:a16="http://schemas.microsoft.com/office/drawing/2014/main" id="{36DA003D-368E-9EBC-008E-63FF2104A744}"/>
              </a:ext>
            </a:extLst>
          </p:cNvPr>
          <p:cNvSpPr txBox="1"/>
          <p:nvPr/>
        </p:nvSpPr>
        <p:spPr>
          <a:xfrm>
            <a:off x="16560000" y="20429999"/>
            <a:ext cx="9360000" cy="36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400" b="1">
                <a:solidFill>
                  <a:srgbClr val="002054"/>
                </a:solidFill>
                <a:latin typeface="Arial" panose="020B0604020202020204" pitchFamily="34" charset="0"/>
              </a:rPr>
              <a:t>CALIDAD</a:t>
            </a:r>
          </a:p>
        </p:txBody>
      </p:sp>
      <p:sp>
        <p:nvSpPr>
          <p:cNvPr id="93" name="Paso-texto-2">
            <a:extLst>
              <a:ext uri="{FF2B5EF4-FFF2-40B4-BE49-F238E27FC236}">
                <a16:creationId xmlns:a16="http://schemas.microsoft.com/office/drawing/2014/main" id="{EFE094D2-BC18-0BE5-2E81-DD71BCF3E894}"/>
              </a:ext>
            </a:extLst>
          </p:cNvPr>
          <p:cNvSpPr txBox="1"/>
          <p:nvPr/>
        </p:nvSpPr>
        <p:spPr>
          <a:xfrm>
            <a:off x="16560000" y="20861999"/>
            <a:ext cx="9360000" cy="36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300">
                <a:solidFill>
                  <a:srgbClr val="252B30"/>
                </a:solidFill>
                <a:latin typeface="Arial" panose="020B0604020202020204" pitchFamily="34" charset="0"/>
              </a:rPr>
              <a:t>Integridad, procedencia y exclusiones</a:t>
            </a:r>
          </a:p>
        </p:txBody>
      </p:sp>
      <p:cxnSp>
        <p:nvCxnSpPr>
          <p:cNvPr id="94" name="Paso-flecha-2">
            <a:extLst>
              <a:ext uri="{FF2B5EF4-FFF2-40B4-BE49-F238E27FC236}">
                <a16:creationId xmlns:a16="http://schemas.microsoft.com/office/drawing/2014/main" id="{56C61A0B-20D7-D91C-E2BC-32D6657FCDA7}"/>
              </a:ext>
            </a:extLst>
          </p:cNvPr>
          <p:cNvCxnSpPr/>
          <p:nvPr/>
        </p:nvCxnSpPr>
        <p:spPr>
          <a:xfrm>
            <a:off x="20880000" y="21391200"/>
            <a:ext cx="0" cy="165600"/>
          </a:xfrm>
          <a:prstGeom prst="line">
            <a:avLst/>
          </a:prstGeom>
          <a:ln w="25400">
            <a:solidFill>
              <a:srgbClr val="2E69A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Paso-3">
            <a:extLst>
              <a:ext uri="{FF2B5EF4-FFF2-40B4-BE49-F238E27FC236}">
                <a16:creationId xmlns:a16="http://schemas.microsoft.com/office/drawing/2014/main" id="{740F50BC-887E-2500-3B2D-FC2892450846}"/>
              </a:ext>
            </a:extLst>
          </p:cNvPr>
          <p:cNvSpPr/>
          <p:nvPr/>
        </p:nvSpPr>
        <p:spPr>
          <a:xfrm>
            <a:off x="15479999" y="21564000"/>
            <a:ext cx="10800000" cy="104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6" name="Paso-numero-3">
            <a:extLst>
              <a:ext uri="{FF2B5EF4-FFF2-40B4-BE49-F238E27FC236}">
                <a16:creationId xmlns:a16="http://schemas.microsoft.com/office/drawing/2014/main" id="{F89D735B-E3E0-11A1-03EA-E0CBC95C0CA2}"/>
              </a:ext>
            </a:extLst>
          </p:cNvPr>
          <p:cNvSpPr txBox="1"/>
          <p:nvPr/>
        </p:nvSpPr>
        <p:spPr>
          <a:xfrm>
            <a:off x="15660001" y="21690000"/>
            <a:ext cx="720000" cy="64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200" b="1">
                <a:solidFill>
                  <a:srgbClr val="2E69A8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97" name="Paso-titulo-3">
            <a:extLst>
              <a:ext uri="{FF2B5EF4-FFF2-40B4-BE49-F238E27FC236}">
                <a16:creationId xmlns:a16="http://schemas.microsoft.com/office/drawing/2014/main" id="{FC817357-C706-1FC6-4B25-11C4CC0DCB60}"/>
              </a:ext>
            </a:extLst>
          </p:cNvPr>
          <p:cNvSpPr txBox="1"/>
          <p:nvPr/>
        </p:nvSpPr>
        <p:spPr>
          <a:xfrm>
            <a:off x="16560000" y="21654001"/>
            <a:ext cx="9360000" cy="36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400" b="1">
                <a:solidFill>
                  <a:srgbClr val="002054"/>
                </a:solidFill>
                <a:latin typeface="Arial" panose="020B0604020202020204" pitchFamily="34" charset="0"/>
              </a:rPr>
              <a:t>MÉTRICAS</a:t>
            </a:r>
          </a:p>
        </p:txBody>
      </p:sp>
      <p:sp>
        <p:nvSpPr>
          <p:cNvPr id="98" name="Paso-texto-3">
            <a:extLst>
              <a:ext uri="{FF2B5EF4-FFF2-40B4-BE49-F238E27FC236}">
                <a16:creationId xmlns:a16="http://schemas.microsoft.com/office/drawing/2014/main" id="{B007BCCD-3787-99A0-E5A6-C213BE39423D}"/>
              </a:ext>
            </a:extLst>
          </p:cNvPr>
          <p:cNvSpPr txBox="1"/>
          <p:nvPr/>
        </p:nvSpPr>
        <p:spPr>
          <a:xfrm>
            <a:off x="16560000" y="22086001"/>
            <a:ext cx="9360000" cy="36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300">
                <a:solidFill>
                  <a:srgbClr val="252B30"/>
                </a:solidFill>
                <a:latin typeface="Arial" panose="020B0604020202020204" pitchFamily="34" charset="0"/>
              </a:rPr>
              <a:t>Definición versionada y enlace al evento</a:t>
            </a:r>
          </a:p>
        </p:txBody>
      </p:sp>
      <p:cxnSp>
        <p:nvCxnSpPr>
          <p:cNvPr id="99" name="Paso-flecha-3">
            <a:extLst>
              <a:ext uri="{FF2B5EF4-FFF2-40B4-BE49-F238E27FC236}">
                <a16:creationId xmlns:a16="http://schemas.microsoft.com/office/drawing/2014/main" id="{1909CE2D-707F-4433-222E-5C5B237F310C}"/>
              </a:ext>
            </a:extLst>
          </p:cNvPr>
          <p:cNvCxnSpPr/>
          <p:nvPr/>
        </p:nvCxnSpPr>
        <p:spPr>
          <a:xfrm>
            <a:off x="20880000" y="22615199"/>
            <a:ext cx="0" cy="165601"/>
          </a:xfrm>
          <a:prstGeom prst="line">
            <a:avLst/>
          </a:prstGeom>
          <a:ln w="25400">
            <a:solidFill>
              <a:srgbClr val="2E69A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Paso-4">
            <a:extLst>
              <a:ext uri="{FF2B5EF4-FFF2-40B4-BE49-F238E27FC236}">
                <a16:creationId xmlns:a16="http://schemas.microsoft.com/office/drawing/2014/main" id="{2D9538C0-9B5D-15D6-3755-B6B5D59459C7}"/>
              </a:ext>
            </a:extLst>
          </p:cNvPr>
          <p:cNvSpPr/>
          <p:nvPr/>
        </p:nvSpPr>
        <p:spPr>
          <a:xfrm>
            <a:off x="15479999" y="22788000"/>
            <a:ext cx="10800000" cy="1044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1" name="Paso-numero-4">
            <a:extLst>
              <a:ext uri="{FF2B5EF4-FFF2-40B4-BE49-F238E27FC236}">
                <a16:creationId xmlns:a16="http://schemas.microsoft.com/office/drawing/2014/main" id="{3C405B7A-10E0-95DA-F45F-914A38042215}"/>
              </a:ext>
            </a:extLst>
          </p:cNvPr>
          <p:cNvSpPr txBox="1"/>
          <p:nvPr/>
        </p:nvSpPr>
        <p:spPr>
          <a:xfrm>
            <a:off x="15660001" y="22914000"/>
            <a:ext cx="720000" cy="64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200" b="1">
                <a:solidFill>
                  <a:srgbClr val="2E69A8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02" name="Paso-titulo-4">
            <a:extLst>
              <a:ext uri="{FF2B5EF4-FFF2-40B4-BE49-F238E27FC236}">
                <a16:creationId xmlns:a16="http://schemas.microsoft.com/office/drawing/2014/main" id="{B0DCAD2C-05F4-9D5A-A681-87A72E9B67DC}"/>
              </a:ext>
            </a:extLst>
          </p:cNvPr>
          <p:cNvSpPr txBox="1"/>
          <p:nvPr/>
        </p:nvSpPr>
        <p:spPr>
          <a:xfrm>
            <a:off x="16560000" y="22878000"/>
            <a:ext cx="9360000" cy="36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400" b="1">
                <a:solidFill>
                  <a:srgbClr val="002054"/>
                </a:solidFill>
                <a:latin typeface="Arial" panose="020B0604020202020204" pitchFamily="34" charset="0"/>
              </a:rPr>
              <a:t>ANÁLISIS LONGITUDINAL</a:t>
            </a:r>
          </a:p>
        </p:txBody>
      </p:sp>
      <p:sp>
        <p:nvSpPr>
          <p:cNvPr id="103" name="Paso-texto-4">
            <a:extLst>
              <a:ext uri="{FF2B5EF4-FFF2-40B4-BE49-F238E27FC236}">
                <a16:creationId xmlns:a16="http://schemas.microsoft.com/office/drawing/2014/main" id="{A88DACE3-B321-5EB8-3088-303D06438C49}"/>
              </a:ext>
            </a:extLst>
          </p:cNvPr>
          <p:cNvSpPr txBox="1"/>
          <p:nvPr/>
        </p:nvSpPr>
        <p:spPr>
          <a:xfrm>
            <a:off x="16560000" y="23310000"/>
            <a:ext cx="9360000" cy="36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300">
                <a:solidFill>
                  <a:srgbClr val="252B30"/>
                </a:solidFill>
                <a:latin typeface="Arial" panose="020B0604020202020204" pitchFamily="34" charset="0"/>
              </a:rPr>
              <a:t>Persona, visita, bloque y condición</a:t>
            </a:r>
          </a:p>
        </p:txBody>
      </p:sp>
      <p:sp>
        <p:nvSpPr>
          <p:cNvPr id="104" name="Resultados-frame">
            <a:extLst>
              <a:ext uri="{FF2B5EF4-FFF2-40B4-BE49-F238E27FC236}">
                <a16:creationId xmlns:a16="http://schemas.microsoft.com/office/drawing/2014/main" id="{7E81FEBA-62C2-3A75-EC40-9C965C7A00B1}"/>
              </a:ext>
            </a:extLst>
          </p:cNvPr>
          <p:cNvSpPr/>
          <p:nvPr/>
        </p:nvSpPr>
        <p:spPr>
          <a:xfrm>
            <a:off x="1980000" y="23976000"/>
            <a:ext cx="12240000" cy="86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5" name="Resultados-tab">
            <a:extLst>
              <a:ext uri="{FF2B5EF4-FFF2-40B4-BE49-F238E27FC236}">
                <a16:creationId xmlns:a16="http://schemas.microsoft.com/office/drawing/2014/main" id="{3CFBF55C-D544-8F94-4299-30E1D99D1547}"/>
              </a:ext>
            </a:extLst>
          </p:cNvPr>
          <p:cNvSpPr/>
          <p:nvPr/>
        </p:nvSpPr>
        <p:spPr>
          <a:xfrm>
            <a:off x="2376000" y="23759999"/>
            <a:ext cx="5400000" cy="792000"/>
          </a:xfrm>
          <a:prstGeom prst="roundRect">
            <a:avLst>
              <a:gd name="adj" fmla="val 8000"/>
            </a:avLst>
          </a:prstGeom>
          <a:solidFill>
            <a:srgbClr val="002054"/>
          </a:solidFill>
          <a:ln w="17780">
            <a:solidFill>
              <a:srgbClr val="4B8064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6" name="Resultados-heading">
            <a:extLst>
              <a:ext uri="{FF2B5EF4-FFF2-40B4-BE49-F238E27FC236}">
                <a16:creationId xmlns:a16="http://schemas.microsoft.com/office/drawing/2014/main" id="{4B02CE38-9E62-EEF7-BB66-D7EE93798184}"/>
              </a:ext>
            </a:extLst>
          </p:cNvPr>
          <p:cNvSpPr txBox="1"/>
          <p:nvPr/>
        </p:nvSpPr>
        <p:spPr>
          <a:xfrm>
            <a:off x="2502000" y="23839201"/>
            <a:ext cx="5148000" cy="54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600" b="1">
                <a:solidFill>
                  <a:srgbClr val="FFFFFF"/>
                </a:solidFill>
                <a:latin typeface="Arial" panose="020B0604020202020204" pitchFamily="34" charset="0"/>
              </a:rPr>
              <a:t>RESULTADOS</a:t>
            </a:r>
          </a:p>
        </p:txBody>
      </p:sp>
      <p:sp>
        <p:nvSpPr>
          <p:cNvPr id="107" name="Resultados tipo">
            <a:extLst>
              <a:ext uri="{FF2B5EF4-FFF2-40B4-BE49-F238E27FC236}">
                <a16:creationId xmlns:a16="http://schemas.microsoft.com/office/drawing/2014/main" id="{C2401D9F-FF2F-5341-717C-FEEAE780233E}"/>
              </a:ext>
            </a:extLst>
          </p:cNvPr>
          <p:cNvSpPr txBox="1"/>
          <p:nvPr/>
        </p:nvSpPr>
        <p:spPr>
          <a:xfrm>
            <a:off x="2520000" y="24840000"/>
            <a:ext cx="11160000" cy="396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500" b="1">
                <a:solidFill>
                  <a:srgbClr val="002054"/>
                </a:solidFill>
                <a:latin typeface="Arial" panose="020B0604020202020204" pitchFamily="34" charset="0"/>
              </a:rPr>
              <a:t>CAPACIDADES IMPLEMENTADAS [4]</a:t>
            </a:r>
          </a:p>
        </p:txBody>
      </p:sp>
      <p:sp>
        <p:nvSpPr>
          <p:cNvPr id="108" name="Capacidades">
            <a:extLst>
              <a:ext uri="{FF2B5EF4-FFF2-40B4-BE49-F238E27FC236}">
                <a16:creationId xmlns:a16="http://schemas.microsoft.com/office/drawing/2014/main" id="{8DC012D0-1C9B-00A5-E8D1-7331DED98B2A}"/>
              </a:ext>
            </a:extLst>
          </p:cNvPr>
          <p:cNvSpPr txBox="1"/>
          <p:nvPr/>
        </p:nvSpPr>
        <p:spPr>
          <a:xfrm>
            <a:off x="2520000" y="25560000"/>
            <a:ext cx="11160000" cy="3456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600">
                <a:solidFill>
                  <a:srgbClr val="252B30"/>
                </a:solidFill>
                <a:latin typeface="Arial" panose="020B0604020202020204" pitchFamily="34" charset="0"/>
              </a:rPr>
              <a:t>OpenMATB: vigilancia, seguimiento, comunicaciones y gestión de recursos; escenarios y métricas versionadas.</a:t>
            </a:r>
          </a:p>
          <a:p>
            <a:pPr>
              <a:spcAft>
                <a:spcPts val="400"/>
              </a:spcAft>
            </a:pPr>
            <a:r>
              <a:rPr lang="es-CO" sz="2600">
                <a:solidFill>
                  <a:srgbClr val="252B30"/>
                </a:solidFill>
                <a:latin typeface="Arial" panose="020B0604020202020204" pitchFamily="34" charset="0"/>
              </a:rPr>
              <a:t>Consola: práctica/estudio, evidencia por evento y seguimiento entre visitas.</a:t>
            </a:r>
          </a:p>
          <a:p>
            <a:pPr>
              <a:spcAft>
                <a:spcPts val="400"/>
              </a:spcAft>
            </a:pPr>
            <a:r>
              <a:rPr lang="es-CO" sz="2600">
                <a:solidFill>
                  <a:srgbClr val="252B30"/>
                </a:solidFill>
                <a:latin typeface="Arial" panose="020B0604020202020204" pitchFamily="34" charset="0"/>
              </a:rPr>
              <a:t>Módulos opcionales: supervisión sUAS sintética, simulación FPV y adquisición Polar H10 experimental.</a:t>
            </a:r>
          </a:p>
        </p:txBody>
      </p:sp>
      <p:sp>
        <p:nvSpPr>
          <p:cNvPr id="109" name="Evidencia sintetica panel">
            <a:extLst>
              <a:ext uri="{FF2B5EF4-FFF2-40B4-BE49-F238E27FC236}">
                <a16:creationId xmlns:a16="http://schemas.microsoft.com/office/drawing/2014/main" id="{E1E94D5F-5100-A6D2-7A56-52E1178FBF7E}"/>
              </a:ext>
            </a:extLst>
          </p:cNvPr>
          <p:cNvSpPr/>
          <p:nvPr/>
        </p:nvSpPr>
        <p:spPr>
          <a:xfrm>
            <a:off x="2520000" y="29231999"/>
            <a:ext cx="11160001" cy="28440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0" name="Once">
            <a:extLst>
              <a:ext uri="{FF2B5EF4-FFF2-40B4-BE49-F238E27FC236}">
                <a16:creationId xmlns:a16="http://schemas.microsoft.com/office/drawing/2014/main" id="{B6F464A2-748C-A2B4-3458-E2B0A66119BE}"/>
              </a:ext>
            </a:extLst>
          </p:cNvPr>
          <p:cNvSpPr txBox="1"/>
          <p:nvPr/>
        </p:nvSpPr>
        <p:spPr>
          <a:xfrm>
            <a:off x="2880000" y="29520000"/>
            <a:ext cx="2052000" cy="108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6400" b="1">
                <a:solidFill>
                  <a:srgbClr val="2E69A8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111" name="Once descripcion">
            <a:extLst>
              <a:ext uri="{FF2B5EF4-FFF2-40B4-BE49-F238E27FC236}">
                <a16:creationId xmlns:a16="http://schemas.microsoft.com/office/drawing/2014/main" id="{B5006226-64E2-DF98-0D21-AE29F8FD2146}"/>
              </a:ext>
            </a:extLst>
          </p:cNvPr>
          <p:cNvSpPr txBox="1"/>
          <p:nvPr/>
        </p:nvSpPr>
        <p:spPr>
          <a:xfrm>
            <a:off x="5400000" y="29520000"/>
            <a:ext cx="7920000" cy="136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500" b="1">
                <a:solidFill>
                  <a:srgbClr val="002054"/>
                </a:solidFill>
                <a:latin typeface="Arial" panose="020B0604020202020204" pitchFamily="34" charset="0"/>
              </a:rPr>
              <a:t>MÉTRICAS RECOMPUTADAS</a:t>
            </a:r>
          </a:p>
          <a:p>
            <a:pPr>
              <a:spcAft>
                <a:spcPts val="400"/>
              </a:spcAft>
            </a:pPr>
            <a:r>
              <a:rPr lang="es-CO" sz="2500" b="1">
                <a:solidFill>
                  <a:srgbClr val="002054"/>
                </a:solidFill>
                <a:latin typeface="Arial" panose="020B0604020202020204" pitchFamily="34" charset="0"/>
              </a:rPr>
              <a:t>Valores y enlaces coincidentes</a:t>
            </a:r>
          </a:p>
          <a:p>
            <a:pPr>
              <a:spcAft>
                <a:spcPts val="400"/>
              </a:spcAft>
            </a:pPr>
            <a:r>
              <a:rPr lang="es-CO" sz="2500" b="1">
                <a:solidFill>
                  <a:srgbClr val="002054"/>
                </a:solidFill>
                <a:latin typeface="Arial" panose="020B0604020202020204" pitchFamily="34" charset="0"/>
              </a:rPr>
              <a:t>en un paquete sintético [5].</a:t>
            </a:r>
          </a:p>
        </p:txBody>
      </p:sp>
      <p:sp>
        <p:nvSpPr>
          <p:cNvPr id="112" name="Limitacion entorno">
            <a:extLst>
              <a:ext uri="{FF2B5EF4-FFF2-40B4-BE49-F238E27FC236}">
                <a16:creationId xmlns:a16="http://schemas.microsoft.com/office/drawing/2014/main" id="{247104B2-B69C-31E2-47EC-B6C397F587E9}"/>
              </a:ext>
            </a:extLst>
          </p:cNvPr>
          <p:cNvSpPr txBox="1"/>
          <p:nvPr/>
        </p:nvSpPr>
        <p:spPr>
          <a:xfrm>
            <a:off x="2880000" y="30851999"/>
            <a:ext cx="10440000" cy="118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300">
                <a:solidFill>
                  <a:srgbClr val="252B30"/>
                </a:solidFill>
                <a:latin typeface="Arial" panose="020B0604020202020204" pitchFamily="34" charset="0"/>
              </a:rPr>
              <a:t>Informe revisado: 23-09-2026. Dependencias sin</a:t>
            </a:r>
          </a:p>
          <a:p>
            <a:pPr>
              <a:spcAft>
                <a:spcPts val="400"/>
              </a:spcAft>
            </a:pPr>
            <a:r>
              <a:rPr lang="es-CO" sz="2300">
                <a:solidFill>
                  <a:srgbClr val="252B30"/>
                </a:solidFill>
                <a:latin typeface="Arial" panose="020B0604020202020204" pitchFamily="34" charset="0"/>
              </a:rPr>
              <a:t>coincidencia con el archivo de bloqueo;</a:t>
            </a:r>
          </a:p>
          <a:p>
            <a:pPr>
              <a:spcAft>
                <a:spcPts val="400"/>
              </a:spcAft>
            </a:pPr>
            <a:r>
              <a:rPr lang="es-CO" sz="2300">
                <a:solidFill>
                  <a:srgbClr val="252B30"/>
                </a:solidFill>
                <a:latin typeface="Arial" panose="020B0604020202020204" pitchFamily="34" charset="0"/>
              </a:rPr>
              <a:t>entorno de publicación aún no calificado.</a:t>
            </a:r>
          </a:p>
        </p:txBody>
      </p:sp>
      <p:sp>
        <p:nvSpPr>
          <p:cNvPr id="113" name="Discusion-frame">
            <a:extLst>
              <a:ext uri="{FF2B5EF4-FFF2-40B4-BE49-F238E27FC236}">
                <a16:creationId xmlns:a16="http://schemas.microsoft.com/office/drawing/2014/main" id="{921BEAE4-66A9-968B-F15F-F79A82D200A6}"/>
              </a:ext>
            </a:extLst>
          </p:cNvPr>
          <p:cNvSpPr/>
          <p:nvPr/>
        </p:nvSpPr>
        <p:spPr>
          <a:xfrm>
            <a:off x="14760000" y="25632000"/>
            <a:ext cx="12240002" cy="1209599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4" name="Discusion-tab">
            <a:extLst>
              <a:ext uri="{FF2B5EF4-FFF2-40B4-BE49-F238E27FC236}">
                <a16:creationId xmlns:a16="http://schemas.microsoft.com/office/drawing/2014/main" id="{0DC6E28A-9E62-38C7-1AD8-088E18A54143}"/>
              </a:ext>
            </a:extLst>
          </p:cNvPr>
          <p:cNvSpPr/>
          <p:nvPr/>
        </p:nvSpPr>
        <p:spPr>
          <a:xfrm>
            <a:off x="15156000" y="25416001"/>
            <a:ext cx="6480000" cy="791999"/>
          </a:xfrm>
          <a:prstGeom prst="roundRect">
            <a:avLst>
              <a:gd name="adj" fmla="val 8000"/>
            </a:avLst>
          </a:prstGeom>
          <a:solidFill>
            <a:srgbClr val="002054"/>
          </a:solidFill>
          <a:ln w="17780">
            <a:solidFill>
              <a:srgbClr val="4B8064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5" name="Discusion-heading">
            <a:extLst>
              <a:ext uri="{FF2B5EF4-FFF2-40B4-BE49-F238E27FC236}">
                <a16:creationId xmlns:a16="http://schemas.microsoft.com/office/drawing/2014/main" id="{7A0292A6-76CF-9E58-D907-198334383243}"/>
              </a:ext>
            </a:extLst>
          </p:cNvPr>
          <p:cNvSpPr txBox="1"/>
          <p:nvPr/>
        </p:nvSpPr>
        <p:spPr>
          <a:xfrm>
            <a:off x="15282001" y="25495200"/>
            <a:ext cx="6228000" cy="54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600" b="1">
                <a:solidFill>
                  <a:srgbClr val="FFFFFF"/>
                </a:solidFill>
                <a:latin typeface="Arial" panose="020B0604020202020204" pitchFamily="34" charset="0"/>
              </a:rPr>
              <a:t>DISCUSIÓN</a:t>
            </a:r>
          </a:p>
        </p:txBody>
      </p:sp>
      <p:sp>
        <p:nvSpPr>
          <p:cNvPr id="116" name="Discusion texto">
            <a:extLst>
              <a:ext uri="{FF2B5EF4-FFF2-40B4-BE49-F238E27FC236}">
                <a16:creationId xmlns:a16="http://schemas.microsoft.com/office/drawing/2014/main" id="{08E526FD-BF79-73E3-3368-3209432051B8}"/>
              </a:ext>
            </a:extLst>
          </p:cNvPr>
          <p:cNvSpPr txBox="1"/>
          <p:nvPr/>
        </p:nvSpPr>
        <p:spPr>
          <a:xfrm>
            <a:off x="15299999" y="26496001"/>
            <a:ext cx="11160000" cy="2016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700">
                <a:solidFill>
                  <a:srgbClr val="252B30"/>
                </a:solidFill>
                <a:latin typeface="Arial" panose="020B0604020202020204" pitchFamily="34" charset="0"/>
              </a:rPr>
              <a:t>La trazabilidad permite revisar cómo se obtuvo cada métrica. La disponibilidad de software y la recomputación sintética no establecen por sí solas validez de medición en personas [4,5].</a:t>
            </a:r>
          </a:p>
        </p:txBody>
      </p:sp>
      <p:sp>
        <p:nvSpPr>
          <p:cNvPr id="117" name="Discusion pregunta">
            <a:extLst>
              <a:ext uri="{FF2B5EF4-FFF2-40B4-BE49-F238E27FC236}">
                <a16:creationId xmlns:a16="http://schemas.microsoft.com/office/drawing/2014/main" id="{008F2100-402E-3F79-B428-60DCFC85DE43}"/>
              </a:ext>
            </a:extLst>
          </p:cNvPr>
          <p:cNvSpPr txBox="1"/>
          <p:nvPr/>
        </p:nvSpPr>
        <p:spPr>
          <a:xfrm>
            <a:off x="15479999" y="28836001"/>
            <a:ext cx="10800000" cy="504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700" b="1">
                <a:solidFill>
                  <a:srgbClr val="002054"/>
                </a:solidFill>
                <a:latin typeface="Arial" panose="020B0604020202020204" pitchFamily="34" charset="0"/>
              </a:rPr>
              <a:t>ALCANCE DE LA EVIDENCIA ACTUAL</a:t>
            </a:r>
          </a:p>
        </p:txBody>
      </p:sp>
      <p:sp>
        <p:nvSpPr>
          <p:cNvPr id="118" name="Nivel-0">
            <a:extLst>
              <a:ext uri="{FF2B5EF4-FFF2-40B4-BE49-F238E27FC236}">
                <a16:creationId xmlns:a16="http://schemas.microsoft.com/office/drawing/2014/main" id="{A79DF98C-7B77-1B96-3A29-54AC00150905}"/>
              </a:ext>
            </a:extLst>
          </p:cNvPr>
          <p:cNvSpPr/>
          <p:nvPr/>
        </p:nvSpPr>
        <p:spPr>
          <a:xfrm>
            <a:off x="15479999" y="29700001"/>
            <a:ext cx="10800000" cy="1116000"/>
          </a:xfrm>
          <a:prstGeom prst="rect">
            <a:avLst/>
          </a:prstGeom>
          <a:solidFill>
            <a:srgbClr val="002054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9" name="Nivel-titulo-0">
            <a:extLst>
              <a:ext uri="{FF2B5EF4-FFF2-40B4-BE49-F238E27FC236}">
                <a16:creationId xmlns:a16="http://schemas.microsoft.com/office/drawing/2014/main" id="{90136CDB-E018-C2C6-CD6D-B18B41D496DA}"/>
              </a:ext>
            </a:extLst>
          </p:cNvPr>
          <p:cNvSpPr txBox="1"/>
          <p:nvPr/>
        </p:nvSpPr>
        <p:spPr>
          <a:xfrm>
            <a:off x="15731999" y="29826000"/>
            <a:ext cx="10296000" cy="432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500" b="1">
                <a:solidFill>
                  <a:srgbClr val="FFFFFF"/>
                </a:solidFill>
                <a:latin typeface="Arial" panose="020B0604020202020204" pitchFamily="34" charset="0"/>
              </a:rPr>
              <a:t>VERIFICACIÓN DE SOFTWARE</a:t>
            </a:r>
          </a:p>
        </p:txBody>
      </p:sp>
      <p:sp>
        <p:nvSpPr>
          <p:cNvPr id="120" name="Nivel-texto-0">
            <a:extLst>
              <a:ext uri="{FF2B5EF4-FFF2-40B4-BE49-F238E27FC236}">
                <a16:creationId xmlns:a16="http://schemas.microsoft.com/office/drawing/2014/main" id="{642AEA5F-A877-FD34-E41C-484BBB73CECF}"/>
              </a:ext>
            </a:extLst>
          </p:cNvPr>
          <p:cNvSpPr txBox="1"/>
          <p:nvPr/>
        </p:nvSpPr>
        <p:spPr>
          <a:xfrm>
            <a:off x="15731999" y="30293999"/>
            <a:ext cx="10296000" cy="396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200">
                <a:solidFill>
                  <a:srgbClr val="FFFFFF"/>
                </a:solidFill>
                <a:latin typeface="Arial" panose="020B0604020202020204" pitchFamily="34" charset="0"/>
              </a:rPr>
              <a:t>Evidencia técnica y sintética documentada</a:t>
            </a:r>
          </a:p>
        </p:txBody>
      </p:sp>
      <p:sp>
        <p:nvSpPr>
          <p:cNvPr id="121" name="Nivel-1">
            <a:extLst>
              <a:ext uri="{FF2B5EF4-FFF2-40B4-BE49-F238E27FC236}">
                <a16:creationId xmlns:a16="http://schemas.microsoft.com/office/drawing/2014/main" id="{83403C25-EC1A-34A3-67F0-831362529F13}"/>
              </a:ext>
            </a:extLst>
          </p:cNvPr>
          <p:cNvSpPr/>
          <p:nvPr/>
        </p:nvSpPr>
        <p:spPr>
          <a:xfrm>
            <a:off x="15479999" y="31032000"/>
            <a:ext cx="10800000" cy="1116001"/>
          </a:xfrm>
          <a:prstGeom prst="rect">
            <a:avLst/>
          </a:prstGeom>
          <a:solidFill>
            <a:srgbClr val="EAF1F7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2" name="Nivel-titulo-1">
            <a:extLst>
              <a:ext uri="{FF2B5EF4-FFF2-40B4-BE49-F238E27FC236}">
                <a16:creationId xmlns:a16="http://schemas.microsoft.com/office/drawing/2014/main" id="{711B8C20-976E-869C-F877-9E4C50305538}"/>
              </a:ext>
            </a:extLst>
          </p:cNvPr>
          <p:cNvSpPr txBox="1"/>
          <p:nvPr/>
        </p:nvSpPr>
        <p:spPr>
          <a:xfrm>
            <a:off x="15731999" y="31157999"/>
            <a:ext cx="10296000" cy="432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500" b="1">
                <a:solidFill>
                  <a:srgbClr val="252B30"/>
                </a:solidFill>
                <a:latin typeface="Arial" panose="020B0604020202020204" pitchFamily="34" charset="0"/>
              </a:rPr>
              <a:t>TIEMPO FÍSICO</a:t>
            </a:r>
          </a:p>
        </p:txBody>
      </p:sp>
      <p:sp>
        <p:nvSpPr>
          <p:cNvPr id="123" name="Nivel-texto-1">
            <a:extLst>
              <a:ext uri="{FF2B5EF4-FFF2-40B4-BE49-F238E27FC236}">
                <a16:creationId xmlns:a16="http://schemas.microsoft.com/office/drawing/2014/main" id="{D4653424-37A5-78C1-C960-C28A00EA88D8}"/>
              </a:ext>
            </a:extLst>
          </p:cNvPr>
          <p:cNvSpPr txBox="1"/>
          <p:nvPr/>
        </p:nvSpPr>
        <p:spPr>
          <a:xfrm>
            <a:off x="15731999" y="31626001"/>
            <a:ext cx="10296000" cy="396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200">
                <a:solidFill>
                  <a:srgbClr val="252B30"/>
                </a:solidFill>
                <a:latin typeface="Arial" panose="020B0604020202020204" pitchFamily="34" charset="0"/>
              </a:rPr>
              <a:t>Calificación pendiente en el equipo utilizado</a:t>
            </a:r>
          </a:p>
        </p:txBody>
      </p:sp>
      <p:sp>
        <p:nvSpPr>
          <p:cNvPr id="124" name="Nivel-2">
            <a:extLst>
              <a:ext uri="{FF2B5EF4-FFF2-40B4-BE49-F238E27FC236}">
                <a16:creationId xmlns:a16="http://schemas.microsoft.com/office/drawing/2014/main" id="{F5BCF76E-801E-3219-9D9C-E1DF068BE0D7}"/>
              </a:ext>
            </a:extLst>
          </p:cNvPr>
          <p:cNvSpPr/>
          <p:nvPr/>
        </p:nvSpPr>
        <p:spPr>
          <a:xfrm>
            <a:off x="15479999" y="32364000"/>
            <a:ext cx="10800000" cy="1116000"/>
          </a:xfrm>
          <a:prstGeom prst="rect">
            <a:avLst/>
          </a:prstGeom>
          <a:solidFill>
            <a:srgbClr val="EAF1F7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5" name="Nivel-titulo-2">
            <a:extLst>
              <a:ext uri="{FF2B5EF4-FFF2-40B4-BE49-F238E27FC236}">
                <a16:creationId xmlns:a16="http://schemas.microsoft.com/office/drawing/2014/main" id="{FA3F2A3C-53B6-8D91-6885-41C2EE39FDBF}"/>
              </a:ext>
            </a:extLst>
          </p:cNvPr>
          <p:cNvSpPr txBox="1"/>
          <p:nvPr/>
        </p:nvSpPr>
        <p:spPr>
          <a:xfrm>
            <a:off x="15731999" y="32490001"/>
            <a:ext cx="10296000" cy="432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500" b="1">
                <a:solidFill>
                  <a:srgbClr val="252B30"/>
                </a:solidFill>
                <a:latin typeface="Arial" panose="020B0604020202020204" pitchFamily="34" charset="0"/>
              </a:rPr>
              <a:t>CALIBRACIÓN HUMANA</a:t>
            </a:r>
          </a:p>
        </p:txBody>
      </p:sp>
      <p:sp>
        <p:nvSpPr>
          <p:cNvPr id="126" name="Nivel-texto-2">
            <a:extLst>
              <a:ext uri="{FF2B5EF4-FFF2-40B4-BE49-F238E27FC236}">
                <a16:creationId xmlns:a16="http://schemas.microsoft.com/office/drawing/2014/main" id="{C0F7C9FF-0C26-3A2D-71B5-94183C275E44}"/>
              </a:ext>
            </a:extLst>
          </p:cNvPr>
          <p:cNvSpPr txBox="1"/>
          <p:nvPr/>
        </p:nvSpPr>
        <p:spPr>
          <a:xfrm>
            <a:off x="15731999" y="32958001"/>
            <a:ext cx="10296000" cy="396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200">
                <a:solidFill>
                  <a:srgbClr val="252B30"/>
                </a:solidFill>
                <a:latin typeface="Arial" panose="020B0604020202020204" pitchFamily="34" charset="0"/>
              </a:rPr>
              <a:t>Demanda experimental pendiente de calibración</a:t>
            </a:r>
          </a:p>
        </p:txBody>
      </p:sp>
      <p:sp>
        <p:nvSpPr>
          <p:cNvPr id="127" name="Nivel-3">
            <a:extLst>
              <a:ext uri="{FF2B5EF4-FFF2-40B4-BE49-F238E27FC236}">
                <a16:creationId xmlns:a16="http://schemas.microsoft.com/office/drawing/2014/main" id="{1FC20195-B3CD-9D8A-8709-DF809C7DE0CB}"/>
              </a:ext>
            </a:extLst>
          </p:cNvPr>
          <p:cNvSpPr/>
          <p:nvPr/>
        </p:nvSpPr>
        <p:spPr>
          <a:xfrm>
            <a:off x="15479999" y="33695999"/>
            <a:ext cx="10800000" cy="1116000"/>
          </a:xfrm>
          <a:prstGeom prst="rect">
            <a:avLst/>
          </a:prstGeom>
          <a:solidFill>
            <a:srgbClr val="EAF1F7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8" name="Nivel-titulo-3">
            <a:extLst>
              <a:ext uri="{FF2B5EF4-FFF2-40B4-BE49-F238E27FC236}">
                <a16:creationId xmlns:a16="http://schemas.microsoft.com/office/drawing/2014/main" id="{95974BA0-CDC4-69AA-7512-6663A36802A5}"/>
              </a:ext>
            </a:extLst>
          </p:cNvPr>
          <p:cNvSpPr txBox="1"/>
          <p:nvPr/>
        </p:nvSpPr>
        <p:spPr>
          <a:xfrm>
            <a:off x="15731999" y="33822001"/>
            <a:ext cx="10296000" cy="432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500" b="1">
                <a:solidFill>
                  <a:srgbClr val="252B30"/>
                </a:solidFill>
                <a:latin typeface="Arial" panose="020B0604020202020204" pitchFamily="34" charset="0"/>
              </a:rPr>
              <a:t>CONFIABILIDAD Y VALIDEZ</a:t>
            </a:r>
          </a:p>
        </p:txBody>
      </p:sp>
      <p:sp>
        <p:nvSpPr>
          <p:cNvPr id="129" name="Nivel-texto-3">
            <a:extLst>
              <a:ext uri="{FF2B5EF4-FFF2-40B4-BE49-F238E27FC236}">
                <a16:creationId xmlns:a16="http://schemas.microsoft.com/office/drawing/2014/main" id="{F6797F2F-96F6-D612-6F54-DFDF445A22A9}"/>
              </a:ext>
            </a:extLst>
          </p:cNvPr>
          <p:cNvSpPr txBox="1"/>
          <p:nvPr/>
        </p:nvSpPr>
        <p:spPr>
          <a:xfrm>
            <a:off x="15731999" y="34290000"/>
            <a:ext cx="10296000" cy="396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200">
                <a:solidFill>
                  <a:srgbClr val="252B30"/>
                </a:solidFill>
                <a:latin typeface="Arial" panose="020B0604020202020204" pitchFamily="34" charset="0"/>
              </a:rPr>
              <a:t>Evaluación con participantes pendiente</a:t>
            </a:r>
          </a:p>
        </p:txBody>
      </p:sp>
      <p:sp>
        <p:nvSpPr>
          <p:cNvPr id="130" name="Nivel-4">
            <a:extLst>
              <a:ext uri="{FF2B5EF4-FFF2-40B4-BE49-F238E27FC236}">
                <a16:creationId xmlns:a16="http://schemas.microsoft.com/office/drawing/2014/main" id="{46DEF8E5-DC92-8AC8-1508-A54C57CF6724}"/>
              </a:ext>
            </a:extLst>
          </p:cNvPr>
          <p:cNvSpPr/>
          <p:nvPr/>
        </p:nvSpPr>
        <p:spPr>
          <a:xfrm>
            <a:off x="15479999" y="35028001"/>
            <a:ext cx="10800000" cy="1116001"/>
          </a:xfrm>
          <a:prstGeom prst="rect">
            <a:avLst/>
          </a:prstGeom>
          <a:solidFill>
            <a:srgbClr val="EAF1F7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1" name="Nivel-titulo-4">
            <a:extLst>
              <a:ext uri="{FF2B5EF4-FFF2-40B4-BE49-F238E27FC236}">
                <a16:creationId xmlns:a16="http://schemas.microsoft.com/office/drawing/2014/main" id="{5F16BCB8-3A05-A286-B767-82E0F07B2227}"/>
              </a:ext>
            </a:extLst>
          </p:cNvPr>
          <p:cNvSpPr txBox="1"/>
          <p:nvPr/>
        </p:nvSpPr>
        <p:spPr>
          <a:xfrm>
            <a:off x="15731999" y="35154000"/>
            <a:ext cx="10296000" cy="432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500" b="1">
                <a:solidFill>
                  <a:srgbClr val="252B30"/>
                </a:solidFill>
                <a:latin typeface="Arial" panose="020B0604020202020204" pitchFamily="34" charset="0"/>
              </a:rPr>
              <a:t>TRANSFERENCIA EXTERNA</a:t>
            </a:r>
          </a:p>
        </p:txBody>
      </p:sp>
      <p:sp>
        <p:nvSpPr>
          <p:cNvPr id="132" name="Nivel-texto-4">
            <a:extLst>
              <a:ext uri="{FF2B5EF4-FFF2-40B4-BE49-F238E27FC236}">
                <a16:creationId xmlns:a16="http://schemas.microsoft.com/office/drawing/2014/main" id="{09CA1271-88CD-1EB8-176B-854F91A6FE08}"/>
              </a:ext>
            </a:extLst>
          </p:cNvPr>
          <p:cNvSpPr txBox="1"/>
          <p:nvPr/>
        </p:nvSpPr>
        <p:spPr>
          <a:xfrm>
            <a:off x="15731999" y="35621999"/>
            <a:ext cx="10296000" cy="396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200">
                <a:solidFill>
                  <a:srgbClr val="252B30"/>
                </a:solidFill>
                <a:latin typeface="Arial" panose="020B0604020202020204" pitchFamily="34" charset="0"/>
              </a:rPr>
              <a:t>Sin evidencia de transferencia operacional</a:t>
            </a:r>
          </a:p>
        </p:txBody>
      </p:sp>
      <p:sp>
        <p:nvSpPr>
          <p:cNvPr id="133" name="Limite inferencial">
            <a:extLst>
              <a:ext uri="{FF2B5EF4-FFF2-40B4-BE49-F238E27FC236}">
                <a16:creationId xmlns:a16="http://schemas.microsoft.com/office/drawing/2014/main" id="{E7F94E11-8914-673F-9083-C0457F781DE3}"/>
              </a:ext>
            </a:extLst>
          </p:cNvPr>
          <p:cNvSpPr txBox="1"/>
          <p:nvPr/>
        </p:nvSpPr>
        <p:spPr>
          <a:xfrm>
            <a:off x="15479999" y="36720001"/>
            <a:ext cx="10800000" cy="612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2400" b="1">
                <a:solidFill>
                  <a:srgbClr val="002054"/>
                </a:solidFill>
                <a:latin typeface="Arial" panose="020B0604020202020204" pitchFamily="34" charset="0"/>
              </a:rPr>
              <a:t>Uso de investigación; sin diagnóstico ni calificación de aptitud.</a:t>
            </a:r>
          </a:p>
        </p:txBody>
      </p:sp>
      <p:sp>
        <p:nvSpPr>
          <p:cNvPr id="134" name="Conclusiones-frame">
            <a:extLst>
              <a:ext uri="{FF2B5EF4-FFF2-40B4-BE49-F238E27FC236}">
                <a16:creationId xmlns:a16="http://schemas.microsoft.com/office/drawing/2014/main" id="{85982ED3-0BE0-C267-4D5F-D2434C8DF7BC}"/>
              </a:ext>
            </a:extLst>
          </p:cNvPr>
          <p:cNvSpPr/>
          <p:nvPr/>
        </p:nvSpPr>
        <p:spPr>
          <a:xfrm>
            <a:off x="1980000" y="33660001"/>
            <a:ext cx="12240000" cy="406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5" name="Conclusiones-tab">
            <a:extLst>
              <a:ext uri="{FF2B5EF4-FFF2-40B4-BE49-F238E27FC236}">
                <a16:creationId xmlns:a16="http://schemas.microsoft.com/office/drawing/2014/main" id="{127AF916-343C-719B-1D3B-106EEB4A9B37}"/>
              </a:ext>
            </a:extLst>
          </p:cNvPr>
          <p:cNvSpPr/>
          <p:nvPr/>
        </p:nvSpPr>
        <p:spPr>
          <a:xfrm>
            <a:off x="2376000" y="33443999"/>
            <a:ext cx="6480000" cy="792001"/>
          </a:xfrm>
          <a:prstGeom prst="roundRect">
            <a:avLst>
              <a:gd name="adj" fmla="val 8000"/>
            </a:avLst>
          </a:prstGeom>
          <a:solidFill>
            <a:srgbClr val="002054"/>
          </a:solidFill>
          <a:ln w="17780">
            <a:solidFill>
              <a:srgbClr val="4B8064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6" name="Conclusiones-heading">
            <a:extLst>
              <a:ext uri="{FF2B5EF4-FFF2-40B4-BE49-F238E27FC236}">
                <a16:creationId xmlns:a16="http://schemas.microsoft.com/office/drawing/2014/main" id="{6FEEA997-8CA7-45E9-3958-5D2C153EE010}"/>
              </a:ext>
            </a:extLst>
          </p:cNvPr>
          <p:cNvSpPr txBox="1"/>
          <p:nvPr/>
        </p:nvSpPr>
        <p:spPr>
          <a:xfrm>
            <a:off x="2502000" y="33523200"/>
            <a:ext cx="6228000" cy="54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600" b="1">
                <a:solidFill>
                  <a:srgbClr val="FFFFFF"/>
                </a:solidFill>
                <a:latin typeface="Arial" panose="020B0604020202020204" pitchFamily="34" charset="0"/>
              </a:rPr>
              <a:t>CONCLUSIONES</a:t>
            </a:r>
          </a:p>
        </p:txBody>
      </p:sp>
      <p:sp>
        <p:nvSpPr>
          <p:cNvPr id="137" name="Conclusiones texto">
            <a:extLst>
              <a:ext uri="{FF2B5EF4-FFF2-40B4-BE49-F238E27FC236}">
                <a16:creationId xmlns:a16="http://schemas.microsoft.com/office/drawing/2014/main" id="{C3CAFA27-5E8F-1349-76C2-5441F65193A4}"/>
              </a:ext>
            </a:extLst>
          </p:cNvPr>
          <p:cNvSpPr txBox="1"/>
          <p:nvPr/>
        </p:nvSpPr>
        <p:spPr>
          <a:xfrm>
            <a:off x="2520000" y="34559999"/>
            <a:ext cx="11160000" cy="2808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700">
                <a:solidFill>
                  <a:srgbClr val="252B30"/>
                </a:solidFill>
                <a:latin typeface="Arial" panose="020B0604020202020204" pitchFamily="34" charset="0"/>
              </a:rPr>
              <a:t>La contribución es vincular configuración, evento, calidad y métrica en un flujo auditable.</a:t>
            </a:r>
          </a:p>
          <a:p>
            <a:pPr>
              <a:spcAft>
                <a:spcPts val="400"/>
              </a:spcAft>
            </a:pPr>
            <a:r>
              <a:rPr lang="es-CO" sz="2700">
                <a:solidFill>
                  <a:srgbClr val="252B30"/>
                </a:solidFill>
                <a:latin typeface="Arial" panose="020B0604020202020204" pitchFamily="34" charset="0"/>
              </a:rPr>
              <a:t>El seguimiento longitudinal conserva separados desempeño, carga percibida y fisiología.</a:t>
            </a:r>
          </a:p>
          <a:p>
            <a:pPr>
              <a:spcAft>
                <a:spcPts val="400"/>
              </a:spcAft>
            </a:pPr>
            <a:r>
              <a:rPr lang="es-CO" sz="2700">
                <a:solidFill>
                  <a:srgbClr val="252B30"/>
                </a:solidFill>
                <a:latin typeface="Arial" panose="020B0604020202020204" pitchFamily="34" charset="0"/>
              </a:rPr>
              <a:t>La siguiente etapa requiere calificar el equipo y evaluar calibración, confiabilidad y validez con participantes.</a:t>
            </a:r>
          </a:p>
        </p:txBody>
      </p:sp>
      <p:sp>
        <p:nvSpPr>
          <p:cNvPr id="138" name="Referencias-frame">
            <a:extLst>
              <a:ext uri="{FF2B5EF4-FFF2-40B4-BE49-F238E27FC236}">
                <a16:creationId xmlns:a16="http://schemas.microsoft.com/office/drawing/2014/main" id="{8E061332-7E40-A453-18ED-66A8886200F5}"/>
              </a:ext>
            </a:extLst>
          </p:cNvPr>
          <p:cNvSpPr/>
          <p:nvPr/>
        </p:nvSpPr>
        <p:spPr>
          <a:xfrm>
            <a:off x="1980000" y="39023999"/>
            <a:ext cx="25020002" cy="31320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5B5B5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9" name="Referencias-tab">
            <a:extLst>
              <a:ext uri="{FF2B5EF4-FFF2-40B4-BE49-F238E27FC236}">
                <a16:creationId xmlns:a16="http://schemas.microsoft.com/office/drawing/2014/main" id="{FC55D033-98B3-1455-578C-22F3DFA26FDC}"/>
              </a:ext>
            </a:extLst>
          </p:cNvPr>
          <p:cNvSpPr/>
          <p:nvPr/>
        </p:nvSpPr>
        <p:spPr>
          <a:xfrm>
            <a:off x="2376000" y="38808000"/>
            <a:ext cx="5400000" cy="792001"/>
          </a:xfrm>
          <a:prstGeom prst="roundRect">
            <a:avLst>
              <a:gd name="adj" fmla="val 8000"/>
            </a:avLst>
          </a:prstGeom>
          <a:solidFill>
            <a:srgbClr val="002054"/>
          </a:solidFill>
          <a:ln w="17780">
            <a:solidFill>
              <a:srgbClr val="4B8064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0" name="Referencias-heading">
            <a:extLst>
              <a:ext uri="{FF2B5EF4-FFF2-40B4-BE49-F238E27FC236}">
                <a16:creationId xmlns:a16="http://schemas.microsoft.com/office/drawing/2014/main" id="{AE27A788-5EDD-3334-F9B7-4A252AFEA28D}"/>
              </a:ext>
            </a:extLst>
          </p:cNvPr>
          <p:cNvSpPr txBox="1"/>
          <p:nvPr/>
        </p:nvSpPr>
        <p:spPr>
          <a:xfrm>
            <a:off x="2502000" y="38887198"/>
            <a:ext cx="5148000" cy="54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CO" sz="3600" b="1">
                <a:solidFill>
                  <a:srgbClr val="FFFFFF"/>
                </a:solidFill>
                <a:latin typeface="Arial" panose="020B0604020202020204" pitchFamily="34" charset="0"/>
              </a:rPr>
              <a:t>REFERENCIAS</a:t>
            </a:r>
          </a:p>
        </p:txBody>
      </p:sp>
      <p:sp>
        <p:nvSpPr>
          <p:cNvPr id="141" name="Referencias texto">
            <a:extLst>
              <a:ext uri="{FF2B5EF4-FFF2-40B4-BE49-F238E27FC236}">
                <a16:creationId xmlns:a16="http://schemas.microsoft.com/office/drawing/2014/main" id="{F5248474-CF5D-2093-9F2D-8FE7A3181F93}"/>
              </a:ext>
            </a:extLst>
          </p:cNvPr>
          <p:cNvSpPr txBox="1"/>
          <p:nvPr/>
        </p:nvSpPr>
        <p:spPr>
          <a:xfrm>
            <a:off x="2340000" y="39743999"/>
            <a:ext cx="24300000" cy="1980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100">
                <a:solidFill>
                  <a:srgbClr val="252B30"/>
                </a:solidFill>
                <a:latin typeface="Arial" panose="020B0604020202020204" pitchFamily="34" charset="0"/>
              </a:rPr>
              <a:t>[1] Cegarra J. et al. OpenMATB. Behav Res Methods. 2020;52:1980–1990. doi:10.3758/s13428-020-01364-w.</a:t>
            </a:r>
          </a:p>
          <a:p>
            <a:pPr>
              <a:spcAft>
                <a:spcPts val="400"/>
              </a:spcAft>
            </a:pPr>
            <a:r>
              <a:rPr lang="es-CO" sz="2100">
                <a:solidFill>
                  <a:srgbClr val="252B30"/>
                </a:solidFill>
                <a:latin typeface="Arial" panose="020B0604020202020204" pitchFamily="34" charset="0"/>
              </a:rPr>
              <a:t>[2] Pontiggia A. et al. MATB for assessing different mental workload levels. Front Physiol. 2024;15:1408242. doi:10.3389/fphys.2024.1408242.</a:t>
            </a:r>
          </a:p>
          <a:p>
            <a:pPr>
              <a:spcAft>
                <a:spcPts val="400"/>
              </a:spcAft>
            </a:pPr>
            <a:r>
              <a:rPr lang="es-CO" sz="2100">
                <a:solidFill>
                  <a:srgbClr val="252B30"/>
                </a:solidFill>
                <a:latin typeface="Arial" panose="020B0604020202020204" pitchFamily="34" charset="0"/>
              </a:rPr>
              <a:t>[3] Vogl J. et al. The USAARL Multi-Attribute Task Battery. Front Neuroergon. 2024;5:1435588. doi:10.3389/fnrgo.2024.1435588.</a:t>
            </a:r>
          </a:p>
          <a:p>
            <a:pPr>
              <a:spcAft>
                <a:spcPts val="400"/>
              </a:spcAft>
            </a:pPr>
            <a:r>
              <a:rPr lang="es-CO" sz="2100">
                <a:solidFill>
                  <a:srgbClr val="252B30"/>
                </a:solidFill>
                <a:latin typeface="Arial" panose="020B0604020202020204" pitchFamily="34" charset="0"/>
              </a:rPr>
              <a:t>[4] MATB-FAC. Código y documentación técnica. Revisión e7173321ac85, 23-09-2026.</a:t>
            </a:r>
          </a:p>
          <a:p>
            <a:pPr>
              <a:spcAft>
                <a:spcPts val="400"/>
              </a:spcAft>
            </a:pPr>
            <a:r>
              <a:rPr lang="es-CO" sz="2100">
                <a:solidFill>
                  <a:srgbClr val="252B30"/>
                </a:solidFill>
                <a:latin typeface="Arial" panose="020B0604020202020204" pitchFamily="34" charset="0"/>
              </a:rPr>
              <a:t>[5] MATB-FAC. Verificación sintética de exportación EMAVI. Código de origen 24d37b52da71; informe revisado el 23-09-2026.</a:t>
            </a:r>
          </a:p>
        </p:txBody>
      </p:sp>
      <p:sp>
        <p:nvSpPr>
          <p:cNvPr id="142" name="Siglas adicionales">
            <a:extLst>
              <a:ext uri="{FF2B5EF4-FFF2-40B4-BE49-F238E27FC236}">
                <a16:creationId xmlns:a16="http://schemas.microsoft.com/office/drawing/2014/main" id="{C1F7556D-5A3C-CBB0-BFC9-650ECE92269B}"/>
              </a:ext>
            </a:extLst>
          </p:cNvPr>
          <p:cNvSpPr txBox="1"/>
          <p:nvPr/>
        </p:nvSpPr>
        <p:spPr>
          <a:xfrm>
            <a:off x="2340000" y="41760000"/>
            <a:ext cx="24300000" cy="324000"/>
          </a:xfrm>
          <a:prstGeom prst="rect">
            <a:avLst/>
          </a:prstGeom>
          <a:noFill/>
        </p:spPr>
        <p:txBody>
          <a:bodyPr vert="horz" wrap="square" lIns="50800" tIns="0" rIns="5080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s-CO" sz="2000">
                <a:solidFill>
                  <a:srgbClr val="535D65"/>
                </a:solidFill>
                <a:latin typeface="Arial" panose="020B0604020202020204" pitchFamily="34" charset="0"/>
              </a:rPr>
              <a:t>sUAS: sistema de aeronave pequeña no tripulada. FPV: visión en primera persona. Fuentes y límites: auditoría adjunta.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790</Words>
  <Application>Microsoft Office PowerPoint</Application>
  <PresentationFormat>Custom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MATB-FAC: plataforma de investigación del desempeño humano y la carga mental</dc:title>
  <dc:subject>Póster científico EMAVI 2026: capacidades implementadas y alcance de la evidencia técnica</dc:subject>
  <dc:creator>Diego Leonel Malpica Hincapié</dc:creator>
  <cp:keywords>MATB-FAC, OpenMATB, carga mental, desempeño humano, trazabilidad, simulación</cp:keywords>
  <dc:description>Actualizado el 23-09-2026. Evidencia sintética histórica diferenciada de la validación humana pendiente. Véase la auditoría adjunta.</dc:description>
  <cp:lastModifiedBy>SMSM16. DIEGO LEONEL MALPICA HINCAPIE</cp:lastModifiedBy>
  <cp:revision>3</cp:revision>
  <dcterms:created xsi:type="dcterms:W3CDTF">2013-01-27T09:14:16Z</dcterms:created>
  <dcterms:modified xsi:type="dcterms:W3CDTF">2026-09-23T20:32:06Z</dcterms:modified>
  <cp:category>
  </cp:category>
</cp:coreProperties>
</file>