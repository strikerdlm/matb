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88004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" d="100"/>
          <a:sy n="12" d="100"/>
        </p:scale>
        <p:origin x="1867" y="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276" y="-190"/>
            <a:ext cx="28800552" cy="43200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51000" y="5867400"/>
            <a:ext cx="25527000" cy="3238500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32000" y="10985500"/>
            <a:ext cx="24765000" cy="2298700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33600" y="15341600"/>
            <a:ext cx="12065000" cy="1752600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4935199" y="15087600"/>
            <a:ext cx="12039600" cy="1168400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59000" y="24434800"/>
            <a:ext cx="11785600" cy="7543800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4986000" y="26289000"/>
            <a:ext cx="11747500" cy="10998200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59000" y="34188400"/>
            <a:ext cx="11747500" cy="2908300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59000" y="38900100"/>
            <a:ext cx="24536400" cy="2514600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32000" y="5994400"/>
            <a:ext cx="24739600" cy="144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4300" b="1" i="0" dirty="0">
                <a:solidFill>
                  <a:srgbClr val="000000"/>
                </a:solidFill>
                <a:latin typeface="Aptos"/>
              </a:rPr>
              <a:t>PLATAFORMA INTEGRADA PARA ESTUDIAR DESEMPEÑO HUMANO
EN AERONAVES NO TRIPULADAS CON VISIÓN EN PRIMERA PERSONA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7518399"/>
            <a:ext cx="224536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Diego Leonel Malpica </a:t>
            </a:r>
            <a:r>
              <a:rPr sz="28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Hincapié</a:t>
            </a:r>
            <a:endParaRPr sz="2800" b="0" i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75000" y="7986625"/>
            <a:ext cx="22453600" cy="3462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diego.malpica@fac.mil.co  ·  ORCID: 0000-0002-2257-4940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4000" y="8418424"/>
            <a:ext cx="23215600" cy="3462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Fuerza</a:t>
            </a:r>
            <a:r>
              <a:rPr sz="225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5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Aeroespacial</a:t>
            </a:r>
            <a:r>
              <a:rPr sz="225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Colombiana  ·  </a:t>
            </a:r>
            <a:r>
              <a:rPr sz="225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</a:t>
            </a:r>
            <a:r>
              <a:rPr sz="225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Medicina </a:t>
            </a:r>
            <a:r>
              <a:rPr sz="225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Aeroespacial</a:t>
            </a:r>
            <a:r>
              <a:rPr sz="225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·  Bogotá, Colombia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9000" y="11023600"/>
            <a:ext cx="24384000" cy="2430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400" b="1" i="0" dirty="0" err="1">
                <a:solidFill>
                  <a:srgbClr val="172033"/>
                </a:solidFill>
                <a:latin typeface="Arial"/>
              </a:rPr>
              <a:t>Resumen</a:t>
            </a:r>
            <a:r>
              <a:rPr sz="2400" b="1" i="0" dirty="0">
                <a:solidFill>
                  <a:srgbClr val="172033"/>
                </a:solidFill>
                <a:latin typeface="Arial"/>
              </a:rPr>
              <a:t>. 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Se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auditó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una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plataforma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que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integra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OpenMATB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,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telemetría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Liftoff,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simulación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sUAS y Polar H10 para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estudiar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multitarea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, control FPV y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contexto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fisiológico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en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visitas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repetidas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.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Frente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a NASA MATB-II, AF-MATB,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OpenMATB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y USAARL MATB,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su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aporte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es la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amplitud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integrada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y la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procedencia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reproducible; la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validación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humana y la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transferencia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siguen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pendientes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.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400" b="1" i="0" dirty="0">
                <a:solidFill>
                  <a:srgbClr val="172033"/>
                </a:solidFill>
                <a:latin typeface="Arial"/>
              </a:rPr>
              <a:t>Abstract. 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The platform links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OpenMATB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, Liftoff telemetry, a synthetic sUAS mission and Polar H10 for longitudinal study of multitasking, FPV control and physiological context. Current evidence supports software conformance and auditable provenance, not human validity or operational use.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400" b="1" i="0" dirty="0">
                <a:solidFill>
                  <a:srgbClr val="172033"/>
                </a:solidFill>
                <a:latin typeface="Arial"/>
              </a:rPr>
              <a:t>Palabras clave / Keywords: 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carga mental;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desempeño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humano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;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factores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humanos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; FPV;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simulación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; sUAS.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2400" b="1" i="0" dirty="0" err="1">
                <a:solidFill>
                  <a:srgbClr val="172033"/>
                </a:solidFill>
                <a:latin typeface="Arial"/>
              </a:rPr>
              <a:t>Siglas</a:t>
            </a:r>
            <a:r>
              <a:rPr sz="2400" b="1" i="0" dirty="0">
                <a:solidFill>
                  <a:srgbClr val="172033"/>
                </a:solidFill>
                <a:latin typeface="Arial"/>
              </a:rPr>
              <a:t>: 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FPV =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visión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en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primera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persona; MATB =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batería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multitarea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de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atributos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múltiples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; sUAS =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sistema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de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aeronave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no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tripulada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pequeña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3300" y="15198134"/>
            <a:ext cx="11328400" cy="1859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sUAS/FPV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deben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coordinar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control manual,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vigilancia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comunicaciones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decisiones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bajo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presión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temporal. MATB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manipular la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demanda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forma reproducible,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mide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solo la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destreza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FPV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estado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El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integrar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dominios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sin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convertirlos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calificación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única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51100" y="15028242"/>
            <a:ext cx="113284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dirty="0" err="1">
                <a:solidFill>
                  <a:srgbClr val="172033"/>
                </a:solidFill>
                <a:latin typeface="Arial"/>
              </a:rPr>
              <a:t>Investigación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tecnológica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y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auditoría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documental del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repositorio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congelado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. Se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mapearon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constructos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, se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compararon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cinco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familias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MATB y se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clasificó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la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evidencia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en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conformidad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de software,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tiempo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físico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,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calibración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humana y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validez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739600"/>
            <a:ext cx="111125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conformidad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no son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humanos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3500" y="25527000"/>
            <a:ext cx="5334000" cy="241300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94A7B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55900" y="25831800"/>
            <a:ext cx="1168400" cy="180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0" b="1" i="0">
                <a:solidFill>
                  <a:srgbClr val="2E75B6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500" y="25869900"/>
            <a:ext cx="3746500" cy="482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20" b="1" i="0">
                <a:solidFill>
                  <a:srgbClr val="172033"/>
                </a:solidFill>
                <a:latin typeface="Arial"/>
              </a:rPr>
              <a:t>CAPAS INTEGRADAS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0500" y="26441400"/>
            <a:ext cx="3746500" cy="1092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50" b="0" i="0">
                <a:solidFill>
                  <a:srgbClr val="172033"/>
                </a:solidFill>
                <a:latin typeface="Arial"/>
              </a:rPr>
              <a:t>tareas · carga/SA · fisiología
procedencia · análisis longitudinal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6900" y="25527000"/>
            <a:ext cx="5334000" cy="2413000"/>
          </a:xfrm>
          <a:prstGeom prst="roundRect">
            <a:avLst/>
          </a:prstGeom>
          <a:solidFill>
            <a:srgbClr val="D9E2F3"/>
          </a:solidFill>
          <a:ln w="15240">
            <a:solidFill>
              <a:srgbClr val="94A7B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9300" y="25831800"/>
            <a:ext cx="1168400" cy="180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0" b="1" i="0">
                <a:solidFill>
                  <a:srgbClr val="002060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3900" y="25869900"/>
            <a:ext cx="3746500" cy="482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20" b="1" i="0">
                <a:solidFill>
                  <a:srgbClr val="172033"/>
                </a:solidFill>
                <a:latin typeface="Arial"/>
              </a:rPr>
              <a:t>CLASES DE EVIDENCIA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3900" y="26441400"/>
            <a:ext cx="3746500" cy="1092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50" b="0" i="0">
                <a:solidFill>
                  <a:srgbClr val="172033"/>
                </a:solidFill>
                <a:latin typeface="Arial"/>
              </a:rPr>
              <a:t>software · tiempo físico
calibración · validez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3500" y="28194000"/>
            <a:ext cx="5334000" cy="241300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94A7B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55900" y="28498800"/>
            <a:ext cx="1168400" cy="180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0" b="1" i="0">
                <a:solidFill>
                  <a:srgbClr val="2E75B6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500" y="28536900"/>
            <a:ext cx="3746500" cy="482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20" b="1" i="0">
                <a:solidFill>
                  <a:srgbClr val="172033"/>
                </a:solidFill>
                <a:latin typeface="Arial"/>
              </a:rPr>
              <a:t>VISITAS PROPUESTAS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0500" y="29108400"/>
            <a:ext cx="3746500" cy="1092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50" b="0" i="0">
                <a:solidFill>
                  <a:srgbClr val="172033"/>
                </a:solidFill>
                <a:latin typeface="Arial"/>
              </a:rPr>
              <a:t>T0  ·  DM8  ·  DM15
diseño intraindividual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6900" y="28194000"/>
            <a:ext cx="5334000" cy="241300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94A7B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9300" y="28498800"/>
            <a:ext cx="1168400" cy="180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0" b="1" i="0">
                <a:solidFill>
                  <a:srgbClr val="A61B1B"/>
                </a:solidFill>
                <a:latin typeface="Arial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3900" y="28536900"/>
            <a:ext cx="3746500" cy="482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20" b="1" i="0">
                <a:solidFill>
                  <a:srgbClr val="172033"/>
                </a:solidFill>
                <a:latin typeface="Arial"/>
              </a:rPr>
              <a:t>DECISIONES OPERACIONALES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3900" y="29108400"/>
            <a:ext cx="3746500" cy="1092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50" b="0" i="0">
                <a:solidFill>
                  <a:srgbClr val="172033"/>
                </a:solidFill>
                <a:latin typeface="Arial"/>
              </a:rPr>
              <a:t>sin diagnóstico, aptitud
ni autorización de misión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67000" y="30911800"/>
            <a:ext cx="107569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0" b="1" i="0">
                <a:solidFill>
                  <a:srgbClr val="052B6B"/>
                </a:solidFill>
                <a:latin typeface="Arial"/>
              </a:rPr>
              <a:t>Implementado: integración OpenMATB + Liftoff + sUAS + Polar H10, español aeronáutico y artefactos verificables.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367000" y="26606500"/>
            <a:ext cx="109855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plataforma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amplía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cobertura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MATB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hacia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sUAS/FPV,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amplitud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funcional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validez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científica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son </a:t>
            </a:r>
            <a:r>
              <a:rPr sz="2400" b="0" i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equivalentes</a:t>
            </a:r>
            <a:r>
              <a:rPr sz="2400" b="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383000" y="27990800"/>
            <a:ext cx="9017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50" b="1" i="0">
                <a:solidFill>
                  <a:srgbClr val="052B6B"/>
                </a:solidFill>
                <a:latin typeface="Arial"/>
              </a:rPr>
              <a:t>¿Hasta dónde permite inferir la evidencia actual?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811500" y="28956000"/>
            <a:ext cx="6858000" cy="965200"/>
          </a:xfrm>
          <a:prstGeom prst="rect">
            <a:avLst/>
          </a:prstGeom>
          <a:solidFill>
            <a:srgbClr val="002060"/>
          </a:solidFill>
          <a:ln w="13970">
            <a:solidFill>
              <a:srgbClr val="052B6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065499" y="29083000"/>
            <a:ext cx="64008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30" b="1" i="0">
                <a:solidFill>
                  <a:srgbClr val="FFFFFF"/>
                </a:solidFill>
                <a:latin typeface="Arial"/>
              </a:rPr>
              <a:t>1  CONFORMIDAD DE SOFTWARE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811500" y="30251400"/>
            <a:ext cx="7620000" cy="965200"/>
          </a:xfrm>
          <a:prstGeom prst="rect">
            <a:avLst/>
          </a:prstGeom>
          <a:solidFill>
            <a:srgbClr val="2E75B6"/>
          </a:solidFill>
          <a:ln w="13970">
            <a:solidFill>
              <a:srgbClr val="052B6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6065499" y="30378400"/>
            <a:ext cx="71628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30" b="1" i="0">
                <a:solidFill>
                  <a:srgbClr val="FFFFFF"/>
                </a:solidFill>
                <a:latin typeface="Arial"/>
              </a:rPr>
              <a:t>2  TIEMPO FÍSICO DEL EQUIPO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811500" y="31546800"/>
            <a:ext cx="8381999" cy="965200"/>
          </a:xfrm>
          <a:prstGeom prst="rect">
            <a:avLst/>
          </a:prstGeom>
          <a:solidFill>
            <a:srgbClr val="5B9BD5"/>
          </a:solidFill>
          <a:ln w="13970">
            <a:solidFill>
              <a:srgbClr val="052B6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065499" y="31673799"/>
            <a:ext cx="7924799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30" b="1" i="0">
                <a:solidFill>
                  <a:srgbClr val="172033"/>
                </a:solidFill>
                <a:latin typeface="Arial"/>
              </a:rPr>
              <a:t>3  CALIBRACIÓN HUMANA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811500" y="32842199"/>
            <a:ext cx="9144000" cy="965200"/>
          </a:xfrm>
          <a:prstGeom prst="rect">
            <a:avLst/>
          </a:prstGeom>
          <a:solidFill>
            <a:srgbClr val="D9E2F3"/>
          </a:solidFill>
          <a:ln w="13970">
            <a:solidFill>
              <a:srgbClr val="052B6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6065499" y="32969200"/>
            <a:ext cx="86868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30" b="1" i="0">
                <a:solidFill>
                  <a:srgbClr val="172033"/>
                </a:solidFill>
                <a:latin typeface="Arial"/>
              </a:rPr>
              <a:t>4  CONFIABILIDAD Y VALIDEZ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811500" y="34137600"/>
            <a:ext cx="9906000" cy="965200"/>
          </a:xfrm>
          <a:prstGeom prst="rect">
            <a:avLst/>
          </a:prstGeom>
          <a:solidFill>
            <a:srgbClr val="D9E1EA"/>
          </a:solidFill>
          <a:ln w="13970">
            <a:solidFill>
              <a:srgbClr val="052B6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6065499" y="34264600"/>
            <a:ext cx="94488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30" b="1" i="0">
                <a:solidFill>
                  <a:srgbClr val="172033"/>
                </a:solidFill>
                <a:latin typeface="Arial"/>
              </a:rPr>
              <a:t>5  TRANSFERENCIA Y USO OPERACIONAL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139400" y="28956000"/>
            <a:ext cx="3048000" cy="965200"/>
          </a:xfrm>
          <a:prstGeom prst="roundRect">
            <a:avLst/>
          </a:prstGeom>
          <a:solidFill>
            <a:srgbClr val="F4B183"/>
          </a:solidFill>
          <a:ln w="13970">
            <a:solidFill>
              <a:srgbClr val="C6591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266400" y="29019500"/>
            <a:ext cx="2794000" cy="825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1820" b="1" i="0">
                <a:solidFill>
                  <a:srgbClr val="7F2F00"/>
                </a:solidFill>
                <a:latin typeface="Arial"/>
              </a:rPr>
              <a:t>EVIDENCIA
ACTUAL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256000" y="36195000"/>
            <a:ext cx="9398000" cy="66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80" b="1" i="0" dirty="0" err="1">
                <a:solidFill>
                  <a:srgbClr val="A61B1B"/>
                </a:solidFill>
                <a:latin typeface="Arial"/>
              </a:rPr>
              <a:t>Desempeño</a:t>
            </a:r>
            <a:r>
              <a:rPr sz="1880" b="1" i="0" dirty="0">
                <a:solidFill>
                  <a:srgbClr val="A61B1B"/>
                </a:solidFill>
                <a:latin typeface="Arial"/>
              </a:rPr>
              <a:t>, carga y </a:t>
            </a:r>
            <a:r>
              <a:rPr sz="1880" b="1" i="0" dirty="0" err="1">
                <a:solidFill>
                  <a:srgbClr val="A61B1B"/>
                </a:solidFill>
                <a:latin typeface="Arial"/>
              </a:rPr>
              <a:t>fisiología</a:t>
            </a:r>
            <a:r>
              <a:rPr sz="1880" b="1" i="0" dirty="0">
                <a:solidFill>
                  <a:srgbClr val="A61B1B"/>
                </a:solidFill>
                <a:latin typeface="Arial"/>
              </a:rPr>
              <a:t> </a:t>
            </a:r>
            <a:r>
              <a:rPr sz="1880" b="1" i="0" dirty="0" err="1">
                <a:solidFill>
                  <a:srgbClr val="A61B1B"/>
                </a:solidFill>
                <a:latin typeface="Arial"/>
              </a:rPr>
              <a:t>deben</a:t>
            </a:r>
            <a:r>
              <a:rPr sz="1880" b="1" i="0" dirty="0">
                <a:solidFill>
                  <a:srgbClr val="A61B1B"/>
                </a:solidFill>
                <a:latin typeface="Arial"/>
              </a:rPr>
              <a:t> </a:t>
            </a:r>
            <a:r>
              <a:rPr sz="1880" b="1" i="0" dirty="0" err="1">
                <a:solidFill>
                  <a:srgbClr val="A61B1B"/>
                </a:solidFill>
                <a:latin typeface="Arial"/>
              </a:rPr>
              <a:t>conservarse</a:t>
            </a:r>
            <a:r>
              <a:rPr sz="1880" b="1" i="0" dirty="0">
                <a:solidFill>
                  <a:srgbClr val="A61B1B"/>
                </a:solidFill>
                <a:latin typeface="Arial"/>
              </a:rPr>
              <a:t> </a:t>
            </a:r>
            <a:r>
              <a:rPr sz="1880" b="1" i="0" dirty="0" err="1">
                <a:solidFill>
                  <a:srgbClr val="A61B1B"/>
                </a:solidFill>
                <a:latin typeface="Arial"/>
              </a:rPr>
              <a:t>como</a:t>
            </a:r>
            <a:r>
              <a:rPr sz="1880" b="1" i="0" dirty="0">
                <a:solidFill>
                  <a:srgbClr val="A61B1B"/>
                </a:solidFill>
                <a:latin typeface="Arial"/>
              </a:rPr>
              <a:t> </a:t>
            </a:r>
            <a:r>
              <a:rPr sz="1880" b="1" i="0" dirty="0" err="1">
                <a:solidFill>
                  <a:srgbClr val="A61B1B"/>
                </a:solidFill>
                <a:latin typeface="Arial"/>
              </a:rPr>
              <a:t>dominios</a:t>
            </a:r>
            <a:r>
              <a:rPr sz="1880" b="1" i="0" dirty="0">
                <a:solidFill>
                  <a:srgbClr val="A61B1B"/>
                </a:solidFill>
                <a:latin typeface="Arial"/>
              </a:rPr>
              <a:t> </a:t>
            </a:r>
            <a:r>
              <a:rPr sz="1880" b="1" i="0" dirty="0" err="1">
                <a:solidFill>
                  <a:srgbClr val="A61B1B"/>
                </a:solidFill>
                <a:latin typeface="Arial"/>
              </a:rPr>
              <a:t>separados</a:t>
            </a:r>
            <a:r>
              <a:rPr sz="1880" b="1" i="0" dirty="0">
                <a:solidFill>
                  <a:srgbClr val="A61B1B"/>
                </a:solidFill>
                <a:latin typeface="Arial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01900" y="34417000"/>
            <a:ext cx="11112500" cy="2476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2400" b="1" i="0" dirty="0">
                <a:solidFill>
                  <a:srgbClr val="172033"/>
                </a:solidFill>
                <a:latin typeface="Arial"/>
              </a:rPr>
              <a:t>• La </a:t>
            </a:r>
            <a:r>
              <a:rPr sz="2400" b="1" i="0" dirty="0" err="1">
                <a:solidFill>
                  <a:srgbClr val="172033"/>
                </a:solidFill>
                <a:latin typeface="Arial"/>
              </a:rPr>
              <a:t>innovación</a:t>
            </a:r>
            <a:r>
              <a:rPr sz="2400" b="1" i="0" dirty="0">
                <a:solidFill>
                  <a:srgbClr val="172033"/>
                </a:solidFill>
                <a:latin typeface="Arial"/>
              </a:rPr>
              <a:t> principal 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es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integrar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tareas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,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fisiología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,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contexto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y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procedencia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en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un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flujo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longitudinal.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2400" b="1" i="0" dirty="0">
                <a:solidFill>
                  <a:srgbClr val="172033"/>
                </a:solidFill>
                <a:latin typeface="Arial"/>
              </a:rPr>
              <a:t>• MATB y Liftoff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miden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dominios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complementarios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; no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deben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fusionarse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en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un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puntaje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único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2400" b="1" i="0" dirty="0">
                <a:solidFill>
                  <a:srgbClr val="172033"/>
                </a:solidFill>
                <a:latin typeface="Arial"/>
              </a:rPr>
              <a:t>• La </a:t>
            </a:r>
            <a:r>
              <a:rPr sz="2400" b="1" i="0" dirty="0" err="1">
                <a:solidFill>
                  <a:srgbClr val="172033"/>
                </a:solidFill>
                <a:latin typeface="Arial"/>
              </a:rPr>
              <a:t>siguiente</a:t>
            </a:r>
            <a:r>
              <a:rPr sz="2400" b="1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72033"/>
                </a:solidFill>
                <a:latin typeface="Arial"/>
              </a:rPr>
              <a:t>fase</a:t>
            </a:r>
            <a:r>
              <a:rPr sz="2400" b="1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requiere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participantes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,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ética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,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calibración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, test–retest y </a:t>
            </a:r>
            <a:r>
              <a:rPr sz="2400" b="0" i="0" dirty="0" err="1">
                <a:solidFill>
                  <a:srgbClr val="172033"/>
                </a:solidFill>
                <a:latin typeface="Arial"/>
              </a:rPr>
              <a:t>validación</a:t>
            </a:r>
            <a:r>
              <a:rPr sz="2400" b="0" i="0" dirty="0">
                <a:solidFill>
                  <a:srgbClr val="172033"/>
                </a:solidFill>
                <a:latin typeface="Arial"/>
              </a:rPr>
              <a:t> externa.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8867835"/>
            <a:ext cx="24130000" cy="2954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dirty="0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 Cegarra J. et al. </a:t>
            </a:r>
            <a:r>
              <a:rPr sz="2400" b="0" i="0" dirty="0" err="1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</a:t>
            </a:r>
            <a:r>
              <a:rPr sz="2400" b="0" i="0" dirty="0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 Methods. 2020;52:1980–1990. doi:10.3758/s13428-020-01364-w.  </a:t>
            </a:r>
            <a:endParaRPr lang="es-CO" sz="2400" b="0" i="0" dirty="0">
              <a:solidFill>
                <a:srgbClr val="1720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r>
              <a:rPr sz="2400" b="0" i="0" dirty="0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 Miller W.D. et al. An Updated Version of AF-MATB. USAF; 2014. doi:10.21236/ADA611870.  </a:t>
            </a:r>
            <a:endParaRPr lang="es-CO" sz="2400" b="0" i="0" dirty="0">
              <a:solidFill>
                <a:srgbClr val="1720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r>
              <a:rPr sz="2400" b="0" i="0" dirty="0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 Vogl J. et al. Front </a:t>
            </a:r>
            <a:r>
              <a:rPr sz="2400" b="0" i="0" dirty="0" err="1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Neuroergon</a:t>
            </a:r>
            <a:r>
              <a:rPr sz="2400" b="0" i="0" dirty="0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2024;5:1435588. doi:10.3389/fnrgo.2024.1435588.
[4] </a:t>
            </a:r>
            <a:r>
              <a:rPr sz="2400" b="0" i="0" dirty="0" err="1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Pontiggia</a:t>
            </a:r>
            <a:r>
              <a:rPr sz="2400" b="0" i="0" dirty="0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A. et al. Front Physiol. 2024;15:1408242. doi:10.3389/fphys.2024.1408242.  </a:t>
            </a:r>
            <a:endParaRPr lang="es-CO" sz="2400" b="0" i="0" dirty="0">
              <a:solidFill>
                <a:srgbClr val="1720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r>
              <a:rPr sz="2400" b="0" i="0" dirty="0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[5] Kunde S. et al. IEEE Robot Autom Lett. 2022;7:2345–2352. doi:10.1109/LRA.2022.3142451.  </a:t>
            </a:r>
            <a:endParaRPr lang="es-CO" sz="2400" b="0" i="0" dirty="0">
              <a:solidFill>
                <a:srgbClr val="1720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r>
              <a:rPr sz="2400" b="0" i="0" dirty="0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[6] Somerville A. et al. Drones. 2024;8:640. doi:10.3390/drones8110640.
[7] Harris D. et al. Front Psychol. 2020;11:605. doi:10.3389/fpsyg.2020.00605. </a:t>
            </a:r>
            <a:endParaRPr lang="es-CO" sz="2400" b="0" i="0" dirty="0">
              <a:solidFill>
                <a:srgbClr val="1720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</a:pPr>
            <a:r>
              <a:rPr sz="2400" b="0" i="0" dirty="0">
                <a:solidFill>
                  <a:srgbClr val="17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[8] Malpica D.L. MATB Research Platform, commit d9f0882c6ef6, 3 Sep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666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integrada para estudiar desempeño humano en aeronaves no tripuladas con visión en primera persona</dc:title>
  <dc:subject>Póster científico EMAVI 2026 - MATB, Liftoff, sUAS y factores humanos</dc:subject>
  <dc:creator>Diego Leonel Malpica Hincapié</dc:creator>
  <cp:keywords>MATB, Liftoff, sUAS, FPV, factores humanos, carga mental</cp:keywords>
  <dc:description>Formato visual basado en el archivo de referencia EMAVI conservando lienzo, encabezado, secciones y proporciones.</dc:description>
  <cp:lastModifiedBy>SMSM16. DIEGO LEONEL MALPICA HINCAPIE</cp:lastModifiedBy>
  <cp:revision>2</cp:revision>
  <dcterms:created xsi:type="dcterms:W3CDTF">2013-01-27T09:14:16Z</dcterms:created>
  <dcterms:modified xsi:type="dcterms:W3CDTF">2026-09-04T13:01:36Z</dcterms:modified>
  <cp:category/>
</cp:coreProperties>
</file>