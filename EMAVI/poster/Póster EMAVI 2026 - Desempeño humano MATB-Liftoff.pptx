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1" d="100"/>
          <a:sy n="41" d="100"/>
        </p:scale>
        <p:origin x="125" y="-30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https://invessoft.app/evento/SemanaEmavi2026 (plantilla y requisitos del evento)</a:t>
            </a:r>
          </a:p>
          <a:p>
            <a:r>
              <a:t>- https://doi.org/10.3758/s13428-020-01364-w (OpenMATB y repetición experimental)</a:t>
            </a:r>
          </a:p>
          <a:p>
            <a:r>
              <a:t>- https://doi.org/10.1518/001872008X288394 (recursos múltiples y carga mental)</a:t>
            </a:r>
          </a:p>
          <a:p>
            <a:r>
              <a:t>- https://doi.org/10.3389/fphys.2024.1408242 (heterogeneidad de configuraciones MATB)</a:t>
            </a:r>
          </a:p>
          <a:p>
            <a:r>
              <a:t>- https://doi.org/10.3390/s24123723 (variabilidad cardiaca y carga mental en pilotos)</a:t>
            </a:r>
          </a:p>
          <a:p>
            <a:r>
              <a:t>- Artículo EMAVI 2026 - Integración MATB-Liftoff.md (resultados sintéticos y límites)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E0FFC-EEBC-4CB6-9981-9AFC3946C8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0032" y="7070108"/>
            <a:ext cx="24480361" cy="15040222"/>
          </a:xfrm>
        </p:spPr>
        <p:txBody>
          <a:bodyPr anchor="b"/>
          <a:lstStyle>
            <a:lvl1pPr algn="ctr">
              <a:buNone/>
              <a:defRPr sz="18898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76F73-3026-4134-9278-C4710BF81D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00053" y="22690338"/>
            <a:ext cx="21600319" cy="10430151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t>Haga clic para modificar el estilo de subtítulo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232CF-616D-43CE-B08F-E85A7F0A7EE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C88705-2FD9-4462-8EB2-1A71100C582D}" type="datetimeFigureOut">
              <a:t>3/09/2026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37D29-4244-4E21-9322-AE6CAA5796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9EBE5-389B-4085-8893-3441D14368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214C88-8574-4AD8-BEE1-F8283D49D3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484F7-C755-4B7C-B52A-A5B7FD593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D1C6F2-7640-4DD2-B101-BF1A7C593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AF4AEA-9E81-4EE8-ADC6-EBE885459F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C88705-2FD9-4462-8EB2-1A71100C582D}" type="datetimeFigureOut">
              <a:t>3/09/2026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7D526-619D-4B32-BEFA-62DE82DD27A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3336E-0708-4753-962D-E67D4E6710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214C88-8574-4AD8-BEE1-F8283D49D3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82FA-CD99-47F0-BCAE-DC8CA04CF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5030" y="10770172"/>
            <a:ext cx="24840367" cy="17970262"/>
          </a:xfrm>
        </p:spPr>
        <p:txBody>
          <a:bodyPr anchor="b"/>
          <a:lstStyle>
            <a:lvl1pPr>
              <a:buNone/>
              <a:defRPr sz="18898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7C038-659D-434C-9207-273120BF9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65030" y="28910440"/>
            <a:ext cx="24840367" cy="9450136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82000"/>
                  </a:schemeClr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1AFA4F-FD50-49A9-B918-D9EFCA8971C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C88705-2FD9-4462-8EB2-1A71100C582D}" type="datetimeFigureOut">
              <a:t>3/09/2026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C55E5-9C6F-4223-B6A8-491895B7A7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A8F0F-2082-4E52-81EA-2D48202781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214C88-8574-4AD8-BEE1-F8283D49D3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4F765-5C0F-497C-B0E9-8C794C87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B0D93-D6D5-437D-9AB1-478EE9724D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0029" y="11500170"/>
            <a:ext cx="12240181" cy="2741040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51F12-F2B2-447B-BCDD-ED8656639D0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4580215" y="11500170"/>
            <a:ext cx="12240181" cy="27410408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FD0C5-3EF9-438C-8E53-93BEBCC8BD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C88705-2FD9-4462-8EB2-1A71100C582D}" type="datetimeFigureOut">
              <a:t>3/09/2026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28A18-CEE6-4AB3-92E8-EC1C87BD0C6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C274A-8263-4E7E-B47F-2594467A1B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214C88-8574-4AD8-BEE1-F8283D49D3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AE00-0C39-49A2-82B5-7E0E1093A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780" y="2300044"/>
            <a:ext cx="24840367" cy="8350126"/>
          </a:xfrm>
        </p:spPr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BAFC11-6776-4D5B-9B6F-134965EF9E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3784" y="10590160"/>
            <a:ext cx="12183928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1EE5E-A6EC-4E6C-902B-0448CCAEBEB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1983784" y="15780233"/>
            <a:ext cx="12183928" cy="23210346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DC652A-A95D-4CAE-87D7-DB71D5B1CE2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4580217" y="10590160"/>
            <a:ext cx="12243932" cy="5190073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C2D57-1D16-45BB-9D07-8A67B7F1027E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14580217" y="15780233"/>
            <a:ext cx="12243932" cy="23210346"/>
          </a:xfrm>
        </p:spPr>
        <p:txBody>
          <a:bodyPr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99FB6E-4D67-467B-BE29-1AB485537C2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C88705-2FD9-4462-8EB2-1A71100C582D}" type="datetimeFigureOut">
              <a:t>3/09/2026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537428-B638-4135-9A0C-232CEE7516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21F001-DA17-4526-9465-ED48932C48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214C88-8574-4AD8-BEE1-F8283D49D3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9D38A-D4C1-45AB-B0AC-AD5E15513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ADFE5E-FE8F-4CFD-800E-4EB86709938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C88705-2FD9-4462-8EB2-1A71100C582D}" type="datetimeFigureOut">
              <a:t>3/09/2026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CD1C09-B7DD-4A32-BB14-0459BA701B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BAC7F8-DCF5-47F7-ADF7-DE7CD1819B4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214C88-8574-4AD8-BEE1-F8283D49D3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A0CE40-1FD3-4141-83F8-B44AA840E5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C88705-2FD9-4462-8EB2-1A71100C582D}" type="datetimeFigureOut">
              <a:t>3/09/2026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0F5DF-A8A7-4469-93BE-6F20E03546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BFECB-B32D-4597-B4FB-956545E2A78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214C88-8574-4AD8-BEE1-F8283D49D3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2532-4EDA-4639-BAD4-0774C265A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buNone/>
              <a:defRPr sz="10079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E4621-C3F8-4771-8F59-4A26957A6E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3932" y="6220102"/>
            <a:ext cx="14580215" cy="30700453"/>
          </a:xfrm>
        </p:spPr>
        <p:txBody>
          <a:bodyPr/>
          <a:lstStyle>
            <a:lvl1pPr>
              <a:buNone/>
              <a:defRPr sz="10079"/>
            </a:lvl1pPr>
            <a:lvl2pPr>
              <a:buNone/>
              <a:defRPr sz="8819"/>
            </a:lvl2pPr>
            <a:lvl3pPr>
              <a:buNone/>
              <a:defRPr sz="7559"/>
            </a:lvl3pPr>
            <a:lvl4pPr>
              <a:buNone/>
              <a:defRPr sz="6299"/>
            </a:lvl4pPr>
            <a:lvl5pPr>
              <a:buNone/>
              <a:defRPr sz="6299"/>
            </a:lvl5pPr>
            <a:lvl6pPr>
              <a:buNone/>
              <a:defRPr sz="6299"/>
            </a:lvl6pPr>
            <a:lvl7pPr>
              <a:buNone/>
              <a:defRPr sz="6299"/>
            </a:lvl7pPr>
            <a:lvl8pPr>
              <a:buNone/>
              <a:defRPr sz="6299"/>
            </a:lvl8pPr>
            <a:lvl9pPr>
              <a:buNone/>
              <a:defRPr sz="6299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601B6-725E-4479-9352-B57EF5BF6A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C93AD-1F00-4215-B890-20D660CA0F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C88705-2FD9-4462-8EB2-1A71100C582D}" type="datetimeFigureOut">
              <a:t>3/09/2026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4A9BA-BEB2-40BA-9244-9BA6FD528B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EC1B0C-744C-4A3A-B98F-28581DA24B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214C88-8574-4AD8-BEE1-F8283D49D3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56DBC-83D5-4BA9-BA77-D9AF69AF4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3780" y="2880042"/>
            <a:ext cx="9288887" cy="10080149"/>
          </a:xfrm>
        </p:spPr>
        <p:txBody>
          <a:bodyPr anchor="b"/>
          <a:lstStyle>
            <a:lvl1pPr>
              <a:buNone/>
              <a:defRPr sz="10079"/>
            </a:lvl1pPr>
          </a:lstStyle>
          <a:p>
            <a:r>
              <a:t>Haga clic para modificar el estilo de título del patrón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BB883C-ABDF-4A50-9BED-98FA1503D9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243932" y="6220102"/>
            <a:ext cx="14580215" cy="30700453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t>Haga clic en el icono para agregar una imagen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20D60F-9C3A-44E1-A887-0CC22E183DB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83780" y="12960191"/>
            <a:ext cx="9288887" cy="24010358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>
              <a:buNone/>
            </a:pPr>
            <a:r>
              <a:t>Haga clic para modificar los estilos de texto del patrón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19E5B-446C-4800-A649-D628997B224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C88705-2FD9-4462-8EB2-1A71100C582D}" type="datetimeFigureOut">
              <a:t>3/09/2026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C0891-2E08-4CAE-BADC-31B8FD1ADD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BF4BC-BAEC-4951-A173-6A3336EA73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214C88-8574-4AD8-BEE1-F8283D49D3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F72E-6D9D-4A38-B3CE-DC6E98E7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Haga clic para modificar el estilo de título del patrón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613206-C163-452D-AB94-393C360A8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506F4-D57F-47F4-9B14-8DE6F34130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C88705-2FD9-4462-8EB2-1A71100C582D}" type="datetimeFigureOut">
              <a:t>3/09/2026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E930D-D3BA-4C00-9F48-FB76C4965A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E1A4A-85FE-43F9-BD5E-A37FBC1A0A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214C88-8574-4AD8-BEE1-F8283D49D3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87FA5E-BDDD-44F0-9293-8EB2D5ED7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10306" y="2300034"/>
            <a:ext cx="6210092" cy="36610544"/>
          </a:xfrm>
        </p:spPr>
        <p:txBody>
          <a:bodyPr vert="eaVert"/>
          <a:lstStyle/>
          <a:p>
            <a:r>
              <a:t>Haga clic para modificar el estilo de título del patrón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ADBEF-D5E9-4785-8C87-0F8EC6551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0031" y="2300034"/>
            <a:ext cx="18270270" cy="36610544"/>
          </a:xfrm>
        </p:spPr>
        <p:txBody>
          <a:bodyPr vert="eaVert"/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5D1D5-D7E7-40EE-B738-C7AD7F2B71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C88705-2FD9-4462-8EB2-1A71100C582D}" type="datetimeFigureOut">
              <a:t>3/09/2026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F2727-D5C4-4300-8694-3A7E885014B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AAA21-8607-4AB7-8676-1BD437E306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D0214C88-8574-4AD8-BEE1-F8283D49D31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687511-208D-408D-B1EB-B7D4A0F12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0029" y="2300044"/>
            <a:ext cx="24840367" cy="8350126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Haga clic para modificar el estilo de título del patrón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94C70-F84E-44F8-BDCA-80F6012CB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0029" y="11500170"/>
            <a:ext cx="24840367" cy="2741040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Haga clic para modificar los estilos de texto del patrón</a:t>
            </a:r>
          </a:p>
          <a:p>
            <a:pPr lvl="1">
              <a:buNone/>
            </a:pPr>
            <a:r>
              <a:t>Segundo nivel</a:t>
            </a:r>
          </a:p>
          <a:p>
            <a:pPr lvl="2">
              <a:buNone/>
            </a:pPr>
            <a:r>
              <a:t>Tercer nivel</a:t>
            </a:r>
          </a:p>
          <a:p>
            <a:pPr lvl="3">
              <a:buNone/>
            </a:pPr>
            <a:r>
              <a:t>Cuarto nivel</a:t>
            </a:r>
          </a:p>
          <a:p>
            <a:pPr lvl="4">
              <a:buNone/>
            </a:pPr>
            <a:r>
              <a:t>Quinto nivel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88F99-BFD4-4B06-B6ED-9FD4E0B9A132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1980029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88705-2FD9-4462-8EB2-1A71100C582D}" type="datetimeFigureOut">
              <a:t>3/09/2026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103E1-53B6-46FE-8B70-4412B818DAA5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9540141" y="40040601"/>
            <a:ext cx="9720143" cy="230003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49B72-6BF0-4177-A242-0A8897B6F4B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20340300" y="40040601"/>
            <a:ext cx="6480096" cy="2300034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214C88-8574-4AD8-BEE1-F8283D49D31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880086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720021" indent="-720021" algn="l" defTabSz="2880086">
        <a:lnSpc>
          <a:spcPct val="90000"/>
        </a:lnSpc>
        <a:spcBef>
          <a:spcPts val="3150"/>
        </a:spcBef>
        <a:buFont typeface="Arial"/>
        <a:buChar char="•"/>
        <a:defRPr sz="8819" kern="1200">
          <a:solidFill>
            <a:schemeClr val="tx1"/>
          </a:solidFill>
          <a:latin typeface="+mn-lt"/>
          <a:ea typeface="+mn-lt"/>
          <a:cs typeface="+mn-lt"/>
        </a:defRPr>
      </a:lvl1pPr>
      <a:lvl2pPr marL="2160064" indent="-720021" algn="l" defTabSz="2880086">
        <a:lnSpc>
          <a:spcPct val="90000"/>
        </a:lnSpc>
        <a:spcBef>
          <a:spcPts val="1575"/>
        </a:spcBef>
        <a:buFont typeface="Arial"/>
        <a:buChar char="•"/>
        <a:defRPr sz="7559" kern="1200">
          <a:solidFill>
            <a:schemeClr val="tx1"/>
          </a:solidFill>
          <a:latin typeface="+mn-lt"/>
          <a:ea typeface="+mn-lt"/>
          <a:cs typeface="+mn-lt"/>
        </a:defRPr>
      </a:lvl2pPr>
      <a:lvl3pPr marL="3600107" indent="-720021" algn="l" defTabSz="2880086">
        <a:lnSpc>
          <a:spcPct val="90000"/>
        </a:lnSpc>
        <a:spcBef>
          <a:spcPts val="1575"/>
        </a:spcBef>
        <a:buFont typeface="Arial"/>
        <a:buChar char="•"/>
        <a:defRPr sz="6299" kern="1200">
          <a:solidFill>
            <a:schemeClr val="tx1"/>
          </a:solidFill>
          <a:latin typeface="+mn-lt"/>
          <a:ea typeface="+mn-lt"/>
          <a:cs typeface="+mn-lt"/>
        </a:defRPr>
      </a:lvl3pPr>
      <a:lvl4pPr marL="5040150" indent="-720021" algn="l" defTabSz="2880086">
        <a:lnSpc>
          <a:spcPct val="90000"/>
        </a:lnSpc>
        <a:spcBef>
          <a:spcPts val="1575"/>
        </a:spcBef>
        <a:buFont typeface="Arial"/>
        <a:buChar char="•"/>
        <a:defRPr sz="5669" kern="1200">
          <a:solidFill>
            <a:schemeClr val="tx1"/>
          </a:solidFill>
          <a:latin typeface="+mn-lt"/>
          <a:ea typeface="+mn-lt"/>
          <a:cs typeface="+mn-lt"/>
        </a:defRPr>
      </a:lvl4pPr>
      <a:lvl5pPr marL="6480193" indent="-720021" algn="l" defTabSz="2880086">
        <a:lnSpc>
          <a:spcPct val="90000"/>
        </a:lnSpc>
        <a:spcBef>
          <a:spcPts val="1575"/>
        </a:spcBef>
        <a:buFont typeface="Arial"/>
        <a:buChar char="•"/>
        <a:defRPr sz="5669" kern="1200">
          <a:solidFill>
            <a:schemeClr val="tx1"/>
          </a:solidFill>
          <a:latin typeface="+mn-lt"/>
          <a:ea typeface="+mn-lt"/>
          <a:cs typeface="+mn-lt"/>
        </a:defRPr>
      </a:lvl5pPr>
      <a:lvl6pPr marL="7920236" indent="-720021" algn="l" defTabSz="2880086">
        <a:lnSpc>
          <a:spcPct val="90000"/>
        </a:lnSpc>
        <a:spcBef>
          <a:spcPts val="1575"/>
        </a:spcBef>
        <a:buFont typeface="Arial"/>
        <a:buChar char="•"/>
        <a:defRPr sz="5669" kern="1200">
          <a:solidFill>
            <a:schemeClr val="tx1"/>
          </a:solidFill>
          <a:latin typeface="+mn-lt"/>
          <a:ea typeface="+mn-lt"/>
          <a:cs typeface="+mn-lt"/>
        </a:defRPr>
      </a:lvl6pPr>
      <a:lvl7pPr marL="9360278" indent="-720021" algn="l" defTabSz="2880086">
        <a:lnSpc>
          <a:spcPct val="90000"/>
        </a:lnSpc>
        <a:spcBef>
          <a:spcPts val="1575"/>
        </a:spcBef>
        <a:buFont typeface="Arial"/>
        <a:buChar char="•"/>
        <a:defRPr sz="5669" kern="1200">
          <a:solidFill>
            <a:schemeClr val="tx1"/>
          </a:solidFill>
          <a:latin typeface="+mn-lt"/>
          <a:ea typeface="+mn-lt"/>
          <a:cs typeface="+mn-lt"/>
        </a:defRPr>
      </a:lvl7pPr>
      <a:lvl8pPr marL="10800321" indent="-720021" algn="l" defTabSz="2880086">
        <a:lnSpc>
          <a:spcPct val="90000"/>
        </a:lnSpc>
        <a:spcBef>
          <a:spcPts val="1575"/>
        </a:spcBef>
        <a:buFont typeface="Arial"/>
        <a:buChar char="•"/>
        <a:defRPr sz="5669" kern="1200">
          <a:solidFill>
            <a:schemeClr val="tx1"/>
          </a:solidFill>
          <a:latin typeface="+mn-lt"/>
          <a:ea typeface="+mn-lt"/>
          <a:cs typeface="+mn-lt"/>
        </a:defRPr>
      </a:lvl8pPr>
      <a:lvl9pPr marL="12240364" indent="-720021" algn="l" defTabSz="2880086">
        <a:lnSpc>
          <a:spcPct val="90000"/>
        </a:lnSpc>
        <a:spcBef>
          <a:spcPts val="1575"/>
        </a:spcBef>
        <a:buFont typeface="Arial"/>
        <a:buChar char="•"/>
        <a:defRPr sz="5669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2880086">
        <a:buNone/>
        <a:defRPr sz="5669" kern="1200">
          <a:solidFill>
            <a:schemeClr val="tx1"/>
          </a:solidFill>
          <a:latin typeface="+mn-lt"/>
          <a:ea typeface="+mn-lt"/>
          <a:cs typeface="+mn-lt"/>
        </a:defRPr>
      </a:lvl1pPr>
      <a:lvl2pPr marL="1440043" algn="l" defTabSz="2880086">
        <a:buNone/>
        <a:defRPr sz="5669" kern="1200">
          <a:solidFill>
            <a:schemeClr val="tx1"/>
          </a:solidFill>
          <a:latin typeface="+mn-lt"/>
          <a:ea typeface="+mn-lt"/>
          <a:cs typeface="+mn-lt"/>
        </a:defRPr>
      </a:lvl2pPr>
      <a:lvl3pPr marL="2880086" algn="l" defTabSz="2880086">
        <a:buNone/>
        <a:defRPr sz="5669" kern="1200">
          <a:solidFill>
            <a:schemeClr val="tx1"/>
          </a:solidFill>
          <a:latin typeface="+mn-lt"/>
          <a:ea typeface="+mn-lt"/>
          <a:cs typeface="+mn-lt"/>
        </a:defRPr>
      </a:lvl3pPr>
      <a:lvl4pPr marL="4320129" algn="l" defTabSz="2880086">
        <a:buNone/>
        <a:defRPr sz="5669" kern="1200">
          <a:solidFill>
            <a:schemeClr val="tx1"/>
          </a:solidFill>
          <a:latin typeface="+mn-lt"/>
          <a:ea typeface="+mn-lt"/>
          <a:cs typeface="+mn-lt"/>
        </a:defRPr>
      </a:lvl4pPr>
      <a:lvl5pPr marL="5760171" algn="l" defTabSz="2880086">
        <a:buNone/>
        <a:defRPr sz="5669" kern="1200">
          <a:solidFill>
            <a:schemeClr val="tx1"/>
          </a:solidFill>
          <a:latin typeface="+mn-lt"/>
          <a:ea typeface="+mn-lt"/>
          <a:cs typeface="+mn-lt"/>
        </a:defRPr>
      </a:lvl5pPr>
      <a:lvl6pPr marL="7200214" algn="l" defTabSz="2880086">
        <a:buNone/>
        <a:defRPr sz="5669" kern="1200">
          <a:solidFill>
            <a:schemeClr val="tx1"/>
          </a:solidFill>
          <a:latin typeface="+mn-lt"/>
          <a:ea typeface="+mn-lt"/>
          <a:cs typeface="+mn-lt"/>
        </a:defRPr>
      </a:lvl6pPr>
      <a:lvl7pPr marL="8640257" algn="l" defTabSz="2880086">
        <a:buNone/>
        <a:defRPr sz="5669" kern="1200">
          <a:solidFill>
            <a:schemeClr val="tx1"/>
          </a:solidFill>
          <a:latin typeface="+mn-lt"/>
          <a:ea typeface="+mn-lt"/>
          <a:cs typeface="+mn-lt"/>
        </a:defRPr>
      </a:lvl7pPr>
      <a:lvl8pPr marL="10080300" algn="l" defTabSz="2880086">
        <a:buNone/>
        <a:defRPr sz="5669" kern="1200">
          <a:solidFill>
            <a:schemeClr val="tx1"/>
          </a:solidFill>
          <a:latin typeface="+mn-lt"/>
          <a:ea typeface="+mn-lt"/>
          <a:cs typeface="+mn-lt"/>
        </a:defRPr>
      </a:lvl8pPr>
      <a:lvl9pPr marL="11520343" algn="l" defTabSz="2880086">
        <a:buNone/>
        <a:defRPr sz="5669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Rectangle 29">
            <a:extLst>
              <a:ext uri="{FF2B5EF4-FFF2-40B4-BE49-F238E27FC236}">
                <a16:creationId xmlns:a16="http://schemas.microsoft.com/office/drawing/2014/main" id="{45E02B6B-2D12-4C52-A070-C55902DD9454}"/>
              </a:ext>
            </a:extLst>
          </p:cNvPr>
          <p:cNvSpPr>
            <a:spLocks noGrp="1"/>
          </p:cNvSpPr>
          <p:nvPr/>
        </p:nvSpPr>
        <p:spPr>
          <a:xfrm>
            <a:off x="14319668" y="7699401"/>
            <a:ext cx="161096" cy="380471"/>
          </a:xfrm>
          <a:prstGeom prst="rect">
            <a:avLst/>
          </a:prstGeom>
          <a:noFill/>
          <a:ln w="9525">
            <a:noFill/>
          </a:ln>
        </p:spPr>
        <p:txBody>
          <a:bodyPr wrap="none" lIns="79737" tIns="39869" rIns="79737" bIns="39869" anchor="ctr">
            <a:spAutoFit/>
          </a:bodyPr>
          <a:lstStyle/>
          <a:p>
            <a:endParaRPr sz="1949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09F2D138-5663-4157-AAE2-306A65096281}"/>
              </a:ext>
            </a:extLst>
          </p:cNvPr>
          <p:cNvSpPr>
            <a:spLocks noGrp="1"/>
          </p:cNvSpPr>
          <p:nvPr/>
        </p:nvSpPr>
        <p:spPr>
          <a:xfrm>
            <a:off x="1778489" y="7761644"/>
            <a:ext cx="270044" cy="270045"/>
          </a:xfrm>
          <a:prstGeom prst="rect">
            <a:avLst/>
          </a:prstGeom>
          <a:noFill/>
        </p:spPr>
        <p:txBody>
          <a:bodyPr vert="horz" wrap="square" lIns="81013" tIns="40506" rIns="81013" bIns="40506" anchor="t"/>
          <a:lstStyle/>
          <a:p>
            <a:endParaRPr sz="1949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E44989B-9C18-4A5F-9C28-8A825DDBE0B2}"/>
              </a:ext>
            </a:extLst>
          </p:cNvPr>
          <p:cNvSpPr>
            <a:spLocks noGrp="1"/>
          </p:cNvSpPr>
          <p:nvPr/>
        </p:nvSpPr>
        <p:spPr>
          <a:xfrm>
            <a:off x="1980104" y="6516407"/>
            <a:ext cx="24812132" cy="2395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5400" b="1" dirty="0"/>
              <a:t>MEDICIÓN REPRODUCIBLE DEL DESEMPEÑO HUMANO EN SIMULACIÓN FPV</a:t>
            </a:r>
          </a:p>
          <a:p>
            <a:pPr algn="ctr">
              <a:buNone/>
            </a:pPr>
            <a:r>
              <a:rPr lang="es-CO" sz="3189" dirty="0"/>
              <a:t>Diego Leonel Malpica M.D.</a:t>
            </a:r>
            <a:endParaRPr sz="3189" dirty="0"/>
          </a:p>
          <a:p>
            <a:pPr algn="ctr">
              <a:buNone/>
            </a:pPr>
            <a:r>
              <a:rPr lang="es-CO" sz="3189" u="sng" dirty="0"/>
              <a:t>Diego.malpica@fac.mil.co</a:t>
            </a:r>
            <a:endParaRPr sz="3189" u="sng" dirty="0"/>
          </a:p>
          <a:p>
            <a:pPr algn="ctr">
              <a:buNone/>
            </a:pPr>
            <a:r>
              <a:rPr lang="es-CO" sz="3189" dirty="0"/>
              <a:t>Dirección de Medicina Aeroespacial – Subdirección Científica Aeroespacial</a:t>
            </a:r>
            <a:endParaRPr sz="3189" dirty="0"/>
          </a:p>
        </p:txBody>
      </p:sp>
      <p:sp>
        <p:nvSpPr>
          <p:cNvPr id="27" name="AutoShape 34">
            <a:extLst>
              <a:ext uri="{FF2B5EF4-FFF2-40B4-BE49-F238E27FC236}">
                <a16:creationId xmlns:a16="http://schemas.microsoft.com/office/drawing/2014/main" id="{10A8A594-1D2E-4BA4-BA1A-6B6B0AF65E6A}"/>
              </a:ext>
            </a:extLst>
          </p:cNvPr>
          <p:cNvSpPr>
            <a:spLocks noGrp="1"/>
          </p:cNvSpPr>
          <p:nvPr/>
        </p:nvSpPr>
        <p:spPr>
          <a:xfrm>
            <a:off x="1980104" y="38606594"/>
            <a:ext cx="25117425" cy="3189890"/>
          </a:xfrm>
          <a:prstGeom prst="roundRect">
            <a:avLst>
              <a:gd name="adj" fmla="val 4207"/>
            </a:avLst>
          </a:prstGeom>
          <a:solidFill>
            <a:srgbClr val="336600">
              <a:alpha val="0"/>
            </a:srgbClr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defTabSz="3281288">
              <a:buNone/>
            </a:pPr>
            <a:endParaRPr sz="2481"/>
          </a:p>
        </p:txBody>
      </p:sp>
      <p:sp>
        <p:nvSpPr>
          <p:cNvPr id="2081" name="AutoShape 48">
            <a:extLst>
              <a:ext uri="{FF2B5EF4-FFF2-40B4-BE49-F238E27FC236}">
                <a16:creationId xmlns:a16="http://schemas.microsoft.com/office/drawing/2014/main" id="{967A186E-77D6-43EF-8A59-793277DE0EB4}"/>
              </a:ext>
            </a:extLst>
          </p:cNvPr>
          <p:cNvSpPr>
            <a:spLocks noGrp="1"/>
          </p:cNvSpPr>
          <p:nvPr/>
        </p:nvSpPr>
        <p:spPr>
          <a:xfrm>
            <a:off x="2529193" y="38287685"/>
            <a:ext cx="3825898" cy="63789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3281288">
              <a:buNone/>
            </a:pPr>
            <a:r>
              <a:rPr sz="4252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  <a:ea typeface="Century Gothic"/>
                <a:cs typeface="Century Gothic"/>
              </a:rPr>
              <a:t>REFERENCIAS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08B0D32-B9ED-4457-92AB-3BF8F39C08F1}"/>
              </a:ext>
            </a:extLst>
          </p:cNvPr>
          <p:cNvSpPr>
            <a:spLocks noGrp="1"/>
          </p:cNvSpPr>
          <p:nvPr/>
        </p:nvSpPr>
        <p:spPr>
          <a:xfrm>
            <a:off x="2286978" y="15552579"/>
            <a:ext cx="12032690" cy="158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89"/>
              </a:spcAft>
              <a:buNone/>
            </a:pPr>
            <a:r>
              <a:rPr sz="2844">
                <a:latin typeface="Calibri Light"/>
                <a:ea typeface="Calibri Light"/>
                <a:cs typeface="Calibri Light"/>
              </a:rPr>
              <a:t>El vuelo FPV exige acoplamiento percepción–acción. Cuando concurren vigilancia, comunicación y control, el desempeño debe estudiarse por dominios y no mediante una calificación única. </a:t>
            </a:r>
            <a:endParaRPr sz="1949"/>
          </a:p>
        </p:txBody>
      </p:sp>
      <p:sp>
        <p:nvSpPr>
          <p:cNvPr id="23" name="AutoShape 17">
            <a:extLst>
              <a:ext uri="{FF2B5EF4-FFF2-40B4-BE49-F238E27FC236}">
                <a16:creationId xmlns:a16="http://schemas.microsoft.com/office/drawing/2014/main" id="{CFF1D786-1786-45FF-B678-D3E483914033}"/>
              </a:ext>
            </a:extLst>
          </p:cNvPr>
          <p:cNvSpPr>
            <a:spLocks noGrp="1"/>
          </p:cNvSpPr>
          <p:nvPr/>
        </p:nvSpPr>
        <p:spPr>
          <a:xfrm>
            <a:off x="14737767" y="14541140"/>
            <a:ext cx="12271134" cy="10072866"/>
          </a:xfrm>
          <a:prstGeom prst="roundRect">
            <a:avLst>
              <a:gd name="adj" fmla="val 488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defTabSz="3281288">
              <a:buNone/>
            </a:pPr>
            <a:endParaRPr sz="2481"/>
          </a:p>
        </p:txBody>
      </p:sp>
      <p:sp>
        <p:nvSpPr>
          <p:cNvPr id="25" name="AutoShape 16">
            <a:extLst>
              <a:ext uri="{FF2B5EF4-FFF2-40B4-BE49-F238E27FC236}">
                <a16:creationId xmlns:a16="http://schemas.microsoft.com/office/drawing/2014/main" id="{2A0D69BA-848E-46AE-B1F8-9997333D1AB8}"/>
              </a:ext>
            </a:extLst>
          </p:cNvPr>
          <p:cNvSpPr>
            <a:spLocks noGrp="1"/>
          </p:cNvSpPr>
          <p:nvPr/>
        </p:nvSpPr>
        <p:spPr>
          <a:xfrm>
            <a:off x="15163386" y="14233471"/>
            <a:ext cx="5103823" cy="70371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3281288">
              <a:buNone/>
            </a:pPr>
            <a:r>
              <a:rPr sz="4252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  <a:ea typeface="Century Gothic"/>
                <a:cs typeface="Century Gothic"/>
              </a:rPr>
              <a:t>METODOLOGÍA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9FED4D7-EEC2-4AA9-B305-83799F2F002B}"/>
              </a:ext>
            </a:extLst>
          </p:cNvPr>
          <p:cNvSpPr>
            <a:spLocks noGrp="1"/>
          </p:cNvSpPr>
          <p:nvPr/>
        </p:nvSpPr>
        <p:spPr>
          <a:xfrm>
            <a:off x="15163800" y="15144750"/>
            <a:ext cx="12030075" cy="1255319"/>
          </a:xfrm>
          <a:prstGeom prst="rect">
            <a:avLst/>
          </a:prstGeom>
          <a:noFill/>
        </p:spPr>
        <p:txBody>
          <a:bodyPr wrap="square" lIns="76200" tIns="38100" rIns="76200" bIns="38100" anchor="ctr">
            <a:normAutofit/>
          </a:bodyPr>
          <a:lstStyle/>
          <a:p>
            <a:pPr algn="l">
              <a:defRPr sz="23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172033"/>
                </a:solidFill>
                <a:latin typeface="Arial"/>
                <a:ea typeface="Arial"/>
                <a:cs typeface="Arial"/>
              </a:rPr>
              <a:t>Estudio metodológico sin participantes: primero se define qué puede medirse; después se comprueba la calidad del dato.</a:t>
            </a:r>
          </a:p>
          <a:p>
            <a:endParaRPr sz="1949"/>
          </a:p>
        </p:txBody>
      </p:sp>
      <p:sp>
        <p:nvSpPr>
          <p:cNvPr id="38" name="AutoShape 17">
            <a:extLst>
              <a:ext uri="{FF2B5EF4-FFF2-40B4-BE49-F238E27FC236}">
                <a16:creationId xmlns:a16="http://schemas.microsoft.com/office/drawing/2014/main" id="{5CF29442-D9D4-4D84-BA37-B7EB9811387A}"/>
              </a:ext>
            </a:extLst>
          </p:cNvPr>
          <p:cNvSpPr>
            <a:spLocks noGrp="1"/>
          </p:cNvSpPr>
          <p:nvPr/>
        </p:nvSpPr>
        <p:spPr>
          <a:xfrm>
            <a:off x="1968814" y="23794305"/>
            <a:ext cx="12271134" cy="8448076"/>
          </a:xfrm>
          <a:prstGeom prst="roundRect">
            <a:avLst>
              <a:gd name="adj" fmla="val 488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defTabSz="3281288">
              <a:buNone/>
            </a:pPr>
            <a:endParaRPr sz="2481"/>
          </a:p>
        </p:txBody>
      </p:sp>
      <p:sp>
        <p:nvSpPr>
          <p:cNvPr id="39" name="AutoShape 16">
            <a:extLst>
              <a:ext uri="{FF2B5EF4-FFF2-40B4-BE49-F238E27FC236}">
                <a16:creationId xmlns:a16="http://schemas.microsoft.com/office/drawing/2014/main" id="{FD69043B-75C2-4670-97AC-75443FD21062}"/>
              </a:ext>
            </a:extLst>
          </p:cNvPr>
          <p:cNvSpPr>
            <a:spLocks noGrp="1"/>
          </p:cNvSpPr>
          <p:nvPr/>
        </p:nvSpPr>
        <p:spPr>
          <a:xfrm>
            <a:off x="2444472" y="23081708"/>
            <a:ext cx="4815580" cy="1063115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3281288">
              <a:buNone/>
            </a:pPr>
            <a:r>
              <a:rPr sz="4252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  <a:ea typeface="Century Gothic"/>
                <a:cs typeface="Century Gothic"/>
              </a:rPr>
              <a:t>RESULTADOS</a:t>
            </a:r>
          </a:p>
        </p:txBody>
      </p:sp>
      <p:sp>
        <p:nvSpPr>
          <p:cNvPr id="41" name="AutoShape 17">
            <a:extLst>
              <a:ext uri="{FF2B5EF4-FFF2-40B4-BE49-F238E27FC236}">
                <a16:creationId xmlns:a16="http://schemas.microsoft.com/office/drawing/2014/main" id="{0B0FD671-7B28-4698-A690-198618B17484}"/>
              </a:ext>
            </a:extLst>
          </p:cNvPr>
          <p:cNvSpPr>
            <a:spLocks noGrp="1"/>
          </p:cNvSpPr>
          <p:nvPr/>
        </p:nvSpPr>
        <p:spPr>
          <a:xfrm>
            <a:off x="14799415" y="25514608"/>
            <a:ext cx="12284167" cy="12191384"/>
          </a:xfrm>
          <a:prstGeom prst="roundRect">
            <a:avLst>
              <a:gd name="adj" fmla="val 488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defTabSz="3281288">
              <a:buNone/>
            </a:pPr>
            <a:endParaRPr sz="2481"/>
          </a:p>
        </p:txBody>
      </p:sp>
      <p:sp>
        <p:nvSpPr>
          <p:cNvPr id="42" name="AutoShape 16">
            <a:extLst>
              <a:ext uri="{FF2B5EF4-FFF2-40B4-BE49-F238E27FC236}">
                <a16:creationId xmlns:a16="http://schemas.microsoft.com/office/drawing/2014/main" id="{76DB7E7C-0E7A-4772-9633-E4510BB80554}"/>
              </a:ext>
            </a:extLst>
          </p:cNvPr>
          <p:cNvSpPr>
            <a:spLocks noGrp="1"/>
          </p:cNvSpPr>
          <p:nvPr/>
        </p:nvSpPr>
        <p:spPr>
          <a:xfrm>
            <a:off x="14976211" y="24874558"/>
            <a:ext cx="7777784" cy="1090250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defTabSz="3281288">
              <a:buNone/>
            </a:pPr>
            <a:r>
              <a:rPr sz="4252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  <a:ea typeface="Century Gothic"/>
                <a:cs typeface="Century Gothic"/>
              </a:rPr>
              <a:t>    DISCUSIÓN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261121E-A808-472B-B136-C06D2525D232}"/>
              </a:ext>
            </a:extLst>
          </p:cNvPr>
          <p:cNvSpPr>
            <a:spLocks noGrp="1"/>
          </p:cNvSpPr>
          <p:nvPr/>
        </p:nvSpPr>
        <p:spPr>
          <a:xfrm>
            <a:off x="2286000" y="38976300"/>
            <a:ext cx="24574500" cy="2095500"/>
          </a:xfrm>
          <a:prstGeom prst="rect">
            <a:avLst/>
          </a:prstGeom>
          <a:noFill/>
        </p:spPr>
        <p:txBody>
          <a:bodyPr wrap="square" lIns="76200" tIns="76200" rIns="76200" bIns="76200" anchor="t">
            <a:normAutofit/>
          </a:bodyPr>
          <a:lstStyle/>
          <a:p>
            <a:pPr algn="l" defTabSz="3281288">
              <a:buNone/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Cegarra et al. (2020), https://doi.org/10.3758/s13428-020-01364-w · </a:t>
            </a:r>
            <a:endParaRPr lang="es-CO" sz="18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 algn="l" defTabSz="3281288">
              <a:buNone/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Wickens (2008), https://doi.org/10.1518/001872008X288394 · </a:t>
            </a:r>
            <a:endParaRPr lang="es-CO" sz="18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 algn="l" defTabSz="3281288">
              <a:buNone/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Pontiggia</a:t>
            </a:r>
            <a:r>
              <a:rPr sz="18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et al. (2024), https://doi.org/10.3389/fphys.2024.1408242 · </a:t>
            </a:r>
            <a:endParaRPr lang="es-CO" sz="1875" dirty="0">
              <a:solidFill>
                <a:srgbClr val="172033"/>
              </a:solidFill>
              <a:latin typeface="Arial"/>
              <a:ea typeface="Arial"/>
              <a:cs typeface="Arial"/>
            </a:endParaRPr>
          </a:p>
          <a:p>
            <a:pPr algn="l" defTabSz="3281288">
              <a:buNone/>
              <a:defRPr sz="18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875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Wang et al. (2024), https://doi.org/10.3390/s24123723</a:t>
            </a:r>
            <a:endParaRPr sz="3200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9542D5D-A82D-4DA3-B96B-B32A1C600C9D}"/>
              </a:ext>
            </a:extLst>
          </p:cNvPr>
          <p:cNvSpPr>
            <a:spLocks noGrp="1"/>
          </p:cNvSpPr>
          <p:nvPr/>
        </p:nvSpPr>
        <p:spPr>
          <a:xfrm>
            <a:off x="2444472" y="24679227"/>
            <a:ext cx="12032690" cy="5300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44" b="1">
                <a:latin typeface="Calibri Light"/>
                <a:ea typeface="Calibri Light"/>
                <a:cs typeface="Calibri Light"/>
              </a:rPr>
              <a:t>Conformidad del sistema de medición; no son resultados humanos.</a:t>
            </a:r>
          </a:p>
        </p:txBody>
      </p:sp>
      <p:sp>
        <p:nvSpPr>
          <p:cNvPr id="2" name="AutoShape 17">
            <a:extLst>
              <a:ext uri="{FF2B5EF4-FFF2-40B4-BE49-F238E27FC236}">
                <a16:creationId xmlns:a16="http://schemas.microsoft.com/office/drawing/2014/main" id="{F670D09A-A0A7-E5EF-A7F2-942365F49EAB}"/>
              </a:ext>
            </a:extLst>
          </p:cNvPr>
          <p:cNvSpPr>
            <a:spLocks noGrp="1"/>
          </p:cNvSpPr>
          <p:nvPr/>
        </p:nvSpPr>
        <p:spPr>
          <a:xfrm>
            <a:off x="1980104" y="14644578"/>
            <a:ext cx="12271134" cy="7902726"/>
          </a:xfrm>
          <a:prstGeom prst="roundRect">
            <a:avLst>
              <a:gd name="adj" fmla="val 488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defTabSz="3281288">
              <a:buNone/>
            </a:pPr>
            <a:endParaRPr sz="2481"/>
          </a:p>
        </p:txBody>
      </p:sp>
      <p:sp>
        <p:nvSpPr>
          <p:cNvPr id="3" name="AutoShape 16">
            <a:extLst>
              <a:ext uri="{FF2B5EF4-FFF2-40B4-BE49-F238E27FC236}">
                <a16:creationId xmlns:a16="http://schemas.microsoft.com/office/drawing/2014/main" id="{D64BE183-697C-571A-01B7-2D2979CAD520}"/>
              </a:ext>
            </a:extLst>
          </p:cNvPr>
          <p:cNvSpPr>
            <a:spLocks noGrp="1"/>
          </p:cNvSpPr>
          <p:nvPr/>
        </p:nvSpPr>
        <p:spPr>
          <a:xfrm>
            <a:off x="2528281" y="14422840"/>
            <a:ext cx="5281366" cy="70371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3281288">
              <a:buNone/>
            </a:pPr>
            <a:r>
              <a:rPr sz="4252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  <a:ea typeface="Century Gothic"/>
                <a:cs typeface="Century Gothic"/>
              </a:rPr>
              <a:t>INTRODUCCIÓN</a:t>
            </a:r>
          </a:p>
        </p:txBody>
      </p:sp>
      <p:sp>
        <p:nvSpPr>
          <p:cNvPr id="7" name="AutoShape 17">
            <a:extLst>
              <a:ext uri="{FF2B5EF4-FFF2-40B4-BE49-F238E27FC236}">
                <a16:creationId xmlns:a16="http://schemas.microsoft.com/office/drawing/2014/main" id="{9DC309DD-06F8-97EB-71F3-530555E6E620}"/>
              </a:ext>
            </a:extLst>
          </p:cNvPr>
          <p:cNvSpPr>
            <a:spLocks noGrp="1"/>
          </p:cNvSpPr>
          <p:nvPr/>
        </p:nvSpPr>
        <p:spPr>
          <a:xfrm>
            <a:off x="1910744" y="33365805"/>
            <a:ext cx="12271134" cy="4160536"/>
          </a:xfrm>
          <a:prstGeom prst="roundRect">
            <a:avLst>
              <a:gd name="adj" fmla="val 488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</a:ln>
        </p:spPr>
        <p:txBody>
          <a:bodyPr wrap="none" anchor="ctr"/>
          <a:lstStyle/>
          <a:p>
            <a:pPr defTabSz="3281288">
              <a:buNone/>
            </a:pPr>
            <a:endParaRPr sz="2481"/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55C40860-5FA2-6CB9-CFF0-F9359898DD68}"/>
              </a:ext>
            </a:extLst>
          </p:cNvPr>
          <p:cNvSpPr>
            <a:spLocks noGrp="1"/>
          </p:cNvSpPr>
          <p:nvPr/>
        </p:nvSpPr>
        <p:spPr>
          <a:xfrm>
            <a:off x="2528281" y="33003725"/>
            <a:ext cx="4815580" cy="950577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3281288">
              <a:buNone/>
            </a:pPr>
            <a:r>
              <a:rPr sz="4252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  <a:ea typeface="Century Gothic"/>
                <a:cs typeface="Century Gothic"/>
              </a:rPr>
              <a:t>CONCLUSIONES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6017034-781F-F808-F7B5-712431B73B9D}"/>
              </a:ext>
            </a:extLst>
          </p:cNvPr>
          <p:cNvSpPr>
            <a:spLocks noGrp="1"/>
          </p:cNvSpPr>
          <p:nvPr/>
        </p:nvSpPr>
        <p:spPr>
          <a:xfrm>
            <a:off x="15346703" y="26717409"/>
            <a:ext cx="11291706" cy="967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44">
                <a:latin typeface="Calibri Light"/>
                <a:ea typeface="Calibri Light"/>
                <a:cs typeface="Calibri Light"/>
              </a:rPr>
              <a:t>La utilidad científica depende de separar dominios y avanzar por etapas de validación.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7474BA3-836B-1008-582C-DEBEA8DFAC24}"/>
              </a:ext>
            </a:extLst>
          </p:cNvPr>
          <p:cNvSpPr>
            <a:spLocks noGrp="1"/>
          </p:cNvSpPr>
          <p:nvPr/>
        </p:nvSpPr>
        <p:spPr>
          <a:xfrm>
            <a:off x="2457450" y="34147125"/>
            <a:ext cx="11334750" cy="2714625"/>
          </a:xfrm>
          <a:prstGeom prst="rect">
            <a:avLst/>
          </a:prstGeom>
          <a:noFill/>
        </p:spPr>
        <p:txBody>
          <a:bodyPr wrap="square" lIns="114300" tIns="95250" rIns="114300" bIns="95250" anchor="ctr">
            <a:normAutofit/>
          </a:bodyPr>
          <a:lstStyle/>
          <a:p>
            <a:pPr marL="28" indent="-14" algn="l">
              <a:buChar char="•"/>
              <a:defRPr sz="23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MATB complementa</a:t>
            </a:r>
            <a:r>
              <a:rPr sz="2325">
                <a:solidFill>
                  <a:srgbClr val="172033"/>
                </a:solidFill>
                <a:latin typeface="Arial"/>
                <a:ea typeface="Arial"/>
                <a:cs typeface="Arial"/>
              </a:rPr>
              <a:t> el vuelo simulado; no lo sustituye.</a:t>
            </a:r>
          </a:p>
          <a:p>
            <a:pPr marL="28" indent="-14" algn="l">
              <a:buChar char="•"/>
              <a:defRPr sz="23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El costo de multitarea</a:t>
            </a:r>
            <a:r>
              <a:rPr sz="2325">
                <a:solidFill>
                  <a:srgbClr val="172033"/>
                </a:solidFill>
                <a:latin typeface="Arial"/>
                <a:ea typeface="Arial"/>
                <a:cs typeface="Arial"/>
              </a:rPr>
              <a:t> es un parámetro de seguimiento, no una calificación operacional.</a:t>
            </a:r>
          </a:p>
          <a:p>
            <a:pPr marL="28" indent="-14" algn="l">
              <a:buChar char="•"/>
              <a:defRPr sz="23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La siguiente fase</a:t>
            </a:r>
            <a:r>
              <a:rPr sz="2325">
                <a:solidFill>
                  <a:srgbClr val="172033"/>
                </a:solidFill>
                <a:latin typeface="Arial"/>
                <a:ea typeface="Arial"/>
                <a:cs typeface="Arial"/>
              </a:rPr>
              <a:t> requiere participantes, ética, confiabilidad y validez.</a:t>
            </a:r>
          </a:p>
        </p:txBody>
      </p:sp>
      <p:sp>
        <p:nvSpPr>
          <p:cNvPr id="12" name="AutoShape 17">
            <a:extLst>
              <a:ext uri="{FF2B5EF4-FFF2-40B4-BE49-F238E27FC236}">
                <a16:creationId xmlns:a16="http://schemas.microsoft.com/office/drawing/2014/main" id="{078C4A78-74A9-73A1-13E4-6A0F1B816B05}"/>
              </a:ext>
            </a:extLst>
          </p:cNvPr>
          <p:cNvSpPr>
            <a:spLocks noGrp="1"/>
          </p:cNvSpPr>
          <p:nvPr/>
        </p:nvSpPr>
        <p:spPr>
          <a:xfrm>
            <a:off x="1778488" y="10396955"/>
            <a:ext cx="25305093" cy="3273284"/>
          </a:xfrm>
          <a:prstGeom prst="roundRect">
            <a:avLst>
              <a:gd name="adj" fmla="val 4880"/>
            </a:avLst>
          </a:prstGeom>
          <a:solidFill>
            <a:schemeClr val="bg1">
              <a:alpha val="0"/>
            </a:schemeClr>
          </a:solidFill>
          <a:ln w="9525">
            <a:solidFill>
              <a:schemeClr val="tx1"/>
            </a:solidFill>
          </a:ln>
        </p:spPr>
        <p:txBody>
          <a:bodyPr wrap="square" lIns="323850" tIns="266700" rIns="323850" bIns="171450" anchor="ctr">
            <a:normAutofit/>
          </a:bodyPr>
          <a:lstStyle/>
          <a:p>
            <a:pPr algn="l">
              <a:spcAft>
                <a:spcPts val="5"/>
              </a:spcAft>
              <a:defRPr sz="21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Resumen. </a:t>
            </a:r>
            <a:r>
              <a:rPr sz="2175">
                <a:solidFill>
                  <a:srgbClr val="172033"/>
                </a:solidFill>
                <a:latin typeface="Arial"/>
                <a:ea typeface="Arial"/>
                <a:cs typeface="Arial"/>
              </a:rPr>
              <a:t>Se formuló y comprobó un marco que mantiene separadas las medidas de vuelo FPV simulado, multitarea y estado de la persona. La comprobación utilizó datos sintéticos y examinó repetibilidad, procedencia y rechazo de cantidades no calificadas.</a:t>
            </a:r>
          </a:p>
          <a:p>
            <a:pPr algn="l">
              <a:spcAft>
                <a:spcPts val="5"/>
              </a:spcAft>
              <a:defRPr sz="21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Abstract. </a:t>
            </a:r>
            <a:r>
              <a:rPr sz="2175">
                <a:solidFill>
                  <a:srgbClr val="172033"/>
                </a:solidFill>
                <a:latin typeface="Arial"/>
                <a:ea typeface="Arial"/>
                <a:cs typeface="Arial"/>
              </a:rPr>
              <a:t>A methodological framework preserved separate measures of simulated FPV flight, multitasking, and human state. Synthetic data were used to examine repeatability, provenance, and rejection of unqualified quantities.</a:t>
            </a:r>
          </a:p>
          <a:p>
            <a:pPr algn="l">
              <a:defRPr sz="217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Palabras clave / Keywords: </a:t>
            </a:r>
            <a:r>
              <a:rPr sz="2175">
                <a:solidFill>
                  <a:srgbClr val="172033"/>
                </a:solidFill>
                <a:latin typeface="Arial"/>
                <a:ea typeface="Arial"/>
                <a:cs typeface="Arial"/>
              </a:rPr>
              <a:t>atención distribuida; carga mental; desempeño humano; human factors; simulation.</a:t>
            </a:r>
          </a:p>
        </p:txBody>
      </p:sp>
      <p:sp>
        <p:nvSpPr>
          <p:cNvPr id="13" name="AutoShape 16">
            <a:extLst>
              <a:ext uri="{FF2B5EF4-FFF2-40B4-BE49-F238E27FC236}">
                <a16:creationId xmlns:a16="http://schemas.microsoft.com/office/drawing/2014/main" id="{E435C0E9-ACEA-F8B5-1D7E-C346A7FD526A}"/>
              </a:ext>
            </a:extLst>
          </p:cNvPr>
          <p:cNvSpPr>
            <a:spLocks noGrp="1"/>
          </p:cNvSpPr>
          <p:nvPr/>
        </p:nvSpPr>
        <p:spPr>
          <a:xfrm>
            <a:off x="2062495" y="10162070"/>
            <a:ext cx="5281366" cy="703718"/>
          </a:xfrm>
          <a:prstGeom prst="roundRect">
            <a:avLst>
              <a:gd name="adj" fmla="val 16667"/>
            </a:avLst>
          </a:prstGeom>
          <a:solidFill>
            <a:srgbClr val="002060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none" anchor="ctr"/>
          <a:lstStyle/>
          <a:p>
            <a:pPr algn="ctr" defTabSz="3281288">
              <a:buNone/>
            </a:pPr>
            <a:r>
              <a:rPr sz="4252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  <a:ea typeface="Century Gothic"/>
                <a:cs typeface="Century Gothic"/>
              </a:rPr>
              <a:t>RESUMEN</a:t>
            </a:r>
          </a:p>
        </p:txBody>
      </p:sp>
      <p:pic>
        <p:nvPicPr>
          <p:cNvPr id="2143" name="Imagen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0545" y="-129096"/>
            <a:ext cx="29075646" cy="5452645"/>
          </a:xfrm>
          <a:prstGeom prst="rect">
            <a:avLst/>
          </a:prstGeom>
        </p:spPr>
      </p:pic>
      <p:sp>
        <p:nvSpPr>
          <p:cNvPr id="2083" name="intro-arrow-1">
            <a:extLst>
              <a:ext uri="{FF2B5EF4-FFF2-40B4-BE49-F238E27FC236}">
                <a16:creationId xmlns:a16="http://schemas.microsoft.com/office/drawing/2014/main" id="{106141CD-4E7F-449D-A043-4D4A70E00BB9}"/>
              </a:ext>
            </a:extLst>
          </p:cNvPr>
          <p:cNvSpPr>
            <a:spLocks noGrp="1"/>
          </p:cNvSpPr>
          <p:nvPr/>
        </p:nvSpPr>
        <p:spPr>
          <a:xfrm>
            <a:off x="5238750" y="18097500"/>
            <a:ext cx="1428750" cy="666750"/>
          </a:xfrm>
          <a:prstGeom prst="rightArrow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84" name="intro-arrow-2">
            <a:extLst>
              <a:ext uri="{FF2B5EF4-FFF2-40B4-BE49-F238E27FC236}">
                <a16:creationId xmlns:a16="http://schemas.microsoft.com/office/drawing/2014/main" id="{D41F31CB-709E-4596-B4FC-C7A7D7BC5E00}"/>
              </a:ext>
            </a:extLst>
          </p:cNvPr>
          <p:cNvSpPr>
            <a:spLocks noGrp="1"/>
          </p:cNvSpPr>
          <p:nvPr/>
        </p:nvSpPr>
        <p:spPr>
          <a:xfrm>
            <a:off x="8905875" y="18097500"/>
            <a:ext cx="1428750" cy="666750"/>
          </a:xfrm>
          <a:prstGeom prst="rightArrow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85" name="intro-domain-1">
            <a:extLst>
              <a:ext uri="{FF2B5EF4-FFF2-40B4-BE49-F238E27FC236}">
                <a16:creationId xmlns:a16="http://schemas.microsoft.com/office/drawing/2014/main" id="{0CD34FBB-34A7-482F-B427-1F3881917A79}"/>
              </a:ext>
            </a:extLst>
          </p:cNvPr>
          <p:cNvSpPr>
            <a:spLocks noGrp="1"/>
          </p:cNvSpPr>
          <p:nvPr/>
        </p:nvSpPr>
        <p:spPr>
          <a:xfrm>
            <a:off x="2714625" y="17145000"/>
            <a:ext cx="2667000" cy="2667000"/>
          </a:xfrm>
          <a:prstGeom prst="ellipse">
            <a:avLst/>
          </a:prstGeom>
          <a:solidFill>
            <a:srgbClr val="D9E2F3"/>
          </a:solidFill>
          <a:ln w="28575">
            <a:solidFill>
              <a:srgbClr val="052B6B"/>
            </a:solidFill>
            <a:prstDash val="solid"/>
          </a:ln>
        </p:spPr>
        <p:txBody>
          <a:bodyPr lIns="114300" tIns="114300" rIns="114300" bIns="114300" anchor="ctr">
            <a:normAutofit/>
          </a:bodyPr>
          <a:lstStyle/>
          <a:p>
            <a:pPr algn="ctr">
              <a:defRPr sz="1875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CONTROL</a:t>
            </a:r>
          </a:p>
          <a:p>
            <a:pPr algn="ctr">
              <a:defRPr sz="1875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VISUOMOTOR</a:t>
            </a:r>
          </a:p>
        </p:txBody>
      </p:sp>
      <p:sp>
        <p:nvSpPr>
          <p:cNvPr id="2086" name="intro-domain-2">
            <a:extLst>
              <a:ext uri="{FF2B5EF4-FFF2-40B4-BE49-F238E27FC236}">
                <a16:creationId xmlns:a16="http://schemas.microsoft.com/office/drawing/2014/main" id="{17A3C7AD-B5C3-48DC-B19D-6F68390D4174}"/>
              </a:ext>
            </a:extLst>
          </p:cNvPr>
          <p:cNvSpPr>
            <a:spLocks noGrp="1"/>
          </p:cNvSpPr>
          <p:nvPr/>
        </p:nvSpPr>
        <p:spPr>
          <a:xfrm>
            <a:off x="6381750" y="17145000"/>
            <a:ext cx="2667000" cy="2667000"/>
          </a:xfrm>
          <a:prstGeom prst="ellipse">
            <a:avLst/>
          </a:prstGeom>
          <a:solidFill>
            <a:srgbClr val="C6E0F4"/>
          </a:solidFill>
          <a:ln w="28575">
            <a:solidFill>
              <a:srgbClr val="052B6B"/>
            </a:solidFill>
            <a:prstDash val="solid"/>
          </a:ln>
        </p:spPr>
        <p:txBody>
          <a:bodyPr lIns="114300" tIns="114300" rIns="114300" bIns="114300" anchor="ctr">
            <a:normAutofit/>
          </a:bodyPr>
          <a:lstStyle/>
          <a:p>
            <a:pPr algn="ctr">
              <a:defRPr sz="1875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ATENCIÓN</a:t>
            </a:r>
          </a:p>
          <a:p>
            <a:pPr algn="ctr">
              <a:defRPr sz="1875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DISTRIBUIDA</a:t>
            </a:r>
          </a:p>
        </p:txBody>
      </p:sp>
      <p:sp>
        <p:nvSpPr>
          <p:cNvPr id="2087" name="intro-domain-3">
            <a:extLst>
              <a:ext uri="{FF2B5EF4-FFF2-40B4-BE49-F238E27FC236}">
                <a16:creationId xmlns:a16="http://schemas.microsoft.com/office/drawing/2014/main" id="{8D1A806F-3B1E-4AD7-99F1-CE42949F8CB6}"/>
              </a:ext>
            </a:extLst>
          </p:cNvPr>
          <p:cNvSpPr>
            <a:spLocks noGrp="1"/>
          </p:cNvSpPr>
          <p:nvPr/>
        </p:nvSpPr>
        <p:spPr>
          <a:xfrm>
            <a:off x="10048875" y="17145000"/>
            <a:ext cx="2667000" cy="2667000"/>
          </a:xfrm>
          <a:prstGeom prst="ellipse">
            <a:avLst/>
          </a:prstGeom>
          <a:solidFill>
            <a:srgbClr val="DDEBF7"/>
          </a:solidFill>
          <a:ln w="28575">
            <a:solidFill>
              <a:srgbClr val="052B6B"/>
            </a:solidFill>
            <a:prstDash val="solid"/>
          </a:ln>
        </p:spPr>
        <p:txBody>
          <a:bodyPr lIns="114300" tIns="114300" rIns="114300" bIns="114300" anchor="ctr">
            <a:normAutofit/>
          </a:bodyPr>
          <a:lstStyle/>
          <a:p>
            <a:pPr algn="ctr">
              <a:defRPr sz="1875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ESTADO</a:t>
            </a:r>
          </a:p>
          <a:p>
            <a:pPr algn="ctr">
              <a:defRPr sz="1875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DE LA PERSONA</a:t>
            </a:r>
          </a:p>
        </p:txBody>
      </p:sp>
      <p:sp>
        <p:nvSpPr>
          <p:cNvPr id="2088" name="intro-thesis">
            <a:extLst>
              <a:ext uri="{FF2B5EF4-FFF2-40B4-BE49-F238E27FC236}">
                <a16:creationId xmlns:a16="http://schemas.microsoft.com/office/drawing/2014/main" id="{9E84E264-78C2-4813-BF42-AAC96EA13378}"/>
              </a:ext>
            </a:extLst>
          </p:cNvPr>
          <p:cNvSpPr>
            <a:spLocks noGrp="1"/>
          </p:cNvSpPr>
          <p:nvPr/>
        </p:nvSpPr>
        <p:spPr>
          <a:xfrm>
            <a:off x="2857500" y="20193000"/>
            <a:ext cx="10287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2325" b="1">
                <a:solidFill>
                  <a:srgbClr val="A61B1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A61B1B"/>
                </a:solidFill>
                <a:latin typeface="Arial"/>
                <a:ea typeface="Arial"/>
                <a:cs typeface="Arial"/>
              </a:rPr>
              <a:t>Tres dominios relacionados  ≠  una calificación global</a:t>
            </a:r>
          </a:p>
        </p:txBody>
      </p:sp>
      <p:sp>
        <p:nvSpPr>
          <p:cNvPr id="2089" name="method-arrow-1">
            <a:extLst>
              <a:ext uri="{FF2B5EF4-FFF2-40B4-BE49-F238E27FC236}">
                <a16:creationId xmlns:a16="http://schemas.microsoft.com/office/drawing/2014/main" id="{638853DE-C675-4038-ACE6-554A5D017A2B}"/>
              </a:ext>
            </a:extLst>
          </p:cNvPr>
          <p:cNvSpPr>
            <a:spLocks noGrp="1"/>
          </p:cNvSpPr>
          <p:nvPr/>
        </p:nvSpPr>
        <p:spPr>
          <a:xfrm>
            <a:off x="20193000" y="17954625"/>
            <a:ext cx="857250" cy="1143000"/>
          </a:xfrm>
          <a:prstGeom prst="downArrow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90" name="method-arrow-2">
            <a:extLst>
              <a:ext uri="{FF2B5EF4-FFF2-40B4-BE49-F238E27FC236}">
                <a16:creationId xmlns:a16="http://schemas.microsoft.com/office/drawing/2014/main" id="{01164BF6-CD09-4FC6-990E-E1EAA57E0059}"/>
              </a:ext>
            </a:extLst>
          </p:cNvPr>
          <p:cNvSpPr>
            <a:spLocks noGrp="1"/>
          </p:cNvSpPr>
          <p:nvPr/>
        </p:nvSpPr>
        <p:spPr>
          <a:xfrm>
            <a:off x="20193000" y="19812000"/>
            <a:ext cx="857250" cy="1143000"/>
          </a:xfrm>
          <a:prstGeom prst="downArrow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91" name="method-arrow-3">
            <a:extLst>
              <a:ext uri="{FF2B5EF4-FFF2-40B4-BE49-F238E27FC236}">
                <a16:creationId xmlns:a16="http://schemas.microsoft.com/office/drawing/2014/main" id="{CE264955-E81C-43A4-8AA3-B96806801DB7}"/>
              </a:ext>
            </a:extLst>
          </p:cNvPr>
          <p:cNvSpPr>
            <a:spLocks noGrp="1"/>
          </p:cNvSpPr>
          <p:nvPr/>
        </p:nvSpPr>
        <p:spPr>
          <a:xfrm>
            <a:off x="20193000" y="21669375"/>
            <a:ext cx="857250" cy="1143000"/>
          </a:xfrm>
          <a:prstGeom prst="downArrow">
            <a:avLst/>
          </a:prstGeom>
          <a:solidFill>
            <a:srgbClr val="5B9BD5"/>
          </a:solidFill>
          <a:ln w="0">
            <a:solidFill>
              <a:srgbClr val="5B9BD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92" name="method-number-1">
            <a:extLst>
              <a:ext uri="{FF2B5EF4-FFF2-40B4-BE49-F238E27FC236}">
                <a16:creationId xmlns:a16="http://schemas.microsoft.com/office/drawing/2014/main" id="{8777A78A-8713-424B-BFA2-58CA8169B7ED}"/>
              </a:ext>
            </a:extLst>
          </p:cNvPr>
          <p:cNvSpPr>
            <a:spLocks noGrp="1"/>
          </p:cNvSpPr>
          <p:nvPr/>
        </p:nvSpPr>
        <p:spPr>
          <a:xfrm>
            <a:off x="15716250" y="16383000"/>
            <a:ext cx="1428750" cy="1428750"/>
          </a:xfrm>
          <a:prstGeom prst="ellipse">
            <a:avLst/>
          </a:prstGeom>
          <a:solidFill>
            <a:srgbClr val="052B6B"/>
          </a:solidFill>
          <a:ln w="19050">
            <a:solidFill>
              <a:srgbClr val="052B6B"/>
            </a:solidFill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093" name="method-step-1">
            <a:extLst>
              <a:ext uri="{FF2B5EF4-FFF2-40B4-BE49-F238E27FC236}">
                <a16:creationId xmlns:a16="http://schemas.microsoft.com/office/drawing/2014/main" id="{76C09491-E1B7-4F4B-A316-131E85BCEDDD}"/>
              </a:ext>
            </a:extLst>
          </p:cNvPr>
          <p:cNvSpPr>
            <a:spLocks noGrp="1"/>
          </p:cNvSpPr>
          <p:nvPr/>
        </p:nvSpPr>
        <p:spPr>
          <a:xfrm>
            <a:off x="17478375" y="16383000"/>
            <a:ext cx="8572500" cy="142875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 w="19050">
            <a:solidFill>
              <a:srgbClr val="AAB7C4"/>
            </a:solidFill>
            <a:prstDash val="solid"/>
          </a:ln>
        </p:spPr>
        <p:txBody>
          <a:bodyPr lIns="171450" tIns="114300" rIns="152400" bIns="95250" anchor="ctr">
            <a:normAutofit/>
          </a:bodyPr>
          <a:lstStyle/>
          <a:p>
            <a:pPr algn="l">
              <a:defRPr sz="225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1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TAREA FPV NORMALIZADA</a:t>
            </a:r>
          </a:p>
          <a:p>
            <a:pPr algn="l">
              <a:defRPr sz="225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lang="es-CO" sz="2250">
                <a:solidFill>
                  <a:srgbClr val="172033"/>
                </a:solidFill>
                <a:latin typeface="Arial"/>
                <a:ea typeface="Arial"/>
                <a:cs typeface="Arial"/>
              </a:rPr>
              <a:t>misión</a:t>
            </a:r>
            <a:r>
              <a:rPr sz="2250">
                <a:solidFill>
                  <a:srgbClr val="172033"/>
                </a:solidFill>
                <a:latin typeface="Arial"/>
                <a:ea typeface="Arial"/>
                <a:cs typeface="Arial"/>
              </a:rPr>
              <a:t> </a:t>
            </a:r>
            <a:r>
              <a:rPr sz="225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· </a:t>
            </a:r>
            <a:r>
              <a:rPr sz="2250" dirty="0" err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finalización</a:t>
            </a:r>
            <a:r>
              <a:rPr sz="2250" dirty="0">
                <a:solidFill>
                  <a:srgbClr val="172033"/>
                </a:solidFill>
                <a:latin typeface="Arial"/>
                <a:ea typeface="Arial"/>
                <a:cs typeface="Arial"/>
              </a:rPr>
              <a:t> · control</a:t>
            </a:r>
          </a:p>
        </p:txBody>
      </p:sp>
      <p:sp>
        <p:nvSpPr>
          <p:cNvPr id="2094" name="method-number-2">
            <a:extLst>
              <a:ext uri="{FF2B5EF4-FFF2-40B4-BE49-F238E27FC236}">
                <a16:creationId xmlns:a16="http://schemas.microsoft.com/office/drawing/2014/main" id="{432D35B8-E532-4789-A8D8-B980D03CBB28}"/>
              </a:ext>
            </a:extLst>
          </p:cNvPr>
          <p:cNvSpPr>
            <a:spLocks noGrp="1"/>
          </p:cNvSpPr>
          <p:nvPr/>
        </p:nvSpPr>
        <p:spPr>
          <a:xfrm>
            <a:off x="15716250" y="18240375"/>
            <a:ext cx="1428750" cy="142875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052B6B"/>
            </a:solidFill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095" name="method-step-2">
            <a:extLst>
              <a:ext uri="{FF2B5EF4-FFF2-40B4-BE49-F238E27FC236}">
                <a16:creationId xmlns:a16="http://schemas.microsoft.com/office/drawing/2014/main" id="{C700D07D-572F-448E-A8C6-685568E59D42}"/>
              </a:ext>
            </a:extLst>
          </p:cNvPr>
          <p:cNvSpPr>
            <a:spLocks noGrp="1"/>
          </p:cNvSpPr>
          <p:nvPr/>
        </p:nvSpPr>
        <p:spPr>
          <a:xfrm>
            <a:off x="17478375" y="18240375"/>
            <a:ext cx="8572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AB7C4"/>
            </a:solidFill>
            <a:prstDash val="solid"/>
          </a:ln>
        </p:spPr>
        <p:txBody>
          <a:bodyPr lIns="171450" tIns="114300" rIns="152400" bIns="95250" anchor="ctr">
            <a:normAutofit/>
          </a:bodyPr>
          <a:lstStyle/>
          <a:p>
            <a:pPr algn="l">
              <a:defRPr sz="225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MATB</a:t>
            </a:r>
          </a:p>
          <a:p>
            <a:pPr algn="l">
              <a:defRPr sz="225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72033"/>
                </a:solidFill>
                <a:latin typeface="Arial"/>
                <a:ea typeface="Arial"/>
                <a:cs typeface="Arial"/>
              </a:rPr>
              <a:t>seguimiento · vigilancia · recursos</a:t>
            </a:r>
          </a:p>
        </p:txBody>
      </p:sp>
      <p:sp>
        <p:nvSpPr>
          <p:cNvPr id="2096" name="method-number-3">
            <a:extLst>
              <a:ext uri="{FF2B5EF4-FFF2-40B4-BE49-F238E27FC236}">
                <a16:creationId xmlns:a16="http://schemas.microsoft.com/office/drawing/2014/main" id="{B818EA8A-F8AF-46CF-9C3B-9FB3003202E9}"/>
              </a:ext>
            </a:extLst>
          </p:cNvPr>
          <p:cNvSpPr>
            <a:spLocks noGrp="1"/>
          </p:cNvSpPr>
          <p:nvPr/>
        </p:nvSpPr>
        <p:spPr>
          <a:xfrm>
            <a:off x="15716250" y="20097750"/>
            <a:ext cx="1428750" cy="142875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052B6B"/>
            </a:solidFill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97" name="method-step-3">
            <a:extLst>
              <a:ext uri="{FF2B5EF4-FFF2-40B4-BE49-F238E27FC236}">
                <a16:creationId xmlns:a16="http://schemas.microsoft.com/office/drawing/2014/main" id="{B4BFB483-0016-4E27-8F2B-389FA55F033D}"/>
              </a:ext>
            </a:extLst>
          </p:cNvPr>
          <p:cNvSpPr>
            <a:spLocks noGrp="1"/>
          </p:cNvSpPr>
          <p:nvPr/>
        </p:nvSpPr>
        <p:spPr>
          <a:xfrm>
            <a:off x="17478375" y="20097750"/>
            <a:ext cx="8572500" cy="1428750"/>
          </a:xfrm>
          <a:prstGeom prst="roundRect">
            <a:avLst>
              <a:gd name="adj" fmla="val 5333"/>
            </a:avLst>
          </a:prstGeom>
          <a:solidFill>
            <a:srgbClr val="EAF1F8"/>
          </a:solidFill>
          <a:ln w="19050">
            <a:solidFill>
              <a:srgbClr val="AAB7C4"/>
            </a:solidFill>
            <a:prstDash val="solid"/>
          </a:ln>
        </p:spPr>
        <p:txBody>
          <a:bodyPr lIns="171450" tIns="114300" rIns="152400" bIns="95250" anchor="ctr">
            <a:normAutofit/>
          </a:bodyPr>
          <a:lstStyle/>
          <a:p>
            <a:pPr algn="l">
              <a:defRPr sz="225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CALIDAD DEL DATO</a:t>
            </a:r>
          </a:p>
          <a:p>
            <a:pPr algn="l">
              <a:defRPr sz="225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72033"/>
                </a:solidFill>
                <a:latin typeface="Arial"/>
                <a:ea typeface="Arial"/>
                <a:cs typeface="Arial"/>
              </a:rPr>
              <a:t>calculable / no calculable</a:t>
            </a:r>
          </a:p>
        </p:txBody>
      </p:sp>
      <p:sp>
        <p:nvSpPr>
          <p:cNvPr id="2098" name="method-number-4">
            <a:extLst>
              <a:ext uri="{FF2B5EF4-FFF2-40B4-BE49-F238E27FC236}">
                <a16:creationId xmlns:a16="http://schemas.microsoft.com/office/drawing/2014/main" id="{485AC30D-FE6A-49A6-B501-5B17A2257A37}"/>
              </a:ext>
            </a:extLst>
          </p:cNvPr>
          <p:cNvSpPr>
            <a:spLocks noGrp="1"/>
          </p:cNvSpPr>
          <p:nvPr/>
        </p:nvSpPr>
        <p:spPr>
          <a:xfrm>
            <a:off x="15716250" y="21955125"/>
            <a:ext cx="1428750" cy="1428750"/>
          </a:xfrm>
          <a:prstGeom prst="ellipse">
            <a:avLst/>
          </a:prstGeom>
          <a:solidFill>
            <a:srgbClr val="2E75B6"/>
          </a:solidFill>
          <a:ln w="19050">
            <a:solidFill>
              <a:srgbClr val="052B6B"/>
            </a:solidFill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99" name="method-step-4">
            <a:extLst>
              <a:ext uri="{FF2B5EF4-FFF2-40B4-BE49-F238E27FC236}">
                <a16:creationId xmlns:a16="http://schemas.microsoft.com/office/drawing/2014/main" id="{A5098B3C-CF62-4CFB-BFC0-163588991B6C}"/>
              </a:ext>
            </a:extLst>
          </p:cNvPr>
          <p:cNvSpPr>
            <a:spLocks noGrp="1"/>
          </p:cNvSpPr>
          <p:nvPr/>
        </p:nvSpPr>
        <p:spPr>
          <a:xfrm>
            <a:off x="17478375" y="21955125"/>
            <a:ext cx="8572500" cy="142875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AAB7C4"/>
            </a:solidFill>
            <a:prstDash val="solid"/>
          </a:ln>
        </p:spPr>
        <p:txBody>
          <a:bodyPr lIns="171450" tIns="114300" rIns="152400" bIns="95250" anchor="ctr">
            <a:normAutofit/>
          </a:bodyPr>
          <a:lstStyle/>
          <a:p>
            <a:pPr algn="l">
              <a:defRPr sz="225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SEGUIMIENTO LONGITUDINAL</a:t>
            </a:r>
          </a:p>
          <a:p>
            <a:pPr algn="l">
              <a:defRPr sz="225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72033"/>
                </a:solidFill>
                <a:latin typeface="Arial"/>
                <a:ea typeface="Arial"/>
                <a:cs typeface="Arial"/>
              </a:rPr>
              <a:t>trayectorias individuales · retención</a:t>
            </a:r>
          </a:p>
        </p:txBody>
      </p:sp>
      <p:sp>
        <p:nvSpPr>
          <p:cNvPr id="2100" name="result-57">
            <a:extLst>
              <a:ext uri="{FF2B5EF4-FFF2-40B4-BE49-F238E27FC236}">
                <a16:creationId xmlns:a16="http://schemas.microsoft.com/office/drawing/2014/main" id="{488D3CCE-B7D1-4E04-A4B6-B16A07406B9B}"/>
              </a:ext>
            </a:extLst>
          </p:cNvPr>
          <p:cNvSpPr>
            <a:spLocks noGrp="1"/>
          </p:cNvSpPr>
          <p:nvPr/>
        </p:nvSpPr>
        <p:spPr>
          <a:xfrm>
            <a:off x="2714625" y="25336500"/>
            <a:ext cx="342900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9600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9600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sp>
        <p:nvSpPr>
          <p:cNvPr id="2101" name="result-tests-label">
            <a:extLst>
              <a:ext uri="{FF2B5EF4-FFF2-40B4-BE49-F238E27FC236}">
                <a16:creationId xmlns:a16="http://schemas.microsoft.com/office/drawing/2014/main" id="{2A377A8C-5185-4DA6-AC63-F8912B142ABA}"/>
              </a:ext>
            </a:extLst>
          </p:cNvPr>
          <p:cNvSpPr>
            <a:spLocks noGrp="1"/>
          </p:cNvSpPr>
          <p:nvPr/>
        </p:nvSpPr>
        <p:spPr>
          <a:xfrm>
            <a:off x="2762250" y="27432000"/>
            <a:ext cx="342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pruebas focales</a:t>
            </a:r>
          </a:p>
          <a:p>
            <a:pPr algn="ctr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aprobadas</a:t>
            </a:r>
          </a:p>
        </p:txBody>
      </p:sp>
      <p:sp>
        <p:nvSpPr>
          <p:cNvPr id="2102" name="result-laps-label">
            <a:extLst>
              <a:ext uri="{FF2B5EF4-FFF2-40B4-BE49-F238E27FC236}">
                <a16:creationId xmlns:a16="http://schemas.microsoft.com/office/drawing/2014/main" id="{F7859BBE-67AB-4F06-9CAF-CB7E80EBBBA7}"/>
              </a:ext>
            </a:extLst>
          </p:cNvPr>
          <p:cNvSpPr>
            <a:spLocks noGrp="1"/>
          </p:cNvSpPr>
          <p:nvPr/>
        </p:nvSpPr>
        <p:spPr>
          <a:xfrm>
            <a:off x="6667500" y="25098375"/>
            <a:ext cx="5810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2325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VUELTAS</a:t>
            </a:r>
          </a:p>
        </p:txBody>
      </p:sp>
      <p:sp>
        <p:nvSpPr>
          <p:cNvPr id="2103" name="result-lap-1">
            <a:extLst>
              <a:ext uri="{FF2B5EF4-FFF2-40B4-BE49-F238E27FC236}">
                <a16:creationId xmlns:a16="http://schemas.microsoft.com/office/drawing/2014/main" id="{578801A3-4EB6-4261-8275-C83F6B8F28D2}"/>
              </a:ext>
            </a:extLst>
          </p:cNvPr>
          <p:cNvSpPr>
            <a:spLocks noGrp="1"/>
          </p:cNvSpPr>
          <p:nvPr/>
        </p:nvSpPr>
        <p:spPr>
          <a:xfrm>
            <a:off x="6905625" y="25955625"/>
            <a:ext cx="1000125" cy="1000125"/>
          </a:xfrm>
          <a:prstGeom prst="ellipse">
            <a:avLst/>
          </a:prstGeom>
          <a:solidFill>
            <a:srgbClr val="2E75B6"/>
          </a:solidFill>
          <a:ln w="19050">
            <a:solidFill>
              <a:srgbClr val="052B6B"/>
            </a:solidFill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04" name="result-lap-2">
            <a:extLst>
              <a:ext uri="{FF2B5EF4-FFF2-40B4-BE49-F238E27FC236}">
                <a16:creationId xmlns:a16="http://schemas.microsoft.com/office/drawing/2014/main" id="{3D6F8E9A-15BB-406F-B406-878C86505903}"/>
              </a:ext>
            </a:extLst>
          </p:cNvPr>
          <p:cNvSpPr>
            <a:spLocks noGrp="1"/>
          </p:cNvSpPr>
          <p:nvPr/>
        </p:nvSpPr>
        <p:spPr>
          <a:xfrm>
            <a:off x="8286750" y="25955625"/>
            <a:ext cx="1000125" cy="1000125"/>
          </a:xfrm>
          <a:prstGeom prst="ellipse">
            <a:avLst/>
          </a:prstGeom>
          <a:solidFill>
            <a:srgbClr val="2E75B6"/>
          </a:solidFill>
          <a:ln w="19050">
            <a:solidFill>
              <a:srgbClr val="052B6B"/>
            </a:solidFill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05" name="result-lap-3">
            <a:extLst>
              <a:ext uri="{FF2B5EF4-FFF2-40B4-BE49-F238E27FC236}">
                <a16:creationId xmlns:a16="http://schemas.microsoft.com/office/drawing/2014/main" id="{196667AE-BE8F-4A44-AE2B-FF52AD38D4C9}"/>
              </a:ext>
            </a:extLst>
          </p:cNvPr>
          <p:cNvSpPr>
            <a:spLocks noGrp="1"/>
          </p:cNvSpPr>
          <p:nvPr/>
        </p:nvSpPr>
        <p:spPr>
          <a:xfrm>
            <a:off x="9667875" y="25955625"/>
            <a:ext cx="1000125" cy="1000125"/>
          </a:xfrm>
          <a:prstGeom prst="ellipse">
            <a:avLst/>
          </a:prstGeom>
          <a:solidFill>
            <a:srgbClr val="2E75B6"/>
          </a:solidFill>
          <a:ln w="19050">
            <a:solidFill>
              <a:srgbClr val="052B6B"/>
            </a:solidFill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06" name="result-lap-4">
            <a:extLst>
              <a:ext uri="{FF2B5EF4-FFF2-40B4-BE49-F238E27FC236}">
                <a16:creationId xmlns:a16="http://schemas.microsoft.com/office/drawing/2014/main" id="{7266D0F9-B48D-4DDF-B2CA-5EC3B26D7C10}"/>
              </a:ext>
            </a:extLst>
          </p:cNvPr>
          <p:cNvSpPr>
            <a:spLocks noGrp="1"/>
          </p:cNvSpPr>
          <p:nvPr/>
        </p:nvSpPr>
        <p:spPr>
          <a:xfrm>
            <a:off x="11049000" y="25955625"/>
            <a:ext cx="1000125" cy="1000125"/>
          </a:xfrm>
          <a:prstGeom prst="ellipse">
            <a:avLst/>
          </a:prstGeom>
          <a:solidFill>
            <a:srgbClr val="D9E1EA"/>
          </a:solidFill>
          <a:ln w="19050">
            <a:solidFill>
              <a:srgbClr val="8A96A3"/>
            </a:solidFill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33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107" name="result-laps-text">
            <a:extLst>
              <a:ext uri="{FF2B5EF4-FFF2-40B4-BE49-F238E27FC236}">
                <a16:creationId xmlns:a16="http://schemas.microsoft.com/office/drawing/2014/main" id="{5BFEDCA9-984E-40D6-857D-75CE66A290FF}"/>
              </a:ext>
            </a:extLst>
          </p:cNvPr>
          <p:cNvSpPr>
            <a:spLocks noGrp="1"/>
          </p:cNvSpPr>
          <p:nvPr/>
        </p:nvSpPr>
        <p:spPr>
          <a:xfrm>
            <a:off x="6667500" y="27051000"/>
            <a:ext cx="5810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24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3 de 4 válidas</a:t>
            </a:r>
          </a:p>
        </p:txBody>
      </p:sp>
      <p:sp>
        <p:nvSpPr>
          <p:cNvPr id="2108" name="result-median">
            <a:extLst>
              <a:ext uri="{FF2B5EF4-FFF2-40B4-BE49-F238E27FC236}">
                <a16:creationId xmlns:a16="http://schemas.microsoft.com/office/drawing/2014/main" id="{79404115-08F0-430F-8C80-A9D144E1148E}"/>
              </a:ext>
            </a:extLst>
          </p:cNvPr>
          <p:cNvSpPr>
            <a:spLocks noGrp="1"/>
          </p:cNvSpPr>
          <p:nvPr/>
        </p:nvSpPr>
        <p:spPr>
          <a:xfrm>
            <a:off x="6667500" y="28098750"/>
            <a:ext cx="2714625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3150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61,2 s</a:t>
            </a:r>
          </a:p>
          <a:p>
            <a:pPr algn="ctr">
              <a:defRPr sz="3150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mediana</a:t>
            </a:r>
          </a:p>
        </p:txBody>
      </p:sp>
      <p:sp>
        <p:nvSpPr>
          <p:cNvPr id="2109" name="result-completion">
            <a:extLst>
              <a:ext uri="{FF2B5EF4-FFF2-40B4-BE49-F238E27FC236}">
                <a16:creationId xmlns:a16="http://schemas.microsoft.com/office/drawing/2014/main" id="{B41BCCDC-B49E-4AD3-ADF6-B18031079BD6}"/>
              </a:ext>
            </a:extLst>
          </p:cNvPr>
          <p:cNvSpPr>
            <a:spLocks noGrp="1"/>
          </p:cNvSpPr>
          <p:nvPr/>
        </p:nvSpPr>
        <p:spPr>
          <a:xfrm>
            <a:off x="9620250" y="28098750"/>
            <a:ext cx="2857500" cy="1571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3150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0,75</a:t>
            </a:r>
          </a:p>
          <a:p>
            <a:pPr algn="ctr">
              <a:defRPr sz="3150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finalización</a:t>
            </a:r>
          </a:p>
        </p:txBody>
      </p:sp>
      <p:sp>
        <p:nvSpPr>
          <p:cNvPr id="2110" name="result-caution">
            <a:extLst>
              <a:ext uri="{FF2B5EF4-FFF2-40B4-BE49-F238E27FC236}">
                <a16:creationId xmlns:a16="http://schemas.microsoft.com/office/drawing/2014/main" id="{D7FCBA7E-7392-49F9-95D1-DFC33B82A43F}"/>
              </a:ext>
            </a:extLst>
          </p:cNvPr>
          <p:cNvSpPr>
            <a:spLocks noGrp="1"/>
          </p:cNvSpPr>
          <p:nvPr/>
        </p:nvSpPr>
        <p:spPr>
          <a:xfrm>
            <a:off x="2714625" y="30099000"/>
            <a:ext cx="9906000" cy="1143000"/>
          </a:xfrm>
          <a:prstGeom prst="roundRect">
            <a:avLst>
              <a:gd name="adj" fmla="val 6667"/>
            </a:avLst>
          </a:prstGeom>
          <a:solidFill>
            <a:srgbClr val="FFF2CC"/>
          </a:solidFill>
          <a:ln w="19050">
            <a:solidFill>
              <a:srgbClr val="C69214"/>
            </a:solidFill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2325" b="1">
                <a:solidFill>
                  <a:srgbClr val="7F6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7F6000"/>
                </a:solidFill>
                <a:latin typeface="Arial"/>
                <a:ea typeface="Arial"/>
                <a:cs typeface="Arial"/>
              </a:rPr>
              <a:t>Trayectoria: NO CALCULABLE sin unidades validadas</a:t>
            </a:r>
          </a:p>
        </p:txBody>
      </p:sp>
      <p:sp>
        <p:nvSpPr>
          <p:cNvPr id="2111" name="discussion-question">
            <a:extLst>
              <a:ext uri="{FF2B5EF4-FFF2-40B4-BE49-F238E27FC236}">
                <a16:creationId xmlns:a16="http://schemas.microsoft.com/office/drawing/2014/main" id="{0207641D-116C-4020-9ED8-0296DADB2367}"/>
              </a:ext>
            </a:extLst>
          </p:cNvPr>
          <p:cNvSpPr>
            <a:spLocks noGrp="1"/>
          </p:cNvSpPr>
          <p:nvPr/>
        </p:nvSpPr>
        <p:spPr>
          <a:xfrm>
            <a:off x="15525750" y="28098750"/>
            <a:ext cx="1066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2550" b="1">
                <a:solidFill>
                  <a:srgbClr val="052B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52B6B"/>
                </a:solidFill>
                <a:latin typeface="Arial"/>
                <a:ea typeface="Arial"/>
                <a:cs typeface="Arial"/>
              </a:rPr>
              <a:t>¿Qué permite afirmar la evidencia actual?</a:t>
            </a:r>
          </a:p>
        </p:txBody>
      </p:sp>
      <p:sp>
        <p:nvSpPr>
          <p:cNvPr id="2112" name="validation-level-1">
            <a:extLst>
              <a:ext uri="{FF2B5EF4-FFF2-40B4-BE49-F238E27FC236}">
                <a16:creationId xmlns:a16="http://schemas.microsoft.com/office/drawing/2014/main" id="{6DEAF247-7091-4D36-8C31-9BD8402E40BC}"/>
              </a:ext>
            </a:extLst>
          </p:cNvPr>
          <p:cNvSpPr>
            <a:spLocks noGrp="1"/>
          </p:cNvSpPr>
          <p:nvPr/>
        </p:nvSpPr>
        <p:spPr>
          <a:xfrm>
            <a:off x="15811500" y="29146500"/>
            <a:ext cx="6858000" cy="1000125"/>
          </a:xfrm>
          <a:prstGeom prst="roundRect">
            <a:avLst>
              <a:gd name="adj" fmla="val 1905"/>
            </a:avLst>
          </a:prstGeom>
          <a:solidFill>
            <a:srgbClr val="052B6B"/>
          </a:solidFill>
          <a:ln w="19050">
            <a:solidFill>
              <a:srgbClr val="052B6B"/>
            </a:solidFill>
            <a:prstDash val="solid"/>
          </a:ln>
        </p:spPr>
        <p:txBody>
          <a:bodyPr lIns="190500" tIns="190500" rIns="190500" bIns="190500" anchor="ctr"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CONFORMIDAD METODOLÓGICA</a:t>
            </a:r>
          </a:p>
        </p:txBody>
      </p:sp>
      <p:sp>
        <p:nvSpPr>
          <p:cNvPr id="2113" name="validation-level-2">
            <a:extLst>
              <a:ext uri="{FF2B5EF4-FFF2-40B4-BE49-F238E27FC236}">
                <a16:creationId xmlns:a16="http://schemas.microsoft.com/office/drawing/2014/main" id="{9020686A-8537-4814-A2FB-2FE0CB19413F}"/>
              </a:ext>
            </a:extLst>
          </p:cNvPr>
          <p:cNvSpPr>
            <a:spLocks noGrp="1"/>
          </p:cNvSpPr>
          <p:nvPr/>
        </p:nvSpPr>
        <p:spPr>
          <a:xfrm>
            <a:off x="15811500" y="30480000"/>
            <a:ext cx="7620000" cy="1000125"/>
          </a:xfrm>
          <a:prstGeom prst="roundRect">
            <a:avLst>
              <a:gd name="adj" fmla="val 1905"/>
            </a:avLst>
          </a:prstGeom>
          <a:solidFill>
            <a:srgbClr val="2E75B6"/>
          </a:solidFill>
          <a:ln w="19050">
            <a:solidFill>
              <a:srgbClr val="052B6B"/>
            </a:solidFill>
            <a:prstDash val="solid"/>
          </a:ln>
        </p:spPr>
        <p:txBody>
          <a:bodyPr lIns="190500" tIns="190500" rIns="190500" bIns="190500" anchor="ctr">
            <a:normAutofit/>
          </a:bodyPr>
          <a:lstStyle/>
          <a:p>
            <a:pPr algn="l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VIABILIDAD CON PERSONAS</a:t>
            </a:r>
          </a:p>
        </p:txBody>
      </p:sp>
      <p:sp>
        <p:nvSpPr>
          <p:cNvPr id="2114" name="validation-level-3">
            <a:extLst>
              <a:ext uri="{FF2B5EF4-FFF2-40B4-BE49-F238E27FC236}">
                <a16:creationId xmlns:a16="http://schemas.microsoft.com/office/drawing/2014/main" id="{BD1E8411-C6CC-44C5-BE9A-F6CA290937A6}"/>
              </a:ext>
            </a:extLst>
          </p:cNvPr>
          <p:cNvSpPr>
            <a:spLocks noGrp="1"/>
          </p:cNvSpPr>
          <p:nvPr/>
        </p:nvSpPr>
        <p:spPr>
          <a:xfrm>
            <a:off x="15811500" y="31813500"/>
            <a:ext cx="8382000" cy="1000125"/>
          </a:xfrm>
          <a:prstGeom prst="roundRect">
            <a:avLst>
              <a:gd name="adj" fmla="val 1905"/>
            </a:avLst>
          </a:prstGeom>
          <a:solidFill>
            <a:srgbClr val="5B9BD5"/>
          </a:solidFill>
          <a:ln w="19050">
            <a:solidFill>
              <a:srgbClr val="052B6B"/>
            </a:solidFill>
            <a:prstDash val="solid"/>
          </a:ln>
        </p:spPr>
        <p:txBody>
          <a:bodyPr lIns="190500" tIns="190500" rIns="190500" bIns="190500" anchor="ctr">
            <a:normAutofit/>
          </a:bodyPr>
          <a:lstStyle/>
          <a:p>
            <a:pPr algn="l">
              <a:defRPr sz="21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3  CONFIABILIDAD Y VALIDEZ</a:t>
            </a:r>
          </a:p>
        </p:txBody>
      </p:sp>
      <p:sp>
        <p:nvSpPr>
          <p:cNvPr id="2115" name="validation-level-4">
            <a:extLst>
              <a:ext uri="{FF2B5EF4-FFF2-40B4-BE49-F238E27FC236}">
                <a16:creationId xmlns:a16="http://schemas.microsoft.com/office/drawing/2014/main" id="{8A04500A-77FE-4054-8BD2-6E8334E60968}"/>
              </a:ext>
            </a:extLst>
          </p:cNvPr>
          <p:cNvSpPr>
            <a:spLocks noGrp="1"/>
          </p:cNvSpPr>
          <p:nvPr/>
        </p:nvSpPr>
        <p:spPr>
          <a:xfrm>
            <a:off x="15811500" y="33147000"/>
            <a:ext cx="9144000" cy="1000125"/>
          </a:xfrm>
          <a:prstGeom prst="roundRect">
            <a:avLst>
              <a:gd name="adj" fmla="val 1905"/>
            </a:avLst>
          </a:prstGeom>
          <a:solidFill>
            <a:srgbClr val="D9E2F3"/>
          </a:solidFill>
          <a:ln w="19050">
            <a:solidFill>
              <a:srgbClr val="052B6B"/>
            </a:solidFill>
            <a:prstDash val="solid"/>
          </a:ln>
        </p:spPr>
        <p:txBody>
          <a:bodyPr lIns="190500" tIns="190500" rIns="190500" bIns="190500" anchor="ctr">
            <a:normAutofit/>
          </a:bodyPr>
          <a:lstStyle/>
          <a:p>
            <a:pPr algn="l">
              <a:defRPr sz="21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4  SENSIBILIDAD LONGITUDINAL</a:t>
            </a:r>
          </a:p>
        </p:txBody>
      </p:sp>
      <p:sp>
        <p:nvSpPr>
          <p:cNvPr id="2116" name="validation-level-5">
            <a:extLst>
              <a:ext uri="{FF2B5EF4-FFF2-40B4-BE49-F238E27FC236}">
                <a16:creationId xmlns:a16="http://schemas.microsoft.com/office/drawing/2014/main" id="{7CFD9BF4-67AD-4E45-B3C7-5E5C6936E114}"/>
              </a:ext>
            </a:extLst>
          </p:cNvPr>
          <p:cNvSpPr>
            <a:spLocks noGrp="1"/>
          </p:cNvSpPr>
          <p:nvPr/>
        </p:nvSpPr>
        <p:spPr>
          <a:xfrm>
            <a:off x="15811500" y="34480500"/>
            <a:ext cx="9906000" cy="1000125"/>
          </a:xfrm>
          <a:prstGeom prst="roundRect">
            <a:avLst>
              <a:gd name="adj" fmla="val 1905"/>
            </a:avLst>
          </a:prstGeom>
          <a:solidFill>
            <a:srgbClr val="D9E1EA"/>
          </a:solidFill>
          <a:ln w="19050">
            <a:solidFill>
              <a:srgbClr val="052B6B"/>
            </a:solidFill>
            <a:prstDash val="solid"/>
          </a:ln>
        </p:spPr>
        <p:txBody>
          <a:bodyPr lIns="190500" tIns="190500" rIns="190500" bIns="190500" anchor="ctr">
            <a:normAutofit/>
          </a:bodyPr>
          <a:lstStyle/>
          <a:p>
            <a:pPr algn="l">
              <a:defRPr sz="21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5  TRANSFERENCIA EXTERNA</a:t>
            </a:r>
          </a:p>
        </p:txBody>
      </p:sp>
      <p:sp>
        <p:nvSpPr>
          <p:cNvPr id="2117" name="today-marker">
            <a:extLst>
              <a:ext uri="{FF2B5EF4-FFF2-40B4-BE49-F238E27FC236}">
                <a16:creationId xmlns:a16="http://schemas.microsoft.com/office/drawing/2014/main" id="{B03F8223-4FC6-4663-8DEA-51EF33110A92}"/>
              </a:ext>
            </a:extLst>
          </p:cNvPr>
          <p:cNvSpPr>
            <a:spLocks noGrp="1"/>
          </p:cNvSpPr>
          <p:nvPr/>
        </p:nvSpPr>
        <p:spPr>
          <a:xfrm>
            <a:off x="23145750" y="29146500"/>
            <a:ext cx="3048000" cy="1000125"/>
          </a:xfrm>
          <a:prstGeom prst="roundRect">
            <a:avLst>
              <a:gd name="adj" fmla="val 7619"/>
            </a:avLst>
          </a:prstGeom>
          <a:solidFill>
            <a:srgbClr val="F4B183"/>
          </a:solidFill>
          <a:ln w="19050">
            <a:solidFill>
              <a:srgbClr val="C65911"/>
            </a:solidFill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2100" b="1">
                <a:solidFill>
                  <a:srgbClr val="7F2F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F2F00"/>
                </a:solidFill>
                <a:latin typeface="Arial"/>
                <a:ea typeface="Arial"/>
                <a:cs typeface="Arial"/>
              </a:rPr>
              <a:t>EVIDENCIA</a:t>
            </a:r>
          </a:p>
          <a:p>
            <a:pPr algn="ctr">
              <a:defRPr sz="2100" b="1">
                <a:solidFill>
                  <a:srgbClr val="7F2F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7F2F00"/>
                </a:solidFill>
                <a:latin typeface="Arial"/>
                <a:ea typeface="Arial"/>
                <a:cs typeface="Arial"/>
              </a:rPr>
              <a:t>ACTUAL</a:t>
            </a:r>
          </a:p>
        </p:txBody>
      </p:sp>
      <p:sp>
        <p:nvSpPr>
          <p:cNvPr id="2119" name="discussion-limit-2">
            <a:extLst>
              <a:ext uri="{FF2B5EF4-FFF2-40B4-BE49-F238E27FC236}">
                <a16:creationId xmlns:a16="http://schemas.microsoft.com/office/drawing/2014/main" id="{671D5A1A-13E6-4584-ABD9-A85A095DE95B}"/>
              </a:ext>
            </a:extLst>
          </p:cNvPr>
          <p:cNvSpPr>
            <a:spLocks noGrp="1"/>
          </p:cNvSpPr>
          <p:nvPr/>
        </p:nvSpPr>
        <p:spPr>
          <a:xfrm>
            <a:off x="15716250" y="36576000"/>
            <a:ext cx="105727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95250" tIns="95250" rIns="95250" bIns="95250" anchor="ctr">
            <a:normAutofit/>
          </a:bodyPr>
          <a:lstStyle/>
          <a:p>
            <a:pPr algn="ctr">
              <a:defRPr sz="2175" b="1">
                <a:solidFill>
                  <a:srgbClr val="A61B1B"/>
                </a:solidFill>
                <a:latin typeface="Arial"/>
                <a:ea typeface="Arial"/>
                <a:cs typeface="Arial"/>
              </a:defRPr>
            </a:pPr>
            <a:endParaRPr sz="2175" b="1" dirty="0">
              <a:solidFill>
                <a:srgbClr val="A61B1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149329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516</Words>
  <Application>Microsoft Office PowerPoint</Application>
  <DocSecurity>0</DocSecurity>
  <PresentationFormat>Custom</PresentationFormat>
  <Paragraphs>74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 Light</vt:lpstr>
      <vt:lpstr>Century Gothic</vt:lpstr>
      <vt:lpstr>Tema de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SMSM16. DIEGO LEONEL MALPICA HINCAPIE</cp:lastModifiedBy>
  <cp:revision>3</cp:revision>
  <dcterms:created xsi:type="dcterms:W3CDTF">2026-09-01T17:38:45Z</dcterms:created>
  <dcterms:modified xsi:type="dcterms:W3CDTF">2026-09-03T17:46:18Z</dcterms:modified>
</cp:coreProperties>
</file>