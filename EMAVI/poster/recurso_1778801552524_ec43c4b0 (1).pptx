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</p:sldIdLst>
  <p:sldSz cx="28800425" cy="43200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F62AA8-D3A4-4E2F-A117-CA91FA2AF997}" v="2" dt="2026-05-07T21:29:40.4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5" d="100"/>
          <a:sy n="35" d="100"/>
        </p:scale>
        <p:origin x="171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TO. DIANA MARIA MOSQUERA TARAMUEL" userId="7993c1a0-6d8a-4f0f-b599-e44bbedb5ba0" providerId="ADAL" clId="{5A827F1F-E1E2-4FFB-9CCC-40D8D81D6750}"/>
    <pc:docChg chg="custSel modSld">
      <pc:chgData name="CTO. DIANA MARIA MOSQUERA TARAMUEL" userId="7993c1a0-6d8a-4f0f-b599-e44bbedb5ba0" providerId="ADAL" clId="{5A827F1F-E1E2-4FFB-9CCC-40D8D81D6750}" dt="2026-05-07T21:47:47.153" v="9" actId="1037"/>
      <pc:docMkLst>
        <pc:docMk/>
      </pc:docMkLst>
      <pc:sldChg chg="addSp delSp modSp mod">
        <pc:chgData name="CTO. DIANA MARIA MOSQUERA TARAMUEL" userId="7993c1a0-6d8a-4f0f-b599-e44bbedb5ba0" providerId="ADAL" clId="{5A827F1F-E1E2-4FFB-9CCC-40D8D81D6750}" dt="2026-05-07T21:47:47.153" v="9" actId="1037"/>
        <pc:sldMkLst>
          <pc:docMk/>
          <pc:sldMk cId="814932952" sldId="256"/>
        </pc:sldMkLst>
        <pc:picChg chg="del">
          <ac:chgData name="CTO. DIANA MARIA MOSQUERA TARAMUEL" userId="7993c1a0-6d8a-4f0f-b599-e44bbedb5ba0" providerId="ADAL" clId="{5A827F1F-E1E2-4FFB-9CCC-40D8D81D6750}" dt="2026-05-07T21:28:50.393" v="0" actId="478"/>
          <ac:picMkLst>
            <pc:docMk/>
            <pc:sldMk cId="814932952" sldId="256"/>
            <ac:picMk id="14" creationId="{152A027E-33B4-D4D3-CD2B-863DF436545A}"/>
          </ac:picMkLst>
        </pc:picChg>
        <pc:picChg chg="add mod">
          <ac:chgData name="CTO. DIANA MARIA MOSQUERA TARAMUEL" userId="7993c1a0-6d8a-4f0f-b599-e44bbedb5ba0" providerId="ADAL" clId="{5A827F1F-E1E2-4FFB-9CCC-40D8D81D6750}" dt="2026-05-07T21:47:47.153" v="9" actId="1037"/>
          <ac:picMkLst>
            <pc:docMk/>
            <pc:sldMk cId="814932952" sldId="256"/>
            <ac:picMk id="16" creationId="{9A15A7D2-3CF2-AF79-DF5E-D7A473BD24C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0032" y="7070108"/>
            <a:ext cx="24480361" cy="15040222"/>
          </a:xfrm>
        </p:spPr>
        <p:txBody>
          <a:bodyPr anchor="b"/>
          <a:lstStyle>
            <a:lvl1pPr algn="ctr">
              <a:defRPr sz="18898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53" y="22690338"/>
            <a:ext cx="21600319" cy="10430151"/>
          </a:xfrm>
        </p:spPr>
        <p:txBody>
          <a:bodyPr/>
          <a:lstStyle>
            <a:lvl1pPr marL="0" indent="0" algn="ctr">
              <a:buNone/>
              <a:defRPr sz="7559"/>
            </a:lvl1pPr>
            <a:lvl2pPr marL="1440043" indent="0" algn="ctr">
              <a:buNone/>
              <a:defRPr sz="6299"/>
            </a:lvl2pPr>
            <a:lvl3pPr marL="2880086" indent="0" algn="ctr">
              <a:buNone/>
              <a:defRPr sz="5669"/>
            </a:lvl3pPr>
            <a:lvl4pPr marL="4320129" indent="0" algn="ctr">
              <a:buNone/>
              <a:defRPr sz="5040"/>
            </a:lvl4pPr>
            <a:lvl5pPr marL="5760171" indent="0" algn="ctr">
              <a:buNone/>
              <a:defRPr sz="5040"/>
            </a:lvl5pPr>
            <a:lvl6pPr marL="7200214" indent="0" algn="ctr">
              <a:buNone/>
              <a:defRPr sz="5040"/>
            </a:lvl6pPr>
            <a:lvl7pPr marL="8640257" indent="0" algn="ctr">
              <a:buNone/>
              <a:defRPr sz="5040"/>
            </a:lvl7pPr>
            <a:lvl8pPr marL="10080300" indent="0" algn="ctr">
              <a:buNone/>
              <a:defRPr sz="5040"/>
            </a:lvl8pPr>
            <a:lvl9pPr marL="11520343" indent="0" algn="ctr">
              <a:buNone/>
              <a:defRPr sz="504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8705-2FD9-4462-8EB2-1A71100C582D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14C88-8574-4AD8-BEE1-F8283D49D3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2640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8705-2FD9-4462-8EB2-1A71100C582D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14C88-8574-4AD8-BEE1-F8283D49D3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04218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030" y="10770172"/>
            <a:ext cx="24840367" cy="17970262"/>
          </a:xfrm>
        </p:spPr>
        <p:txBody>
          <a:bodyPr anchor="b"/>
          <a:lstStyle>
            <a:lvl1pPr>
              <a:defRPr sz="18898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5030" y="28910440"/>
            <a:ext cx="24840367" cy="9450136"/>
          </a:xfrm>
        </p:spPr>
        <p:txBody>
          <a:bodyPr/>
          <a:lstStyle>
            <a:lvl1pPr marL="0" indent="0">
              <a:buNone/>
              <a:defRPr sz="7559">
                <a:solidFill>
                  <a:schemeClr val="tx1">
                    <a:tint val="82000"/>
                  </a:schemeClr>
                </a:solidFill>
              </a:defRPr>
            </a:lvl1pPr>
            <a:lvl2pPr marL="1440043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2pPr>
            <a:lvl3pPr marL="2880086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3pPr>
            <a:lvl4pPr marL="4320129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4pPr>
            <a:lvl5pPr marL="5760171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5pPr>
            <a:lvl6pPr marL="7200214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6pPr>
            <a:lvl7pPr marL="8640257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7pPr>
            <a:lvl8pPr marL="10080300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8pPr>
            <a:lvl9pPr marL="11520343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8705-2FD9-4462-8EB2-1A71100C582D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14C88-8574-4AD8-BEE1-F8283D49D3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877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0029" y="11500170"/>
            <a:ext cx="12240181" cy="2741040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80215" y="11500170"/>
            <a:ext cx="12240181" cy="2741040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8705-2FD9-4462-8EB2-1A71100C582D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14C88-8574-4AD8-BEE1-F8283D49D3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07706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300044"/>
            <a:ext cx="24840367" cy="835012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784" y="10590160"/>
            <a:ext cx="12183928" cy="5190073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784" y="15780233"/>
            <a:ext cx="12183928" cy="2321034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80217" y="10590160"/>
            <a:ext cx="12243932" cy="5190073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80217" y="15780233"/>
            <a:ext cx="12243932" cy="2321034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8705-2FD9-4462-8EB2-1A71100C582D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14C88-8574-4AD8-BEE1-F8283D49D3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24753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8705-2FD9-4462-8EB2-1A71100C582D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14C88-8574-4AD8-BEE1-F8283D49D3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29885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8705-2FD9-4462-8EB2-1A71100C582D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14C88-8574-4AD8-BEE1-F8283D49D3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17905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880042"/>
            <a:ext cx="9288887" cy="10080149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3932" y="6220102"/>
            <a:ext cx="14580215" cy="30700453"/>
          </a:xfrm>
        </p:spPr>
        <p:txBody>
          <a:bodyPr/>
          <a:lstStyle>
            <a:lvl1pPr>
              <a:defRPr sz="10079"/>
            </a:lvl1pPr>
            <a:lvl2pPr>
              <a:defRPr sz="8819"/>
            </a:lvl2pPr>
            <a:lvl3pPr>
              <a:defRPr sz="7559"/>
            </a:lvl3pPr>
            <a:lvl4pPr>
              <a:defRPr sz="6299"/>
            </a:lvl4pPr>
            <a:lvl5pPr>
              <a:defRPr sz="6299"/>
            </a:lvl5pPr>
            <a:lvl6pPr>
              <a:defRPr sz="6299"/>
            </a:lvl6pPr>
            <a:lvl7pPr>
              <a:defRPr sz="6299"/>
            </a:lvl7pPr>
            <a:lvl8pPr>
              <a:defRPr sz="6299"/>
            </a:lvl8pPr>
            <a:lvl9pPr>
              <a:defRPr sz="6299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12960191"/>
            <a:ext cx="9288887" cy="24010358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8705-2FD9-4462-8EB2-1A71100C582D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14C88-8574-4AD8-BEE1-F8283D49D3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45354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880042"/>
            <a:ext cx="9288887" cy="10080149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3932" y="6220102"/>
            <a:ext cx="14580215" cy="30700453"/>
          </a:xfrm>
        </p:spPr>
        <p:txBody>
          <a:bodyPr anchor="t"/>
          <a:lstStyle>
            <a:lvl1pPr marL="0" indent="0">
              <a:buNone/>
              <a:defRPr sz="10079"/>
            </a:lvl1pPr>
            <a:lvl2pPr marL="1440043" indent="0">
              <a:buNone/>
              <a:defRPr sz="8819"/>
            </a:lvl2pPr>
            <a:lvl3pPr marL="2880086" indent="0">
              <a:buNone/>
              <a:defRPr sz="7559"/>
            </a:lvl3pPr>
            <a:lvl4pPr marL="4320129" indent="0">
              <a:buNone/>
              <a:defRPr sz="6299"/>
            </a:lvl4pPr>
            <a:lvl5pPr marL="5760171" indent="0">
              <a:buNone/>
              <a:defRPr sz="6299"/>
            </a:lvl5pPr>
            <a:lvl6pPr marL="7200214" indent="0">
              <a:buNone/>
              <a:defRPr sz="6299"/>
            </a:lvl6pPr>
            <a:lvl7pPr marL="8640257" indent="0">
              <a:buNone/>
              <a:defRPr sz="6299"/>
            </a:lvl7pPr>
            <a:lvl8pPr marL="10080300" indent="0">
              <a:buNone/>
              <a:defRPr sz="6299"/>
            </a:lvl8pPr>
            <a:lvl9pPr marL="11520343" indent="0">
              <a:buNone/>
              <a:defRPr sz="6299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12960191"/>
            <a:ext cx="9288887" cy="24010358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8705-2FD9-4462-8EB2-1A71100C582D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14C88-8574-4AD8-BEE1-F8283D49D3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40095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8705-2FD9-4462-8EB2-1A71100C582D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14C88-8574-4AD8-BEE1-F8283D49D3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09065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10306" y="2300034"/>
            <a:ext cx="6210092" cy="3661054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0031" y="2300034"/>
            <a:ext cx="18270270" cy="3661054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8705-2FD9-4462-8EB2-1A71100C582D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14C88-8574-4AD8-BEE1-F8283D49D3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7553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0029" y="2300044"/>
            <a:ext cx="24840367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0029" y="11500170"/>
            <a:ext cx="24840367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80029" y="40040601"/>
            <a:ext cx="6480096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C88705-2FD9-4462-8EB2-1A71100C582D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40141" y="40040601"/>
            <a:ext cx="9720143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40300" y="40040601"/>
            <a:ext cx="6480096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214C88-8574-4AD8-BEE1-F8283D49D3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892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880086" rtl="0" eaLnBrk="1" latinLnBrk="0" hangingPunct="1">
        <a:lnSpc>
          <a:spcPct val="90000"/>
        </a:lnSpc>
        <a:spcBef>
          <a:spcPct val="0"/>
        </a:spcBef>
        <a:buNone/>
        <a:defRPr sz="13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0021" indent="-720021" algn="l" defTabSz="2880086" rtl="0" eaLnBrk="1" latinLnBrk="0" hangingPunct="1">
        <a:lnSpc>
          <a:spcPct val="90000"/>
        </a:lnSpc>
        <a:spcBef>
          <a:spcPts val="3150"/>
        </a:spcBef>
        <a:buFont typeface="Arial" panose="020B0604020202020204" pitchFamily="34" charset="0"/>
        <a:buChar char="•"/>
        <a:defRPr sz="8819" kern="1200">
          <a:solidFill>
            <a:schemeClr val="tx1"/>
          </a:solidFill>
          <a:latin typeface="+mn-lt"/>
          <a:ea typeface="+mn-ea"/>
          <a:cs typeface="+mn-cs"/>
        </a:defRPr>
      </a:lvl1pPr>
      <a:lvl2pPr marL="21600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2pPr>
      <a:lvl3pPr marL="3600107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6299" kern="1200">
          <a:solidFill>
            <a:schemeClr val="tx1"/>
          </a:solidFill>
          <a:latin typeface="+mn-lt"/>
          <a:ea typeface="+mn-ea"/>
          <a:cs typeface="+mn-cs"/>
        </a:defRPr>
      </a:lvl3pPr>
      <a:lvl4pPr marL="5040150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6480193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920236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9360278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800321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22403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880086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3pPr>
      <a:lvl4pPr marL="4320129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5760171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200214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8640257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080300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1520343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" name="Rectangle 29"/>
          <p:cNvSpPr>
            <a:spLocks noChangeArrowheads="1"/>
          </p:cNvSpPr>
          <p:nvPr/>
        </p:nvSpPr>
        <p:spPr bwMode="auto">
          <a:xfrm>
            <a:off x="14319668" y="7699401"/>
            <a:ext cx="161096" cy="38047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79737" tIns="39869" rIns="79737" bIns="39869" anchor="ctr">
            <a:spAutoFit/>
          </a:bodyPr>
          <a:lstStyle/>
          <a:p>
            <a:endParaRPr lang="es-ES_tradnl" sz="1949"/>
          </a:p>
        </p:txBody>
      </p:sp>
      <p:sp>
        <p:nvSpPr>
          <p:cNvPr id="4" name="AutoShape 2" descr="Imagen relacionada"/>
          <p:cNvSpPr>
            <a:spLocks noChangeAspect="1" noChangeArrowheads="1"/>
          </p:cNvSpPr>
          <p:nvPr/>
        </p:nvSpPr>
        <p:spPr bwMode="auto">
          <a:xfrm>
            <a:off x="1778489" y="7761644"/>
            <a:ext cx="270044" cy="270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81013" tIns="40506" rIns="81013" bIns="40506" numCol="1" anchor="t" anchorCtr="0" compatLnSpc="1">
            <a:prstTxWarp prst="textNoShape">
              <a:avLst/>
            </a:prstTxWarp>
          </a:bodyPr>
          <a:lstStyle/>
          <a:p>
            <a:endParaRPr lang="es-CO" sz="1949"/>
          </a:p>
        </p:txBody>
      </p:sp>
      <p:sp>
        <p:nvSpPr>
          <p:cNvPr id="10" name="CuadroTexto 9"/>
          <p:cNvSpPr txBox="1"/>
          <p:nvPr/>
        </p:nvSpPr>
        <p:spPr>
          <a:xfrm>
            <a:off x="1980104" y="6516407"/>
            <a:ext cx="24812132" cy="2395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5400" b="1" dirty="0"/>
              <a:t>TÍTULO COMPLETO DEL PROYECTO</a:t>
            </a:r>
          </a:p>
          <a:p>
            <a:pPr algn="ctr"/>
            <a:r>
              <a:rPr lang="es-CO" sz="3189" baseline="30000" dirty="0"/>
              <a:t>1</a:t>
            </a:r>
            <a:r>
              <a:rPr lang="es-CO" sz="3189" dirty="0"/>
              <a:t>Autor 1, </a:t>
            </a:r>
            <a:r>
              <a:rPr lang="es-CO" sz="3189" baseline="30000" dirty="0"/>
              <a:t>2</a:t>
            </a:r>
            <a:r>
              <a:rPr lang="es-CO" sz="3189" dirty="0"/>
              <a:t>Autor 2, </a:t>
            </a:r>
            <a:r>
              <a:rPr lang="es-CO" sz="3189" baseline="30000" dirty="0"/>
              <a:t>3</a:t>
            </a:r>
            <a:r>
              <a:rPr lang="es-CO" sz="3189" dirty="0"/>
              <a:t>Autor 3…</a:t>
            </a:r>
          </a:p>
          <a:p>
            <a:pPr algn="ctr"/>
            <a:r>
              <a:rPr lang="es-CO" sz="3189" u="sng" dirty="0"/>
              <a:t>Correo electrónico Autor principal</a:t>
            </a:r>
            <a:r>
              <a:rPr lang="es-CO" sz="3189" baseline="30000" dirty="0"/>
              <a:t>1</a:t>
            </a:r>
            <a:endParaRPr lang="es-CO" sz="3189" u="sng" dirty="0"/>
          </a:p>
          <a:p>
            <a:pPr algn="ctr"/>
            <a:r>
              <a:rPr lang="es-CO" sz="3189" baseline="30000" dirty="0"/>
              <a:t>1,2,3</a:t>
            </a:r>
            <a:r>
              <a:rPr lang="es-CO" sz="3189" dirty="0">
                <a:highlight>
                  <a:srgbClr val="FFFF00"/>
                </a:highlight>
              </a:rPr>
              <a:t>Filiación Institucional</a:t>
            </a:r>
          </a:p>
        </p:txBody>
      </p:sp>
      <p:sp>
        <p:nvSpPr>
          <p:cNvPr id="27" name="AutoShape 34"/>
          <p:cNvSpPr>
            <a:spLocks noChangeArrowheads="1"/>
          </p:cNvSpPr>
          <p:nvPr/>
        </p:nvSpPr>
        <p:spPr bwMode="auto">
          <a:xfrm>
            <a:off x="1980104" y="38606594"/>
            <a:ext cx="25117425" cy="3189890"/>
          </a:xfrm>
          <a:prstGeom prst="roundRect">
            <a:avLst>
              <a:gd name="adj" fmla="val 4207"/>
            </a:avLst>
          </a:prstGeom>
          <a:solidFill>
            <a:srgbClr val="336600">
              <a:alpha val="0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defTabSz="3281288"/>
            <a:endParaRPr lang="es-ES_tradnl" sz="2481" dirty="0"/>
          </a:p>
        </p:txBody>
      </p:sp>
      <p:sp>
        <p:nvSpPr>
          <p:cNvPr id="2081" name="AutoShape 48"/>
          <p:cNvSpPr>
            <a:spLocks noChangeArrowheads="1"/>
          </p:cNvSpPr>
          <p:nvPr/>
        </p:nvSpPr>
        <p:spPr bwMode="auto">
          <a:xfrm>
            <a:off x="2529193" y="38287685"/>
            <a:ext cx="3825898" cy="637898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 defTabSz="3281288"/>
            <a:r>
              <a:rPr lang="es-ES" sz="4252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  <a:cs typeface="Tahoma" pitchFamily="34" charset="0"/>
              </a:rPr>
              <a:t>REFERENCIAS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2286978" y="15552579"/>
            <a:ext cx="12032690" cy="1073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889"/>
              </a:spcAft>
            </a:pPr>
            <a:r>
              <a:rPr lang="es-ES" sz="2844" dirty="0"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Descripción breve del tema de investigación, dirigido a orientar al lector sobre la condición a investigar. </a:t>
            </a:r>
            <a:endParaRPr lang="es-CO" sz="1949" dirty="0"/>
          </a:p>
        </p:txBody>
      </p:sp>
      <p:sp>
        <p:nvSpPr>
          <p:cNvPr id="23" name="AutoShape 17"/>
          <p:cNvSpPr>
            <a:spLocks noChangeArrowheads="1"/>
          </p:cNvSpPr>
          <p:nvPr/>
        </p:nvSpPr>
        <p:spPr bwMode="auto">
          <a:xfrm>
            <a:off x="14737767" y="14541140"/>
            <a:ext cx="12271134" cy="10072866"/>
          </a:xfrm>
          <a:prstGeom prst="roundRect">
            <a:avLst>
              <a:gd name="adj" fmla="val 4880"/>
            </a:avLst>
          </a:prstGeom>
          <a:solidFill>
            <a:schemeClr val="bg1">
              <a:alpha val="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defTabSz="3281288"/>
            <a:endParaRPr lang="es-ES" sz="2481" dirty="0"/>
          </a:p>
        </p:txBody>
      </p:sp>
      <p:sp>
        <p:nvSpPr>
          <p:cNvPr id="25" name="AutoShape 16"/>
          <p:cNvSpPr>
            <a:spLocks noChangeArrowheads="1"/>
          </p:cNvSpPr>
          <p:nvPr/>
        </p:nvSpPr>
        <p:spPr bwMode="auto">
          <a:xfrm>
            <a:off x="15163386" y="14233471"/>
            <a:ext cx="5103823" cy="703718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 defTabSz="3281288"/>
            <a:r>
              <a:rPr lang="es-ES" sz="4252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  <a:cs typeface="Tahoma" pitchFamily="34" charset="0"/>
              </a:rPr>
              <a:t>METODOLOGÍA</a:t>
            </a:r>
          </a:p>
        </p:txBody>
      </p:sp>
      <p:sp>
        <p:nvSpPr>
          <p:cNvPr id="26" name="CuadroTexto 25"/>
          <p:cNvSpPr txBox="1"/>
          <p:nvPr/>
        </p:nvSpPr>
        <p:spPr>
          <a:xfrm>
            <a:off x="15163386" y="15697994"/>
            <a:ext cx="12032690" cy="1705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44" dirty="0">
                <a:latin typeface="Calibri Light" panose="020F0302020204030204" pitchFamily="34" charset="0"/>
                <a:cs typeface="Arial" panose="020B0604020202020204" pitchFamily="34" charset="0"/>
              </a:rPr>
              <a:t>Se recomienda mostrar cómo se desarrolla el trabajo de manera clara y precisa, con explicaciones profundas. Presentación del tipo y diseño de investigación, Población-muestra y técnicas de recolección de datos.</a:t>
            </a:r>
          </a:p>
          <a:p>
            <a:endParaRPr lang="es-CO" sz="1949" dirty="0"/>
          </a:p>
        </p:txBody>
      </p:sp>
      <p:sp>
        <p:nvSpPr>
          <p:cNvPr id="38" name="AutoShape 17"/>
          <p:cNvSpPr>
            <a:spLocks noChangeArrowheads="1"/>
          </p:cNvSpPr>
          <p:nvPr/>
        </p:nvSpPr>
        <p:spPr bwMode="auto">
          <a:xfrm>
            <a:off x="1968814" y="23794305"/>
            <a:ext cx="12271134" cy="8448076"/>
          </a:xfrm>
          <a:prstGeom prst="roundRect">
            <a:avLst>
              <a:gd name="adj" fmla="val 4880"/>
            </a:avLst>
          </a:prstGeom>
          <a:solidFill>
            <a:schemeClr val="bg1">
              <a:alpha val="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defTabSz="3281288"/>
            <a:endParaRPr lang="es-ES" sz="2481" dirty="0"/>
          </a:p>
        </p:txBody>
      </p:sp>
      <p:sp>
        <p:nvSpPr>
          <p:cNvPr id="39" name="AutoShape 16"/>
          <p:cNvSpPr>
            <a:spLocks noChangeArrowheads="1"/>
          </p:cNvSpPr>
          <p:nvPr/>
        </p:nvSpPr>
        <p:spPr bwMode="auto">
          <a:xfrm>
            <a:off x="2444472" y="23081708"/>
            <a:ext cx="4815580" cy="1063115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 defTabSz="3281288"/>
            <a:r>
              <a:rPr lang="es-ES" sz="4252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  <a:cs typeface="Tahoma" pitchFamily="34" charset="0"/>
              </a:rPr>
              <a:t>RESULTADOS</a:t>
            </a:r>
          </a:p>
        </p:txBody>
      </p:sp>
      <p:sp>
        <p:nvSpPr>
          <p:cNvPr id="41" name="AutoShape 17"/>
          <p:cNvSpPr>
            <a:spLocks noChangeArrowheads="1"/>
          </p:cNvSpPr>
          <p:nvPr/>
        </p:nvSpPr>
        <p:spPr bwMode="auto">
          <a:xfrm>
            <a:off x="14799415" y="25514608"/>
            <a:ext cx="12284167" cy="12191384"/>
          </a:xfrm>
          <a:prstGeom prst="roundRect">
            <a:avLst>
              <a:gd name="adj" fmla="val 4880"/>
            </a:avLst>
          </a:prstGeom>
          <a:solidFill>
            <a:schemeClr val="bg1">
              <a:alpha val="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defTabSz="3281288"/>
            <a:endParaRPr lang="es-ES" sz="2481" dirty="0"/>
          </a:p>
        </p:txBody>
      </p:sp>
      <p:sp>
        <p:nvSpPr>
          <p:cNvPr id="42" name="AutoShape 16"/>
          <p:cNvSpPr>
            <a:spLocks noChangeArrowheads="1"/>
          </p:cNvSpPr>
          <p:nvPr/>
        </p:nvSpPr>
        <p:spPr bwMode="auto">
          <a:xfrm>
            <a:off x="14976211" y="24874558"/>
            <a:ext cx="7777784" cy="1090250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defTabSz="3281288"/>
            <a:r>
              <a:rPr lang="es-ES" sz="4252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  <a:cs typeface="Tahoma" pitchFamily="34" charset="0"/>
              </a:rPr>
              <a:t>    DISCUSIÓN</a:t>
            </a:r>
          </a:p>
        </p:txBody>
      </p:sp>
      <p:sp>
        <p:nvSpPr>
          <p:cNvPr id="30" name="CuadroTexto 29"/>
          <p:cNvSpPr txBox="1"/>
          <p:nvPr/>
        </p:nvSpPr>
        <p:spPr>
          <a:xfrm>
            <a:off x="2099326" y="39140998"/>
            <a:ext cx="24881492" cy="967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281288"/>
            <a:r>
              <a:rPr lang="es-ES" sz="2844" dirty="0"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 presentan referencias bibliográficas pertinentes y actualizadas relacionadas directamente con</a:t>
            </a:r>
            <a:r>
              <a:rPr lang="es-ES" sz="2844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844" dirty="0"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 temática de investigación. Se espera que estas se describan de acuerdo con alguna norma: APA,  Vancouver o IEEE.</a:t>
            </a:r>
            <a:endParaRPr lang="es-ES_tradnl" sz="3200" dirty="0"/>
          </a:p>
        </p:txBody>
      </p:sp>
      <p:sp>
        <p:nvSpPr>
          <p:cNvPr id="31" name="CuadroTexto 30"/>
          <p:cNvSpPr txBox="1"/>
          <p:nvPr/>
        </p:nvSpPr>
        <p:spPr>
          <a:xfrm>
            <a:off x="2444472" y="24679227"/>
            <a:ext cx="12032690" cy="53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44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Resultados: </a:t>
            </a:r>
            <a:r>
              <a:rPr lang="es-ES" sz="2844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Descripción objetiva, datos brutos analizados, hechos concretos.</a:t>
            </a:r>
          </a:p>
        </p:txBody>
      </p:sp>
      <p:sp>
        <p:nvSpPr>
          <p:cNvPr id="2" name="AutoShape 17">
            <a:extLst>
              <a:ext uri="{FF2B5EF4-FFF2-40B4-BE49-F238E27FC236}">
                <a16:creationId xmlns:a16="http://schemas.microsoft.com/office/drawing/2014/main" id="{F670D09A-A0A7-E5EF-A7F2-942365F49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0104" y="14644578"/>
            <a:ext cx="12271134" cy="7902726"/>
          </a:xfrm>
          <a:prstGeom prst="roundRect">
            <a:avLst>
              <a:gd name="adj" fmla="val 4880"/>
            </a:avLst>
          </a:prstGeom>
          <a:solidFill>
            <a:schemeClr val="bg1">
              <a:alpha val="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defTabSz="3281288"/>
            <a:endParaRPr lang="es-ES" sz="2481" dirty="0"/>
          </a:p>
        </p:txBody>
      </p:sp>
      <p:sp>
        <p:nvSpPr>
          <p:cNvPr id="3" name="AutoShape 16">
            <a:extLst>
              <a:ext uri="{FF2B5EF4-FFF2-40B4-BE49-F238E27FC236}">
                <a16:creationId xmlns:a16="http://schemas.microsoft.com/office/drawing/2014/main" id="{D64BE183-697C-571A-01B7-2D2979CAD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8281" y="14422840"/>
            <a:ext cx="5281366" cy="703718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 defTabSz="3281288"/>
            <a:r>
              <a:rPr lang="es-ES" sz="4252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  <a:cs typeface="Tahoma" pitchFamily="34" charset="0"/>
              </a:rPr>
              <a:t>INTRODUCCIÓN</a:t>
            </a:r>
          </a:p>
        </p:txBody>
      </p:sp>
      <p:sp>
        <p:nvSpPr>
          <p:cNvPr id="7" name="AutoShape 17">
            <a:extLst>
              <a:ext uri="{FF2B5EF4-FFF2-40B4-BE49-F238E27FC236}">
                <a16:creationId xmlns:a16="http://schemas.microsoft.com/office/drawing/2014/main" id="{9DC309DD-06F8-97EB-71F3-530555E6E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0744" y="33365805"/>
            <a:ext cx="12271134" cy="4160536"/>
          </a:xfrm>
          <a:prstGeom prst="roundRect">
            <a:avLst>
              <a:gd name="adj" fmla="val 4880"/>
            </a:avLst>
          </a:prstGeom>
          <a:solidFill>
            <a:schemeClr val="bg1">
              <a:alpha val="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defTabSz="3281288"/>
            <a:endParaRPr lang="es-ES" sz="2481" dirty="0"/>
          </a:p>
        </p:txBody>
      </p:sp>
      <p:sp>
        <p:nvSpPr>
          <p:cNvPr id="8" name="AutoShape 16">
            <a:extLst>
              <a:ext uri="{FF2B5EF4-FFF2-40B4-BE49-F238E27FC236}">
                <a16:creationId xmlns:a16="http://schemas.microsoft.com/office/drawing/2014/main" id="{55C40860-5FA2-6CB9-CFF0-F9359898D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8281" y="33003725"/>
            <a:ext cx="4815580" cy="950577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 defTabSz="3281288"/>
            <a:r>
              <a:rPr lang="es-ES" sz="4252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  <a:cs typeface="Tahoma" pitchFamily="34" charset="0"/>
              </a:rPr>
              <a:t>CONCLUSIÓN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6017034-781F-F808-F7B5-712431B73B9D}"/>
              </a:ext>
            </a:extLst>
          </p:cNvPr>
          <p:cNvSpPr txBox="1"/>
          <p:nvPr/>
        </p:nvSpPr>
        <p:spPr>
          <a:xfrm>
            <a:off x="15346703" y="26717409"/>
            <a:ext cx="11291706" cy="967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44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El marco teórico es la fundamentación conceptual, teórica y de antecedentes que sustenta una investigación</a:t>
            </a:r>
            <a:endParaRPr lang="es-CO" sz="2844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7474BA3-836B-1008-582C-DEBEA8DFAC24}"/>
              </a:ext>
            </a:extLst>
          </p:cNvPr>
          <p:cNvSpPr txBox="1"/>
          <p:nvPr/>
        </p:nvSpPr>
        <p:spPr>
          <a:xfrm>
            <a:off x="2783953" y="34535597"/>
            <a:ext cx="11616259" cy="967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44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Sintetizan las ideas principales, se analizan los datos y se cierra el razonamiento para ofrecer una visión panorámica de lo expuesto</a:t>
            </a:r>
            <a:endParaRPr lang="es-CO" sz="2844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2" name="AutoShape 17">
            <a:extLst>
              <a:ext uri="{FF2B5EF4-FFF2-40B4-BE49-F238E27FC236}">
                <a16:creationId xmlns:a16="http://schemas.microsoft.com/office/drawing/2014/main" id="{078C4A78-74A9-73A1-13E4-6A0F1B816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8488" y="10396955"/>
            <a:ext cx="25305093" cy="3273284"/>
          </a:xfrm>
          <a:prstGeom prst="roundRect">
            <a:avLst>
              <a:gd name="adj" fmla="val 4880"/>
            </a:avLst>
          </a:prstGeom>
          <a:solidFill>
            <a:schemeClr val="bg1">
              <a:alpha val="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defTabSz="3281288"/>
            <a:endParaRPr lang="es-ES" sz="2481" dirty="0"/>
          </a:p>
        </p:txBody>
      </p:sp>
      <p:sp>
        <p:nvSpPr>
          <p:cNvPr id="13" name="AutoShape 16">
            <a:extLst>
              <a:ext uri="{FF2B5EF4-FFF2-40B4-BE49-F238E27FC236}">
                <a16:creationId xmlns:a16="http://schemas.microsoft.com/office/drawing/2014/main" id="{E435C0E9-ACEA-F8B5-1D7E-C346A7FD5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2495" y="10162070"/>
            <a:ext cx="5281366" cy="703718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 defTabSz="3281288"/>
            <a:r>
              <a:rPr lang="es-ES" sz="4252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  <a:cs typeface="Tahoma" pitchFamily="34" charset="0"/>
              </a:rPr>
              <a:t>RESUMEN</a:t>
            </a:r>
          </a:p>
        </p:txBody>
      </p:sp>
      <p:pic>
        <p:nvPicPr>
          <p:cNvPr id="16" name="Imagen 15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9A15A7D2-3CF2-AF79-DF5E-D7A473BD24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8351" y="0"/>
            <a:ext cx="29164949" cy="546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9329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154ab5-24ef-4072-bfa1-6307d5577df4">
      <Terms xmlns="http://schemas.microsoft.com/office/infopath/2007/PartnerControls"/>
    </lcf76f155ced4ddcb4097134ff3c332f>
    <TaxCatchAll xmlns="43095e80-f4eb-467c-9d2b-9f77f8f7b2b5" xsi:nil="true"/>
    <Cantidad xmlns="7a154ab5-24ef-4072-bfa1-6307d5577df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4EAB0640C372A43BBF56F2B0CAF4751" ma:contentTypeVersion="15" ma:contentTypeDescription="Crear nuevo documento." ma:contentTypeScope="" ma:versionID="2a9b264ca49afaed90e39e1739ba3036">
  <xsd:schema xmlns:xsd="http://www.w3.org/2001/XMLSchema" xmlns:xs="http://www.w3.org/2001/XMLSchema" xmlns:p="http://schemas.microsoft.com/office/2006/metadata/properties" xmlns:ns2="7a154ab5-24ef-4072-bfa1-6307d5577df4" xmlns:ns3="43095e80-f4eb-467c-9d2b-9f77f8f7b2b5" targetNamespace="http://schemas.microsoft.com/office/2006/metadata/properties" ma:root="true" ma:fieldsID="ee7c345f20bb1c6ecf38ce76ff03940a" ns2:_="" ns3:_="">
    <xsd:import namespace="7a154ab5-24ef-4072-bfa1-6307d5577df4"/>
    <xsd:import namespace="43095e80-f4eb-467c-9d2b-9f77f8f7b2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Cantida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154ab5-24ef-4072-bfa1-6307d5577d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Etiquetas de imagen" ma:readOnly="false" ma:fieldId="{5cf76f15-5ced-4ddc-b409-7134ff3c332f}" ma:taxonomyMulti="true" ma:sspId="bde6177a-f0d2-43d3-9791-6469b63e839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Cantidad" ma:index="22" nillable="true" ma:displayName="Cantidad" ma:format="Dropdown" ma:internalName="Cantidad" ma:percentage="FALSE">
      <xsd:simpleType>
        <xsd:restriction base="dms:Number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095e80-f4eb-467c-9d2b-9f77f8f7b2b5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698e4bd2-4402-4ebc-afbf-ff2df6355d7a}" ma:internalName="TaxCatchAll" ma:showField="CatchAllData" ma:web="43095e80-f4eb-467c-9d2b-9f77f8f7b2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6948260-4265-4AF4-9627-2619D0B14EAD}">
  <ds:schemaRefs>
    <ds:schemaRef ds:uri="http://schemas.microsoft.com/office/2006/metadata/properties"/>
    <ds:schemaRef ds:uri="http://schemas.microsoft.com/office/infopath/2007/PartnerControls"/>
    <ds:schemaRef ds:uri="7a154ab5-24ef-4072-bfa1-6307d5577df4"/>
    <ds:schemaRef ds:uri="43095e80-f4eb-467c-9d2b-9f77f8f7b2b5"/>
  </ds:schemaRefs>
</ds:datastoreItem>
</file>

<file path=customXml/itemProps2.xml><?xml version="1.0" encoding="utf-8"?>
<ds:datastoreItem xmlns:ds="http://schemas.openxmlformats.org/officeDocument/2006/customXml" ds:itemID="{4F2D6DFD-E780-41C3-A9F7-91F73105B81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8FA4E45-92F9-4F83-A7C0-12A904D60A3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154ab5-24ef-4072-bfa1-6307d5577df4"/>
    <ds:schemaRef ds:uri="43095e80-f4eb-467c-9d2b-9f77f8f7b2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249</TotalTime>
  <Words>162</Words>
  <Application>Microsoft Office PowerPoint</Application>
  <PresentationFormat>Personalizado</PresentationFormat>
  <Paragraphs>17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 Light</vt:lpstr>
      <vt:lpstr>Century Gothic</vt:lpstr>
      <vt:lpstr>Tema de Office</vt:lpstr>
      <vt:lpstr>Presentación de PowerPoint</vt:lpstr>
    </vt:vector>
  </TitlesOfParts>
  <Company>Tecnoquimicas S.A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CTO. DIANA MARIA MOSQUERA TARAMUEL</dc:creator>
  <cp:lastModifiedBy>CTO. DIANA MARIA MOSQUERA TARAMUEL</cp:lastModifiedBy>
  <cp:revision>3</cp:revision>
  <dcterms:created xsi:type="dcterms:W3CDTF">2026-03-16T18:18:45Z</dcterms:created>
  <dcterms:modified xsi:type="dcterms:W3CDTF">2026-05-07T21:47:51Z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0x01010074EAB0640C372A43BBF56F2B0CAF4751</vt:lpwstr>
  </property>
  <property fmtid="{D5CDD505-2E9C-101B-9397-08002B2CF9AE}" pid="3" name="MediaServiceImageTags">
    <vt:lpwstr/>
  </property>
</Properties>
</file>