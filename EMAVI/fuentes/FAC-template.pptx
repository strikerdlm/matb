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6" r:id="rId3"/>
    <p:sldId id="258" r:id="rId4"/>
    <p:sldId id="259" r:id="rId5"/>
    <p:sldId id="297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0C6B9-1DFF-4049-B5AD-AF6645E3C94A}" v="4" dt="2024-09-30T01:43:32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31" autoAdjust="0"/>
  </p:normalViewPr>
  <p:slideViewPr>
    <p:cSldViewPr snapToGrid="0">
      <p:cViewPr varScale="1">
        <p:scale>
          <a:sx n="78" d="100"/>
          <a:sy n="78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Malpica" userId="6122c89c30f64940" providerId="LiveId" clId="{4930C6B9-1DFF-4049-B5AD-AF6645E3C94A}"/>
    <pc:docChg chg="custSel modSld">
      <pc:chgData name="Diego Malpica" userId="6122c89c30f64940" providerId="LiveId" clId="{4930C6B9-1DFF-4049-B5AD-AF6645E3C94A}" dt="2024-09-30T01:43:33.984" v="6" actId="478"/>
      <pc:docMkLst>
        <pc:docMk/>
      </pc:docMkLst>
      <pc:sldChg chg="delSp mod">
        <pc:chgData name="Diego Malpica" userId="6122c89c30f64940" providerId="LiveId" clId="{4930C6B9-1DFF-4049-B5AD-AF6645E3C94A}" dt="2024-09-30T01:43:33.984" v="6" actId="478"/>
        <pc:sldMkLst>
          <pc:docMk/>
          <pc:sldMk cId="2410976799" sldId="259"/>
        </pc:sldMkLst>
        <pc:spChg chg="del">
          <ac:chgData name="Diego Malpica" userId="6122c89c30f64940" providerId="LiveId" clId="{4930C6B9-1DFF-4049-B5AD-AF6645E3C94A}" dt="2024-09-30T01:43:28.990" v="3" actId="478"/>
          <ac:spMkLst>
            <pc:docMk/>
            <pc:sldMk cId="2410976799" sldId="259"/>
            <ac:spMk id="14" creationId="{DD297227-1E92-4B1C-81D8-A040CCBD583D}"/>
          </ac:spMkLst>
        </pc:spChg>
        <pc:spChg chg="del">
          <ac:chgData name="Diego Malpica" userId="6122c89c30f64940" providerId="LiveId" clId="{4930C6B9-1DFF-4049-B5AD-AF6645E3C94A}" dt="2024-09-30T01:43:32.615" v="5" actId="478"/>
          <ac:spMkLst>
            <pc:docMk/>
            <pc:sldMk cId="2410976799" sldId="259"/>
            <ac:spMk id="16" creationId="{C6733392-7165-4BF6-B148-90ABF71B56C6}"/>
          </ac:spMkLst>
        </pc:spChg>
        <pc:spChg chg="del">
          <ac:chgData name="Diego Malpica" userId="6122c89c30f64940" providerId="LiveId" clId="{4930C6B9-1DFF-4049-B5AD-AF6645E3C94A}" dt="2024-09-30T01:43:31.008" v="4" actId="478"/>
          <ac:spMkLst>
            <pc:docMk/>
            <pc:sldMk cId="2410976799" sldId="259"/>
            <ac:spMk id="20" creationId="{1DDDFDF4-87D5-4BE6-88CE-E1E98A31CA79}"/>
          </ac:spMkLst>
        </pc:spChg>
        <pc:spChg chg="del">
          <ac:chgData name="Diego Malpica" userId="6122c89c30f64940" providerId="LiveId" clId="{4930C6B9-1DFF-4049-B5AD-AF6645E3C94A}" dt="2024-09-30T01:43:23.526" v="0" actId="478"/>
          <ac:spMkLst>
            <pc:docMk/>
            <pc:sldMk cId="2410976799" sldId="259"/>
            <ac:spMk id="21" creationId="{2840005A-FDFB-4B5E-9821-922132400730}"/>
          </ac:spMkLst>
        </pc:spChg>
        <pc:cxnChg chg="del">
          <ac:chgData name="Diego Malpica" userId="6122c89c30f64940" providerId="LiveId" clId="{4930C6B9-1DFF-4049-B5AD-AF6645E3C94A}" dt="2024-09-30T01:43:26.149" v="2" actId="478"/>
          <ac:cxnSpMkLst>
            <pc:docMk/>
            <pc:sldMk cId="2410976799" sldId="259"/>
            <ac:cxnSpMk id="15" creationId="{DDF91C2D-26E1-4BAE-92A4-9C2FDEA90EEE}"/>
          </ac:cxnSpMkLst>
        </pc:cxnChg>
        <pc:cxnChg chg="del">
          <ac:chgData name="Diego Malpica" userId="6122c89c30f64940" providerId="LiveId" clId="{4930C6B9-1DFF-4049-B5AD-AF6645E3C94A}" dt="2024-09-30T01:43:33.984" v="6" actId="478"/>
          <ac:cxnSpMkLst>
            <pc:docMk/>
            <pc:sldMk cId="2410976799" sldId="259"/>
            <ac:cxnSpMk id="17" creationId="{3CF2CCDF-F14B-41C6-BC92-97A9E283D99A}"/>
          </ac:cxnSpMkLst>
        </pc:cxnChg>
        <pc:cxnChg chg="del">
          <ac:chgData name="Diego Malpica" userId="6122c89c30f64940" providerId="LiveId" clId="{4930C6B9-1DFF-4049-B5AD-AF6645E3C94A}" dt="2024-09-30T01:43:24.492" v="1" actId="478"/>
          <ac:cxnSpMkLst>
            <pc:docMk/>
            <pc:sldMk cId="2410976799" sldId="259"/>
            <ac:cxnSpMk id="19" creationId="{FEE18C80-D2C7-4927-A1E6-124F780D268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AF90E3E-C3C6-4CE4-AF88-3ABB243F8F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D616DB-4D8D-4B8A-A648-EAE6C595E1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89203-AB92-4B41-B6F8-9F6D17302F7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FF0FE5-0BFC-45F7-A445-7A5B9496B2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171B9F-F3C5-4159-AF27-A04BBD708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5B2AE-F625-4D24-80B4-337F2652B3E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7861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533F9-277A-4FF1-9E31-1F8E1503BF39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142E0-0063-4CA8-9E14-1202441AE25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478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F798B-6272-4E7F-9B29-71C0FF552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DF568-4163-4E8F-87D5-088C43C48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D68E4D-4E2E-42CD-91B0-02DB545C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75B5CF-08B6-4FC5-BEC5-D29B4A57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AC8F6-6AC5-4DB8-B171-2FAFF2CE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F22F9C-7B16-4A09-B101-A22972AED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" t="-1" b="-1379"/>
          <a:stretch/>
        </p:blipFill>
        <p:spPr>
          <a:xfrm>
            <a:off x="0" y="0"/>
            <a:ext cx="12192000" cy="69596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0207E8E-53FA-4A89-B4C6-CCD79EF127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858416"/>
            <a:ext cx="4865279" cy="514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7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F798B-6272-4E7F-9B29-71C0FF552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DF568-4163-4E8F-87D5-088C43C48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D68E4D-4E2E-42CD-91B0-02DB545C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75B5CF-08B6-4FC5-BEC5-D29B4A57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AC8F6-6AC5-4DB8-B171-2FAFF2CE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F22F9C-7B16-4A09-B101-A22972AED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" t="-1" b="-1379"/>
          <a:stretch/>
        </p:blipFill>
        <p:spPr>
          <a:xfrm>
            <a:off x="0" y="0"/>
            <a:ext cx="12192000" cy="6959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A29A55-0099-4C4E-AEB8-4C9CD0E78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29" y="394382"/>
            <a:ext cx="2697365" cy="6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47D0C-8D5B-4186-9AEB-618863BB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228457-05F9-4E7D-8FFD-E8B4444D5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2F8B3-973B-4637-81CB-DE4BD466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9907F1-94EB-4461-B2FF-3E19CA7C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A754BA-6865-45F6-9E79-B2BC6812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9F5EB57-A3E0-4D31-9622-EBCD73006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7" b="10280"/>
          <a:stretch/>
        </p:blipFill>
        <p:spPr>
          <a:xfrm>
            <a:off x="0" y="0"/>
            <a:ext cx="12216822" cy="685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0E8C7C1-57F1-4D40-9E13-447E3292BD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29" y="394382"/>
            <a:ext cx="2697365" cy="6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07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DCE214D-D1AD-4FE7-B0C3-78C3599AC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C77A9CD-B706-4422-A919-AEC972F1F2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4564" y="339136"/>
            <a:ext cx="528920" cy="528920"/>
          </a:xfrm>
          <a:prstGeom prst="rect">
            <a:avLst/>
          </a:prstGeom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F8132A-1ED5-4AF5-A6E5-7AB3D733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712588-16FD-4DEB-B835-34FC6282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310B34-B046-4AAB-8116-83C4B1A9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FA573831-C740-E58F-54E1-E1BAB142C3F0}"/>
              </a:ext>
            </a:extLst>
          </p:cNvPr>
          <p:cNvSpPr txBox="1">
            <a:spLocks/>
          </p:cNvSpPr>
          <p:nvPr userDrawn="1"/>
        </p:nvSpPr>
        <p:spPr>
          <a:xfrm>
            <a:off x="11118610" y="421034"/>
            <a:ext cx="640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B26BD-1A36-4082-9043-39ACABC0DC8B}" type="slidenum">
              <a:rPr lang="es-CO" sz="1600" smtClean="0">
                <a:solidFill>
                  <a:schemeClr val="tx1"/>
                </a:solidFill>
                <a:latin typeface=" Arial"/>
              </a:rPr>
              <a:pPr algn="ctr"/>
              <a:t>‹#›</a:t>
            </a:fld>
            <a:endParaRPr lang="es-CO" sz="1600" dirty="0">
              <a:solidFill>
                <a:schemeClr val="tx1"/>
              </a:solidFill>
              <a:latin typeface=" Arial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141499B-7C77-4FF6-B02D-AE5226267CC1}"/>
              </a:ext>
            </a:extLst>
          </p:cNvPr>
          <p:cNvGrpSpPr/>
          <p:nvPr userDrawn="1"/>
        </p:nvGrpSpPr>
        <p:grpSpPr>
          <a:xfrm>
            <a:off x="6557659" y="5983067"/>
            <a:ext cx="4945474" cy="758197"/>
            <a:chOff x="3729401" y="6099803"/>
            <a:chExt cx="4945474" cy="758197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33512B1-294D-4751-9766-75CD637B2E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7913" y="6099803"/>
              <a:ext cx="1448450" cy="758197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305D1523-0713-4BE1-9ED3-C780A37D5B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74190" y="6436805"/>
              <a:ext cx="1700685" cy="84192"/>
            </a:xfrm>
            <a:prstGeom prst="rect">
              <a:avLst/>
            </a:prstGeom>
          </p:spPr>
        </p:pic>
        <p:pic>
          <p:nvPicPr>
            <p:cNvPr id="15" name="Gráfico 14">
              <a:extLst>
                <a:ext uri="{FF2B5EF4-FFF2-40B4-BE49-F238E27FC236}">
                  <a16:creationId xmlns:a16="http://schemas.microsoft.com/office/drawing/2014/main" id="{2855315B-E446-45B3-ADEB-FC93BD61B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800000">
              <a:off x="3729401" y="6436805"/>
              <a:ext cx="1700685" cy="841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746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6D0B9-B34A-4650-8736-4390CA6C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0744C4-6FF2-4264-B863-FA499EB9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1A96BB-D932-401B-9ED6-0BE94A2F2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C6D33-7160-47EB-8041-BA03A0919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E439FF-2207-4320-B50F-2078A1DFF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AC385B-7873-4056-AC58-149EB5F2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6C8B14-6B16-47CA-B981-C78DAA78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2EE807-CC29-47E1-BEDE-10E6CA80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EEAFF9-DE43-4CA9-A3B5-F99C830099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188AB720-FDCE-42FB-B780-32FB6ABFA11E}"/>
              </a:ext>
            </a:extLst>
          </p:cNvPr>
          <p:cNvGrpSpPr/>
          <p:nvPr userDrawn="1"/>
        </p:nvGrpSpPr>
        <p:grpSpPr>
          <a:xfrm>
            <a:off x="3623263" y="5983067"/>
            <a:ext cx="4945474" cy="758197"/>
            <a:chOff x="3729401" y="6099803"/>
            <a:chExt cx="4945474" cy="758197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C50C96E2-C3A5-4842-91D0-FDA622B9E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7913" y="6099803"/>
              <a:ext cx="1448450" cy="7581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98D0A138-9437-4915-80BD-E6317056F3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74190" y="6436805"/>
              <a:ext cx="1700685" cy="84192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E371130D-1CBC-4975-BAEA-EDE1A31C3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729401" y="6436805"/>
              <a:ext cx="1700685" cy="84192"/>
            </a:xfrm>
            <a:prstGeom prst="rect">
              <a:avLst/>
            </a:prstGeom>
          </p:spPr>
        </p:pic>
      </p:grpSp>
      <p:pic>
        <p:nvPicPr>
          <p:cNvPr id="19" name="Gráfico 18">
            <a:extLst>
              <a:ext uri="{FF2B5EF4-FFF2-40B4-BE49-F238E27FC236}">
                <a16:creationId xmlns:a16="http://schemas.microsoft.com/office/drawing/2014/main" id="{B87BC77E-285C-459A-8B6C-EF637160781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4563" y="339136"/>
            <a:ext cx="528920" cy="528920"/>
          </a:xfrm>
          <a:prstGeom prst="rect">
            <a:avLst/>
          </a:prstGeom>
        </p:spPr>
      </p:pic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FFDA4B7A-D2BF-3BED-A9F0-C277964959DE}"/>
              </a:ext>
            </a:extLst>
          </p:cNvPr>
          <p:cNvSpPr txBox="1">
            <a:spLocks/>
          </p:cNvSpPr>
          <p:nvPr userDrawn="1"/>
        </p:nvSpPr>
        <p:spPr>
          <a:xfrm>
            <a:off x="11138184" y="421034"/>
            <a:ext cx="6016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B26BD-1A36-4082-9043-39ACABC0DC8B}" type="slidenum">
              <a:rPr lang="es-CO" sz="1600" smtClean="0">
                <a:solidFill>
                  <a:schemeClr val="tx1"/>
                </a:solidFill>
                <a:latin typeface=" Arial"/>
              </a:rPr>
              <a:pPr algn="ctr"/>
              <a:t>‹#›</a:t>
            </a:fld>
            <a:endParaRPr lang="es-CO" sz="1600" dirty="0">
              <a:solidFill>
                <a:schemeClr val="tx1"/>
              </a:solidFill>
              <a:latin typeface=" Arial"/>
            </a:endParaRPr>
          </a:p>
        </p:txBody>
      </p:sp>
    </p:spTree>
    <p:extLst>
      <p:ext uri="{BB962C8B-B14F-4D97-AF65-F5344CB8AC3E}">
        <p14:creationId xmlns:p14="http://schemas.microsoft.com/office/powerpoint/2010/main" val="300870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62FFB6-AE93-4175-B322-2C8985154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0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932761-D230-4227-92F0-0F95B870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63A91B-464A-43DC-8862-9E7751848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903EB-7FE5-4E40-88C7-8D182D42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1957D-5D43-4C56-B69D-65CB3FF9E4F8}" type="datetimeFigureOut">
              <a:rPr lang="es-CO" smtClean="0"/>
              <a:t>29/09/2024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DC385-0B08-4706-8B59-0924C070F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349FD2-E35C-422B-AA2B-BAAC4B610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B26BD-1A36-4082-9043-39ACABC0DC8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621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48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379712-5EBC-4A1F-9124-0DD00B34B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443" y="1123607"/>
            <a:ext cx="578628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Políticas de Privacidad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Información Pública</a:t>
            </a:r>
            <a:endParaRPr kumimoji="0" lang="id-ID" altLang="es-CO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ECED57A-BC41-4046-8E4B-CA41AA871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377" y="2645122"/>
            <a:ext cx="914132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just" eaLnBrk="1" hangingPunct="1">
              <a:defRPr/>
            </a:pPr>
            <a:r>
              <a:rPr lang="es-ES" altLang="es-CO" dirty="0">
                <a:solidFill>
                  <a:prstClr val="white"/>
                </a:solidFill>
                <a:cs typeface="Calibri" panose="020F0502020204030204" pitchFamily="34" charset="0"/>
              </a:rPr>
              <a:t>El contenido de ésta presentación es propiedad de la Fuerza Aérea Colombiana</a:t>
            </a:r>
            <a:r>
              <a:rPr kumimoji="0" lang="es-ES" altLang="es-CO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. Es para uso exclusivo del destinatario. Se  le informa que cualquier </a:t>
            </a:r>
            <a:r>
              <a:rPr kumimoji="0" lang="es-ES" altLang="es-CO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uso</a:t>
            </a:r>
            <a:r>
              <a:rPr kumimoji="0" lang="es-ES" altLang="es-CO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, difusión, distribución, duplicado, copiado, revisión, retransmisión o diseminación de esta comunicación, así como cualquier acción que se tome respecto a la información contenida, por personas o entidades diferentes al propósito original de la misma, debe ser autorizado por la Fuerza Aérea Colombiana.</a:t>
            </a:r>
            <a:endParaRPr kumimoji="0" lang="id-ID" altLang="es-CO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8B02EAE-C8F1-4106-8464-6A5BF6A9C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70" y="5522632"/>
            <a:ext cx="3072714" cy="1277273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Esta diapositiva debe ir siempre cuando la información contenida sea de carácter público, con el propósito de preservar la confidencialidad de la misma, dando cumplimiento a la Directiva Permanente No. 154 de 2014. (Este contenido no puede ser modificado)</a:t>
            </a:r>
            <a:endParaRPr kumimoji="0" lang="id-ID" altLang="es-CO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7" name="Conector angular 38948">
            <a:extLst>
              <a:ext uri="{FF2B5EF4-FFF2-40B4-BE49-F238E27FC236}">
                <a16:creationId xmlns:a16="http://schemas.microsoft.com/office/drawing/2014/main" id="{C900DEF2-40DF-44C0-98EC-2F6159ADF449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508305" y="3856560"/>
            <a:ext cx="2138845" cy="1193299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">
            <a:extLst>
              <a:ext uri="{FF2B5EF4-FFF2-40B4-BE49-F238E27FC236}">
                <a16:creationId xmlns:a16="http://schemas.microsoft.com/office/drawing/2014/main" id="{B2BA2B79-C8FF-4311-9A76-2D8844BD0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0" y="1387993"/>
            <a:ext cx="1721502" cy="1277273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El escudo Fuerza  Aérea Colombiana debe ir siempre en la parte superior izquierda de forma horizontal y de color blanco debido al fondo que se maneja.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2C6D276-BE80-4562-BF93-CFCBAC929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806" y="498950"/>
            <a:ext cx="1280401" cy="338554"/>
          </a:xfrm>
          <a:prstGeom prst="rect">
            <a:avLst/>
          </a:prstGeom>
          <a:noFill/>
          <a:ln w="571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OPCIÓN</a:t>
            </a:r>
            <a:r>
              <a:rPr kumimoji="0" lang="es-CO" altLang="es-CO" sz="1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 01</a:t>
            </a:r>
            <a:endParaRPr kumimoji="0" lang="es-CO" alt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0" name="Conector angular 23">
            <a:extLst>
              <a:ext uri="{FF2B5EF4-FFF2-40B4-BE49-F238E27FC236}">
                <a16:creationId xmlns:a16="http://schemas.microsoft.com/office/drawing/2014/main" id="{86787942-46A1-4A45-A5AC-F1A84EA76839}"/>
              </a:ext>
            </a:extLst>
          </p:cNvPr>
          <p:cNvCxnSpPr/>
          <p:nvPr/>
        </p:nvCxnSpPr>
        <p:spPr>
          <a:xfrm rot="5400000" flipH="1" flipV="1">
            <a:off x="1289364" y="1075575"/>
            <a:ext cx="353943" cy="247135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36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angular 23">
            <a:extLst>
              <a:ext uri="{FF2B5EF4-FFF2-40B4-BE49-F238E27FC236}">
                <a16:creationId xmlns:a16="http://schemas.microsoft.com/office/drawing/2014/main" id="{85C05D56-1AF5-4FD9-89DF-FFF16F860E5F}"/>
              </a:ext>
            </a:extLst>
          </p:cNvPr>
          <p:cNvCxnSpPr/>
          <p:nvPr/>
        </p:nvCxnSpPr>
        <p:spPr>
          <a:xfrm rot="5400000" flipH="1" flipV="1">
            <a:off x="1289364" y="1075575"/>
            <a:ext cx="353943" cy="247135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3">
            <a:extLst>
              <a:ext uri="{FF2B5EF4-FFF2-40B4-BE49-F238E27FC236}">
                <a16:creationId xmlns:a16="http://schemas.microsoft.com/office/drawing/2014/main" id="{F7238B4A-2556-4AAC-8D59-58D1E2B4E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717" y="668227"/>
            <a:ext cx="592466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Políticas de Privacidad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Información Clasificada</a:t>
            </a:r>
            <a:endParaRPr kumimoji="0" lang="id-ID" altLang="es-CO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72F9920-9E17-4B27-992E-DC2D50540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987" y="6014639"/>
            <a:ext cx="62801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Ultrasecreto</a:t>
            </a:r>
            <a:r>
              <a:rPr kumimoji="0" lang="es-CO" alt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 / Secreto / Confidencial / Restringido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De Solo Conocimiento / De Uso Exclusivo</a:t>
            </a:r>
            <a:endParaRPr kumimoji="0" lang="id-ID" altLang="es-CO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08D4777-CF28-4B3E-8A93-2998F2EEE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46" y="5751237"/>
            <a:ext cx="3258471" cy="1061829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Esta diapositiva debe ir siempre cuando la  información contenida sea de carácter clasificado, con el propósito de preservar la confidencialidad de la misma, dando cumplimiento a la Directiva Permanente No. 154 de 2014. </a:t>
            </a:r>
            <a:r>
              <a:rPr kumimoji="0" lang="es-CO" altLang="es-CO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(Este contenido no puede ser modificado)</a:t>
            </a:r>
            <a:endParaRPr kumimoji="0" lang="id-ID" altLang="es-CO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9" name="Conector angular 38948">
            <a:extLst>
              <a:ext uri="{FF2B5EF4-FFF2-40B4-BE49-F238E27FC236}">
                <a16:creationId xmlns:a16="http://schemas.microsoft.com/office/drawing/2014/main" id="{4C41AA2F-E9AA-4BCD-9BE2-31B457E32639}"/>
              </a:ext>
            </a:extLst>
          </p:cNvPr>
          <p:cNvCxnSpPr/>
          <p:nvPr/>
        </p:nvCxnSpPr>
        <p:spPr>
          <a:xfrm rot="5400000" flipH="1" flipV="1">
            <a:off x="268402" y="4105969"/>
            <a:ext cx="2073212" cy="1217323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DAF8326D-3189-451E-B036-78995519E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9796" y="4112139"/>
            <a:ext cx="1483350" cy="2462213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En este texto se coloca el nivel de clasificación, nivel de restricción y </a:t>
            </a:r>
            <a:r>
              <a:rPr kumimoji="0" lang="es-CO" altLang="es-CO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debe estar desde esta diapositiva en adelante si aplica para este tipo de  información</a:t>
            </a: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, de acuerdo al decreto único reglamentario sector defensa 1070 de 2015 (art. 2.2.3.6.2.; 2.2.3.7.1.)</a:t>
            </a:r>
            <a:endParaRPr kumimoji="0" lang="id-ID" altLang="es-CO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1F997833-E4D5-4D1D-9D67-814BFC556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619" y="2255068"/>
            <a:ext cx="840688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just">
              <a:defRPr/>
            </a:pPr>
            <a:r>
              <a:rPr lang="es-ES" altLang="es-CO" dirty="0">
                <a:solidFill>
                  <a:prstClr val="white"/>
                </a:solidFill>
                <a:cs typeface="Calibri" panose="020F0502020204030204" pitchFamily="34" charset="0"/>
              </a:rPr>
              <a:t>El contenido de ésta presentación es propiedad de la Fuerza Aérea Colombiana. Es para uso exclusivo del destinatario y puede contener información que goza de reserva legal. Por lo tanto, no es de carácter público. Se informa que, cualquier uso, difusión, distribución, duplicado, copiado, revisión, retransmisión o diseminación de esta comunicación, así como, cualquier acción que se tome respecto a la información contenida, por personas o entidades diferentes al propósito original de la misma, no esta autorizado.</a:t>
            </a:r>
            <a:endParaRPr lang="id-ID" altLang="es-CO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7683778-6353-4C48-A7BA-17F2D4EC22B0}"/>
              </a:ext>
            </a:extLst>
          </p:cNvPr>
          <p:cNvCxnSpPr>
            <a:cxnSpLocks/>
          </p:cNvCxnSpPr>
          <p:nvPr/>
        </p:nvCxnSpPr>
        <p:spPr>
          <a:xfrm flipH="1">
            <a:off x="9144000" y="6199305"/>
            <a:ext cx="146579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3">
            <a:extLst>
              <a:ext uri="{FF2B5EF4-FFF2-40B4-BE49-F238E27FC236}">
                <a16:creationId xmlns:a16="http://schemas.microsoft.com/office/drawing/2014/main" id="{C40A7881-B432-4936-B2DF-71D50D11A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806" y="498950"/>
            <a:ext cx="1280401" cy="338554"/>
          </a:xfrm>
          <a:prstGeom prst="rect">
            <a:avLst/>
          </a:prstGeom>
          <a:noFill/>
          <a:ln w="571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OPCIÓN</a:t>
            </a:r>
            <a:r>
              <a:rPr kumimoji="0" lang="es-CO" altLang="es-CO" sz="1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 02</a:t>
            </a:r>
            <a:endParaRPr kumimoji="0" lang="es-CO" altLang="es-CO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ACF1E639-8524-4776-A7C8-1B821A8BE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0" y="1387993"/>
            <a:ext cx="1721502" cy="1277273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El escudo Fuerza  Aérea Colombiana debe ir siempre en la parte superior izquierda de forma horizontal y de color blanco debido al fondo que se maneja.</a:t>
            </a:r>
          </a:p>
        </p:txBody>
      </p:sp>
    </p:spTree>
    <p:extLst>
      <p:ext uri="{BB962C8B-B14F-4D97-AF65-F5344CB8AC3E}">
        <p14:creationId xmlns:p14="http://schemas.microsoft.com/office/powerpoint/2010/main" val="72640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>
            <a:extLst>
              <a:ext uri="{FF2B5EF4-FFF2-40B4-BE49-F238E27FC236}">
                <a16:creationId xmlns:a16="http://schemas.microsoft.com/office/drawing/2014/main" id="{3188D108-40B4-43B9-8C15-E2E8CC948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717" y="668227"/>
            <a:ext cx="592466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Políticas de Privacidad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Información Calificada</a:t>
            </a:r>
            <a:endParaRPr kumimoji="0" lang="id-ID" altLang="es-CO" sz="4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 Arial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A169EA45-E9EE-4599-B26F-B19DFE9DC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992" y="2195906"/>
            <a:ext cx="840688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just">
              <a:defRPr/>
            </a:pPr>
            <a:r>
              <a:rPr lang="es-ES" altLang="es-CO" dirty="0">
                <a:solidFill>
                  <a:prstClr val="white"/>
                </a:solidFill>
                <a:cs typeface="Calibri" panose="020F0502020204030204" pitchFamily="34" charset="0"/>
              </a:rPr>
              <a:t>El contenido de ésta presentación es propiedad de la Fuerza Aérea Colombiana. Es para uso exclusivo del destinatario y puede contener información que goza de reserva legal. Por lo tanto, no es de carácter público. Se informa que, cualquier uso, difusión, distribución, duplicado, copiado, revisión, retransmisión o diseminación de esta comunicación, así como, cualquier acción que se tome respecto a la información contenida, por personas o entidades diferentes al propósito original de la misma, no esta autorizado.</a:t>
            </a:r>
            <a:endParaRPr lang="id-ID" altLang="es-CO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E2433C0-C4EA-4534-90FC-9277DC5ED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987" y="6014639"/>
            <a:ext cx="62801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Público Clasificado / Público Reservado</a:t>
            </a:r>
          </a:p>
        </p:txBody>
      </p:sp>
    </p:spTree>
    <p:extLst>
      <p:ext uri="{BB962C8B-B14F-4D97-AF65-F5344CB8AC3E}">
        <p14:creationId xmlns:p14="http://schemas.microsoft.com/office/powerpoint/2010/main" val="241097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>
            <a:extLst>
              <a:ext uri="{FF2B5EF4-FFF2-40B4-BE49-F238E27FC236}">
                <a16:creationId xmlns:a16="http://schemas.microsoft.com/office/drawing/2014/main" id="{CDB326B8-C3CA-44B3-B48B-93D350F29261}"/>
              </a:ext>
            </a:extLst>
          </p:cNvPr>
          <p:cNvSpPr txBox="1"/>
          <p:nvPr/>
        </p:nvSpPr>
        <p:spPr>
          <a:xfrm>
            <a:off x="1735866" y="2429565"/>
            <a:ext cx="87202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INSTRUCTIVO </a:t>
            </a:r>
            <a:r>
              <a:rPr lang="en-US" sz="4000" dirty="0">
                <a:solidFill>
                  <a:srgbClr val="F4D1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MANEJO</a:t>
            </a: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PLANTILLA PRESENTACIÓN 2024</a:t>
            </a:r>
            <a:endParaRPr lang="id-ID" sz="40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B48934D5-6E16-4B2E-B022-1CB1CA56C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90840"/>
            <a:ext cx="12192000" cy="46196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s-CO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Grado NOMBRE COMPLETO</a:t>
            </a:r>
            <a:endParaRPr lang="id-ID" altLang="es-CO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8D8C0866-B9C3-46C5-A4D1-5A7DF3FF9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3810"/>
            <a:ext cx="12191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 que Desempeña</a:t>
            </a:r>
            <a:endParaRPr lang="id-ID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94E147D-39F2-426C-BF60-D617A3AA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650" y="973610"/>
            <a:ext cx="3764692" cy="738664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Título de la presentación va en mayúscula </a:t>
            </a:r>
          </a:p>
          <a:p>
            <a:pPr algn="ctr" eaLnBrk="1" hangingPunct="1"/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Arial 40 pts.</a:t>
            </a:r>
          </a:p>
          <a:p>
            <a:pPr algn="ctr" eaLnBrk="1" hangingPunct="1"/>
            <a:r>
              <a:rPr lang="es-CO" altLang="es-CO" sz="14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 </a:t>
            </a:r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R:244 G:209 B:113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5E4B881-51BD-4D93-A861-8FB14EF8F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706" y="5042894"/>
            <a:ext cx="4020064" cy="1107996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Datos del expositor </a:t>
            </a:r>
          </a:p>
          <a:p>
            <a:pPr algn="ctr" eaLnBrk="1" hangingPunct="1"/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Grado: </a:t>
            </a:r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solo va la primera letra en mayúscula y en negrilla</a:t>
            </a:r>
          </a:p>
          <a:p>
            <a:pPr algn="ctr" eaLnBrk="1" hangingPunct="1"/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Nombre: </a:t>
            </a:r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va completo en mayúscula y en negrilla</a:t>
            </a:r>
          </a:p>
          <a:p>
            <a:pPr algn="ctr" eaLnBrk="1" hangingPunct="1"/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Cargo que desempeña: </a:t>
            </a:r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solo las primeras letras de cada palabra van en mayúscula</a:t>
            </a:r>
          </a:p>
          <a:p>
            <a:pPr algn="ctr" eaLnBrk="1" hangingPunct="1"/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Arial </a:t>
            </a:r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24 pts. </a:t>
            </a:r>
            <a:r>
              <a:rPr lang="es-CO" altLang="es-CO" sz="11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Color: </a:t>
            </a:r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blanco</a:t>
            </a:r>
          </a:p>
        </p:txBody>
      </p:sp>
      <p:cxnSp>
        <p:nvCxnSpPr>
          <p:cNvPr id="9" name="Conector angular 26">
            <a:extLst>
              <a:ext uri="{FF2B5EF4-FFF2-40B4-BE49-F238E27FC236}">
                <a16:creationId xmlns:a16="http://schemas.microsoft.com/office/drawing/2014/main" id="{32551218-0457-4522-A560-6EB506EF7FF7}"/>
              </a:ext>
            </a:extLst>
          </p:cNvPr>
          <p:cNvCxnSpPr/>
          <p:nvPr/>
        </p:nvCxnSpPr>
        <p:spPr>
          <a:xfrm rot="16200000" flipV="1">
            <a:off x="8838532" y="4053687"/>
            <a:ext cx="429702" cy="1548711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C900D5A0-AB41-49C0-A077-CB16645D5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0" y="1387993"/>
            <a:ext cx="2680847" cy="769441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El escudo </a:t>
            </a:r>
            <a:r>
              <a:rPr lang="es-CO" altLang="es-CO" sz="1100" dirty="0">
                <a:solidFill>
                  <a:prstClr val="white"/>
                </a:solidFill>
                <a:latin typeface=" Arial"/>
                <a:cs typeface="Times New Roman" panose="02020603050405020304" pitchFamily="18" charset="0"/>
              </a:rPr>
              <a:t>Fuerza  Aérea Colombiana debe </a:t>
            </a: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ir siempre en la parte superior izquierda de forma horizontal y de color blanco debido al fondo que se maneja.</a:t>
            </a:r>
          </a:p>
        </p:txBody>
      </p:sp>
      <p:cxnSp>
        <p:nvCxnSpPr>
          <p:cNvPr id="11" name="Conector angular 23">
            <a:extLst>
              <a:ext uri="{FF2B5EF4-FFF2-40B4-BE49-F238E27FC236}">
                <a16:creationId xmlns:a16="http://schemas.microsoft.com/office/drawing/2014/main" id="{3B9CF6CA-518F-4D7F-8E19-0962E49DB50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9364" y="1075575"/>
            <a:ext cx="353943" cy="247135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86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13434452-E2FB-4AB6-85BD-CB087F271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4" y="1280608"/>
            <a:ext cx="86709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 Arial"/>
              </a:rPr>
              <a:t>A</a:t>
            </a:r>
            <a:r>
              <a:rPr lang="es-CO" altLang="es-CO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 Arial"/>
              </a:rPr>
              <a:t>GENDA</a:t>
            </a:r>
            <a:endParaRPr lang="id-ID" altLang="es-CO" sz="4000" dirty="0">
              <a:solidFill>
                <a:schemeClr val="accent4">
                  <a:lumMod val="60000"/>
                  <a:lumOff val="40000"/>
                </a:schemeClr>
              </a:solidFill>
              <a:latin typeface=" Arial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195D5D5-67F4-4938-BE5F-8C427C742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360" y="2229516"/>
            <a:ext cx="6027143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CO" altLang="es-CO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 </a:t>
            </a:r>
            <a:r>
              <a:rPr lang="es-CO" altLang="es-CO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a tratar</a:t>
            </a:r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s-CO" altLang="es-CO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CO" altLang="es-CO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s-CO" altLang="es-CO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 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</a:t>
            </a:r>
            <a:r>
              <a:rPr lang="es-CO" altLang="es-CO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s-CO" altLang="es-CO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 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</a:t>
            </a:r>
            <a:r>
              <a:rPr lang="es-CO" altLang="es-CO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endParaRPr lang="es-CO" altLang="es-CO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s-CO" altLang="es-CO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  </a:t>
            </a:r>
            <a:r>
              <a:rPr lang="es-CO" altLang="es-CO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es-CO" altLang="es-CO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</a:t>
            </a:r>
            <a:r>
              <a:rPr lang="es-CO" altLang="es-CO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altLang="es-CO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</a:t>
            </a:r>
            <a:r>
              <a:rPr lang="es-CO" altLang="es-CO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EE88D0E-8DB0-4E7F-830B-1E7AB4ED5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7113" y="406347"/>
            <a:ext cx="2644346" cy="954107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14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Título: </a:t>
            </a:r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debe ir en mayúscula</a:t>
            </a:r>
          </a:p>
          <a:p>
            <a:pPr algn="ctr" eaLnBrk="1" hangingPunct="1"/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Arial 40 pts.</a:t>
            </a:r>
          </a:p>
          <a:p>
            <a:pPr algn="ctr" eaLnBrk="1" hangingPunct="1"/>
            <a:r>
              <a:rPr lang="es-CO" altLang="es-CO" sz="1400" b="1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 </a:t>
            </a:r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R:244 G:209 B:113</a:t>
            </a:r>
          </a:p>
          <a:p>
            <a:pPr algn="ctr" eaLnBrk="1" hangingPunct="1"/>
            <a:r>
              <a:rPr lang="es-CO" altLang="es-CO" sz="14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No se debe modificar el color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CE354A6-43C6-4186-8331-61372EFC5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1978" y="3668778"/>
            <a:ext cx="3375820" cy="938719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En este campo van los temas a tratar en la presentación solo la primera letra va en mayúscula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Arial 28 pts. Color blanco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Numeración : Arial 28 pts. 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Color:  R:244 G:209 B:113 </a:t>
            </a:r>
          </a:p>
        </p:txBody>
      </p:sp>
      <p:cxnSp>
        <p:nvCxnSpPr>
          <p:cNvPr id="8" name="Conector angular 32">
            <a:extLst>
              <a:ext uri="{FF2B5EF4-FFF2-40B4-BE49-F238E27FC236}">
                <a16:creationId xmlns:a16="http://schemas.microsoft.com/office/drawing/2014/main" id="{EB7AFCA3-4FCD-4B47-9CB0-2CDC1C25F5A9}"/>
              </a:ext>
            </a:extLst>
          </p:cNvPr>
          <p:cNvCxnSpPr>
            <a:stCxn id="7" idx="0"/>
          </p:cNvCxnSpPr>
          <p:nvPr/>
        </p:nvCxnSpPr>
        <p:spPr>
          <a:xfrm rot="16200000" flipV="1">
            <a:off x="9135157" y="2804047"/>
            <a:ext cx="338120" cy="1391342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F5C8735A-C471-430D-9947-FA11CA371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10" y="3753416"/>
            <a:ext cx="2072915" cy="769441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Numeración : Arial 28 pts. 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Color:  R:244 G:209 B:113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De acuerdo como se muestra en el ejemplo. 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27ABDC7-B840-49E3-9F33-51D3696C4674}"/>
              </a:ext>
            </a:extLst>
          </p:cNvPr>
          <p:cNvCxnSpPr/>
          <p:nvPr/>
        </p:nvCxnSpPr>
        <p:spPr>
          <a:xfrm>
            <a:off x="2379225" y="4091564"/>
            <a:ext cx="79807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23">
            <a:extLst>
              <a:ext uri="{FF2B5EF4-FFF2-40B4-BE49-F238E27FC236}">
                <a16:creationId xmlns:a16="http://schemas.microsoft.com/office/drawing/2014/main" id="{99DE1CB4-70C8-47ED-BC01-156A57EBE7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9364" y="1075575"/>
            <a:ext cx="353943" cy="247135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Conector angular 23">
            <a:extLst>
              <a:ext uri="{FF2B5EF4-FFF2-40B4-BE49-F238E27FC236}">
                <a16:creationId xmlns:a16="http://schemas.microsoft.com/office/drawing/2014/main" id="{A7294616-6BE7-43F3-B49C-2668F99A45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24727" y="1376114"/>
            <a:ext cx="1979490" cy="322462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2D877F6-2D72-4697-873F-9B6C62B11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0" y="1387993"/>
            <a:ext cx="2680847" cy="769441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El escudo </a:t>
            </a:r>
            <a:r>
              <a:rPr lang="es-CO" altLang="es-CO" sz="1100" dirty="0">
                <a:solidFill>
                  <a:prstClr val="white"/>
                </a:solidFill>
                <a:latin typeface=" Arial"/>
                <a:cs typeface="Times New Roman" panose="02020603050405020304" pitchFamily="18" charset="0"/>
              </a:rPr>
              <a:t>Fuerza  Aérea Colombiana debe </a:t>
            </a: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ir siempre en la parte superior izquierda de forma horizontal y de color blanco debido al fondo que se maneja.</a:t>
            </a:r>
          </a:p>
        </p:txBody>
      </p:sp>
    </p:spTree>
    <p:extLst>
      <p:ext uri="{BB962C8B-B14F-4D97-AF65-F5344CB8AC3E}">
        <p14:creationId xmlns:p14="http://schemas.microsoft.com/office/powerpoint/2010/main" val="280577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41B4B5-1BD7-40DA-862F-5480B5E8F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052" y="2955447"/>
            <a:ext cx="59371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s-CO" altLang="es-CO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Plantilla Separador de Tema</a:t>
            </a:r>
            <a:endParaRPr lang="id-ID" altLang="es-CO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D9061DF-4876-4DD5-9AEC-7C94047A4491}"/>
              </a:ext>
            </a:extLst>
          </p:cNvPr>
          <p:cNvGrpSpPr/>
          <p:nvPr/>
        </p:nvGrpSpPr>
        <p:grpSpPr>
          <a:xfrm>
            <a:off x="3217545" y="3827823"/>
            <a:ext cx="5755005" cy="90706"/>
            <a:chOff x="3169920" y="3827823"/>
            <a:chExt cx="5852160" cy="90706"/>
          </a:xfrm>
        </p:grpSpPr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FA682BE6-2B81-4D1E-A6AF-9CD951A6A889}"/>
                </a:ext>
              </a:extLst>
            </p:cNvPr>
            <p:cNvCxnSpPr/>
            <p:nvPr/>
          </p:nvCxnSpPr>
          <p:spPr>
            <a:xfrm>
              <a:off x="3169920" y="3827823"/>
              <a:ext cx="5852160" cy="0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04BFDA4A-C352-49D1-BC92-1AAAC633A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920" y="3918528"/>
              <a:ext cx="5852160" cy="1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ángulo 7">
            <a:extLst>
              <a:ext uri="{FF2B5EF4-FFF2-40B4-BE49-F238E27FC236}">
                <a16:creationId xmlns:a16="http://schemas.microsoft.com/office/drawing/2014/main" id="{A383A1EA-363A-4F77-A959-FEF7F4F3F346}"/>
              </a:ext>
            </a:extLst>
          </p:cNvPr>
          <p:cNvSpPr/>
          <p:nvPr/>
        </p:nvSpPr>
        <p:spPr>
          <a:xfrm>
            <a:off x="3047997" y="234154"/>
            <a:ext cx="6096000" cy="461665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>
            <a:spAutoFit/>
          </a:bodyPr>
          <a:lstStyle/>
          <a:p>
            <a:pPr algn="ctr" eaLnBrk="1" hangingPunct="1"/>
            <a:r>
              <a:rPr lang="es-CO" altLang="es-CO" sz="12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Esta plantilla es realizada para utilizarla como separador de temas de acuerdo a como esta estructurado en la plantilla de agenda.</a:t>
            </a:r>
            <a:endParaRPr lang="id-ID" altLang="es-CO" sz="1200" dirty="0">
              <a:solidFill>
                <a:schemeClr val="bg1"/>
              </a:solidFill>
              <a:latin typeface=" Arial"/>
              <a:cs typeface="Times New Roman" panose="02020603050405020304" pitchFamily="18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2DF04D1-BBEA-41C8-93BC-D17EE72F0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6236" y="1493508"/>
            <a:ext cx="3489847" cy="938719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Título: este debe ir siempre encima de las dos líneas guías que se encuentran en la parte inferior del texto y debe ir la primera letra en mayúscula.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Tipografía: times new roman 40 pts.</a:t>
            </a:r>
          </a:p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Color: blanco.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670DD6FF-0EAE-45B7-924F-2E7CEEC9E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445" y="4514546"/>
            <a:ext cx="2817331" cy="430887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s-CO" altLang="es-CO" sz="1100" dirty="0">
                <a:solidFill>
                  <a:schemeClr val="bg1"/>
                </a:solidFill>
                <a:latin typeface=" Arial"/>
                <a:cs typeface="Times New Roman" panose="02020603050405020304" pitchFamily="18" charset="0"/>
              </a:rPr>
              <a:t>Líneas guías que van debajo del título, estas no deben ser modificadas 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B1A2DF8-35BF-429F-A86B-94E555145EBF}"/>
              </a:ext>
            </a:extLst>
          </p:cNvPr>
          <p:cNvCxnSpPr/>
          <p:nvPr/>
        </p:nvCxnSpPr>
        <p:spPr>
          <a:xfrm>
            <a:off x="6251543" y="2432227"/>
            <a:ext cx="0" cy="7442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C1FC94B-217E-4ED7-9B6C-2CD2C6F81C5B}"/>
              </a:ext>
            </a:extLst>
          </p:cNvPr>
          <p:cNvCxnSpPr>
            <a:cxnSpLocks/>
          </p:cNvCxnSpPr>
          <p:nvPr/>
        </p:nvCxnSpPr>
        <p:spPr>
          <a:xfrm flipV="1">
            <a:off x="6589225" y="3918529"/>
            <a:ext cx="0" cy="59601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Conector angular 23">
            <a:extLst>
              <a:ext uri="{FF2B5EF4-FFF2-40B4-BE49-F238E27FC236}">
                <a16:creationId xmlns:a16="http://schemas.microsoft.com/office/drawing/2014/main" id="{AC32C286-20F8-40AF-9002-2D47CF7FB7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9364" y="1075575"/>
            <a:ext cx="353943" cy="247135"/>
          </a:xfrm>
          <a:prstGeom prst="bent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3">
            <a:extLst>
              <a:ext uri="{FF2B5EF4-FFF2-40B4-BE49-F238E27FC236}">
                <a16:creationId xmlns:a16="http://schemas.microsoft.com/office/drawing/2014/main" id="{778E061D-52AF-4F75-8971-09C189B33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50" y="1387993"/>
            <a:ext cx="2680847" cy="769441"/>
          </a:xfrm>
          <a:prstGeom prst="rect">
            <a:avLst/>
          </a:prstGeom>
          <a:noFill/>
          <a:ln w="190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El escudo </a:t>
            </a:r>
            <a:r>
              <a:rPr lang="es-CO" altLang="es-CO" sz="1100" dirty="0">
                <a:solidFill>
                  <a:prstClr val="white"/>
                </a:solidFill>
                <a:latin typeface=" Arial"/>
                <a:cs typeface="Times New Roman" panose="02020603050405020304" pitchFamily="18" charset="0"/>
              </a:rPr>
              <a:t>Fuerza  Aérea Colombiana debe </a:t>
            </a:r>
            <a:r>
              <a:rPr kumimoji="0" lang="es-CO" altLang="es-CO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 Arial"/>
                <a:ea typeface="+mn-ea"/>
                <a:cs typeface="Times New Roman" panose="02020603050405020304" pitchFamily="18" charset="0"/>
              </a:rPr>
              <a:t>ir siempre en la parte superior izquierda de forma horizontal y de color blanco debido al fondo que se maneja.</a:t>
            </a:r>
          </a:p>
        </p:txBody>
      </p:sp>
    </p:spTree>
    <p:extLst>
      <p:ext uri="{BB962C8B-B14F-4D97-AF65-F5344CB8AC3E}">
        <p14:creationId xmlns:p14="http://schemas.microsoft.com/office/powerpoint/2010/main" val="330538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2">
            <a:extLst>
              <a:ext uri="{FF2B5EF4-FFF2-40B4-BE49-F238E27FC236}">
                <a16:creationId xmlns:a16="http://schemas.microsoft.com/office/drawing/2014/main" id="{9B4D3B12-A3A4-4C0D-893D-23646744CE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4949" r="10937"/>
          <a:stretch/>
        </p:blipFill>
        <p:spPr>
          <a:xfrm>
            <a:off x="-6111" y="0"/>
            <a:ext cx="5593596" cy="6858000"/>
          </a:xfrm>
          <a:prstGeom prst="rect">
            <a:avLst/>
          </a:prstGeom>
        </p:spPr>
      </p:pic>
      <p:sp>
        <p:nvSpPr>
          <p:cNvPr id="6" name="TextBox 16">
            <a:extLst>
              <a:ext uri="{FF2B5EF4-FFF2-40B4-BE49-F238E27FC236}">
                <a16:creationId xmlns:a16="http://schemas.microsoft.com/office/drawing/2014/main" id="{263F1AFE-9E82-4CCB-B6AF-BA10848D97A5}"/>
              </a:ext>
            </a:extLst>
          </p:cNvPr>
          <p:cNvSpPr txBox="1"/>
          <p:nvPr/>
        </p:nvSpPr>
        <p:spPr>
          <a:xfrm>
            <a:off x="8152374" y="3040918"/>
            <a:ext cx="34694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8F408C-04F8-4D01-9231-8476D779B363}"/>
              </a:ext>
            </a:extLst>
          </p:cNvPr>
          <p:cNvSpPr/>
          <p:nvPr/>
        </p:nvSpPr>
        <p:spPr>
          <a:xfrm>
            <a:off x="8064976" y="1466489"/>
            <a:ext cx="36378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CO" alt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PLANTILLA CON IMAGEN</a:t>
            </a:r>
            <a:endParaRPr kumimoji="0" lang="es-CO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9BC755-97A4-4383-98BC-4AF7DEAAA74D}"/>
              </a:ext>
            </a:extLst>
          </p:cNvPr>
          <p:cNvSpPr/>
          <p:nvPr/>
        </p:nvSpPr>
        <p:spPr>
          <a:xfrm>
            <a:off x="5636781" y="2542783"/>
            <a:ext cx="1910648" cy="830997"/>
          </a:xfrm>
          <a:prstGeom prst="rect">
            <a:avLst/>
          </a:prstGeom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s-CO" altLang="es-CO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Título: Debe ir encima de la línea guía </a:t>
            </a:r>
          </a:p>
          <a:p>
            <a:pPr algn="just" eaLnBrk="1" hangingPunct="1"/>
            <a:r>
              <a:rPr lang="es-CO" altLang="es-CO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Tipografía: Arial 32 pts.</a:t>
            </a:r>
          </a:p>
          <a:p>
            <a:pPr algn="just" eaLnBrk="1" hangingPunct="1"/>
            <a:r>
              <a:rPr lang="es-CO" altLang="es-CO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Color: R:0 G:19 B:38.</a:t>
            </a:r>
          </a:p>
        </p:txBody>
      </p:sp>
      <p:cxnSp>
        <p:nvCxnSpPr>
          <p:cNvPr id="9" name="Conector angular 15">
            <a:extLst>
              <a:ext uri="{FF2B5EF4-FFF2-40B4-BE49-F238E27FC236}">
                <a16:creationId xmlns:a16="http://schemas.microsoft.com/office/drawing/2014/main" id="{6B3C1886-ABB4-4B0B-BBD3-4E58BCAC8F61}"/>
              </a:ext>
            </a:extLst>
          </p:cNvPr>
          <p:cNvCxnSpPr>
            <a:stCxn id="8" idx="3"/>
          </p:cNvCxnSpPr>
          <p:nvPr/>
        </p:nvCxnSpPr>
        <p:spPr>
          <a:xfrm flipV="1">
            <a:off x="7547429" y="2092411"/>
            <a:ext cx="879879" cy="86587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D2FEF1-DE89-450F-9A71-A5E305933040}"/>
              </a:ext>
            </a:extLst>
          </p:cNvPr>
          <p:cNvSpPr/>
          <p:nvPr/>
        </p:nvSpPr>
        <p:spPr>
          <a:xfrm>
            <a:off x="5636781" y="4374872"/>
            <a:ext cx="1670182" cy="1015663"/>
          </a:xfrm>
          <a:prstGeom prst="rect">
            <a:avLst/>
          </a:prstGeom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s-ES" altLang="es-CO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Tipografía: Arial 14 pts. Color gris R:64 G:64 B:64</a:t>
            </a:r>
          </a:p>
          <a:p>
            <a:pPr algn="just" eaLnBrk="1" hangingPunct="1"/>
            <a:r>
              <a:rPr lang="es-ES" altLang="es-CO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No debe llevar mas de 10 líneas.</a:t>
            </a:r>
          </a:p>
        </p:txBody>
      </p:sp>
      <p:cxnSp>
        <p:nvCxnSpPr>
          <p:cNvPr id="11" name="Conector angular 25">
            <a:extLst>
              <a:ext uri="{FF2B5EF4-FFF2-40B4-BE49-F238E27FC236}">
                <a16:creationId xmlns:a16="http://schemas.microsoft.com/office/drawing/2014/main" id="{E11ABC79-E384-462B-8F38-89606903316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306963" y="3924510"/>
            <a:ext cx="879879" cy="95819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96E2AE0-6B47-470C-A357-BA1FE10DDEAB}"/>
              </a:ext>
            </a:extLst>
          </p:cNvPr>
          <p:cNvSpPr/>
          <p:nvPr/>
        </p:nvSpPr>
        <p:spPr>
          <a:xfrm>
            <a:off x="6409850" y="332532"/>
            <a:ext cx="4405843" cy="307777"/>
          </a:xfrm>
          <a:prstGeom prst="rect">
            <a:avLst/>
          </a:prstGeom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Esta plantilla solo se utiliza cuando va texto e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D1906E-44FC-4B48-92F1-5395060B704E}"/>
              </a:ext>
            </a:extLst>
          </p:cNvPr>
          <p:cNvSpPr/>
          <p:nvPr/>
        </p:nvSpPr>
        <p:spPr>
          <a:xfrm>
            <a:off x="244692" y="3028242"/>
            <a:ext cx="2593758" cy="1015663"/>
          </a:xfrm>
          <a:prstGeom prst="rect">
            <a:avLst/>
          </a:prstGeom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Este es un modelo de plantilla a emplear, cuando se requiere incluir </a:t>
            </a: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una foto alusiva al tema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, la cual deberá se insertada desde el hipervínculo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89630FD-AA9F-4D6C-8DF0-9982B14D4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6842" y="2627183"/>
            <a:ext cx="3463568" cy="83796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6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917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9F6EAFB-7EB5-43D0-AF96-C93A4BA85F17}"/>
              </a:ext>
            </a:extLst>
          </p:cNvPr>
          <p:cNvSpPr/>
          <p:nvPr/>
        </p:nvSpPr>
        <p:spPr>
          <a:xfrm>
            <a:off x="0" y="534236"/>
            <a:ext cx="8771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CO" alt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EXPLICACIÓN FONDO DIAPOSITIVA</a:t>
            </a:r>
            <a:endParaRPr kumimoji="0" lang="es-CO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F883489-7A19-498F-9AE0-68FED26A13A8}"/>
              </a:ext>
            </a:extLst>
          </p:cNvPr>
          <p:cNvSpPr/>
          <p:nvPr/>
        </p:nvSpPr>
        <p:spPr>
          <a:xfrm>
            <a:off x="940778" y="4718214"/>
            <a:ext cx="3216314" cy="738664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MX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L</a:t>
            </a:r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a marca Fuerza Aérea Colombiana </a:t>
            </a:r>
          </a:p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no </a:t>
            </a:r>
            <a:r>
              <a:rPr lang="es-MX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debe ser modificada y debe mantenerse en este mismo lugar.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1FF491D-945F-47DB-971A-28DEE6D8F32D}"/>
              </a:ext>
            </a:extLst>
          </p:cNvPr>
          <p:cNvSpPr/>
          <p:nvPr/>
        </p:nvSpPr>
        <p:spPr>
          <a:xfrm>
            <a:off x="8075663" y="3210814"/>
            <a:ext cx="3090188" cy="1600438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s-CO" altLang="es-C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Marca de agua: </a:t>
            </a:r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El fondo de la diapositiva, refleja una trayectoria estelar, haciendo alusión al progreso y el viaje de camino a las estrellas, transitado por la institución.</a:t>
            </a:r>
          </a:p>
          <a:p>
            <a:pPr algn="just" eaLnBrk="1" hangingPunct="1"/>
            <a:r>
              <a:rPr lang="es-MX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Diseñadas con líneas enfocadas en un punto de fuga en perspectiva.</a:t>
            </a:r>
            <a:endParaRPr lang="es-CO" altLang="es-CO" sz="1400" dirty="0">
              <a:solidFill>
                <a:schemeClr val="tx1">
                  <a:lumMod val="95000"/>
                  <a:lumOff val="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cxnSp>
        <p:nvCxnSpPr>
          <p:cNvPr id="11" name="Conector angular 25">
            <a:extLst>
              <a:ext uri="{FF2B5EF4-FFF2-40B4-BE49-F238E27FC236}">
                <a16:creationId xmlns:a16="http://schemas.microsoft.com/office/drawing/2014/main" id="{4533947E-F1E2-4355-82CE-FDF126C26D2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57092" y="5087546"/>
            <a:ext cx="1909400" cy="93525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Conector angular 4">
            <a:extLst>
              <a:ext uri="{FF2B5EF4-FFF2-40B4-BE49-F238E27FC236}">
                <a16:creationId xmlns:a16="http://schemas.microsoft.com/office/drawing/2014/main" id="{03CD316B-D6B9-4BD3-AF38-D9C92A78659C}"/>
              </a:ext>
            </a:extLst>
          </p:cNvPr>
          <p:cNvCxnSpPr>
            <a:cxnSpLocks/>
          </p:cNvCxnSpPr>
          <p:nvPr/>
        </p:nvCxnSpPr>
        <p:spPr>
          <a:xfrm rot="10800000">
            <a:off x="4157091" y="3210815"/>
            <a:ext cx="3918576" cy="50380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B5F6AA-1E70-4C21-9D99-E22C368B6272}"/>
              </a:ext>
            </a:extLst>
          </p:cNvPr>
          <p:cNvSpPr/>
          <p:nvPr/>
        </p:nvSpPr>
        <p:spPr>
          <a:xfrm>
            <a:off x="768104" y="1630080"/>
            <a:ext cx="10722294" cy="52322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Este fondo se diseñó pensando en la optimización del espacio disponible para la presentación de los contenidos en la diapositiva (textos e imágenes).</a:t>
            </a:r>
            <a:endParaRPr lang="es-CO" altLang="es-CO" sz="1400" dirty="0">
              <a:solidFill>
                <a:schemeClr val="tx1">
                  <a:lumMod val="95000"/>
                  <a:lumOff val="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B0345275-0045-4092-8999-99C436423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640" y="1158261"/>
            <a:ext cx="6820926" cy="121082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6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239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222D1E9-3E48-4E86-8991-A844993ECCE1}"/>
              </a:ext>
            </a:extLst>
          </p:cNvPr>
          <p:cNvSpPr/>
          <p:nvPr/>
        </p:nvSpPr>
        <p:spPr>
          <a:xfrm>
            <a:off x="597635" y="502844"/>
            <a:ext cx="41753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CO" alt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 Xxxxxx Xxxx</a:t>
            </a:r>
            <a:endParaRPr kumimoji="0" lang="es-CO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C5C112-BFDF-45B1-9D43-E8390E948DB8}"/>
              </a:ext>
            </a:extLst>
          </p:cNvPr>
          <p:cNvSpPr/>
          <p:nvPr/>
        </p:nvSpPr>
        <p:spPr>
          <a:xfrm>
            <a:off x="8495290" y="4376090"/>
            <a:ext cx="3163685" cy="1169551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Esta plantilla se utiliza cuando es solo texto, estadísticas o piezas como se ven en el ejemplo. </a:t>
            </a:r>
          </a:p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Tipografía arial 14 pts.</a:t>
            </a:r>
          </a:p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Color: R:64 G:64 B:64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6635AE45-BAEE-4EE2-A75E-830EFCD1452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17722" y="2785612"/>
            <a:ext cx="933954" cy="224700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B56C4A-1023-4966-860D-B559AD06CBB6}"/>
              </a:ext>
            </a:extLst>
          </p:cNvPr>
          <p:cNvSpPr/>
          <p:nvPr/>
        </p:nvSpPr>
        <p:spPr>
          <a:xfrm>
            <a:off x="5019675" y="329220"/>
            <a:ext cx="2426549" cy="52322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Se debe respetar la línea guía que va debajo del título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cxnSp>
        <p:nvCxnSpPr>
          <p:cNvPr id="13" name="Conector angular 114">
            <a:extLst>
              <a:ext uri="{FF2B5EF4-FFF2-40B4-BE49-F238E27FC236}">
                <a16:creationId xmlns:a16="http://schemas.microsoft.com/office/drawing/2014/main" id="{E11494E2-99DF-48E2-BDB8-C2C7B65C59D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25743" y="770200"/>
            <a:ext cx="623382" cy="16448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D75879-13EE-4193-B7EA-C5A75211B0B9}"/>
              </a:ext>
            </a:extLst>
          </p:cNvPr>
          <p:cNvSpPr/>
          <p:nvPr/>
        </p:nvSpPr>
        <p:spPr>
          <a:xfrm>
            <a:off x="768104" y="3106752"/>
            <a:ext cx="2862776" cy="1169551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La cucarda será el único elemento gráfico que se empleará como viñeta. Ver ejemplo, no se debe cambiar el tamaño de la viñeta.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A2537C8-7D53-4B2C-9161-A06F06C0DCB0}"/>
              </a:ext>
            </a:extLst>
          </p:cNvPr>
          <p:cNvSpPr/>
          <p:nvPr/>
        </p:nvSpPr>
        <p:spPr>
          <a:xfrm>
            <a:off x="6403533" y="1244599"/>
            <a:ext cx="3090188" cy="1384995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Título: este debe ir encima de la línea guía </a:t>
            </a:r>
          </a:p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Tipografía: Arial 32 pts. Si es una solo línea y : Arial 24 pts. Si son dos líneas</a:t>
            </a:r>
          </a:p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Color: R:0 G:19 B:38.</a:t>
            </a:r>
          </a:p>
        </p:txBody>
      </p:sp>
      <p:cxnSp>
        <p:nvCxnSpPr>
          <p:cNvPr id="16" name="Conector angular 4">
            <a:extLst>
              <a:ext uri="{FF2B5EF4-FFF2-40B4-BE49-F238E27FC236}">
                <a16:creationId xmlns:a16="http://schemas.microsoft.com/office/drawing/2014/main" id="{CC25102E-28CA-48D3-844B-44351E6471F9}"/>
              </a:ext>
            </a:extLst>
          </p:cNvPr>
          <p:cNvCxnSpPr/>
          <p:nvPr/>
        </p:nvCxnSpPr>
        <p:spPr>
          <a:xfrm rot="10800000">
            <a:off x="4278879" y="1016978"/>
            <a:ext cx="2124654" cy="53547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758C6A-4355-4BCA-AC58-89F66EEF4642}"/>
              </a:ext>
            </a:extLst>
          </p:cNvPr>
          <p:cNvSpPr txBox="1"/>
          <p:nvPr/>
        </p:nvSpPr>
        <p:spPr>
          <a:xfrm>
            <a:off x="4053818" y="2685633"/>
            <a:ext cx="38110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lang="es-CO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</p:txBody>
      </p:sp>
      <p:cxnSp>
        <p:nvCxnSpPr>
          <p:cNvPr id="18" name="Conector angular 25">
            <a:extLst>
              <a:ext uri="{FF2B5EF4-FFF2-40B4-BE49-F238E27FC236}">
                <a16:creationId xmlns:a16="http://schemas.microsoft.com/office/drawing/2014/main" id="{27B39E22-0EDF-4552-9CBC-BAC09F48EE75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630880" y="3492984"/>
            <a:ext cx="541935" cy="19854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9" name="Gráfico 18">
            <a:extLst>
              <a:ext uri="{FF2B5EF4-FFF2-40B4-BE49-F238E27FC236}">
                <a16:creationId xmlns:a16="http://schemas.microsoft.com/office/drawing/2014/main" id="{E3791E01-FF01-4E47-B8BC-4A1704BA1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271" y="1097881"/>
            <a:ext cx="6820926" cy="121082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6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02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E767E65-31A9-412F-9039-60880A325C76}"/>
              </a:ext>
            </a:extLst>
          </p:cNvPr>
          <p:cNvSpPr/>
          <p:nvPr/>
        </p:nvSpPr>
        <p:spPr>
          <a:xfrm>
            <a:off x="5019675" y="345958"/>
            <a:ext cx="2426549" cy="523220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Se debe respetar la línea guía que va debajo del título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cxnSp>
        <p:nvCxnSpPr>
          <p:cNvPr id="9" name="Conector angular 114">
            <a:extLst>
              <a:ext uri="{FF2B5EF4-FFF2-40B4-BE49-F238E27FC236}">
                <a16:creationId xmlns:a16="http://schemas.microsoft.com/office/drawing/2014/main" id="{B4811320-2DE5-4878-A314-A0D23EC21D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25743" y="770200"/>
            <a:ext cx="623382" cy="16448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95FF0C-F654-4C21-9E34-7ED077BAE1E1}"/>
              </a:ext>
            </a:extLst>
          </p:cNvPr>
          <p:cNvSpPr/>
          <p:nvPr/>
        </p:nvSpPr>
        <p:spPr>
          <a:xfrm>
            <a:off x="6403533" y="1244599"/>
            <a:ext cx="3090188" cy="1384995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Título: este debe ir encima de la línea guía </a:t>
            </a:r>
          </a:p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Tipografía: Arial 32 pts. Si es una solo línea y : Arial 24 pts. Si son dos líneas</a:t>
            </a:r>
          </a:p>
          <a:p>
            <a:pPr eaLnBrk="1" hangingPunct="1"/>
            <a:r>
              <a:rPr lang="es-CO" altLang="es-CO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 Arial"/>
                <a:cs typeface="Times New Roman" panose="02020603050405020304" pitchFamily="18" charset="0"/>
              </a:rPr>
              <a:t>Color: R:0 G:19 B:38.</a:t>
            </a:r>
          </a:p>
        </p:txBody>
      </p:sp>
      <p:cxnSp>
        <p:nvCxnSpPr>
          <p:cNvPr id="11" name="Conector angular 4">
            <a:extLst>
              <a:ext uri="{FF2B5EF4-FFF2-40B4-BE49-F238E27FC236}">
                <a16:creationId xmlns:a16="http://schemas.microsoft.com/office/drawing/2014/main" id="{AAAF8A43-1B51-4DEF-A27F-8CF585CF404E}"/>
              </a:ext>
            </a:extLst>
          </p:cNvPr>
          <p:cNvCxnSpPr/>
          <p:nvPr/>
        </p:nvCxnSpPr>
        <p:spPr>
          <a:xfrm rot="10800000">
            <a:off x="4278879" y="1016978"/>
            <a:ext cx="2124654" cy="53547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6">
            <a:extLst>
              <a:ext uri="{FF2B5EF4-FFF2-40B4-BE49-F238E27FC236}">
                <a16:creationId xmlns:a16="http://schemas.microsoft.com/office/drawing/2014/main" id="{CE76F39C-6D7D-4A02-A508-E97F314C08B3}"/>
              </a:ext>
            </a:extLst>
          </p:cNvPr>
          <p:cNvSpPr txBox="1"/>
          <p:nvPr/>
        </p:nvSpPr>
        <p:spPr>
          <a:xfrm>
            <a:off x="680416" y="3166009"/>
            <a:ext cx="38110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lang="es-CO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26C428C5-50D3-4E1A-B997-BD1C32B8F724}"/>
              </a:ext>
            </a:extLst>
          </p:cNvPr>
          <p:cNvSpPr txBox="1"/>
          <p:nvPr/>
        </p:nvSpPr>
        <p:spPr>
          <a:xfrm>
            <a:off x="8380974" y="2804273"/>
            <a:ext cx="381102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lvl="0" algn="just">
              <a:spcBef>
                <a:spcPct val="0"/>
              </a:spcBef>
              <a:defRPr/>
            </a:pPr>
            <a:r>
              <a:rPr 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XXXXXXXXXXXXXXXXXXXXXXXXXXXXXX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00A9335-4FE6-4113-8685-7CB48AC6C3B1}"/>
              </a:ext>
            </a:extLst>
          </p:cNvPr>
          <p:cNvCxnSpPr>
            <a:cxnSpLocks/>
          </p:cNvCxnSpPr>
          <p:nvPr/>
        </p:nvCxnSpPr>
        <p:spPr>
          <a:xfrm>
            <a:off x="95250" y="4228303"/>
            <a:ext cx="647858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571CEAF-D100-4537-81CA-72BF9024F5A9}"/>
              </a:ext>
            </a:extLst>
          </p:cNvPr>
          <p:cNvSpPr/>
          <p:nvPr/>
        </p:nvSpPr>
        <p:spPr>
          <a:xfrm>
            <a:off x="92637" y="3830491"/>
            <a:ext cx="590392" cy="307777"/>
          </a:xfrm>
          <a:prstGeom prst="rect">
            <a:avLst/>
          </a:prstGeom>
          <a:ln w="127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2CM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cxnSp>
        <p:nvCxnSpPr>
          <p:cNvPr id="16" name="Conector angular 25">
            <a:extLst>
              <a:ext uri="{FF2B5EF4-FFF2-40B4-BE49-F238E27FC236}">
                <a16:creationId xmlns:a16="http://schemas.microsoft.com/office/drawing/2014/main" id="{F22999B8-5C81-4FD6-BE9D-AFB8405BEA7B}"/>
              </a:ext>
            </a:extLst>
          </p:cNvPr>
          <p:cNvCxnSpPr>
            <a:cxnSpLocks/>
          </p:cNvCxnSpPr>
          <p:nvPr/>
        </p:nvCxnSpPr>
        <p:spPr>
          <a:xfrm flipV="1">
            <a:off x="7524750" y="4089449"/>
            <a:ext cx="876301" cy="29205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1E2F3A-2AE7-4029-9E1E-151EF49AA97F}"/>
              </a:ext>
            </a:extLst>
          </p:cNvPr>
          <p:cNvSpPr/>
          <p:nvPr/>
        </p:nvSpPr>
        <p:spPr>
          <a:xfrm>
            <a:off x="5458295" y="3658061"/>
            <a:ext cx="2066455" cy="1169551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altLang="es-CO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USO INADECUADO</a:t>
            </a:r>
          </a:p>
          <a:p>
            <a:pPr algn="ctr" eaLnBrk="1" hangingPunct="1"/>
            <a:r>
              <a:rPr lang="es-CO" altLang="es-CO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 Arial"/>
                <a:cs typeface="Times New Roman" panose="02020603050405020304" pitchFamily="18" charset="0"/>
              </a:rPr>
              <a:t>No debe pisar la marca FAC, las líneas guía, ni sobrepasar el espacio mínimo de margen.</a:t>
            </a:r>
            <a:endParaRPr lang="id-ID" altLang="es-CO" sz="1400" dirty="0">
              <a:solidFill>
                <a:schemeClr val="tx1">
                  <a:lumMod val="75000"/>
                  <a:lumOff val="25000"/>
                </a:schemeClr>
              </a:solidFill>
              <a:latin typeface=" Arial"/>
              <a:cs typeface="Times New Roman" panose="02020603050405020304" pitchFamily="18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4D48613-82D6-41F1-9592-0F2E931AA6DA}"/>
              </a:ext>
            </a:extLst>
          </p:cNvPr>
          <p:cNvSpPr/>
          <p:nvPr/>
        </p:nvSpPr>
        <p:spPr>
          <a:xfrm>
            <a:off x="597635" y="502844"/>
            <a:ext cx="41753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CO" alt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 Xxxxxx Xxxx</a:t>
            </a:r>
            <a:endParaRPr kumimoji="0" lang="es-CO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45C76FC6-D5AC-4315-812E-0C23A8B87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271" y="1097881"/>
            <a:ext cx="6820926" cy="121082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6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98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3074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 Fuerza Aeroespacial" id="{5569AF3E-A9D7-4662-8D96-9A3665B43E3C}" vid="{F1FBD26E-FC25-4DEA-98D1-1E6EDA739E9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</TotalTime>
  <Words>1256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 Arial</vt:lpstr>
      <vt:lpstr>Arial</vt:lpstr>
      <vt:lpstr>Calibri</vt:lpstr>
      <vt:lpstr>Calibri Light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ST. JUAN CARLOS SANTANA PEÑA</dc:creator>
  <cp:lastModifiedBy>SMSM16. DIEGO LEONEL MALPICA HINCAPIE</cp:lastModifiedBy>
  <cp:revision>58</cp:revision>
  <dcterms:created xsi:type="dcterms:W3CDTF">2023-08-04T11:46:55Z</dcterms:created>
  <dcterms:modified xsi:type="dcterms:W3CDTF">2024-09-30T01:43:41Z</dcterms:modified>
</cp:coreProperties>
</file>